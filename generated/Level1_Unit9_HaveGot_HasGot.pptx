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0"
    Type="http://schemas.openxmlformats.org/officeDocument/2006/relationships/slideMaster"
    Target="slideMasters/slideMaster1.xml"/>
  <Relationship Id="rId1"
    Type="http://schemas.openxmlformats.org/officeDocument/2006/relationships/slide"
    Target="slides/slide1.xml"/>
  <Relationship Id="rId2"
    Type="http://schemas.openxmlformats.org/officeDocument/2006/relationships/slide"
    Target="slides/slide2.xml"/>
  <Relationship Id="rId3"
    Type="http://schemas.openxmlformats.org/officeDocument/2006/relationships/slide"
    Target="slides/slide3.xml"/>
  <Relationship Id="rId4"
    Type="http://schemas.openxmlformats.org/officeDocument/2006/relationships/slide"
    Target="slides/slide4.xml"/>
  <Relationship Id="rId5"
    Type="http://schemas.openxmlformats.org/officeDocument/2006/relationships/slide"
    Target="slides/slide5.xml"/>
  <Relationship Id="rId6"
    Type="http://schemas.openxmlformats.org/officeDocument/2006/relationships/slide"
    Target="slides/slide6.xml"/>
  <Relationship Id="rId7"
    Type="http://schemas.openxmlformats.org/officeDocument/2006/relationships/slide"
    Target="slides/slide7.xml"/>
  <Relationship Id="rId8"
    Type="http://schemas.openxmlformats.org/officeDocument/2006/relationships/slide"
    Target="slides/slide8.xml"/>
  <Relationship Id="rId9"
    Type="http://schemas.openxmlformats.org/officeDocument/2006/relationships/slide"
    Target="slides/slide9.xml"/>
  <Relationship Id="rId10"
    Type="http://schemas.openxmlformats.org/officeDocument/2006/relationships/slide"
    Target="slides/slide10.xml"/>
  <Relationship Id="rId11"
    Type="http://schemas.openxmlformats.org/officeDocument/2006/relationships/slide"
    Target="slides/slide11.xml"/>
  <Relationship Id="rId12"
    Type="http://schemas.openxmlformats.org/officeDocument/2006/relationships/slide"
    Target="slides/slide12.xml"/>
  <Relationship Id="rId13"
    Type="http://schemas.openxmlformats.org/officeDocument/2006/relationships/slide"
    Target="slides/slide13.xml"/>
</Relationships>
</file>

<file path=ppt/slideLayouts/_rels/slideLayout1.xml.rels><?xml version="1.0" encoding="UTF-8" standalone="yes"?>
<Relationships xmlns="http://schemas.openxmlformats.org/package/2006/relationships">
  <Relationship Id="rId1"
    Type="http://schemas.openxmlformats.org/officeDocument/2006/relationships/slideMaster"
   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/>
  </p:clrMapOvr>
</p:sldLayout>
</file>

<file path=ppt/slideMasters/_rels/slideMaster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1" name="shape1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12" name="shape12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3" name="shape13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4" name="box14"/>
          <p:cNvSpPr>
            <a:spLocks noGrp="1"/>
          </p:cNvSpPr>
          <p:nvPr/>
        </p:nvSpPr>
        <p:spPr>
          <a:xfrm>
            <a:off x="432000" y="468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9  ·  A1</a:t>
            </a:r>
          </a:p>
        </p:txBody>
      </p:sp>
      <p:sp>
        <p:nvSpPr>
          <p:cNvPr id="15" name="tb15"/>
          <p:cNvSpPr txBox="1">
            <a:spLocks noGrp="1"/>
          </p:cNvSpPr>
          <p:nvPr/>
        </p:nvSpPr>
        <p:spPr>
          <a:xfrm>
            <a:off x="432000" y="900000"/>
            <a:ext cx="11472000" cy="28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BFC9D6"/>
                </a:solidFill>
                <a:latin typeface="Calibri"/>
              </a:rPr>
              <a:t>English Grammar in Action — Level 1</a:t>
            </a:r>
          </a:p>
        </p:txBody>
      </p:sp>
      <p:sp>
        <p:nvSpPr>
          <p:cNvPr id="16" name="tb16"/>
          <p:cNvSpPr txBox="1">
            <a:spLocks noGrp="1"/>
          </p:cNvSpPr>
          <p:nvPr/>
        </p:nvSpPr>
        <p:spPr>
          <a:xfrm>
            <a:off x="432000" y="1188000"/>
            <a:ext cx="11472000" cy="108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4000" dirty="0">
                <a:solidFill>
                  <a:srgbClr val="FFFFFF"/>
                </a:solidFill>
                <a:latin typeface="Cambria"/>
              </a:rPr>
              <a:t>Have Got / Has Got</a:t>
            </a:r>
          </a:p>
        </p:txBody>
      </p:sp>
      <p:sp>
        <p:nvSpPr>
          <p:cNvPr id="17" name="tb17"/>
          <p:cNvSpPr txBox="1">
            <a:spLocks noGrp="1"/>
          </p:cNvSpPr>
          <p:nvPr/>
        </p:nvSpPr>
        <p:spPr>
          <a:xfrm>
            <a:off x="432000" y="2088000"/>
            <a:ext cx="1147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700" dirty="0">
                <a:solidFill>
                  <a:srgbClr val="DCE6F1"/>
                </a:solidFill>
                <a:latin typeface="Calibri"/>
              </a:rPr>
              <a:t>affirmative, negative, and questions with have got / has got; possessions and descriptions</a:t>
            </a:r>
          </a:p>
        </p:txBody>
      </p:sp>
      <p:sp>
        <p:nvSpPr>
          <p:cNvPr id="18" name="shape18"/>
          <p:cNvSpPr>
            <a:spLocks noGrp="1"/>
          </p:cNvSpPr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9" name="box19"/>
          <p:cNvSpPr>
            <a:spLocks noGrp="1"/>
          </p:cNvSpPr>
          <p:nvPr/>
        </p:nvSpPr>
        <p:spPr>
          <a:xfrm>
            <a:off x="11112000" y="6354001"/>
            <a:ext cx="936000" cy="3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CEFR  A1</a:t>
            </a:r>
          </a:p>
        </p:txBody>
      </p:sp>
    </p:spTree>
  </p:cSld>
  <p:clrMapOvr>
    <a:masterClr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1" name="box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2" name="box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3" name="tb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🎯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LEARNING OBJECTIVES</a:t>
            </a:r>
          </a:p>
        </p:txBody>
      </p:sp>
      <p:sp>
        <p:nvSpPr>
          <p:cNvPr id="54" name="box54"/>
          <p:cNvSpPr>
            <a:spLocks noGrp="1"/>
          </p:cNvSpPr>
          <p:nvPr/>
        </p:nvSpPr>
        <p:spPr>
          <a:xfrm>
            <a:off x="180000" y="5400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📌</a:t>
            </a:r>
          </a:p>
        </p:txBody>
      </p:sp>
      <p:sp>
        <p:nvSpPr>
          <p:cNvPr id="55" name="box55"/>
          <p:cNvSpPr>
            <a:spLocks noGrp="1"/>
          </p:cNvSpPr>
          <p:nvPr/>
        </p:nvSpPr>
        <p:spPr>
          <a:xfrm>
            <a:off x="558000" y="5400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Form affirmative sentences using have got (I/you/we/they) and has got (he/she/it).</a:t>
            </a:r>
          </a:p>
        </p:txBody>
      </p:sp>
      <p:sp>
        <p:nvSpPr>
          <p:cNvPr id="56" name="box56"/>
          <p:cNvSpPr>
            <a:spLocks noGrp="1"/>
          </p:cNvSpPr>
          <p:nvPr/>
        </p:nvSpPr>
        <p:spPr>
          <a:xfrm>
            <a:off x="180000" y="9252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✏️</a:t>
            </a:r>
          </a:p>
        </p:txBody>
      </p:sp>
      <p:sp>
        <p:nvSpPr>
          <p:cNvPr id="57" name="box57"/>
          <p:cNvSpPr>
            <a:spLocks noGrp="1"/>
          </p:cNvSpPr>
          <p:nvPr/>
        </p:nvSpPr>
        <p:spPr>
          <a:xfrm>
            <a:off x="558000" y="9252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Form negative sentences using haven't got and hasn't got.</a:t>
            </a:r>
          </a:p>
        </p:txBody>
      </p:sp>
      <p:sp>
        <p:nvSpPr>
          <p:cNvPr id="58" name="box58"/>
          <p:cNvSpPr>
            <a:spLocks noGrp="1"/>
          </p:cNvSpPr>
          <p:nvPr/>
        </p:nvSpPr>
        <p:spPr>
          <a:xfrm>
            <a:off x="180000" y="13104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59" name="box59"/>
          <p:cNvSpPr>
            <a:spLocks noGrp="1"/>
          </p:cNvSpPr>
          <p:nvPr/>
        </p:nvSpPr>
        <p:spPr>
          <a:xfrm>
            <a:off x="558000" y="13104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Form questions: Have you got...? Has she got...? and give short answers.</a:t>
            </a:r>
          </a:p>
        </p:txBody>
      </p:sp>
      <p:sp>
        <p:nvSpPr>
          <p:cNvPr id="60" name="box60"/>
          <p:cNvSpPr>
            <a:spLocks noGrp="1"/>
          </p:cNvSpPr>
          <p:nvPr/>
        </p:nvSpPr>
        <p:spPr>
          <a:xfrm>
            <a:off x="180000" y="16956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61" name="box61"/>
          <p:cNvSpPr>
            <a:spLocks noGrp="1"/>
          </p:cNvSpPr>
          <p:nvPr/>
        </p:nvSpPr>
        <p:spPr>
          <a:xfrm>
            <a:off x="558000" y="16956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have got to talk about possessions, family, and physical descriptions.</a:t>
            </a:r>
          </a:p>
        </p:txBody>
      </p:sp>
      <p:sp>
        <p:nvSpPr>
          <p:cNvPr id="62" name="box62"/>
          <p:cNvSpPr>
            <a:spLocks noGrp="1"/>
          </p:cNvSpPr>
          <p:nvPr/>
        </p:nvSpPr>
        <p:spPr>
          <a:xfrm>
            <a:off x="180000" y="20808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🗣️</a:t>
            </a:r>
          </a:p>
        </p:txBody>
      </p:sp>
      <p:sp>
        <p:nvSpPr>
          <p:cNvPr id="63" name="box63"/>
          <p:cNvSpPr>
            <a:spLocks noGrp="1"/>
          </p:cNvSpPr>
          <p:nvPr/>
        </p:nvSpPr>
        <p:spPr>
          <a:xfrm>
            <a:off x="558000" y="20808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Distinguish between have got (British) and have (American) usage.</a:t>
            </a:r>
          </a:p>
        </p:txBody>
      </p:sp>
    </p:spTree>
  </p:cSld>
  <p:clrMapOvr>
    <a:masterClr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1" name="box1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2" name="box1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3" name="tb1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⚡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WARM-UP ACTIVITY</a:t>
            </a:r>
          </a:p>
        </p:txBody>
      </p:sp>
      <p:sp>
        <p:nvSpPr>
          <p:cNvPr id="104" name="box104"/>
          <p:cNvSpPr>
            <a:spLocks noGrp="1"/>
          </p:cNvSpPr>
          <p:nvPr/>
        </p:nvSpPr>
        <p:spPr>
          <a:xfrm>
            <a:off x="180000" y="540000"/>
            <a:ext cx="11832000" cy="396000"/>
          </a:xfrm>
          <a:prstGeom prst="roundRect">
            <a:avLst>
              <a:gd name="adj" fmla="val 15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400" dirty="0">
                <a:solidFill>
                  <a:srgbClr val="1F3864"/>
                </a:solidFill>
                <a:latin typeface="Cambria"/>
              </a:rPr>
              <a:t>🎒 What's in Your Bag?</a:t>
            </a:r>
          </a:p>
        </p:txBody>
      </p:sp>
      <p:sp>
        <p:nvSpPr>
          <p:cNvPr id="105" name="box105"/>
          <p:cNvSpPr>
            <a:spLocks noGrp="1"/>
          </p:cNvSpPr>
          <p:nvPr/>
        </p:nvSpPr>
        <p:spPr>
          <a:xfrm>
            <a:off x="11040000" y="540000"/>
            <a:ext cx="972000" cy="39600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BF8F00"/>
                </a:solidFill>
                <a:latin typeface="Calibri"/>
              </a:rPr>
              <a:t>⏱  5 minutes</a:t>
            </a:r>
          </a:p>
        </p:txBody>
      </p:sp>
      <p:sp>
        <p:nvSpPr>
          <p:cNvPr id="106" name="box106"/>
          <p:cNvSpPr>
            <a:spLocks noGrp="1"/>
          </p:cNvSpPr>
          <p:nvPr/>
        </p:nvSpPr>
        <p:spPr>
          <a:xfrm>
            <a:off x="180000" y="1026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7" name="tb107"/>
          <p:cNvSpPr txBox="1">
            <a:spLocks noGrp="1"/>
          </p:cNvSpPr>
          <p:nvPr/>
        </p:nvSpPr>
        <p:spPr>
          <a:xfrm>
            <a:off x="503999" y="1026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Look in your bag or pockets. Write 3 things you have got.</a:t>
            </a:r>
          </a:p>
        </p:txBody>
      </p:sp>
      <p:sp>
        <p:nvSpPr>
          <p:cNvPr id="108" name="box108"/>
          <p:cNvSpPr>
            <a:spLocks noGrp="1"/>
          </p:cNvSpPr>
          <p:nvPr/>
        </p:nvSpPr>
        <p:spPr>
          <a:xfrm>
            <a:off x="180000" y="1458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9" name="tb109"/>
          <p:cNvSpPr txBox="1">
            <a:spLocks noGrp="1"/>
          </p:cNvSpPr>
          <p:nvPr/>
        </p:nvSpPr>
        <p:spPr>
          <a:xfrm>
            <a:off x="503999" y="1458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Tell your partner: 'I've got a phone, a pen, and a notebook.'</a:t>
            </a:r>
          </a:p>
        </p:txBody>
      </p:sp>
      <p:sp>
        <p:nvSpPr>
          <p:cNvPr id="110" name="box110"/>
          <p:cNvSpPr>
            <a:spLocks noGrp="1"/>
          </p:cNvSpPr>
          <p:nvPr/>
        </p:nvSpPr>
        <p:spPr>
          <a:xfrm>
            <a:off x="180000" y="1890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1" name="tb111"/>
          <p:cNvSpPr txBox="1">
            <a:spLocks noGrp="1"/>
          </p:cNvSpPr>
          <p:nvPr/>
        </p:nvSpPr>
        <p:spPr>
          <a:xfrm>
            <a:off x="503999" y="1890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Ask your partner: 'Have you got a dictionary? Have you got any keys?'</a:t>
            </a:r>
          </a:p>
        </p:txBody>
      </p:sp>
    </p:spTree>
  </p:cSld>
  <p:clrMapOvr>
    <a:masterClr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51" name="box1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2" name="box1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3" name="tb1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📖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VOCABULARY PREVIEW</a:t>
            </a:r>
          </a:p>
        </p:txBody>
      </p:sp>
      <p:sp>
        <p:nvSpPr>
          <p:cNvPr id="154" name="box154"/>
          <p:cNvSpPr>
            <a:spLocks noGrp="1"/>
          </p:cNvSpPr>
          <p:nvPr/>
        </p:nvSpPr>
        <p:spPr>
          <a:xfrm>
            <a:off x="180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brother</a:t>
            </a:r>
          </a:p>
        </p:txBody>
      </p:sp>
      <p:sp>
        <p:nvSpPr>
          <p:cNvPr id="155" name="box155"/>
          <p:cNvSpPr>
            <a:spLocks noGrp="1"/>
          </p:cNvSpPr>
          <p:nvPr/>
        </p:nvSpPr>
        <p:spPr>
          <a:xfrm>
            <a:off x="1007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56" name="box156"/>
          <p:cNvSpPr>
            <a:spLocks noGrp="1"/>
          </p:cNvSpPr>
          <p:nvPr/>
        </p:nvSpPr>
        <p:spPr>
          <a:xfrm>
            <a:off x="1512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 male sibling</a:t>
            </a:r>
          </a:p>
        </p:txBody>
      </p:sp>
      <p:sp>
        <p:nvSpPr>
          <p:cNvPr id="157" name="box157"/>
          <p:cNvSpPr>
            <a:spLocks noGrp="1"/>
          </p:cNvSpPr>
          <p:nvPr/>
        </p:nvSpPr>
        <p:spPr>
          <a:xfrm>
            <a:off x="6042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sister</a:t>
            </a:r>
          </a:p>
        </p:txBody>
      </p:sp>
      <p:sp>
        <p:nvSpPr>
          <p:cNvPr id="158" name="box158"/>
          <p:cNvSpPr>
            <a:spLocks noGrp="1"/>
          </p:cNvSpPr>
          <p:nvPr/>
        </p:nvSpPr>
        <p:spPr>
          <a:xfrm>
            <a:off x="6869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59" name="box159"/>
          <p:cNvSpPr>
            <a:spLocks noGrp="1"/>
          </p:cNvSpPr>
          <p:nvPr/>
        </p:nvSpPr>
        <p:spPr>
          <a:xfrm>
            <a:off x="7374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 female sibling</a:t>
            </a:r>
          </a:p>
        </p:txBody>
      </p:sp>
      <p:sp>
        <p:nvSpPr>
          <p:cNvPr id="160" name="box160"/>
          <p:cNvSpPr>
            <a:spLocks noGrp="1"/>
          </p:cNvSpPr>
          <p:nvPr/>
        </p:nvSpPr>
        <p:spPr>
          <a:xfrm>
            <a:off x="180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pet</a:t>
            </a:r>
          </a:p>
        </p:txBody>
      </p:sp>
      <p:sp>
        <p:nvSpPr>
          <p:cNvPr id="161" name="box161"/>
          <p:cNvSpPr>
            <a:spLocks noGrp="1"/>
          </p:cNvSpPr>
          <p:nvPr/>
        </p:nvSpPr>
        <p:spPr>
          <a:xfrm>
            <a:off x="1007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62" name="box162"/>
          <p:cNvSpPr>
            <a:spLocks noGrp="1"/>
          </p:cNvSpPr>
          <p:nvPr/>
        </p:nvSpPr>
        <p:spPr>
          <a:xfrm>
            <a:off x="1512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an animal kept at home</a:t>
            </a:r>
          </a:p>
        </p:txBody>
      </p:sp>
      <p:sp>
        <p:nvSpPr>
          <p:cNvPr id="163" name="box163"/>
          <p:cNvSpPr>
            <a:spLocks noGrp="1"/>
          </p:cNvSpPr>
          <p:nvPr/>
        </p:nvSpPr>
        <p:spPr>
          <a:xfrm>
            <a:off x="6042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dog</a:t>
            </a:r>
          </a:p>
        </p:txBody>
      </p:sp>
      <p:sp>
        <p:nvSpPr>
          <p:cNvPr id="164" name="box164"/>
          <p:cNvSpPr>
            <a:spLocks noGrp="1"/>
          </p:cNvSpPr>
          <p:nvPr/>
        </p:nvSpPr>
        <p:spPr>
          <a:xfrm>
            <a:off x="6869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65" name="box165"/>
          <p:cNvSpPr>
            <a:spLocks noGrp="1"/>
          </p:cNvSpPr>
          <p:nvPr/>
        </p:nvSpPr>
        <p:spPr>
          <a:xfrm>
            <a:off x="7374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 common domestic animal</a:t>
            </a:r>
          </a:p>
        </p:txBody>
      </p:sp>
      <p:sp>
        <p:nvSpPr>
          <p:cNvPr id="166" name="box166"/>
          <p:cNvSpPr>
            <a:spLocks noGrp="1"/>
          </p:cNvSpPr>
          <p:nvPr/>
        </p:nvSpPr>
        <p:spPr>
          <a:xfrm>
            <a:off x="180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cat</a:t>
            </a:r>
          </a:p>
        </p:txBody>
      </p:sp>
      <p:sp>
        <p:nvSpPr>
          <p:cNvPr id="167" name="box167"/>
          <p:cNvSpPr>
            <a:spLocks noGrp="1"/>
          </p:cNvSpPr>
          <p:nvPr/>
        </p:nvSpPr>
        <p:spPr>
          <a:xfrm>
            <a:off x="1007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68" name="box168"/>
          <p:cNvSpPr>
            <a:spLocks noGrp="1"/>
          </p:cNvSpPr>
          <p:nvPr/>
        </p:nvSpPr>
        <p:spPr>
          <a:xfrm>
            <a:off x="1512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 small furry pet</a:t>
            </a:r>
          </a:p>
        </p:txBody>
      </p:sp>
      <p:sp>
        <p:nvSpPr>
          <p:cNvPr id="169" name="box169"/>
          <p:cNvSpPr>
            <a:spLocks noGrp="1"/>
          </p:cNvSpPr>
          <p:nvPr/>
        </p:nvSpPr>
        <p:spPr>
          <a:xfrm>
            <a:off x="6042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car</a:t>
            </a:r>
          </a:p>
        </p:txBody>
      </p:sp>
      <p:sp>
        <p:nvSpPr>
          <p:cNvPr id="170" name="box170"/>
          <p:cNvSpPr>
            <a:spLocks noGrp="1"/>
          </p:cNvSpPr>
          <p:nvPr/>
        </p:nvSpPr>
        <p:spPr>
          <a:xfrm>
            <a:off x="6869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71" name="box171"/>
          <p:cNvSpPr>
            <a:spLocks noGrp="1"/>
          </p:cNvSpPr>
          <p:nvPr/>
        </p:nvSpPr>
        <p:spPr>
          <a:xfrm>
            <a:off x="7374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 vehicle with four wheels</a:t>
            </a:r>
          </a:p>
        </p:txBody>
      </p:sp>
      <p:sp>
        <p:nvSpPr>
          <p:cNvPr id="172" name="box172"/>
          <p:cNvSpPr>
            <a:spLocks noGrp="1"/>
          </p:cNvSpPr>
          <p:nvPr/>
        </p:nvSpPr>
        <p:spPr>
          <a:xfrm>
            <a:off x="180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phone</a:t>
            </a:r>
          </a:p>
        </p:txBody>
      </p:sp>
      <p:sp>
        <p:nvSpPr>
          <p:cNvPr id="173" name="box173"/>
          <p:cNvSpPr>
            <a:spLocks noGrp="1"/>
          </p:cNvSpPr>
          <p:nvPr/>
        </p:nvSpPr>
        <p:spPr>
          <a:xfrm>
            <a:off x="1007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74" name="box174"/>
          <p:cNvSpPr>
            <a:spLocks noGrp="1"/>
          </p:cNvSpPr>
          <p:nvPr/>
        </p:nvSpPr>
        <p:spPr>
          <a:xfrm>
            <a:off x="1512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 device for communication</a:t>
            </a:r>
          </a:p>
        </p:txBody>
      </p:sp>
      <p:sp>
        <p:nvSpPr>
          <p:cNvPr id="175" name="box175"/>
          <p:cNvSpPr>
            <a:spLocks noGrp="1"/>
          </p:cNvSpPr>
          <p:nvPr/>
        </p:nvSpPr>
        <p:spPr>
          <a:xfrm>
            <a:off x="6042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computer</a:t>
            </a:r>
          </a:p>
        </p:txBody>
      </p:sp>
      <p:sp>
        <p:nvSpPr>
          <p:cNvPr id="176" name="box176"/>
          <p:cNvSpPr>
            <a:spLocks noGrp="1"/>
          </p:cNvSpPr>
          <p:nvPr/>
        </p:nvSpPr>
        <p:spPr>
          <a:xfrm>
            <a:off x="6869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77" name="box177"/>
          <p:cNvSpPr>
            <a:spLocks noGrp="1"/>
          </p:cNvSpPr>
          <p:nvPr/>
        </p:nvSpPr>
        <p:spPr>
          <a:xfrm>
            <a:off x="7374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an electronic machine</a:t>
            </a:r>
          </a:p>
        </p:txBody>
      </p:sp>
      <p:sp>
        <p:nvSpPr>
          <p:cNvPr id="178" name="box178"/>
          <p:cNvSpPr>
            <a:spLocks noGrp="1"/>
          </p:cNvSpPr>
          <p:nvPr/>
        </p:nvSpPr>
        <p:spPr>
          <a:xfrm>
            <a:off x="180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garden</a:t>
            </a:r>
          </a:p>
        </p:txBody>
      </p:sp>
      <p:sp>
        <p:nvSpPr>
          <p:cNvPr id="179" name="box179"/>
          <p:cNvSpPr>
            <a:spLocks noGrp="1"/>
          </p:cNvSpPr>
          <p:nvPr/>
        </p:nvSpPr>
        <p:spPr>
          <a:xfrm>
            <a:off x="1007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80" name="box180"/>
          <p:cNvSpPr>
            <a:spLocks noGrp="1"/>
          </p:cNvSpPr>
          <p:nvPr/>
        </p:nvSpPr>
        <p:spPr>
          <a:xfrm>
            <a:off x="1512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land next to a house with plants</a:t>
            </a:r>
          </a:p>
        </p:txBody>
      </p:sp>
      <p:sp>
        <p:nvSpPr>
          <p:cNvPr id="181" name="box181"/>
          <p:cNvSpPr>
            <a:spLocks noGrp="1"/>
          </p:cNvSpPr>
          <p:nvPr/>
        </p:nvSpPr>
        <p:spPr>
          <a:xfrm>
            <a:off x="6042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bicycle</a:t>
            </a:r>
          </a:p>
        </p:txBody>
      </p:sp>
      <p:sp>
        <p:nvSpPr>
          <p:cNvPr id="182" name="box182"/>
          <p:cNvSpPr>
            <a:spLocks noGrp="1"/>
          </p:cNvSpPr>
          <p:nvPr/>
        </p:nvSpPr>
        <p:spPr>
          <a:xfrm>
            <a:off x="6869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83" name="box183"/>
          <p:cNvSpPr>
            <a:spLocks noGrp="1"/>
          </p:cNvSpPr>
          <p:nvPr/>
        </p:nvSpPr>
        <p:spPr>
          <a:xfrm>
            <a:off x="7374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 two-wheeled vehicle</a:t>
            </a:r>
          </a:p>
        </p:txBody>
      </p:sp>
      <p:sp>
        <p:nvSpPr>
          <p:cNvPr id="184" name="tb184"/>
          <p:cNvSpPr txBox="1">
            <a:spLocks noGrp="1"/>
          </p:cNvSpPr>
          <p:nvPr/>
        </p:nvSpPr>
        <p:spPr>
          <a:xfrm>
            <a:off x="180000" y="6606001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2E75B6"/>
                </a:solidFill>
                <a:latin typeface="Calibri"/>
              </a:rPr>
              <a:t>📚  Full 30-word vocabulary bank in your workbook — Section 4.</a:t>
            </a:r>
          </a:p>
        </p:txBody>
      </p:sp>
    </p:spTree>
  </p:cSld>
  <p:clrMapOvr>
    <a:masterClr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01" name="box2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2" name="box2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3" name="tb2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📐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GRAMMAR RULE</a:t>
            </a:r>
          </a:p>
        </p:txBody>
      </p:sp>
      <p:sp>
        <p:nvSpPr>
          <p:cNvPr id="204" name="box204"/>
          <p:cNvSpPr>
            <a:spLocks noGrp="1"/>
          </p:cNvSpPr>
          <p:nvPr/>
        </p:nvSpPr>
        <p:spPr>
          <a:xfrm>
            <a:off x="180000" y="522000"/>
            <a:ext cx="11832000" cy="39600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2700">
            <a:solidFill>
              <a:srgbClr val="BF8F00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700" dirty="0">
                <a:solidFill>
                  <a:srgbClr val="1F3864"/>
                </a:solidFill>
                <a:latin typeface="Calibri"/>
              </a:rPr>
              <a:t>📌  Use have got / has got to talk about possessions, family, physical features, and illnesses. Has got is for he/she/it.</a:t>
            </a:r>
          </a:p>
        </p:txBody>
      </p:sp>
      <p:graphicFrame>
        <p:nvGraphicFramePr>
          <p:cNvPr id="205" name="tbl205"/>
          <p:cNvGraphicFramePr>
            <a:graphicFrameLocks noGrp="1"/>
          </p:cNvGraphicFramePr>
          <p:nvPr/>
        </p:nvGraphicFramePr>
        <p:xfrm>
          <a:off x="180000" y="990000"/>
          <a:ext cx="11832000" cy="5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8000"/>
                <a:gridCol w="2958000"/>
                <a:gridCol w="2958000"/>
                <a:gridCol w="2958000"/>
              </a:tblGrid>
              <a:tr h="1854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Subject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Affirmative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Negative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854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I / You / We / They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have got (I've got)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haven't got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Have you got...?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854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He / She / It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has got (she's got)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hasn't got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Has she got...?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51" name="box2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2" name="box2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3" name="tb2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✏️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SPELLING &amp; USAGE NOTES</a:t>
            </a:r>
          </a:p>
        </p:txBody>
      </p:sp>
      <p:graphicFrame>
        <p:nvGraphicFramePr>
          <p:cNvPr id="254" name="tbl254"/>
          <p:cNvGraphicFramePr>
            <a:graphicFrameLocks noGrp="1"/>
          </p:cNvGraphicFramePr>
          <p:nvPr/>
        </p:nvGraphicFramePr>
        <p:xfrm>
          <a:off x="180000" y="540000"/>
          <a:ext cx="11832000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4000"/>
                <a:gridCol w="3944000"/>
                <a:gridCol w="3944000"/>
              </a:tblGrid>
              <a:tr h="201600">
                <a:tc>
                  <a:txBody>
                    <a:bodyPr/>
                    <a:lstStyle/>
                    <a:p>
                      <a:pPr algn="l"/>
                      <a:r>
                        <a:rPr lang="en-GB" b="1" sz="1300" dirty="0">
                          <a:solidFill>
                            <a:srgbClr val="FFFFFF"/>
                          </a:solidFill>
                          <a:latin typeface="Calibri"/>
                        </a:rPr>
                        <a:t>Full form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300" dirty="0">
                          <a:solidFill>
                            <a:srgbClr val="FFFFFF"/>
                          </a:solidFill>
                          <a:latin typeface="Calibri"/>
                        </a:rPr>
                        <a:t>Contraction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300" dirty="0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201600">
                <a:tc>
                  <a:txBody>
                    <a:bodyPr/>
                    <a:lstStyle/>
                    <a:p>
                      <a:pPr algn="l"/>
                      <a:r>
                        <a:rPr lang="en-GB" b="1" sz="1300" dirty="0">
                          <a:solidFill>
                            <a:srgbClr val="1F3864"/>
                          </a:solidFill>
                          <a:latin typeface="Calibri"/>
                        </a:rPr>
                        <a:t>I have got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300" dirty="0">
                          <a:solidFill>
                            <a:srgbClr val="1F3864"/>
                          </a:solidFill>
                          <a:latin typeface="Calibri"/>
                        </a:rPr>
                        <a:t>I've got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300" dirty="0">
                          <a:solidFill>
                            <a:srgbClr val="1F3864"/>
                          </a:solidFill>
                          <a:latin typeface="Calibri"/>
                        </a:rPr>
                        <a:t>I've got a cat.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201600">
                <a:tc>
                  <a:txBody>
                    <a:bodyPr/>
                    <a:lstStyle/>
                    <a:p>
                      <a:pPr algn="l"/>
                      <a:r>
                        <a:rPr lang="en-GB" b="1" sz="1300" dirty="0">
                          <a:solidFill>
                            <a:srgbClr val="1F3864"/>
                          </a:solidFill>
                          <a:latin typeface="Calibri"/>
                        </a:rPr>
                        <a:t>She has got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300" dirty="0">
                          <a:solidFill>
                            <a:srgbClr val="1A1A1A"/>
                          </a:solidFill>
                          <a:latin typeface="Calibri"/>
                        </a:rPr>
                        <a:t>She's got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300" dirty="0">
                          <a:solidFill>
                            <a:srgbClr val="1A1A1A"/>
                          </a:solidFill>
                          <a:latin typeface="Calibri"/>
                        </a:rPr>
                        <a:t>She's got blue eyes.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201600">
                <a:tc>
                  <a:txBody>
                    <a:bodyPr/>
                    <a:lstStyle/>
                    <a:p>
                      <a:pPr algn="l"/>
                      <a:r>
                        <a:rPr lang="en-GB" b="1" sz="1300" dirty="0">
                          <a:solidFill>
                            <a:srgbClr val="1F3864"/>
                          </a:solidFill>
                          <a:latin typeface="Calibri"/>
                        </a:rPr>
                        <a:t>have not got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300" dirty="0">
                          <a:solidFill>
                            <a:srgbClr val="1F3864"/>
                          </a:solidFill>
                          <a:latin typeface="Calibri"/>
                        </a:rPr>
                        <a:t>haven't got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300" dirty="0">
                          <a:solidFill>
                            <a:srgbClr val="1F3864"/>
                          </a:solidFill>
                          <a:latin typeface="Calibri"/>
                        </a:rPr>
                        <a:t>I haven't got a car.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201600">
                <a:tc>
                  <a:txBody>
                    <a:bodyPr/>
                    <a:lstStyle/>
                    <a:p>
                      <a:pPr algn="l"/>
                      <a:r>
                        <a:rPr lang="en-GB" b="1" sz="1300" dirty="0">
                          <a:solidFill>
                            <a:srgbClr val="1F3864"/>
                          </a:solidFill>
                          <a:latin typeface="Calibri"/>
                        </a:rPr>
                        <a:t>has not got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300" dirty="0">
                          <a:solidFill>
                            <a:srgbClr val="1A1A1A"/>
                          </a:solidFill>
                          <a:latin typeface="Calibri"/>
                        </a:rPr>
                        <a:t>hasn't got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300" dirty="0">
                          <a:solidFill>
                            <a:srgbClr val="1A1A1A"/>
                          </a:solidFill>
                          <a:latin typeface="Calibri"/>
                        </a:rPr>
                        <a:t>He hasn't got a pet.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5" name="box255"/>
          <p:cNvSpPr>
            <a:spLocks noGrp="1"/>
          </p:cNvSpPr>
          <p:nvPr/>
        </p:nvSpPr>
        <p:spPr>
          <a:xfrm>
            <a:off x="180000" y="1872000"/>
            <a:ext cx="11832000" cy="503999"/>
          </a:xfrm>
          <a:prstGeom prst="rect">
            <a:avLst/>
          </a:prstGeom>
          <a:solidFill>
            <a:srgbClr val="DCE6F1"/>
          </a:solidFill>
          <a:ln w="12700">
            <a:solidFill>
              <a:srgbClr val="1F3864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⚠️  Watch Out!  </a:t>
            </a:r>
            <a:r>
              <a:rPr lang="en-GB" b="0" sz="1400" dirty="0">
                <a:solidFill>
                  <a:srgbClr val="1F3864"/>
                </a:solidFill>
                <a:latin typeface="Calibri"/>
              </a:rPr>
              <a:t>Short answers: Have you got a car? Yes, I have. / No, I haven't. (NOT: Yes, I've got. / No, I haven't got.)</a:t>
            </a:r>
          </a:p>
        </p:txBody>
      </p:sp>
      <p:sp>
        <p:nvSpPr>
          <p:cNvPr id="256" name="box256"/>
          <p:cNvSpPr>
            <a:spLocks noGrp="1"/>
          </p:cNvSpPr>
          <p:nvPr/>
        </p:nvSpPr>
        <p:spPr>
          <a:xfrm>
            <a:off x="180000" y="2501998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1F3864"/>
                </a:solidFill>
                <a:latin typeface="Calibri"/>
              </a:rPr>
              <a:t>Usage Examples</a:t>
            </a:r>
          </a:p>
        </p:txBody>
      </p:sp>
      <p:sp>
        <p:nvSpPr>
          <p:cNvPr id="257" name="tb257"/>
          <p:cNvSpPr txBox="1">
            <a:spLocks noGrp="1"/>
          </p:cNvSpPr>
          <p:nvPr/>
        </p:nvSpPr>
        <p:spPr>
          <a:xfrm>
            <a:off x="180000" y="2771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Possessions: I've got a new phone. She hasn't got a computer.</a:t>
            </a:r>
          </a:p>
        </p:txBody>
      </p:sp>
      <p:sp>
        <p:nvSpPr>
          <p:cNvPr id="258" name="tb258"/>
          <p:cNvSpPr txBox="1">
            <a:spLocks noGrp="1"/>
          </p:cNvSpPr>
          <p:nvPr/>
        </p:nvSpPr>
        <p:spPr>
          <a:xfrm>
            <a:off x="180000" y="2987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Family: He's got two sisters. They haven't got any children.</a:t>
            </a:r>
          </a:p>
        </p:txBody>
      </p:sp>
      <p:sp>
        <p:nvSpPr>
          <p:cNvPr id="259" name="tb259"/>
          <p:cNvSpPr txBox="1">
            <a:spLocks noGrp="1"/>
          </p:cNvSpPr>
          <p:nvPr/>
        </p:nvSpPr>
        <p:spPr>
          <a:xfrm>
            <a:off x="180000" y="3203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Physical: She's got long brown hair. He's got blue eyes.</a:t>
            </a:r>
          </a:p>
        </p:txBody>
      </p:sp>
      <p:sp>
        <p:nvSpPr>
          <p:cNvPr id="260" name="tb260"/>
          <p:cNvSpPr txBox="1">
            <a:spLocks noGrp="1"/>
          </p:cNvSpPr>
          <p:nvPr/>
        </p:nvSpPr>
        <p:spPr>
          <a:xfrm>
            <a:off x="180000" y="3419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Illness: I've got a headache. She's got a cold.</a:t>
            </a:r>
          </a:p>
        </p:txBody>
      </p:sp>
    </p:spTree>
  </p:cSld>
  <p:clrMapOvr>
    <a:masterClr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01" name="box3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2" name="box3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3" name="tb3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✍️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GUIDED PRACTICE</a:t>
            </a:r>
          </a:p>
        </p:txBody>
      </p:sp>
      <p:sp>
        <p:nvSpPr>
          <p:cNvPr id="304" name="tb3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Complete the sentences with have got, has got, haven't got, or hasn't got. Items 1-2 are done for you.</a:t>
            </a:r>
          </a:p>
        </p:txBody>
      </p:sp>
      <p:graphicFrame>
        <p:nvGraphicFramePr>
          <p:cNvPr id="305" name="tbl3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6152640"/>
                <a:gridCol w="4969440"/>
              </a:tblGrid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Prompt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 ✅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___ a new phone. (+)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HAVE GOT a new phone.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 ✅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She ___ a car. (-)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She HASN'T GOT a car.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They ___ two children. (+)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He ___ any brothers. (-)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51" name="box3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2" name="box3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3" name="tb3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📝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CONTROLLED PRACTICE</a:t>
            </a:r>
          </a:p>
        </p:txBody>
      </p:sp>
      <p:sp>
        <p:nvSpPr>
          <p:cNvPr id="354" name="tb35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Write sentences using have got / has got about the pictures (described below).</a:t>
            </a:r>
          </a:p>
        </p:txBody>
      </p:sp>
      <p:graphicFrame>
        <p:nvGraphicFramePr>
          <p:cNvPr id="355" name="tbl35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5561040"/>
                <a:gridCol w="556104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Write your answer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Tom / a red bicycle (+)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Maria / long curly hair (+)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They / any pets (-)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She / a headache (+)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We / a big house (-)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01" name="box4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2" name="box4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3" name="tb4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🔎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ERROR CORRECTION</a:t>
            </a:r>
          </a:p>
        </p:txBody>
      </p:sp>
      <p:sp>
        <p:nvSpPr>
          <p:cNvPr id="404" name="tb4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Find and correct the ONE mistake in each sentence.</a:t>
            </a:r>
          </a:p>
        </p:txBody>
      </p:sp>
      <p:graphicFrame>
        <p:nvGraphicFramePr>
          <p:cNvPr id="405" name="tbl4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600"/>
                <a:gridCol w="5916000"/>
                <a:gridCol w="532440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Incorrect 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Corrected 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She have got a cat.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He's has got blue eyes.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Have he got a car?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 hasn't got any money.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They hasn't got a garden.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51" name="box4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2" name="box4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3" name="tb4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🗣️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SPEAKING ACTIVITY</a:t>
            </a:r>
          </a:p>
        </p:txBody>
      </p:sp>
      <p:sp>
        <p:nvSpPr>
          <p:cNvPr id="454" name="box454"/>
          <p:cNvSpPr>
            <a:spLocks noGrp="1"/>
          </p:cNvSpPr>
          <p:nvPr/>
        </p:nvSpPr>
        <p:spPr>
          <a:xfrm>
            <a:off x="180000" y="522000"/>
            <a:ext cx="11832000" cy="360000"/>
          </a:xfrm>
          <a:prstGeom prst="roundRect">
            <a:avLst>
              <a:gd name="adj" fmla="val 12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FFFFFF"/>
                </a:solidFill>
                <a:latin typeface="Cambria"/>
              </a:rPr>
              <a:t>💬 Describe Your Partner</a:t>
            </a:r>
          </a:p>
        </p:txBody>
      </p:sp>
      <p:sp>
        <p:nvSpPr>
          <p:cNvPr id="455" name="box455"/>
          <p:cNvSpPr>
            <a:spLocks noGrp="1"/>
          </p:cNvSpPr>
          <p:nvPr/>
        </p:nvSpPr>
        <p:spPr>
          <a:xfrm>
            <a:off x="11112000" y="954000"/>
            <a:ext cx="900000" cy="1260000"/>
          </a:xfrm>
          <a:prstGeom prst="roundRect">
            <a:avLst>
              <a:gd name="adj" fmla="val 20000"/>
            </a:avLst>
          </a:prstGeom>
          <a:solidFill>
            <a:srgbClr val="DCE6F1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6000" dirty="0">
                <a:solidFill>
                  <a:srgbClr val="2E75B6"/>
                </a:solidFill>
                <a:latin typeface="Calibri"/>
              </a:rPr>
              <a:t>💬</a:t>
            </a:r>
          </a:p>
        </p:txBody>
      </p:sp>
      <p:sp>
        <p:nvSpPr>
          <p:cNvPr id="456" name="box456"/>
          <p:cNvSpPr>
            <a:spLocks noGrp="1"/>
          </p:cNvSpPr>
          <p:nvPr/>
        </p:nvSpPr>
        <p:spPr>
          <a:xfrm>
            <a:off x="180000" y="9540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57" name="tb457"/>
          <p:cNvSpPr txBox="1">
            <a:spLocks noGrp="1"/>
          </p:cNvSpPr>
          <p:nvPr/>
        </p:nvSpPr>
        <p:spPr>
          <a:xfrm>
            <a:off x="468000" y="9540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Work in pairs. Look at your partner and describe them using has got.</a:t>
            </a:r>
          </a:p>
        </p:txBody>
      </p:sp>
      <p:sp>
        <p:nvSpPr>
          <p:cNvPr id="458" name="box458"/>
          <p:cNvSpPr>
            <a:spLocks noGrp="1"/>
          </p:cNvSpPr>
          <p:nvPr/>
        </p:nvSpPr>
        <p:spPr>
          <a:xfrm>
            <a:off x="180000" y="12708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59" name="tb459"/>
          <p:cNvSpPr txBox="1">
            <a:spLocks noGrp="1"/>
          </p:cNvSpPr>
          <p:nvPr/>
        </p:nvSpPr>
        <p:spPr>
          <a:xfrm>
            <a:off x="468000" y="12708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Talk about: hair (colour, length, style), eyes (colour), and accessories.</a:t>
            </a:r>
          </a:p>
        </p:txBody>
      </p:sp>
      <p:sp>
        <p:nvSpPr>
          <p:cNvPr id="460" name="box460"/>
          <p:cNvSpPr>
            <a:spLocks noGrp="1"/>
          </p:cNvSpPr>
          <p:nvPr/>
        </p:nvSpPr>
        <p:spPr>
          <a:xfrm>
            <a:off x="180000" y="15876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61" name="tb461"/>
          <p:cNvSpPr txBox="1">
            <a:spLocks noGrp="1"/>
          </p:cNvSpPr>
          <p:nvPr/>
        </p:nvSpPr>
        <p:spPr>
          <a:xfrm>
            <a:off x="468000" y="15876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Example: 'Maria has got long brown hair. She's got brown eyes.'</a:t>
            </a:r>
          </a:p>
        </p:txBody>
      </p:sp>
      <p:sp>
        <p:nvSpPr>
          <p:cNvPr id="462" name="box462"/>
          <p:cNvSpPr>
            <a:spLocks noGrp="1"/>
          </p:cNvSpPr>
          <p:nvPr/>
        </p:nvSpPr>
        <p:spPr>
          <a:xfrm>
            <a:off x="180000" y="19044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63" name="tb463"/>
          <p:cNvSpPr txBox="1">
            <a:spLocks noGrp="1"/>
          </p:cNvSpPr>
          <p:nvPr/>
        </p:nvSpPr>
        <p:spPr>
          <a:xfrm>
            <a:off x="468000" y="19044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Ask questions: 'Have you got any brothers? Have you got a pet?'</a:t>
            </a:r>
          </a:p>
        </p:txBody>
      </p:sp>
      <p:sp>
        <p:nvSpPr>
          <p:cNvPr id="464" name="box464"/>
          <p:cNvSpPr>
            <a:spLocks noGrp="1"/>
          </p:cNvSpPr>
          <p:nvPr/>
        </p:nvSpPr>
        <p:spPr>
          <a:xfrm>
            <a:off x="180000" y="6570000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👥  Pair Work</a:t>
            </a:r>
          </a:p>
        </p:txBody>
      </p:sp>
    </p:spTree>
  </p:cSld>
  <p:clrMapOvr>
    <a:masterClr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1" name="box5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2" name="box5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3" name="tb5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📄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READING &amp; WRITING</a:t>
            </a:r>
          </a:p>
        </p:txBody>
      </p:sp>
      <p:sp>
        <p:nvSpPr>
          <p:cNvPr id="504" name="box504"/>
          <p:cNvSpPr>
            <a:spLocks noGrp="1"/>
          </p:cNvSpPr>
          <p:nvPr/>
        </p:nvSpPr>
        <p:spPr>
          <a:xfrm>
            <a:off x="180000" y="540000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505" name="box505"/>
          <p:cNvSpPr>
            <a:spLocks noGrp="1"/>
          </p:cNvSpPr>
          <p:nvPr/>
        </p:nvSpPr>
        <p:spPr>
          <a:xfrm>
            <a:off x="180000" y="792000"/>
            <a:ext cx="11832000" cy="61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t" wrap="square" lIns="108000" rIns="72000" tIns="72000" bIns="54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404040"/>
                </a:solidFill>
                <a:latin typeface="Calibri"/>
              </a:rPr>
              <a:t>My name is Sophie. I've got a big family. I've got two brothers and one sister. My brother Jack has got red hair and green eyes. My sister Emma has got long blonde hair. We've got a dog called Max and two cats. We haven't got a garden, but we've got a balcony. My parents have got an old car. It hasn't got air conditioning, but we love it.</a:t>
            </a:r>
          </a:p>
        </p:txBody>
      </p:sp>
      <p:sp>
        <p:nvSpPr>
          <p:cNvPr id="506" name="box506"/>
          <p:cNvSpPr>
            <a:spLocks noGrp="1"/>
          </p:cNvSpPr>
          <p:nvPr/>
        </p:nvSpPr>
        <p:spPr>
          <a:xfrm>
            <a:off x="180000" y="1475999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507" name="tb507"/>
          <p:cNvSpPr txBox="1">
            <a:spLocks noGrp="1"/>
          </p:cNvSpPr>
          <p:nvPr/>
        </p:nvSpPr>
        <p:spPr>
          <a:xfrm>
            <a:off x="180000" y="1728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548235"/>
                </a:solidFill>
                <a:latin typeface="Calibri"/>
              </a:rPr>
              <a:t>Write 6 sentences describing yourself and your family using have got / has got.</a:t>
            </a:r>
          </a:p>
        </p:txBody>
      </p:sp>
      <p:sp>
        <p:nvSpPr>
          <p:cNvPr id="508" name="tb508"/>
          <p:cNvSpPr txBox="1">
            <a:spLocks noGrp="1"/>
          </p:cNvSpPr>
          <p:nvPr/>
        </p:nvSpPr>
        <p:spPr>
          <a:xfrm>
            <a:off x="180000" y="20159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Describe your hair: I've got ___ hair.</a:t>
            </a:r>
          </a:p>
        </p:txBody>
      </p:sp>
      <p:sp>
        <p:nvSpPr>
          <p:cNvPr id="509" name="tb509"/>
          <p:cNvSpPr txBox="1">
            <a:spLocks noGrp="1"/>
          </p:cNvSpPr>
          <p:nvPr/>
        </p:nvSpPr>
        <p:spPr>
          <a:xfrm>
            <a:off x="180000" y="21527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Describe your eyes: I've got ___ eyes.</a:t>
            </a:r>
          </a:p>
        </p:txBody>
      </p:sp>
      <p:sp>
        <p:nvSpPr>
          <p:cNvPr id="510" name="tb510"/>
          <p:cNvSpPr txBox="1">
            <a:spLocks noGrp="1"/>
          </p:cNvSpPr>
          <p:nvPr/>
        </p:nvSpPr>
        <p:spPr>
          <a:xfrm>
            <a:off x="180000" y="22895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Write about siblings: I've got ___ / I haven't got ___.</a:t>
            </a:r>
          </a:p>
        </p:txBody>
      </p:sp>
    </p:spTree>
  </p:cSld>
  <p:clrMapOvr>
    <a:masterClr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51" name="box5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2" name="box5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3" name="tb5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🏠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HOMEWORK</a:t>
            </a:r>
          </a:p>
        </p:txBody>
      </p:sp>
      <p:sp>
        <p:nvSpPr>
          <p:cNvPr id="554" name="box554"/>
          <p:cNvSpPr>
            <a:spLocks noGrp="1"/>
          </p:cNvSpPr>
          <p:nvPr/>
        </p:nvSpPr>
        <p:spPr>
          <a:xfrm>
            <a:off x="180000" y="54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1F3864"/>
                </a:solidFill>
                <a:latin typeface="Cambria"/>
              </a:rPr>
              <a:t>1</a:t>
            </a:r>
          </a:p>
        </p:txBody>
      </p:sp>
      <p:sp>
        <p:nvSpPr>
          <p:cNvPr id="555" name="box555"/>
          <p:cNvSpPr>
            <a:spLocks noGrp="1"/>
          </p:cNvSpPr>
          <p:nvPr/>
        </p:nvSpPr>
        <p:spPr>
          <a:xfrm>
            <a:off x="684000" y="540000"/>
            <a:ext cx="11328000" cy="432000"/>
          </a:xfrm>
          <a:prstGeom prst="rect">
            <a:avLst/>
          </a:prstGeom>
          <a:solidFill>
            <a:srgbClr val="DCE6F1"/>
          </a:solidFill>
          <a:ln w="12700">
            <a:solidFill>
              <a:srgbClr val="2E75B6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Production Task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Draw or find a picture of a person. Write 8 sentences describing them using has got and hasn't got. Include hair, eyes, accessories, and possessions.</a:t>
            </a:r>
          </a:p>
        </p:txBody>
      </p:sp>
      <p:sp>
        <p:nvSpPr>
          <p:cNvPr id="556" name="box556"/>
          <p:cNvSpPr>
            <a:spLocks noGrp="1"/>
          </p:cNvSpPr>
          <p:nvPr/>
        </p:nvSpPr>
        <p:spPr>
          <a:xfrm>
            <a:off x="180000" y="108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557" name="box557"/>
          <p:cNvSpPr>
            <a:spLocks noGrp="1"/>
          </p:cNvSpPr>
          <p:nvPr/>
        </p:nvSpPr>
        <p:spPr>
          <a:xfrm>
            <a:off x="684000" y="1080000"/>
            <a:ext cx="11328000" cy="43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Vocabulary Consolidation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Write a list of 5 things you have got and 5 things you haven't got. Example: I've got a bike. I haven't got a car.</a:t>
            </a:r>
          </a:p>
        </p:txBody>
      </p:sp>
      <p:sp>
        <p:nvSpPr>
          <p:cNvPr id="558" name="box558"/>
          <p:cNvSpPr>
            <a:spLocks noGrp="1"/>
          </p:cNvSpPr>
          <p:nvPr/>
        </p:nvSpPr>
        <p:spPr>
          <a:xfrm>
            <a:off x="180000" y="6498000"/>
            <a:ext cx="144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📅  Due: next class</a:t>
            </a:r>
          </a:p>
        </p:txBody>
      </p:sp>
    </p:spTree>
  </p:cSld>
  <p:clrMapOvr>
    <a:masterClr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601" name="shape60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602" name="shape602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3" name="shape603"/>
          <p:cNvSpPr>
            <a:spLocks noGrp="1"/>
          </p:cNvSpPr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4" name="shape604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5" name="box605"/>
          <p:cNvSpPr>
            <a:spLocks noGrp="1"/>
          </p:cNvSpPr>
          <p:nvPr/>
        </p:nvSpPr>
        <p:spPr>
          <a:xfrm>
            <a:off x="432000" y="432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9  ·  A1</a:t>
            </a:r>
          </a:p>
        </p:txBody>
      </p:sp>
      <p:sp>
        <p:nvSpPr>
          <p:cNvPr id="606" name="tb606"/>
          <p:cNvSpPr txBox="1">
            <a:spLocks noGrp="1"/>
          </p:cNvSpPr>
          <p:nvPr/>
        </p:nvSpPr>
        <p:spPr>
          <a:xfrm>
            <a:off x="432000" y="827999"/>
            <a:ext cx="11472000" cy="90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3600" dirty="0">
                <a:solidFill>
                  <a:srgbClr val="FFFFFF"/>
                </a:solidFill>
                <a:latin typeface="Cambria"/>
              </a:rPr>
              <a:t>Have Got / Has Got</a:t>
            </a:r>
          </a:p>
        </p:txBody>
      </p:sp>
      <p:sp>
        <p:nvSpPr>
          <p:cNvPr id="607" name="tb607"/>
          <p:cNvSpPr txBox="1">
            <a:spLocks noGrp="1"/>
          </p:cNvSpPr>
          <p:nvPr/>
        </p:nvSpPr>
        <p:spPr>
          <a:xfrm>
            <a:off x="432000" y="1800000"/>
            <a:ext cx="11472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600" dirty="0">
                <a:solidFill>
                  <a:srgbClr val="BF8F00"/>
                </a:solidFill>
                <a:latin typeface="Calibri"/>
              </a:rPr>
              <a:t>✦  Questions are the engines of learning. Ask more!</a:t>
            </a:r>
          </a:p>
        </p:txBody>
      </p:sp>
      <p:sp>
        <p:nvSpPr>
          <p:cNvPr id="608" name="box608"/>
          <p:cNvSpPr>
            <a:spLocks noGrp="1"/>
          </p:cNvSpPr>
          <p:nvPr/>
        </p:nvSpPr>
        <p:spPr>
          <a:xfrm>
            <a:off x="10752000" y="6462000"/>
            <a:ext cx="1260000" cy="2340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See you next class! 👋</a:t>
            </a:r>
          </a:p>
        </p:txBody>
      </p:sp>
    </p:spTree>
  </p:cSld>
  <p:clrMapOvr>
    <a:masterClr/>
  </p:clrMapOvr>
</p:sld>
</file>