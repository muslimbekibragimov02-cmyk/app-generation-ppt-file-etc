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
    Type="http://schemas.openxmlformats.org/officeDocument/2006/relationships/officeDocument"
    Target="ppt/presentation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saveSubsetFonts="1">
  <p:sldMasterIdLst>
    <p:sldMasterId id="2147483648" r:id="rId0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 type="screen16x9"/>
  <p:notesSz cx="6858000" cy="12192000"/>
</p:presentation>
</file>

<file path=ppt/_rels/presentation.xml.rels><?xml version="1.0" encoding="UTF-8" standalone="yes"?>
<Relationships xmlns="http://schemas.openxmlformats.org/package/2006/relationships">
  <Relationship Id="rId0"
    Type="http://schemas.openxmlformats.org/officeDocument/2006/relationships/slideMaster"
    Target="slideMasters/slideMaster1.xml"/>
  <Relationship Id="rId1"
    Type="http://schemas.openxmlformats.org/officeDocument/2006/relationships/slide"
    Target="slides/slide1.xml"/>
  <Relationship Id="rId2"
    Type="http://schemas.openxmlformats.org/officeDocument/2006/relationships/slide"
    Target="slides/slide2.xml"/>
  <Relationship Id="rId3"
    Type="http://schemas.openxmlformats.org/officeDocument/2006/relationships/slide"
    Target="slides/slide3.xml"/>
  <Relationship Id="rId4"
    Type="http://schemas.openxmlformats.org/officeDocument/2006/relationships/slide"
    Target="slides/slide4.xml"/>
  <Relationship Id="rId5"
    Type="http://schemas.openxmlformats.org/officeDocument/2006/relationships/slide"
    Target="slides/slide5.xml"/>
  <Relationship Id="rId6"
    Type="http://schemas.openxmlformats.org/officeDocument/2006/relationships/slide"
    Target="slides/slide6.xml"/>
  <Relationship Id="rId7"
    Type="http://schemas.openxmlformats.org/officeDocument/2006/relationships/slide"
    Target="slides/slide7.xml"/>
  <Relationship Id="rId8"
    Type="http://schemas.openxmlformats.org/officeDocument/2006/relationships/slide"
    Target="slides/slide8.xml"/>
  <Relationship Id="rId9"
    Type="http://schemas.openxmlformats.org/officeDocument/2006/relationships/slide"
    Target="slides/slide9.xml"/>
  <Relationship Id="rId10"
    Type="http://schemas.openxmlformats.org/officeDocument/2006/relationships/slide"
    Target="slides/slide10.xml"/>
  <Relationship Id="rId11"
    Type="http://schemas.openxmlformats.org/officeDocument/2006/relationships/slide"
    Target="slides/slide11.xml"/>
  <Relationship Id="rId12"
    Type="http://schemas.openxmlformats.org/officeDocument/2006/relationships/slide"
    Target="slides/slide12.xml"/>
  <Relationship Id="rId13"
    Type="http://schemas.openxmlformats.org/officeDocument/2006/relationships/slide"
    Target="slides/slide13.xml"/>
</Relationships>
</file>

<file path=ppt/slideLayouts/_rels/slideLayout1.xml.rels><?xml version="1.0" encoding="UTF-8" standalone="yes"?>
<Relationships xmlns="http://schemas.openxmlformats.org/package/2006/relationships">
  <Relationship Id="rId1"
    Type="http://schemas.openxmlformats.org/officeDocument/2006/relationships/slideMaster"
   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Ovr>
    <a:masterClr/>
  </p:clrMapOvr>
</p:sldLayout>
</file>

<file path=ppt/slideMasters/_rels/slideMaster1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stStyle/>
    </p:titleStyle>
    <p:bodyStyle>
      <a:lstStyle/>
    </p:bodyStyle>
    <p:otherStyle>
      <a:lstStyle/>
    </p:otherStyle>
  </p:txStyles>
</p:sldMaster>
</file>

<file path=ppt/slides/_rels/slide1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bg>
      <p:bgPr>
        <a:solidFill>
          <a:srgbClr val="1F3864"/>
        </a:solidFill>
        <a:effectLst/>
      </p:bgPr>
    </p:bg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11" name="shape1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="1">
            <a:gsLst>
              <a:gs pos="0">
                <a:srgbClr val="1F3864"/>
              </a:gs>
              <a:gs pos="100000">
                <a:srgbClr val="0D2245"/>
              </a:gs>
            </a:gsLst>
            <a:lin ang="5400000" scaled="0"/>
          </a:gradFill>
        </p:spPr>
        <p:txBody>
          <a:bodyPr/>
          <a:lstStyle/>
          <a:p/>
        </p:txBody>
      </p:sp>
      <p:sp>
        <p:nvSpPr>
          <p:cNvPr id="12" name="shape12"/>
          <p:cNvSpPr>
            <a:spLocks noGrp="1"/>
          </p:cNvSpPr>
          <p:nvPr/>
        </p:nvSpPr>
        <p:spPr>
          <a:xfrm>
            <a:off x="0" y="0"/>
            <a:ext cx="144000" cy="6858000"/>
          </a:xfrm>
          <a:prstGeom prst="rect">
            <a:avLst/>
          </a:prstGeom>
          <a:solidFill>
            <a:srgbClr val="BF8F00"/>
          </a:solidFill>
        </p:spPr>
        <p:txBody>
          <a:bodyPr/>
          <a:lstStyle/>
          <a:p/>
        </p:txBody>
      </p:sp>
      <p:sp>
        <p:nvSpPr>
          <p:cNvPr id="13" name="shape13"/>
          <p:cNvSpPr>
            <a:spLocks noGrp="1"/>
          </p:cNvSpPr>
          <p:nvPr/>
        </p:nvSpPr>
        <p:spPr>
          <a:xfrm>
            <a:off x="0" y="0"/>
            <a:ext cx="12192000" cy="108000"/>
          </a:xfrm>
          <a:prstGeom prst="rect">
            <a:avLst/>
          </a:prstGeom>
          <a:solidFill>
            <a:srgbClr val="BF8F00"/>
          </a:solidFill>
        </p:spPr>
        <p:txBody>
          <a:bodyPr/>
          <a:lstStyle/>
          <a:p/>
        </p:txBody>
      </p:sp>
      <p:sp>
        <p:nvSpPr>
          <p:cNvPr id="14" name="box14"/>
          <p:cNvSpPr>
            <a:spLocks noGrp="1"/>
          </p:cNvSpPr>
          <p:nvPr/>
        </p:nvSpPr>
        <p:spPr>
          <a:xfrm>
            <a:off x="432000" y="468000"/>
            <a:ext cx="1800000" cy="324000"/>
          </a:xfrm>
          <a:prstGeom prst="roundRect">
            <a:avLst>
              <a:gd name="adj" fmla="val 20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600" dirty="0">
                <a:solidFill>
                  <a:srgbClr val="1F3864"/>
                </a:solidFill>
                <a:latin typeface="Cambria"/>
              </a:rPr>
              <a:t>UNIT 9  ·  A1</a:t>
            </a:r>
          </a:p>
        </p:txBody>
      </p:sp>
      <p:sp>
        <p:nvSpPr>
          <p:cNvPr id="15" name="tb15"/>
          <p:cNvSpPr txBox="1">
            <a:spLocks noGrp="1"/>
          </p:cNvSpPr>
          <p:nvPr/>
        </p:nvSpPr>
        <p:spPr>
          <a:xfrm>
            <a:off x="432000" y="900000"/>
            <a:ext cx="11472000" cy="288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BFC9D6"/>
                </a:solidFill>
                <a:latin typeface="Calibri"/>
              </a:rPr>
              <a:t>English Grammar in Action — Level 1</a:t>
            </a:r>
          </a:p>
        </p:txBody>
      </p:sp>
      <p:sp>
        <p:nvSpPr>
          <p:cNvPr id="16" name="tb16"/>
          <p:cNvSpPr txBox="1">
            <a:spLocks noGrp="1"/>
          </p:cNvSpPr>
          <p:nvPr/>
        </p:nvSpPr>
        <p:spPr>
          <a:xfrm>
            <a:off x="432000" y="1188000"/>
            <a:ext cx="11472000" cy="1080000"/>
          </a:xfrm>
          <a:prstGeom prst="rect">
            <a:avLst/>
          </a:prstGeom>
          <a:noFill/>
        </p:spPr>
        <p:txBody>
          <a:bodyPr anchor="t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4000" dirty="0">
                <a:solidFill>
                  <a:srgbClr val="FFFFFF"/>
                </a:solidFill>
                <a:latin typeface="Cambria"/>
              </a:rPr>
              <a:t>Have Got / Has Got</a:t>
            </a:r>
          </a:p>
        </p:txBody>
      </p:sp>
      <p:sp>
        <p:nvSpPr>
          <p:cNvPr id="17" name="tb17"/>
          <p:cNvSpPr txBox="1">
            <a:spLocks noGrp="1"/>
          </p:cNvSpPr>
          <p:nvPr/>
        </p:nvSpPr>
        <p:spPr>
          <a:xfrm>
            <a:off x="432000" y="2088000"/>
            <a:ext cx="1147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i="1" sz="1700" dirty="0">
                <a:solidFill>
                  <a:srgbClr val="DCE6F1"/>
                </a:solidFill>
                <a:latin typeface="Calibri"/>
              </a:rPr>
              <a:t>I've got / He's got; haven't got / hasn't got; Have you got?; also don't have / doesn't have</a:t>
            </a:r>
          </a:p>
        </p:txBody>
      </p:sp>
      <p:sp>
        <p:nvSpPr>
          <p:cNvPr id="18" name="shape18"/>
          <p:cNvSpPr>
            <a:spLocks noGrp="1"/>
          </p:cNvSpPr>
          <p:nvPr/>
        </p:nvSpPr>
        <p:spPr>
          <a:xfrm>
            <a:off x="0" y="6768000"/>
            <a:ext cx="12192000" cy="90000"/>
          </a:xfrm>
          <a:prstGeom prst="rect">
            <a:avLst/>
          </a:prstGeom>
          <a:solidFill>
            <a:srgbClr val="BF8F00"/>
          </a:solidFill>
        </p:spPr>
        <p:txBody>
          <a:bodyPr/>
          <a:lstStyle/>
          <a:p/>
        </p:txBody>
      </p:sp>
      <p:sp>
        <p:nvSpPr>
          <p:cNvPr id="19" name="box19"/>
          <p:cNvSpPr>
            <a:spLocks noGrp="1"/>
          </p:cNvSpPr>
          <p:nvPr/>
        </p:nvSpPr>
        <p:spPr>
          <a:xfrm>
            <a:off x="11112000" y="6354001"/>
            <a:ext cx="936000" cy="3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400" dirty="0">
                <a:solidFill>
                  <a:srgbClr val="FFFFFF"/>
                </a:solidFill>
                <a:latin typeface="Calibri"/>
              </a:rPr>
              <a:t>CEFR  A1</a:t>
            </a:r>
          </a:p>
        </p:txBody>
      </p:sp>
    </p:spTree>
  </p:cSld>
  <p:clrMapOvr>
    <a:masterClr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51" name="box5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52" name="box5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53" name="tb5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🎯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LEARNING OBJECTIVES</a:t>
            </a:r>
          </a:p>
        </p:txBody>
      </p:sp>
      <p:sp>
        <p:nvSpPr>
          <p:cNvPr id="54" name="box54"/>
          <p:cNvSpPr>
            <a:spLocks noGrp="1"/>
          </p:cNvSpPr>
          <p:nvPr/>
        </p:nvSpPr>
        <p:spPr>
          <a:xfrm>
            <a:off x="180000" y="5400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0" sz="1800" dirty="0">
                <a:solidFill>
                  <a:srgbClr val="FFFFFF"/>
                </a:solidFill>
                <a:latin typeface="Calibri"/>
              </a:rPr>
              <a:t>📌</a:t>
            </a:r>
          </a:p>
        </p:txBody>
      </p:sp>
      <p:sp>
        <p:nvSpPr>
          <p:cNvPr id="55" name="box55"/>
          <p:cNvSpPr>
            <a:spLocks noGrp="1"/>
          </p:cNvSpPr>
          <p:nvPr/>
        </p:nvSpPr>
        <p:spPr>
          <a:xfrm>
            <a:off x="558000" y="540000"/>
            <a:ext cx="11616000" cy="30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108000" rIns="72000" tIns="54000" bIns="54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1F3864"/>
                </a:solidFill>
                <a:latin typeface="Calibri"/>
              </a:rPr>
              <a:t>Use have got / has got to talk about possession and relationships.</a:t>
            </a:r>
          </a:p>
        </p:txBody>
      </p:sp>
      <p:sp>
        <p:nvSpPr>
          <p:cNvPr id="56" name="box56"/>
          <p:cNvSpPr>
            <a:spLocks noGrp="1"/>
          </p:cNvSpPr>
          <p:nvPr/>
        </p:nvSpPr>
        <p:spPr>
          <a:xfrm>
            <a:off x="180000" y="9252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0" sz="1800" dirty="0">
                <a:solidFill>
                  <a:srgbClr val="FFFFFF"/>
                </a:solidFill>
                <a:latin typeface="Calibri"/>
              </a:rPr>
              <a:t>✏️</a:t>
            </a:r>
          </a:p>
        </p:txBody>
      </p:sp>
      <p:sp>
        <p:nvSpPr>
          <p:cNvPr id="57" name="box57"/>
          <p:cNvSpPr>
            <a:spLocks noGrp="1"/>
          </p:cNvSpPr>
          <p:nvPr/>
        </p:nvSpPr>
        <p:spPr>
          <a:xfrm>
            <a:off x="558000" y="925200"/>
            <a:ext cx="11616000" cy="30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108000" rIns="72000" tIns="54000" bIns="54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1F3864"/>
                </a:solidFill>
                <a:latin typeface="Calibri"/>
              </a:rPr>
              <a:t>Form negatives: haven't got / hasn't got.</a:t>
            </a:r>
          </a:p>
        </p:txBody>
      </p:sp>
      <p:sp>
        <p:nvSpPr>
          <p:cNvPr id="58" name="box58"/>
          <p:cNvSpPr>
            <a:spLocks noGrp="1"/>
          </p:cNvSpPr>
          <p:nvPr/>
        </p:nvSpPr>
        <p:spPr>
          <a:xfrm>
            <a:off x="180000" y="13104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0" sz="1800" dirty="0">
                <a:solidFill>
                  <a:srgbClr val="FFFFFF"/>
                </a:solidFill>
                <a:latin typeface="Calibri"/>
              </a:rPr>
              <a:t>🔍</a:t>
            </a:r>
          </a:p>
        </p:txBody>
      </p:sp>
      <p:sp>
        <p:nvSpPr>
          <p:cNvPr id="59" name="box59"/>
          <p:cNvSpPr>
            <a:spLocks noGrp="1"/>
          </p:cNvSpPr>
          <p:nvPr/>
        </p:nvSpPr>
        <p:spPr>
          <a:xfrm>
            <a:off x="558000" y="1310400"/>
            <a:ext cx="11616000" cy="30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108000" rIns="72000" tIns="54000" bIns="54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1F3864"/>
                </a:solidFill>
                <a:latin typeface="Calibri"/>
              </a:rPr>
              <a:t>Form questions: Have you got? / Has she got?</a:t>
            </a:r>
          </a:p>
        </p:txBody>
      </p:sp>
      <p:sp>
        <p:nvSpPr>
          <p:cNvPr id="60" name="box60"/>
          <p:cNvSpPr>
            <a:spLocks noGrp="1"/>
          </p:cNvSpPr>
          <p:nvPr/>
        </p:nvSpPr>
        <p:spPr>
          <a:xfrm>
            <a:off x="180000" y="16956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0" sz="1800" dirty="0">
                <a:solidFill>
                  <a:srgbClr val="FFFFFF"/>
                </a:solidFill>
                <a:latin typeface="Calibri"/>
              </a:rPr>
              <a:t>💡</a:t>
            </a:r>
          </a:p>
        </p:txBody>
      </p:sp>
      <p:sp>
        <p:nvSpPr>
          <p:cNvPr id="61" name="box61"/>
          <p:cNvSpPr>
            <a:spLocks noGrp="1"/>
          </p:cNvSpPr>
          <p:nvPr/>
        </p:nvSpPr>
        <p:spPr>
          <a:xfrm>
            <a:off x="558000" y="1695600"/>
            <a:ext cx="11616000" cy="30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108000" rIns="72000" tIns="54000" bIns="54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1F3864"/>
                </a:solidFill>
                <a:latin typeface="Calibri"/>
              </a:rPr>
              <a:t>Give short answers: Yes, I have. / No, she hasn't.</a:t>
            </a:r>
          </a:p>
        </p:txBody>
      </p:sp>
      <p:sp>
        <p:nvSpPr>
          <p:cNvPr id="62" name="box62"/>
          <p:cNvSpPr>
            <a:spLocks noGrp="1"/>
          </p:cNvSpPr>
          <p:nvPr/>
        </p:nvSpPr>
        <p:spPr>
          <a:xfrm>
            <a:off x="180000" y="20808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0" sz="1800" dirty="0">
                <a:solidFill>
                  <a:srgbClr val="FFFFFF"/>
                </a:solidFill>
                <a:latin typeface="Calibri"/>
              </a:rPr>
              <a:t>🗣️</a:t>
            </a:r>
          </a:p>
        </p:txBody>
      </p:sp>
      <p:sp>
        <p:nvSpPr>
          <p:cNvPr id="63" name="box63"/>
          <p:cNvSpPr>
            <a:spLocks noGrp="1"/>
          </p:cNvSpPr>
          <p:nvPr/>
        </p:nvSpPr>
        <p:spPr>
          <a:xfrm>
            <a:off x="558000" y="2080800"/>
            <a:ext cx="11616000" cy="30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108000" rIns="72000" tIns="54000" bIns="54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1F3864"/>
                </a:solidFill>
                <a:latin typeface="Calibri"/>
              </a:rPr>
              <a:t>Understand the difference between have got (British) and have (American).</a:t>
            </a:r>
          </a:p>
        </p:txBody>
      </p:sp>
    </p:spTree>
  </p:cSld>
  <p:clrMapOvr>
    <a:masterClr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101" name="box10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102" name="box10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103" name="tb10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⚡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WARM-UP ACTIVITY</a:t>
            </a:r>
          </a:p>
        </p:txBody>
      </p:sp>
      <p:sp>
        <p:nvSpPr>
          <p:cNvPr id="104" name="box104"/>
          <p:cNvSpPr>
            <a:spLocks noGrp="1"/>
          </p:cNvSpPr>
          <p:nvPr/>
        </p:nvSpPr>
        <p:spPr>
          <a:xfrm>
            <a:off x="180000" y="540000"/>
            <a:ext cx="11832000" cy="396000"/>
          </a:xfrm>
          <a:prstGeom prst="roundRect">
            <a:avLst>
              <a:gd name="adj" fmla="val 15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180000" rIns="72000" tIns="54000" bIns="54000"/>
          <a:lstStyle/>
          <a:p>
            <a:pPr algn="l" spcBef="0" spcAft="0">
              <a:spcPct val="100000"/>
            </a:pPr>
            <a:r>
              <a:rPr lang="en-GB" b="1" sz="2400" dirty="0">
                <a:solidFill>
                  <a:srgbClr val="1F3864"/>
                </a:solidFill>
                <a:latin typeface="Cambria"/>
              </a:rPr>
              <a:t>🎒 What's in Your Bag?</a:t>
            </a:r>
          </a:p>
        </p:txBody>
      </p:sp>
      <p:sp>
        <p:nvSpPr>
          <p:cNvPr id="105" name="box105"/>
          <p:cNvSpPr>
            <a:spLocks noGrp="1"/>
          </p:cNvSpPr>
          <p:nvPr/>
        </p:nvSpPr>
        <p:spPr>
          <a:xfrm>
            <a:off x="11040000" y="540000"/>
            <a:ext cx="972000" cy="396000"/>
          </a:xfrm>
          <a:prstGeom prst="roundRect">
            <a:avLst>
              <a:gd name="adj" fmla="val 15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BF8F00"/>
                </a:solidFill>
                <a:latin typeface="Calibri"/>
              </a:rPr>
              <a:t>⏱  5 minutes</a:t>
            </a:r>
          </a:p>
        </p:txBody>
      </p:sp>
      <p:sp>
        <p:nvSpPr>
          <p:cNvPr id="106" name="box106"/>
          <p:cNvSpPr>
            <a:spLocks noGrp="1"/>
          </p:cNvSpPr>
          <p:nvPr/>
        </p:nvSpPr>
        <p:spPr>
          <a:xfrm>
            <a:off x="180000" y="1026000"/>
            <a:ext cx="251999" cy="324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60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7" name="tb107"/>
          <p:cNvSpPr txBox="1">
            <a:spLocks noGrp="1"/>
          </p:cNvSpPr>
          <p:nvPr/>
        </p:nvSpPr>
        <p:spPr>
          <a:xfrm>
            <a:off x="503999" y="1026000"/>
            <a:ext cx="11508000" cy="324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404040"/>
                </a:solidFill>
                <a:latin typeface="Calibri"/>
              </a:rPr>
              <a:t>Without looking, guess 3 things your partner has got in their bag.</a:t>
            </a:r>
          </a:p>
        </p:txBody>
      </p:sp>
      <p:sp>
        <p:nvSpPr>
          <p:cNvPr id="108" name="box108"/>
          <p:cNvSpPr>
            <a:spLocks noGrp="1"/>
          </p:cNvSpPr>
          <p:nvPr/>
        </p:nvSpPr>
        <p:spPr>
          <a:xfrm>
            <a:off x="180000" y="1458000"/>
            <a:ext cx="251999" cy="324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600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9" name="tb109"/>
          <p:cNvSpPr txBox="1">
            <a:spLocks noGrp="1"/>
          </p:cNvSpPr>
          <p:nvPr/>
        </p:nvSpPr>
        <p:spPr>
          <a:xfrm>
            <a:off x="503999" y="1458000"/>
            <a:ext cx="11508000" cy="324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404040"/>
                </a:solidFill>
                <a:latin typeface="Calibri"/>
              </a:rPr>
              <a:t>Ask: 'Have you got a pen? Have you got a phone? Have you got keys?'</a:t>
            </a:r>
          </a:p>
        </p:txBody>
      </p:sp>
      <p:sp>
        <p:nvSpPr>
          <p:cNvPr id="110" name="box110"/>
          <p:cNvSpPr>
            <a:spLocks noGrp="1"/>
          </p:cNvSpPr>
          <p:nvPr/>
        </p:nvSpPr>
        <p:spPr>
          <a:xfrm>
            <a:off x="180000" y="1890000"/>
            <a:ext cx="251999" cy="324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600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1" name="tb111"/>
          <p:cNvSpPr txBox="1">
            <a:spLocks noGrp="1"/>
          </p:cNvSpPr>
          <p:nvPr/>
        </p:nvSpPr>
        <p:spPr>
          <a:xfrm>
            <a:off x="503999" y="1890000"/>
            <a:ext cx="11508000" cy="324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404040"/>
                </a:solidFill>
                <a:latin typeface="Calibri"/>
              </a:rPr>
              <a:t>Your partner checks and answers: 'Yes, I have.' or 'No, I haven't.'</a:t>
            </a:r>
          </a:p>
        </p:txBody>
      </p:sp>
    </p:spTree>
  </p:cSld>
  <p:clrMapOvr>
    <a:masterClr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151" name="box15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152" name="box15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153" name="tb15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📖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VOCABULARY PREVIEW</a:t>
            </a:r>
          </a:p>
        </p:txBody>
      </p:sp>
      <p:sp>
        <p:nvSpPr>
          <p:cNvPr id="154" name="box154"/>
          <p:cNvSpPr>
            <a:spLocks noGrp="1"/>
          </p:cNvSpPr>
          <p:nvPr/>
        </p:nvSpPr>
        <p:spPr>
          <a:xfrm>
            <a:off x="180000" y="5400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pet</a:t>
            </a:r>
          </a:p>
        </p:txBody>
      </p:sp>
      <p:sp>
        <p:nvSpPr>
          <p:cNvPr id="155" name="box155"/>
          <p:cNvSpPr>
            <a:spLocks noGrp="1"/>
          </p:cNvSpPr>
          <p:nvPr/>
        </p:nvSpPr>
        <p:spPr>
          <a:xfrm>
            <a:off x="1007999" y="5400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nou</a:t>
            </a:r>
          </a:p>
        </p:txBody>
      </p:sp>
      <p:sp>
        <p:nvSpPr>
          <p:cNvPr id="156" name="box156"/>
          <p:cNvSpPr>
            <a:spLocks noGrp="1"/>
          </p:cNvSpPr>
          <p:nvPr/>
        </p:nvSpPr>
        <p:spPr>
          <a:xfrm>
            <a:off x="1512000" y="5400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an animal kept at home</a:t>
            </a:r>
          </a:p>
        </p:txBody>
      </p:sp>
      <p:sp>
        <p:nvSpPr>
          <p:cNvPr id="157" name="box157"/>
          <p:cNvSpPr>
            <a:spLocks noGrp="1"/>
          </p:cNvSpPr>
          <p:nvPr/>
        </p:nvSpPr>
        <p:spPr>
          <a:xfrm>
            <a:off x="6042000" y="5400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garden</a:t>
            </a:r>
          </a:p>
        </p:txBody>
      </p:sp>
      <p:sp>
        <p:nvSpPr>
          <p:cNvPr id="158" name="box158"/>
          <p:cNvSpPr>
            <a:spLocks noGrp="1"/>
          </p:cNvSpPr>
          <p:nvPr/>
        </p:nvSpPr>
        <p:spPr>
          <a:xfrm>
            <a:off x="6869999" y="5400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nou</a:t>
            </a:r>
          </a:p>
        </p:txBody>
      </p:sp>
      <p:sp>
        <p:nvSpPr>
          <p:cNvPr id="159" name="box159"/>
          <p:cNvSpPr>
            <a:spLocks noGrp="1"/>
          </p:cNvSpPr>
          <p:nvPr/>
        </p:nvSpPr>
        <p:spPr>
          <a:xfrm>
            <a:off x="7374000" y="5400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a piece of land for growing plants</a:t>
            </a:r>
          </a:p>
        </p:txBody>
      </p:sp>
      <p:sp>
        <p:nvSpPr>
          <p:cNvPr id="160" name="box160"/>
          <p:cNvSpPr>
            <a:spLocks noGrp="1"/>
          </p:cNvSpPr>
          <p:nvPr/>
        </p:nvSpPr>
        <p:spPr>
          <a:xfrm>
            <a:off x="180000" y="8856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phone</a:t>
            </a:r>
          </a:p>
        </p:txBody>
      </p:sp>
      <p:sp>
        <p:nvSpPr>
          <p:cNvPr id="161" name="box161"/>
          <p:cNvSpPr>
            <a:spLocks noGrp="1"/>
          </p:cNvSpPr>
          <p:nvPr/>
        </p:nvSpPr>
        <p:spPr>
          <a:xfrm>
            <a:off x="1007999" y="8856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nou</a:t>
            </a:r>
          </a:p>
        </p:txBody>
      </p:sp>
      <p:sp>
        <p:nvSpPr>
          <p:cNvPr id="162" name="box162"/>
          <p:cNvSpPr>
            <a:spLocks noGrp="1"/>
          </p:cNvSpPr>
          <p:nvPr/>
        </p:nvSpPr>
        <p:spPr>
          <a:xfrm>
            <a:off x="1512000" y="8856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a device for communication</a:t>
            </a:r>
          </a:p>
        </p:txBody>
      </p:sp>
      <p:sp>
        <p:nvSpPr>
          <p:cNvPr id="163" name="box163"/>
          <p:cNvSpPr>
            <a:spLocks noGrp="1"/>
          </p:cNvSpPr>
          <p:nvPr/>
        </p:nvSpPr>
        <p:spPr>
          <a:xfrm>
            <a:off x="6042000" y="8856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wallet</a:t>
            </a:r>
          </a:p>
        </p:txBody>
      </p:sp>
      <p:sp>
        <p:nvSpPr>
          <p:cNvPr id="164" name="box164"/>
          <p:cNvSpPr>
            <a:spLocks noGrp="1"/>
          </p:cNvSpPr>
          <p:nvPr/>
        </p:nvSpPr>
        <p:spPr>
          <a:xfrm>
            <a:off x="6869999" y="8856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nou</a:t>
            </a:r>
          </a:p>
        </p:txBody>
      </p:sp>
      <p:sp>
        <p:nvSpPr>
          <p:cNvPr id="165" name="box165"/>
          <p:cNvSpPr>
            <a:spLocks noGrp="1"/>
          </p:cNvSpPr>
          <p:nvPr/>
        </p:nvSpPr>
        <p:spPr>
          <a:xfrm>
            <a:off x="7374000" y="8856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a small case for money/cards</a:t>
            </a:r>
          </a:p>
        </p:txBody>
      </p:sp>
      <p:sp>
        <p:nvSpPr>
          <p:cNvPr id="166" name="box166"/>
          <p:cNvSpPr>
            <a:spLocks noGrp="1"/>
          </p:cNvSpPr>
          <p:nvPr/>
        </p:nvSpPr>
        <p:spPr>
          <a:xfrm>
            <a:off x="180000" y="12312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umbrella</a:t>
            </a:r>
          </a:p>
        </p:txBody>
      </p:sp>
      <p:sp>
        <p:nvSpPr>
          <p:cNvPr id="167" name="box167"/>
          <p:cNvSpPr>
            <a:spLocks noGrp="1"/>
          </p:cNvSpPr>
          <p:nvPr/>
        </p:nvSpPr>
        <p:spPr>
          <a:xfrm>
            <a:off x="1007999" y="12312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nou</a:t>
            </a:r>
          </a:p>
        </p:txBody>
      </p:sp>
      <p:sp>
        <p:nvSpPr>
          <p:cNvPr id="168" name="box168"/>
          <p:cNvSpPr>
            <a:spLocks noGrp="1"/>
          </p:cNvSpPr>
          <p:nvPr/>
        </p:nvSpPr>
        <p:spPr>
          <a:xfrm>
            <a:off x="1512000" y="12312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something to keep rain off</a:t>
            </a:r>
          </a:p>
        </p:txBody>
      </p:sp>
      <p:sp>
        <p:nvSpPr>
          <p:cNvPr id="169" name="box169"/>
          <p:cNvSpPr>
            <a:spLocks noGrp="1"/>
          </p:cNvSpPr>
          <p:nvPr/>
        </p:nvSpPr>
        <p:spPr>
          <a:xfrm>
            <a:off x="6042000" y="12312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bicycle</a:t>
            </a:r>
          </a:p>
        </p:txBody>
      </p:sp>
      <p:sp>
        <p:nvSpPr>
          <p:cNvPr id="170" name="box170"/>
          <p:cNvSpPr>
            <a:spLocks noGrp="1"/>
          </p:cNvSpPr>
          <p:nvPr/>
        </p:nvSpPr>
        <p:spPr>
          <a:xfrm>
            <a:off x="6869999" y="12312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nou</a:t>
            </a:r>
          </a:p>
        </p:txBody>
      </p:sp>
      <p:sp>
        <p:nvSpPr>
          <p:cNvPr id="171" name="box171"/>
          <p:cNvSpPr>
            <a:spLocks noGrp="1"/>
          </p:cNvSpPr>
          <p:nvPr/>
        </p:nvSpPr>
        <p:spPr>
          <a:xfrm>
            <a:off x="7374000" y="12312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a two-wheeled vehicle</a:t>
            </a:r>
          </a:p>
        </p:txBody>
      </p:sp>
      <p:sp>
        <p:nvSpPr>
          <p:cNvPr id="172" name="box172"/>
          <p:cNvSpPr>
            <a:spLocks noGrp="1"/>
          </p:cNvSpPr>
          <p:nvPr/>
        </p:nvSpPr>
        <p:spPr>
          <a:xfrm>
            <a:off x="180000" y="15768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headache</a:t>
            </a:r>
          </a:p>
        </p:txBody>
      </p:sp>
      <p:sp>
        <p:nvSpPr>
          <p:cNvPr id="173" name="box173"/>
          <p:cNvSpPr>
            <a:spLocks noGrp="1"/>
          </p:cNvSpPr>
          <p:nvPr/>
        </p:nvSpPr>
        <p:spPr>
          <a:xfrm>
            <a:off x="1007999" y="15768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nou</a:t>
            </a:r>
          </a:p>
        </p:txBody>
      </p:sp>
      <p:sp>
        <p:nvSpPr>
          <p:cNvPr id="174" name="box174"/>
          <p:cNvSpPr>
            <a:spLocks noGrp="1"/>
          </p:cNvSpPr>
          <p:nvPr/>
        </p:nvSpPr>
        <p:spPr>
          <a:xfrm>
            <a:off x="1512000" y="15768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a pain in the head</a:t>
            </a:r>
          </a:p>
        </p:txBody>
      </p:sp>
      <p:sp>
        <p:nvSpPr>
          <p:cNvPr id="175" name="box175"/>
          <p:cNvSpPr>
            <a:spLocks noGrp="1"/>
          </p:cNvSpPr>
          <p:nvPr/>
        </p:nvSpPr>
        <p:spPr>
          <a:xfrm>
            <a:off x="6042000" y="15768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fever</a:t>
            </a:r>
          </a:p>
        </p:txBody>
      </p:sp>
      <p:sp>
        <p:nvSpPr>
          <p:cNvPr id="176" name="box176"/>
          <p:cNvSpPr>
            <a:spLocks noGrp="1"/>
          </p:cNvSpPr>
          <p:nvPr/>
        </p:nvSpPr>
        <p:spPr>
          <a:xfrm>
            <a:off x="6869999" y="15768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nou</a:t>
            </a:r>
          </a:p>
        </p:txBody>
      </p:sp>
      <p:sp>
        <p:nvSpPr>
          <p:cNvPr id="177" name="box177"/>
          <p:cNvSpPr>
            <a:spLocks noGrp="1"/>
          </p:cNvSpPr>
          <p:nvPr/>
        </p:nvSpPr>
        <p:spPr>
          <a:xfrm>
            <a:off x="7374000" y="15768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a high body temperature</a:t>
            </a:r>
          </a:p>
        </p:txBody>
      </p:sp>
      <p:sp>
        <p:nvSpPr>
          <p:cNvPr id="178" name="box178"/>
          <p:cNvSpPr>
            <a:spLocks noGrp="1"/>
          </p:cNvSpPr>
          <p:nvPr/>
        </p:nvSpPr>
        <p:spPr>
          <a:xfrm>
            <a:off x="180000" y="19224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toothache</a:t>
            </a:r>
          </a:p>
        </p:txBody>
      </p:sp>
      <p:sp>
        <p:nvSpPr>
          <p:cNvPr id="179" name="box179"/>
          <p:cNvSpPr>
            <a:spLocks noGrp="1"/>
          </p:cNvSpPr>
          <p:nvPr/>
        </p:nvSpPr>
        <p:spPr>
          <a:xfrm>
            <a:off x="1007999" y="19224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nou</a:t>
            </a:r>
          </a:p>
        </p:txBody>
      </p:sp>
      <p:sp>
        <p:nvSpPr>
          <p:cNvPr id="180" name="box180"/>
          <p:cNvSpPr>
            <a:spLocks noGrp="1"/>
          </p:cNvSpPr>
          <p:nvPr/>
        </p:nvSpPr>
        <p:spPr>
          <a:xfrm>
            <a:off x="1512000" y="19224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a pain in a tooth</a:t>
            </a:r>
          </a:p>
        </p:txBody>
      </p:sp>
      <p:sp>
        <p:nvSpPr>
          <p:cNvPr id="181" name="box181"/>
          <p:cNvSpPr>
            <a:spLocks noGrp="1"/>
          </p:cNvSpPr>
          <p:nvPr/>
        </p:nvSpPr>
        <p:spPr>
          <a:xfrm>
            <a:off x="6042000" y="19224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appointment</a:t>
            </a:r>
          </a:p>
        </p:txBody>
      </p:sp>
      <p:sp>
        <p:nvSpPr>
          <p:cNvPr id="182" name="box182"/>
          <p:cNvSpPr>
            <a:spLocks noGrp="1"/>
          </p:cNvSpPr>
          <p:nvPr/>
        </p:nvSpPr>
        <p:spPr>
          <a:xfrm>
            <a:off x="6869999" y="19224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nou</a:t>
            </a:r>
          </a:p>
        </p:txBody>
      </p:sp>
      <p:sp>
        <p:nvSpPr>
          <p:cNvPr id="183" name="box183"/>
          <p:cNvSpPr>
            <a:spLocks noGrp="1"/>
          </p:cNvSpPr>
          <p:nvPr/>
        </p:nvSpPr>
        <p:spPr>
          <a:xfrm>
            <a:off x="7374000" y="19224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an arranged meeting time</a:t>
            </a:r>
          </a:p>
        </p:txBody>
      </p:sp>
      <p:sp>
        <p:nvSpPr>
          <p:cNvPr id="184" name="tb184"/>
          <p:cNvSpPr txBox="1">
            <a:spLocks noGrp="1"/>
          </p:cNvSpPr>
          <p:nvPr/>
        </p:nvSpPr>
        <p:spPr>
          <a:xfrm>
            <a:off x="180000" y="6606001"/>
            <a:ext cx="11832000" cy="198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i="1" sz="1300" dirty="0">
                <a:solidFill>
                  <a:srgbClr val="2E75B6"/>
                </a:solidFill>
                <a:latin typeface="Calibri"/>
              </a:rPr>
              <a:t>📚  Full 30-word vocabulary bank in your workbook — Section 4.</a:t>
            </a:r>
          </a:p>
        </p:txBody>
      </p:sp>
    </p:spTree>
  </p:cSld>
  <p:clrMapOvr>
    <a:masterClr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01" name="box20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202" name="box20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203" name="tb20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📐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GRAMMAR RULE</a:t>
            </a:r>
          </a:p>
        </p:txBody>
      </p:sp>
      <p:sp>
        <p:nvSpPr>
          <p:cNvPr id="204" name="box204"/>
          <p:cNvSpPr>
            <a:spLocks noGrp="1"/>
          </p:cNvSpPr>
          <p:nvPr/>
        </p:nvSpPr>
        <p:spPr>
          <a:xfrm>
            <a:off x="180000" y="522000"/>
            <a:ext cx="11832000" cy="396000"/>
          </a:xfrm>
          <a:prstGeom prst="roundRect">
            <a:avLst>
              <a:gd name="adj" fmla="val 10000"/>
            </a:avLst>
          </a:prstGeom>
          <a:solidFill>
            <a:srgbClr val="FFF2CC"/>
          </a:solidFill>
          <a:ln w="12700">
            <a:solidFill>
              <a:srgbClr val="BF8F00"/>
            </a:solidFill>
          </a:ln>
        </p:spPr>
        <p:txBody>
          <a:bodyPr anchor="ctr" wrap="square" lIns="144000" rIns="72000" tIns="54000" bIns="54000"/>
          <a:lstStyle/>
          <a:p>
            <a:pPr algn="l" spcBef="0" spcAft="0">
              <a:spcPct val="100000"/>
            </a:pPr>
            <a:r>
              <a:rPr lang="en-GB" b="1" sz="1700" dirty="0">
                <a:solidFill>
                  <a:srgbClr val="1F3864"/>
                </a:solidFill>
                <a:latin typeface="Calibri"/>
              </a:rPr>
              <a:t>📌  Use have got (I/you/we/they) or has got (he/she/it) to talk about possession, family, illness, and appearance.</a:t>
            </a:r>
          </a:p>
        </p:txBody>
      </p:sp>
      <p:graphicFrame>
        <p:nvGraphicFramePr>
          <p:cNvPr id="205" name="tbl205"/>
          <p:cNvGraphicFramePr>
            <a:graphicFrameLocks noGrp="1"/>
          </p:cNvGraphicFramePr>
          <p:nvPr/>
        </p:nvGraphicFramePr>
        <p:xfrm>
          <a:off x="180000" y="990000"/>
          <a:ext cx="11832000" cy="577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4000"/>
                <a:gridCol w="3944000"/>
                <a:gridCol w="3944000"/>
              </a:tblGrid>
              <a:tr h="927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I / You / We / They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He / She / It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27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Affirmative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I have got (I've got)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He has got (He's got)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27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Negative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I have not got (haven't got)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She has not got (hasn't got)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27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Have you got...?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Has he got...?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27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Short answer +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Yes, I have.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Yes, she has.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27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Short answer -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No, we haven't.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No, he hasn't.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51" name="box25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252" name="box25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253" name="tb25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✏️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SPELLING &amp; USAGE NOTES</a:t>
            </a:r>
          </a:p>
        </p:txBody>
      </p:sp>
      <p:sp>
        <p:nvSpPr>
          <p:cNvPr id="254" name="box254"/>
          <p:cNvSpPr>
            <a:spLocks noGrp="1"/>
          </p:cNvSpPr>
          <p:nvPr/>
        </p:nvSpPr>
        <p:spPr>
          <a:xfrm>
            <a:off x="180000" y="540000"/>
            <a:ext cx="11832000" cy="503999"/>
          </a:xfrm>
          <a:prstGeom prst="rect">
            <a:avLst/>
          </a:prstGeom>
          <a:solidFill>
            <a:srgbClr val="DCE6F1"/>
          </a:solidFill>
          <a:ln w="12700">
            <a:solidFill>
              <a:srgbClr val="1F3864"/>
            </a:solidFill>
          </a:ln>
        </p:spPr>
        <p:txBody>
          <a:bodyPr anchor="ctr" wrap="square" lIns="144000" rIns="72000" tIns="54000" bIns="54000"/>
          <a:lstStyle/>
          <a:p>
            <a:pPr algn="l" spcBef="0" spcAft="0">
              <a:spcPct val="100000"/>
            </a:pPr>
            <a:r>
              <a:rPr lang="en-GB" b="1" sz="1500" dirty="0">
                <a:solidFill>
                  <a:srgbClr val="1F3864"/>
                </a:solidFill>
                <a:latin typeface="Calibri"/>
              </a:rPr>
              <a:t>⚠️  Watch Out!  </a:t>
            </a:r>
            <a:r>
              <a:rPr lang="en-GB" b="0" sz="1400" dirty="0">
                <a:solidFill>
                  <a:srgbClr val="1F3864"/>
                </a:solidFill>
                <a:latin typeface="Calibri"/>
              </a:rPr>
              <a:t>Have got = have (same meaning). 'I've got a car' = 'I have a car'. In questions: 'Have you got?' = 'Do you have?'. Do NOT say 'I've got to' for obligation here; that is a different use.</a:t>
            </a:r>
          </a:p>
        </p:txBody>
      </p:sp>
      <p:sp>
        <p:nvSpPr>
          <p:cNvPr id="255" name="box255"/>
          <p:cNvSpPr>
            <a:spLocks noGrp="1"/>
          </p:cNvSpPr>
          <p:nvPr/>
        </p:nvSpPr>
        <p:spPr>
          <a:xfrm>
            <a:off x="180000" y="1169998"/>
            <a:ext cx="1260000" cy="216000"/>
          </a:xfrm>
          <a:prstGeom prst="roundRect">
            <a:avLst>
              <a:gd name="adj" fmla="val 10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400" dirty="0">
                <a:solidFill>
                  <a:srgbClr val="1F3864"/>
                </a:solidFill>
                <a:latin typeface="Calibri"/>
              </a:rPr>
              <a:t>Usage Examples</a:t>
            </a:r>
          </a:p>
        </p:txBody>
      </p:sp>
      <p:sp>
        <p:nvSpPr>
          <p:cNvPr id="256" name="tb256"/>
          <p:cNvSpPr txBox="1">
            <a:spLocks noGrp="1"/>
          </p:cNvSpPr>
          <p:nvPr/>
        </p:nvSpPr>
        <p:spPr>
          <a:xfrm>
            <a:off x="180000" y="1439998"/>
            <a:ext cx="11832000" cy="198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400" dirty="0">
                <a:solidFill>
                  <a:srgbClr val="404040"/>
                </a:solidFill>
                <a:latin typeface="Calibri"/>
              </a:rPr>
              <a:t>▶  Possession: I've got a new phone. She hasn't got a car.</a:t>
            </a:r>
          </a:p>
        </p:txBody>
      </p:sp>
      <p:sp>
        <p:nvSpPr>
          <p:cNvPr id="257" name="tb257"/>
          <p:cNvSpPr txBox="1">
            <a:spLocks noGrp="1"/>
          </p:cNvSpPr>
          <p:nvPr/>
        </p:nvSpPr>
        <p:spPr>
          <a:xfrm>
            <a:off x="180000" y="1655998"/>
            <a:ext cx="11832000" cy="198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400" dirty="0">
                <a:solidFill>
                  <a:srgbClr val="404040"/>
                </a:solidFill>
                <a:latin typeface="Calibri"/>
              </a:rPr>
              <a:t>▶  Family: He's got two brothers. Have you got any sisters?</a:t>
            </a:r>
          </a:p>
        </p:txBody>
      </p:sp>
      <p:sp>
        <p:nvSpPr>
          <p:cNvPr id="258" name="tb258"/>
          <p:cNvSpPr txBox="1">
            <a:spLocks noGrp="1"/>
          </p:cNvSpPr>
          <p:nvPr/>
        </p:nvSpPr>
        <p:spPr>
          <a:xfrm>
            <a:off x="180000" y="1871998"/>
            <a:ext cx="11832000" cy="198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400" dirty="0">
                <a:solidFill>
                  <a:srgbClr val="404040"/>
                </a:solidFill>
                <a:latin typeface="Calibri"/>
              </a:rPr>
              <a:t>▶  Appearance: She's got blue eyes and dark hair.</a:t>
            </a:r>
          </a:p>
        </p:txBody>
      </p:sp>
      <p:sp>
        <p:nvSpPr>
          <p:cNvPr id="259" name="tb259"/>
          <p:cNvSpPr txBox="1">
            <a:spLocks noGrp="1"/>
          </p:cNvSpPr>
          <p:nvPr/>
        </p:nvSpPr>
        <p:spPr>
          <a:xfrm>
            <a:off x="180000" y="2087998"/>
            <a:ext cx="11832000" cy="198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400" dirty="0">
                <a:solidFill>
                  <a:srgbClr val="404040"/>
                </a:solidFill>
                <a:latin typeface="Calibri"/>
              </a:rPr>
              <a:t>▶  Illness: I've got a headache. He's got a cold.</a:t>
            </a:r>
          </a:p>
        </p:txBody>
      </p:sp>
    </p:spTree>
  </p:cSld>
  <p:clrMapOvr>
    <a:masterClr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301" name="box30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302" name="box30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303" name="tb30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✍️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GUIDED PRACTICE</a:t>
            </a:r>
          </a:p>
        </p:txBody>
      </p:sp>
      <p:sp>
        <p:nvSpPr>
          <p:cNvPr id="304" name="tb304"/>
          <p:cNvSpPr txBox="1">
            <a:spLocks noGrp="1"/>
          </p:cNvSpPr>
          <p:nvPr/>
        </p:nvSpPr>
        <p:spPr>
          <a:xfrm>
            <a:off x="180000" y="540000"/>
            <a:ext cx="11832000" cy="234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i="1" sz="1400" dirty="0">
                <a:solidFill>
                  <a:srgbClr val="BF8F00"/>
                </a:solidFill>
                <a:latin typeface="Calibri"/>
              </a:rPr>
              <a:t>Complete using have got / has got (or the negative/question form). Items 1-2 are done for you.</a:t>
            </a:r>
          </a:p>
        </p:txBody>
      </p:sp>
      <p:graphicFrame>
        <p:nvGraphicFramePr>
          <p:cNvPr id="305" name="tbl305"/>
          <p:cNvGraphicFramePr>
            <a:graphicFrameLocks noGrp="1"/>
          </p:cNvGraphicFramePr>
          <p:nvPr/>
        </p:nvGraphicFramePr>
        <p:xfrm>
          <a:off x="180000" y="846000"/>
          <a:ext cx="11832000" cy="592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9920"/>
                <a:gridCol w="6152640"/>
                <a:gridCol w="4969440"/>
              </a:tblGrid>
              <a:tr h="11412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Prompt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Answer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11412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1 ✅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I ___ (have got) a new bicycle.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I'VE GOT a new bicycle.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11412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2 ✅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___ she ___ (have got) blue eyes?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HAS she GOT blue eyes?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11412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He ___ (not / have got) a wallet.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11412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They ___ (have got) two children.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351" name="box35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352" name="box35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353" name="tb35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📝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CONTROLLED PRACTICE</a:t>
            </a:r>
          </a:p>
        </p:txBody>
      </p:sp>
      <p:sp>
        <p:nvSpPr>
          <p:cNvPr id="354" name="tb354"/>
          <p:cNvSpPr txBox="1">
            <a:spLocks noGrp="1"/>
          </p:cNvSpPr>
          <p:nvPr/>
        </p:nvSpPr>
        <p:spPr>
          <a:xfrm>
            <a:off x="180000" y="540000"/>
            <a:ext cx="11832000" cy="234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i="1" sz="1400" dirty="0">
                <a:solidFill>
                  <a:srgbClr val="BF8F00"/>
                </a:solidFill>
                <a:latin typeface="Calibri"/>
              </a:rPr>
              <a:t>Write sentences using have got / has got based on the prompts.</a:t>
            </a:r>
          </a:p>
        </p:txBody>
      </p:sp>
      <p:graphicFrame>
        <p:nvGraphicFramePr>
          <p:cNvPr id="355" name="tbl355"/>
          <p:cNvGraphicFramePr>
            <a:graphicFrameLocks noGrp="1"/>
          </p:cNvGraphicFramePr>
          <p:nvPr/>
        </p:nvGraphicFramePr>
        <p:xfrm>
          <a:off x="180000" y="846000"/>
          <a:ext cx="11832000" cy="592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9920"/>
                <a:gridCol w="5561040"/>
                <a:gridCol w="5561040"/>
              </a:tblGrid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Prompt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Write your answer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(I / a younger brother)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(she / not / a car)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(they / a big garden)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(he / not / any pets)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(you / a spare pen?)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401" name="box40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402" name="box40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403" name="tb40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🔎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ERROR CORRECTION</a:t>
            </a:r>
          </a:p>
        </p:txBody>
      </p:sp>
      <p:sp>
        <p:nvSpPr>
          <p:cNvPr id="404" name="tb404"/>
          <p:cNvSpPr txBox="1">
            <a:spLocks noGrp="1"/>
          </p:cNvSpPr>
          <p:nvPr/>
        </p:nvSpPr>
        <p:spPr>
          <a:xfrm>
            <a:off x="180000" y="540000"/>
            <a:ext cx="11832000" cy="234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i="1" sz="1400" dirty="0">
                <a:solidFill>
                  <a:srgbClr val="BF8F00"/>
                </a:solidFill>
                <a:latin typeface="Calibri"/>
              </a:rPr>
              <a:t>Find and correct the ONE mistake in each sentence.</a:t>
            </a:r>
          </a:p>
        </p:txBody>
      </p:sp>
      <p:graphicFrame>
        <p:nvGraphicFramePr>
          <p:cNvPr id="405" name="tbl405"/>
          <p:cNvGraphicFramePr>
            <a:graphicFrameLocks noGrp="1"/>
          </p:cNvGraphicFramePr>
          <p:nvPr/>
        </p:nvGraphicFramePr>
        <p:xfrm>
          <a:off x="180000" y="846000"/>
          <a:ext cx="11832000" cy="592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1600"/>
                <a:gridCol w="5916000"/>
                <a:gridCol w="5324400"/>
              </a:tblGrid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Incorrect Sentence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Corrected Sentence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She have got a new phone.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Has they got any children?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I hasn't got a ticket.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He's not got got a car.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Do she has got blue eyes?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451" name="box45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452" name="box45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548235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453" name="tb45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🗣️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SPEAKING ACTIVITY</a:t>
            </a:r>
          </a:p>
        </p:txBody>
      </p:sp>
      <p:sp>
        <p:nvSpPr>
          <p:cNvPr id="454" name="box454"/>
          <p:cNvSpPr>
            <a:spLocks noGrp="1"/>
          </p:cNvSpPr>
          <p:nvPr/>
        </p:nvSpPr>
        <p:spPr>
          <a:xfrm>
            <a:off x="180000" y="522000"/>
            <a:ext cx="11832000" cy="360000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 w="0">
            <a:noFill/>
          </a:ln>
        </p:spPr>
        <p:txBody>
          <a:bodyPr anchor="ctr" wrap="square" lIns="180000" rIns="72000" tIns="54000" bIns="54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FFFFFF"/>
                </a:solidFill>
                <a:latin typeface="Cambria"/>
              </a:rPr>
              <a:t>💬 Describe Your Partner</a:t>
            </a:r>
          </a:p>
        </p:txBody>
      </p:sp>
      <p:sp>
        <p:nvSpPr>
          <p:cNvPr id="455" name="box455"/>
          <p:cNvSpPr>
            <a:spLocks noGrp="1"/>
          </p:cNvSpPr>
          <p:nvPr/>
        </p:nvSpPr>
        <p:spPr>
          <a:xfrm>
            <a:off x="11112000" y="954000"/>
            <a:ext cx="900000" cy="1260000"/>
          </a:xfrm>
          <a:prstGeom prst="roundRect">
            <a:avLst>
              <a:gd name="adj" fmla="val 20000"/>
            </a:avLst>
          </a:prstGeom>
          <a:solidFill>
            <a:srgbClr val="DCE6F1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0" sz="6000" dirty="0">
                <a:solidFill>
                  <a:srgbClr val="2E75B6"/>
                </a:solidFill>
                <a:latin typeface="Calibri"/>
              </a:rPr>
              <a:t>💬</a:t>
            </a:r>
          </a:p>
        </p:txBody>
      </p:sp>
      <p:sp>
        <p:nvSpPr>
          <p:cNvPr id="456" name="box456"/>
          <p:cNvSpPr>
            <a:spLocks noGrp="1"/>
          </p:cNvSpPr>
          <p:nvPr/>
        </p:nvSpPr>
        <p:spPr>
          <a:xfrm>
            <a:off x="180000" y="954000"/>
            <a:ext cx="234000" cy="2592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40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57" name="tb457"/>
          <p:cNvSpPr txBox="1">
            <a:spLocks noGrp="1"/>
          </p:cNvSpPr>
          <p:nvPr/>
        </p:nvSpPr>
        <p:spPr>
          <a:xfrm>
            <a:off x="468000" y="954000"/>
            <a:ext cx="10464000" cy="2592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400" dirty="0">
                <a:solidFill>
                  <a:srgbClr val="404040"/>
                </a:solidFill>
                <a:latin typeface="Calibri"/>
              </a:rPr>
              <a:t>Look at your partner carefully for 30 seconds.</a:t>
            </a:r>
          </a:p>
        </p:txBody>
      </p:sp>
      <p:sp>
        <p:nvSpPr>
          <p:cNvPr id="458" name="box458"/>
          <p:cNvSpPr>
            <a:spLocks noGrp="1"/>
          </p:cNvSpPr>
          <p:nvPr/>
        </p:nvSpPr>
        <p:spPr>
          <a:xfrm>
            <a:off x="180000" y="1270800"/>
            <a:ext cx="234000" cy="2592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400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59" name="tb459"/>
          <p:cNvSpPr txBox="1">
            <a:spLocks noGrp="1"/>
          </p:cNvSpPr>
          <p:nvPr/>
        </p:nvSpPr>
        <p:spPr>
          <a:xfrm>
            <a:off x="468000" y="1270800"/>
            <a:ext cx="10464000" cy="2592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400" dirty="0">
                <a:solidFill>
                  <a:srgbClr val="404040"/>
                </a:solidFill>
                <a:latin typeface="Calibri"/>
              </a:rPr>
              <a:t>Turn away and describe them: 'She's got brown hair. She's got a blue bag.'</a:t>
            </a:r>
          </a:p>
        </p:txBody>
      </p:sp>
      <p:sp>
        <p:nvSpPr>
          <p:cNvPr id="460" name="box460"/>
          <p:cNvSpPr>
            <a:spLocks noGrp="1"/>
          </p:cNvSpPr>
          <p:nvPr/>
        </p:nvSpPr>
        <p:spPr>
          <a:xfrm>
            <a:off x="180000" y="1587600"/>
            <a:ext cx="234000" cy="2592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400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61" name="tb461"/>
          <p:cNvSpPr txBox="1">
            <a:spLocks noGrp="1"/>
          </p:cNvSpPr>
          <p:nvPr/>
        </p:nvSpPr>
        <p:spPr>
          <a:xfrm>
            <a:off x="468000" y="1587600"/>
            <a:ext cx="10464000" cy="2592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400" dirty="0">
                <a:solidFill>
                  <a:srgbClr val="404040"/>
                </a:solidFill>
                <a:latin typeface="Calibri"/>
              </a:rPr>
              <a:t>Your partner confirms: 'Yes, I have.' or corrects: 'No, I haven't. I've got a black bag.'</a:t>
            </a:r>
          </a:p>
        </p:txBody>
      </p:sp>
      <p:sp>
        <p:nvSpPr>
          <p:cNvPr id="462" name="box462"/>
          <p:cNvSpPr>
            <a:spLocks noGrp="1"/>
          </p:cNvSpPr>
          <p:nvPr/>
        </p:nvSpPr>
        <p:spPr>
          <a:xfrm>
            <a:off x="180000" y="1904400"/>
            <a:ext cx="234000" cy="2592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400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63" name="tb463"/>
          <p:cNvSpPr txBox="1">
            <a:spLocks noGrp="1"/>
          </p:cNvSpPr>
          <p:nvPr/>
        </p:nvSpPr>
        <p:spPr>
          <a:xfrm>
            <a:off x="468000" y="1904400"/>
            <a:ext cx="10464000" cy="2592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400" dirty="0">
                <a:solidFill>
                  <a:srgbClr val="404040"/>
                </a:solidFill>
                <a:latin typeface="Calibri"/>
              </a:rPr>
              <a:t>Ask 3 extra questions: 'Have you got a pet? Have you got any brothers?'</a:t>
            </a:r>
          </a:p>
        </p:txBody>
      </p:sp>
      <p:sp>
        <p:nvSpPr>
          <p:cNvPr id="464" name="box464"/>
          <p:cNvSpPr>
            <a:spLocks noGrp="1"/>
          </p:cNvSpPr>
          <p:nvPr/>
        </p:nvSpPr>
        <p:spPr>
          <a:xfrm>
            <a:off x="180000" y="6570000"/>
            <a:ext cx="1260000" cy="2160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300" dirty="0">
                <a:solidFill>
                  <a:srgbClr val="BF8F00"/>
                </a:solidFill>
                <a:latin typeface="Calibri"/>
              </a:rPr>
              <a:t>👥  Pair Work</a:t>
            </a:r>
          </a:p>
        </p:txBody>
      </p:sp>
    </p:spTree>
  </p:cSld>
  <p:clrMapOvr>
    <a:masterClr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501" name="box50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502" name="box50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548235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503" name="tb50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📄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READING &amp; WRITING</a:t>
            </a:r>
          </a:p>
        </p:txBody>
      </p:sp>
      <p:sp>
        <p:nvSpPr>
          <p:cNvPr id="504" name="box504"/>
          <p:cNvSpPr>
            <a:spLocks noGrp="1"/>
          </p:cNvSpPr>
          <p:nvPr/>
        </p:nvSpPr>
        <p:spPr>
          <a:xfrm>
            <a:off x="180000" y="540000"/>
            <a:ext cx="900000" cy="198000"/>
          </a:xfrm>
          <a:prstGeom prst="roundRect">
            <a:avLst>
              <a:gd name="adj" fmla="val 10000"/>
            </a:avLst>
          </a:prstGeom>
          <a:solidFill>
            <a:srgbClr val="548235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300" dirty="0">
                <a:solidFill>
                  <a:srgbClr val="FFFFFF"/>
                </a:solidFill>
                <a:latin typeface="Calibri"/>
              </a:rPr>
              <a:t>Reading</a:t>
            </a:r>
          </a:p>
        </p:txBody>
      </p:sp>
      <p:sp>
        <p:nvSpPr>
          <p:cNvPr id="505" name="box505"/>
          <p:cNvSpPr>
            <a:spLocks noGrp="1"/>
          </p:cNvSpPr>
          <p:nvPr/>
        </p:nvSpPr>
        <p:spPr>
          <a:xfrm>
            <a:off x="180000" y="792000"/>
            <a:ext cx="11832000" cy="612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t" wrap="square" lIns="108000" rIns="72000" tIns="72000" bIns="54000"/>
          <a:lstStyle/>
          <a:p>
            <a:pPr algn="l" spcBef="0" spcAft="0">
              <a:spcPct val="100000"/>
            </a:pPr>
            <a:r>
              <a:rPr lang="en-GB" b="0" i="1" sz="1300" dirty="0">
                <a:solidFill>
                  <a:srgbClr val="404040"/>
                </a:solidFill>
                <a:latin typeface="Calibri"/>
              </a:rPr>
              <a:t>My name is Leo. I've got a big family. I've got two brothers and one sister. My older brother has got a car, but my younger brother hasn't got one yet. My sister has got curly hair and brown eyes. We've got a dog called Max. He's got short legs and a long tail. Have you got any pets?</a:t>
            </a:r>
          </a:p>
        </p:txBody>
      </p:sp>
      <p:sp>
        <p:nvSpPr>
          <p:cNvPr id="506" name="box506"/>
          <p:cNvSpPr>
            <a:spLocks noGrp="1"/>
          </p:cNvSpPr>
          <p:nvPr/>
        </p:nvSpPr>
        <p:spPr>
          <a:xfrm>
            <a:off x="180000" y="1475999"/>
            <a:ext cx="900000" cy="198000"/>
          </a:xfrm>
          <a:prstGeom prst="roundRect">
            <a:avLst>
              <a:gd name="adj" fmla="val 10000"/>
            </a:avLst>
          </a:prstGeom>
          <a:solidFill>
            <a:srgbClr val="548235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300" dirty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507" name="tb507"/>
          <p:cNvSpPr txBox="1">
            <a:spLocks noGrp="1"/>
          </p:cNvSpPr>
          <p:nvPr/>
        </p:nvSpPr>
        <p:spPr>
          <a:xfrm>
            <a:off x="180000" y="1728000"/>
            <a:ext cx="11832000" cy="234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i="1" sz="1400" dirty="0">
                <a:solidFill>
                  <a:srgbClr val="548235"/>
                </a:solidFill>
                <a:latin typeface="Calibri"/>
              </a:rPr>
              <a:t>Write 6 sentences using have got / has got about yourself and people you know.</a:t>
            </a:r>
          </a:p>
        </p:txBody>
      </p:sp>
      <p:sp>
        <p:nvSpPr>
          <p:cNvPr id="508" name="tb508"/>
          <p:cNvSpPr txBox="1">
            <a:spLocks noGrp="1"/>
          </p:cNvSpPr>
          <p:nvPr/>
        </p:nvSpPr>
        <p:spPr>
          <a:xfrm>
            <a:off x="180000" y="2015999"/>
            <a:ext cx="11832000" cy="125999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• Describe your appearance: I've got ___ hair and ___ eyes.</a:t>
            </a:r>
          </a:p>
        </p:txBody>
      </p:sp>
      <p:sp>
        <p:nvSpPr>
          <p:cNvPr id="509" name="tb509"/>
          <p:cNvSpPr txBox="1">
            <a:spLocks noGrp="1"/>
          </p:cNvSpPr>
          <p:nvPr/>
        </p:nvSpPr>
        <p:spPr>
          <a:xfrm>
            <a:off x="180000" y="2152799"/>
            <a:ext cx="11832000" cy="125999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• Talk about your family: I've got ___ (number of siblings).</a:t>
            </a:r>
          </a:p>
        </p:txBody>
      </p:sp>
      <p:sp>
        <p:nvSpPr>
          <p:cNvPr id="510" name="tb510"/>
          <p:cNvSpPr txBox="1">
            <a:spLocks noGrp="1"/>
          </p:cNvSpPr>
          <p:nvPr/>
        </p:nvSpPr>
        <p:spPr>
          <a:xfrm>
            <a:off x="180000" y="2289599"/>
            <a:ext cx="11832000" cy="125999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• Talk about possession: I've got a ___. I haven't got a ___.</a:t>
            </a:r>
          </a:p>
        </p:txBody>
      </p:sp>
    </p:spTree>
  </p:cSld>
  <p:clrMapOvr>
    <a:masterClr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551" name="box55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552" name="box55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553" name="tb55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🏠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HOMEWORK</a:t>
            </a:r>
          </a:p>
        </p:txBody>
      </p:sp>
      <p:sp>
        <p:nvSpPr>
          <p:cNvPr id="554" name="box554"/>
          <p:cNvSpPr>
            <a:spLocks noGrp="1"/>
          </p:cNvSpPr>
          <p:nvPr/>
        </p:nvSpPr>
        <p:spPr>
          <a:xfrm>
            <a:off x="180000" y="540000"/>
            <a:ext cx="432000" cy="432000"/>
          </a:xfrm>
          <a:prstGeom prst="roundRect">
            <a:avLst>
              <a:gd name="adj" fmla="val 50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2800" dirty="0">
                <a:solidFill>
                  <a:srgbClr val="1F3864"/>
                </a:solidFill>
                <a:latin typeface="Cambria"/>
              </a:rPr>
              <a:t>1</a:t>
            </a:r>
          </a:p>
        </p:txBody>
      </p:sp>
      <p:sp>
        <p:nvSpPr>
          <p:cNvPr id="555" name="box555"/>
          <p:cNvSpPr>
            <a:spLocks noGrp="1"/>
          </p:cNvSpPr>
          <p:nvPr/>
        </p:nvSpPr>
        <p:spPr>
          <a:xfrm>
            <a:off x="684000" y="540000"/>
            <a:ext cx="11328000" cy="432000"/>
          </a:xfrm>
          <a:prstGeom prst="rect">
            <a:avLst/>
          </a:prstGeom>
          <a:solidFill>
            <a:srgbClr val="DCE6F1"/>
          </a:solidFill>
          <a:ln w="12700">
            <a:solidFill>
              <a:srgbClr val="2E75B6"/>
            </a:solidFill>
          </a:ln>
        </p:spPr>
        <p:txBody>
          <a:bodyPr anchor="ctr" wrap="square" lIns="108000" rIns="72000" tIns="54000" bIns="54000"/>
          <a:lstStyle/>
          <a:p>
            <a:pPr algn="l" spcBef="0" spcAft="0">
              <a:spcPct val="100000"/>
            </a:pPr>
            <a:r>
              <a:rPr lang="en-GB" b="1" sz="1500" dirty="0">
                <a:solidFill>
                  <a:srgbClr val="1F3864"/>
                </a:solidFill>
                <a:latin typeface="Calibri"/>
              </a:rPr>
              <a:t>Production Task  </a:t>
            </a:r>
            <a:r>
              <a:rPr lang="en-GB" b="0" sz="1400" dirty="0">
                <a:solidFill>
                  <a:srgbClr val="404040"/>
                </a:solidFill>
                <a:latin typeface="Calibri"/>
              </a:rPr>
              <a:t>Write 8 sentences describing your family members using have got / has got. Include appearance (hair, eyes), possessions, and at least 2 negatives (haven't/hasn't got).</a:t>
            </a:r>
          </a:p>
        </p:txBody>
      </p:sp>
      <p:sp>
        <p:nvSpPr>
          <p:cNvPr id="556" name="box556"/>
          <p:cNvSpPr>
            <a:spLocks noGrp="1"/>
          </p:cNvSpPr>
          <p:nvPr/>
        </p:nvSpPr>
        <p:spPr>
          <a:xfrm>
            <a:off x="180000" y="1080000"/>
            <a:ext cx="432000" cy="432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2800" dirty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557" name="box557"/>
          <p:cNvSpPr>
            <a:spLocks noGrp="1"/>
          </p:cNvSpPr>
          <p:nvPr/>
        </p:nvSpPr>
        <p:spPr>
          <a:xfrm>
            <a:off x="684000" y="1080000"/>
            <a:ext cx="11328000" cy="432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108000" rIns="72000" tIns="54000" bIns="54000"/>
          <a:lstStyle/>
          <a:p>
            <a:pPr algn="l" spcBef="0" spcAft="0">
              <a:spcPct val="100000"/>
            </a:pPr>
            <a:r>
              <a:rPr lang="en-GB" b="1" sz="1500" dirty="0">
                <a:solidFill>
                  <a:srgbClr val="1F3864"/>
                </a:solidFill>
                <a:latin typeface="Calibri"/>
              </a:rPr>
              <a:t>Vocabulary Consolidation  </a:t>
            </a:r>
            <a:r>
              <a:rPr lang="en-GB" b="0" sz="1400" dirty="0">
                <a:solidFill>
                  <a:srgbClr val="404040"/>
                </a:solidFill>
                <a:latin typeface="Calibri"/>
              </a:rPr>
              <a:t>Choose 10 vocabulary words from Section 4. For each word, write a sentence using have got or has got. Example: 'My sister has got curly hair.'</a:t>
            </a:r>
          </a:p>
        </p:txBody>
      </p:sp>
      <p:sp>
        <p:nvSpPr>
          <p:cNvPr id="558" name="box558"/>
          <p:cNvSpPr>
            <a:spLocks noGrp="1"/>
          </p:cNvSpPr>
          <p:nvPr/>
        </p:nvSpPr>
        <p:spPr>
          <a:xfrm>
            <a:off x="180000" y="6498000"/>
            <a:ext cx="1440000" cy="2160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300" dirty="0">
                <a:solidFill>
                  <a:srgbClr val="BF8F00"/>
                </a:solidFill>
                <a:latin typeface="Calibri"/>
              </a:rPr>
              <a:t>📅  Due: next class</a:t>
            </a:r>
          </a:p>
        </p:txBody>
      </p:sp>
    </p:spTree>
  </p:cSld>
  <p:clrMapOvr>
    <a:masterClr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bg>
      <p:bgPr>
        <a:solidFill>
          <a:srgbClr val="1F3864"/>
        </a:solidFill>
        <a:effectLst/>
      </p:bgPr>
    </p:bg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601" name="shape60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="1">
            <a:gsLst>
              <a:gs pos="0">
                <a:srgbClr val="1F3864"/>
              </a:gs>
              <a:gs pos="100000">
                <a:srgbClr val="0D2245"/>
              </a:gs>
            </a:gsLst>
            <a:lin ang="5400000" scaled="0"/>
          </a:gradFill>
        </p:spPr>
        <p:txBody>
          <a:bodyPr/>
          <a:lstStyle/>
          <a:p/>
        </p:txBody>
      </p:sp>
      <p:sp>
        <p:nvSpPr>
          <p:cNvPr id="602" name="shape602"/>
          <p:cNvSpPr>
            <a:spLocks noGrp="1"/>
          </p:cNvSpPr>
          <p:nvPr/>
        </p:nvSpPr>
        <p:spPr>
          <a:xfrm>
            <a:off x="0" y="0"/>
            <a:ext cx="12192000" cy="108000"/>
          </a:xfrm>
          <a:prstGeom prst="rect">
            <a:avLst/>
          </a:prstGeom>
          <a:solidFill>
            <a:srgbClr val="BF8F00"/>
          </a:solidFill>
        </p:spPr>
        <p:txBody>
          <a:bodyPr/>
          <a:lstStyle/>
          <a:p/>
        </p:txBody>
      </p:sp>
      <p:sp>
        <p:nvSpPr>
          <p:cNvPr id="603" name="shape603"/>
          <p:cNvSpPr>
            <a:spLocks noGrp="1"/>
          </p:cNvSpPr>
          <p:nvPr/>
        </p:nvSpPr>
        <p:spPr>
          <a:xfrm>
            <a:off x="0" y="6750000"/>
            <a:ext cx="12192000" cy="108000"/>
          </a:xfrm>
          <a:prstGeom prst="rect">
            <a:avLst/>
          </a:prstGeom>
          <a:solidFill>
            <a:srgbClr val="BF8F00"/>
          </a:solidFill>
        </p:spPr>
        <p:txBody>
          <a:bodyPr/>
          <a:lstStyle/>
          <a:p/>
        </p:txBody>
      </p:sp>
      <p:sp>
        <p:nvSpPr>
          <p:cNvPr id="604" name="shape604"/>
          <p:cNvSpPr>
            <a:spLocks noGrp="1"/>
          </p:cNvSpPr>
          <p:nvPr/>
        </p:nvSpPr>
        <p:spPr>
          <a:xfrm>
            <a:off x="0" y="0"/>
            <a:ext cx="144000" cy="6858000"/>
          </a:xfrm>
          <a:prstGeom prst="rect">
            <a:avLst/>
          </a:prstGeom>
          <a:solidFill>
            <a:srgbClr val="BF8F00"/>
          </a:solidFill>
        </p:spPr>
        <p:txBody>
          <a:bodyPr/>
          <a:lstStyle/>
          <a:p/>
        </p:txBody>
      </p:sp>
      <p:sp>
        <p:nvSpPr>
          <p:cNvPr id="605" name="box605"/>
          <p:cNvSpPr>
            <a:spLocks noGrp="1"/>
          </p:cNvSpPr>
          <p:nvPr/>
        </p:nvSpPr>
        <p:spPr>
          <a:xfrm>
            <a:off x="432000" y="432000"/>
            <a:ext cx="1800000" cy="324000"/>
          </a:xfrm>
          <a:prstGeom prst="roundRect">
            <a:avLst>
              <a:gd name="adj" fmla="val 20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600" dirty="0">
                <a:solidFill>
                  <a:srgbClr val="1F3864"/>
                </a:solidFill>
                <a:latin typeface="Cambria"/>
              </a:rPr>
              <a:t>UNIT 9  ·  A1</a:t>
            </a:r>
          </a:p>
        </p:txBody>
      </p:sp>
      <p:sp>
        <p:nvSpPr>
          <p:cNvPr id="606" name="tb606"/>
          <p:cNvSpPr txBox="1">
            <a:spLocks noGrp="1"/>
          </p:cNvSpPr>
          <p:nvPr/>
        </p:nvSpPr>
        <p:spPr>
          <a:xfrm>
            <a:off x="432000" y="827999"/>
            <a:ext cx="11472000" cy="900000"/>
          </a:xfrm>
          <a:prstGeom prst="rect">
            <a:avLst/>
          </a:prstGeom>
          <a:noFill/>
        </p:spPr>
        <p:txBody>
          <a:bodyPr anchor="t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3600" dirty="0">
                <a:solidFill>
                  <a:srgbClr val="FFFFFF"/>
                </a:solidFill>
                <a:latin typeface="Cambria"/>
              </a:rPr>
              <a:t>Have Got / Has Got</a:t>
            </a:r>
          </a:p>
        </p:txBody>
      </p:sp>
      <p:sp>
        <p:nvSpPr>
          <p:cNvPr id="607" name="tb607"/>
          <p:cNvSpPr txBox="1">
            <a:spLocks noGrp="1"/>
          </p:cNvSpPr>
          <p:nvPr/>
        </p:nvSpPr>
        <p:spPr>
          <a:xfrm>
            <a:off x="432000" y="1800000"/>
            <a:ext cx="11472000" cy="324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i="1" sz="1600" dirty="0">
                <a:solidFill>
                  <a:srgbClr val="BF8F00"/>
                </a:solidFill>
                <a:latin typeface="Calibri"/>
              </a:rPr>
              <a:t>✦  Questions are the engines of learning. Ask more!</a:t>
            </a:r>
          </a:p>
        </p:txBody>
      </p:sp>
      <p:sp>
        <p:nvSpPr>
          <p:cNvPr id="608" name="box608"/>
          <p:cNvSpPr>
            <a:spLocks noGrp="1"/>
          </p:cNvSpPr>
          <p:nvPr/>
        </p:nvSpPr>
        <p:spPr>
          <a:xfrm>
            <a:off x="10752000" y="6462000"/>
            <a:ext cx="1260000" cy="23400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300" dirty="0">
                <a:solidFill>
                  <a:srgbClr val="FFFFFF"/>
                </a:solidFill>
                <a:latin typeface="Calibri"/>
              </a:rPr>
              <a:t>See you next class! 👋</a:t>
            </a:r>
          </a:p>
        </p:txBody>
      </p:sp>
    </p:spTree>
  </p:cSld>
  <p:clrMapOvr>
    <a:masterClr/>
  </p:clrMapOvr>
</p:sld>
</file>