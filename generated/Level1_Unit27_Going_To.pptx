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s>
</file>

<file path=ppt/presentation.xml><?xml version="1.0" encoding="utf-8"?>
<p:presentation xmlns:p="http://schemas.openxmlformats.org/presentationml/2006/main" xmlns:a="http://schemas.openxmlformats.org/drawingml/2006/main" xmlns:r="http://schemas.openxmlformats.org/officeDocument/2006/relationships" saveSubsetFonts="1">
  <p:sldMasterIdLst>
    <p:sldMasterId id="2147483648" r:id="rId0"/>
  </p:sld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Lst>
  <p:sldSz cx="12192000" cy="6858000" type="screen16x9"/>
  <p:notesSz cx="6858000" cy="12192000"/>
</p:presentation>
</file>

<file path=ppt/_rels/presentation.xml.rels><?xml version="1.0" encoding="UTF-8" standalone="yes"?>
<Relationships xmlns="http://schemas.openxmlformats.org/package/2006/relationships">
  <Relationship Id="rId0"
    Type="http://schemas.openxmlformats.org/officeDocument/2006/relationships/slideMaster"
    Target="slideMasters/slideMaster1.xml"/>
  <Relationship Id="rId1"
    Type="http://schemas.openxmlformats.org/officeDocument/2006/relationships/slide"
    Target="slides/slide1.xml"/>
  <Relationship Id="rId2"
    Type="http://schemas.openxmlformats.org/officeDocument/2006/relationships/slide"
    Target="slides/slide2.xml"/>
  <Relationship Id="rId3"
    Type="http://schemas.openxmlformats.org/officeDocument/2006/relationships/slide"
    Target="slides/slide3.xml"/>
  <Relationship Id="rId4"
    Type="http://schemas.openxmlformats.org/officeDocument/2006/relationships/slide"
    Target="slides/slide4.xml"/>
  <Relationship Id="rId5"
    Type="http://schemas.openxmlformats.org/officeDocument/2006/relationships/slide"
    Target="slides/slide5.xml"/>
  <Relationship Id="rId6"
    Type="http://schemas.openxmlformats.org/officeDocument/2006/relationships/slide"
    Target="slides/slide6.xml"/>
  <Relationship Id="rId7"
    Type="http://schemas.openxmlformats.org/officeDocument/2006/relationships/slide"
    Target="slides/slide7.xml"/>
  <Relationship Id="rId8"
    Type="http://schemas.openxmlformats.org/officeDocument/2006/relationships/slide"
    Target="slides/slide8.xml"/>
  <Relationship Id="rId9"
    Type="http://schemas.openxmlformats.org/officeDocument/2006/relationships/slide"
    Target="slides/slide9.xml"/>
  <Relationship Id="rId10"
    Type="http://schemas.openxmlformats.org/officeDocument/2006/relationships/slide"
    Target="slides/slide10.xml"/>
  <Relationship Id="rId11"
    Type="http://schemas.openxmlformats.org/officeDocument/2006/relationships/slide"
    Target="slides/slide11.xml"/>
  <Relationship Id="rId12"
    Type="http://schemas.openxmlformats.org/officeDocument/2006/relationships/slide"
    Target="slides/slide12.xml"/>
  <Relationship Id="rId13"
    Type="http://schemas.openxmlformats.org/officeDocument/2006/relationships/slide"
    Target="slides/slide13.xml"/>
</Relationship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p="http://schemas.openxmlformats.org/presentationml/2006/main" xmlns:a="http://schemas.openxmlformats.org/drawingml/2006/main" xmlns:r="http://schemas.openxmlformats.org/officeDocument/2006/relationships" type="blank" preserve="1">
  <p:cSld name="Blank">
    <p:spTree>
      <p:nvGrpSpPr>
        <p:cNvPr id="1" name=""/>
        <p:cNvGrpSpPr/>
        <p:nvPr/>
      </p:nvGrpSpPr>
      <p:grpSpPr>
        <a:xfrm>
          <a:off x="0" y="0"/>
          <a:ext cx="12192000" cy="6858000"/>
          <a:chOff x="0" y="0"/>
          <a:chExt cx="12192000" cy="6858000"/>
        </a:xfrm>
      </p:grpSpPr>
    </p:spTree>
  </p:cSld>
  <p:clrMapOvr>
    <a:masterClr/>
  </p:clrMapOvr>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Masters/slideMaster1.xml><?xml version="1.0" encoding="utf-8"?>
<p:sldMaster xmlns:p="http://schemas.openxmlformats.org/presentationml/2006/main" xmlns:a="http://schemas.openxmlformats.org/drawingml/2006/main" xmlns:r="http://schemas.openxmlformats.org/officeDocument/2006/relationships">
  <p:cSld>
    <p:spTree>
      <p:nvGrpSpPr>
        <p:cNvPr id="1" name=""/>
        <p:cNvGrpSpPr/>
        <p:nvPr/>
      </p:nvGrpSpPr>
      <p:grpSpPr>
        <a:xfrm>
          <a:off x="0" y="0"/>
          <a:ext cx="12192000" cy="6858000"/>
          <a:chOff x="0" y="0"/>
          <a:chExt cx="12192000" cy="6858000"/>
        </a:xfrm>
      </p:grpSpPr>
    </p:spTree>
  </p:cSld>
  <p:clrMap bg1="lt1" tx1="dk1" bg2="lt2" tx2="dk2" accent1="accent1" accent2="accent2" accent3="accent3" accent4="accent4" accent5="accent5" accent6="accent6" hlink="hlink" folHlink="folHlink"/>
  <p:sldLayoutIdLst>
    <p:sldLayoutId id="2147483649" r:id="rId1"/>
  </p:sldLayoutIdLst>
  <p:txStyles>
    <p:titleStyle>
      <a:lstStyle/>
    </p:titleStyle>
    <p:bodyStyle>
      <a:lstStyle/>
    </p:bodyStyle>
    <p:otherStyle>
      <a:lstStyle/>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slide1.xml><?xml version="1.0" encoding="utf-8"?>
<p:sld xmlns:p="http://schemas.openxmlformats.org/presentationml/2006/main" xmlns:a="http://schemas.openxmlformats.org/drawingml/2006/main" xmlns:r="http://schemas.openxmlformats.org/officeDocument/2006/relationships" xmlns:dc="http://purl.org/dc/elements/1.1/">
  <p:cSld>
    <p:bg>
      <p:bgPr>
        <a:solidFill>
          <a:srgbClr val="1F3864"/>
        </a:solidFill>
        <a:effectLst/>
      </p:bgPr>
    </p:bg>
    <p:spTree>
      <p:nvGrpSpPr>
        <p:cNvPr id="1" name="content"/>
        <p:cNvGrpSpPr/>
        <p:nvPr/>
      </p:nvGrpSpPr>
      <p:grpSpPr>
        <a:xfrm>
          <a:off x="0" y="0"/>
          <a:ext cx="12192000" cy="6858000"/>
          <a:chOff x="0" y="0"/>
          <a:chExt cx="12192000" cy="6858000"/>
        </a:xfrm>
      </p:grpSpPr>
      <p:sp>
        <p:nvSpPr>
          <p:cNvPr id="11" name="shape11"/>
          <p:cNvSpPr>
            <a:spLocks noGrp="1"/>
          </p:cNvSpPr>
          <p:nvPr/>
        </p:nvSpPr>
        <p:spPr>
          <a:xfrm>
            <a:off x="0" y="0"/>
            <a:ext cx="12192000" cy="6858000"/>
          </a:xfrm>
          <a:prstGeom prst="rect">
            <a:avLst/>
          </a:prstGeom>
          <a:gradFill rot="1">
            <a:gsLst>
              <a:gs pos="0">
                <a:srgbClr val="1F3864"/>
              </a:gs>
              <a:gs pos="100000">
                <a:srgbClr val="0D2245"/>
              </a:gs>
            </a:gsLst>
            <a:lin ang="5400000" scaled="0"/>
          </a:gradFill>
        </p:spPr>
        <p:txBody>
          <a:bodyPr/>
          <a:lstStyle/>
          <a:p/>
        </p:txBody>
      </p:sp>
      <p:sp>
        <p:nvSpPr>
          <p:cNvPr id="12" name="shape12"/>
          <p:cNvSpPr>
            <a:spLocks noGrp="1"/>
          </p:cNvSpPr>
          <p:nvPr/>
        </p:nvSpPr>
        <p:spPr>
          <a:xfrm>
            <a:off x="0" y="0"/>
            <a:ext cx="144000" cy="6858000"/>
          </a:xfrm>
          <a:prstGeom prst="rect">
            <a:avLst/>
          </a:prstGeom>
          <a:solidFill>
            <a:srgbClr val="BF8F00"/>
          </a:solidFill>
        </p:spPr>
        <p:txBody>
          <a:bodyPr/>
          <a:lstStyle/>
          <a:p/>
        </p:txBody>
      </p:sp>
      <p:sp>
        <p:nvSpPr>
          <p:cNvPr id="13" name="shape13"/>
          <p:cNvSpPr>
            <a:spLocks noGrp="1"/>
          </p:cNvSpPr>
          <p:nvPr/>
        </p:nvSpPr>
        <p:spPr>
          <a:xfrm>
            <a:off x="0" y="0"/>
            <a:ext cx="12192000" cy="108000"/>
          </a:xfrm>
          <a:prstGeom prst="rect">
            <a:avLst/>
          </a:prstGeom>
          <a:solidFill>
            <a:srgbClr val="BF8F00"/>
          </a:solidFill>
        </p:spPr>
        <p:txBody>
          <a:bodyPr/>
          <a:lstStyle/>
          <a:p/>
        </p:txBody>
      </p:sp>
      <p:sp>
        <p:nvSpPr>
          <p:cNvPr id="14" name="box14"/>
          <p:cNvSpPr>
            <a:spLocks noGrp="1"/>
          </p:cNvSpPr>
          <p:nvPr/>
        </p:nvSpPr>
        <p:spPr>
          <a:xfrm>
            <a:off x="432000" y="468000"/>
            <a:ext cx="1800000" cy="324000"/>
          </a:xfrm>
          <a:prstGeom prst="roundRect">
            <a:avLst>
              <a:gd name="adj" fmla="val 20000"/>
            </a:avLst>
          </a:prstGeom>
          <a:solidFill>
            <a:srgbClr val="BF8F00"/>
          </a:solidFill>
          <a:ln w="0">
            <a:noFill/>
          </a:ln>
        </p:spPr>
        <p:txBody>
          <a:bodyPr anchor="ctr" wrap="square" lIns="72000" rIns="72000" tIns="54000" bIns="54000"/>
          <a:lstStyle/>
          <a:p>
            <a:pPr algn="ctr" spcBef="0" spcAft="0">
              <a:spcPct val="100000"/>
            </a:pPr>
            <a:r>
              <a:rPr lang="en-GB" b="1" sz="1600" dirty="0">
                <a:solidFill>
                  <a:srgbClr val="1F3864"/>
                </a:solidFill>
                <a:latin typeface="Cambria"/>
              </a:rPr>
              <a:t>UNIT 27  ·  A2</a:t>
            </a:r>
          </a:p>
        </p:txBody>
      </p:sp>
      <p:sp>
        <p:nvSpPr>
          <p:cNvPr id="15" name="tb15"/>
          <p:cNvSpPr txBox="1">
            <a:spLocks noGrp="1"/>
          </p:cNvSpPr>
          <p:nvPr/>
        </p:nvSpPr>
        <p:spPr>
          <a:xfrm>
            <a:off x="432000" y="900000"/>
            <a:ext cx="11472000" cy="288000"/>
          </a:xfrm>
          <a:prstGeom prst="rect">
            <a:avLst/>
          </a:prstGeom>
          <a:noFill/>
        </p:spPr>
        <p:txBody>
          <a:bodyPr anchor="ctr" wrap="square" lIns="36000" rIns="36000" tIns="36000" bIns="36000"/>
          <a:lstStyle/>
          <a:p>
            <a:pPr algn="l" spcBef="0" spcAft="0">
              <a:spcPct val="100000"/>
            </a:pPr>
            <a:r>
              <a:rPr lang="en-GB" b="0" sz="1500" dirty="0">
                <a:solidFill>
                  <a:srgbClr val="BFC9D6"/>
                </a:solidFill>
                <a:latin typeface="Calibri"/>
              </a:rPr>
              <a:t>English Grammar in Action — Level 1</a:t>
            </a:r>
          </a:p>
        </p:txBody>
      </p:sp>
      <p:sp>
        <p:nvSpPr>
          <p:cNvPr id="16" name="tb16"/>
          <p:cNvSpPr txBox="1">
            <a:spLocks noGrp="1"/>
          </p:cNvSpPr>
          <p:nvPr/>
        </p:nvSpPr>
        <p:spPr>
          <a:xfrm>
            <a:off x="432000" y="1188000"/>
            <a:ext cx="11472000" cy="1080000"/>
          </a:xfrm>
          <a:prstGeom prst="rect">
            <a:avLst/>
          </a:prstGeom>
          <a:noFill/>
        </p:spPr>
        <p:txBody>
          <a:bodyPr anchor="t" wrap="square" lIns="36000" rIns="36000" tIns="36000" bIns="36000"/>
          <a:lstStyle/>
          <a:p>
            <a:pPr algn="l" spcBef="0" spcAft="0">
              <a:spcPct val="100000"/>
            </a:pPr>
            <a:r>
              <a:rPr lang="en-GB" b="1" sz="4000" dirty="0">
                <a:solidFill>
                  <a:srgbClr val="FFFFFF"/>
                </a:solidFill>
                <a:latin typeface="Cambria"/>
              </a:rPr>
              <a:t>Going To — Plans and Predictions</a:t>
            </a:r>
          </a:p>
        </p:txBody>
      </p:sp>
      <p:sp>
        <p:nvSpPr>
          <p:cNvPr id="17" name="tb17"/>
          <p:cNvSpPr txBox="1">
            <a:spLocks noGrp="1"/>
          </p:cNvSpPr>
          <p:nvPr/>
        </p:nvSpPr>
        <p:spPr>
          <a:xfrm>
            <a:off x="432000" y="2088000"/>
            <a:ext cx="11472000" cy="360000"/>
          </a:xfrm>
          <a:prstGeom prst="rect">
            <a:avLst/>
          </a:prstGeom>
          <a:noFill/>
        </p:spPr>
        <p:txBody>
          <a:bodyPr anchor="ctr" wrap="square" lIns="36000" rIns="36000" tIns="36000" bIns="36000"/>
          <a:lstStyle/>
          <a:p>
            <a:pPr algn="l" spcBef="0" spcAft="0">
              <a:spcPct val="100000"/>
            </a:pPr>
            <a:r>
              <a:rPr lang="en-GB" b="0" i="1" sz="1700" dirty="0">
                <a:solidFill>
                  <a:srgbClr val="DCE6F1"/>
                </a:solidFill>
                <a:latin typeface="Calibri"/>
              </a:rPr>
              <a:t>am/is/are going to + base form; intentions and decisions; predictions from evidence</a:t>
            </a:r>
          </a:p>
        </p:txBody>
      </p:sp>
      <p:sp>
        <p:nvSpPr>
          <p:cNvPr id="18" name="shape18"/>
          <p:cNvSpPr>
            <a:spLocks noGrp="1"/>
          </p:cNvSpPr>
          <p:nvPr/>
        </p:nvSpPr>
        <p:spPr>
          <a:xfrm>
            <a:off x="0" y="6768000"/>
            <a:ext cx="12192000" cy="90000"/>
          </a:xfrm>
          <a:prstGeom prst="rect">
            <a:avLst/>
          </a:prstGeom>
          <a:solidFill>
            <a:srgbClr val="BF8F00"/>
          </a:solidFill>
        </p:spPr>
        <p:txBody>
          <a:bodyPr/>
          <a:lstStyle/>
          <a:p/>
        </p:txBody>
      </p:sp>
      <p:sp>
        <p:nvSpPr>
          <p:cNvPr id="19" name="box19"/>
          <p:cNvSpPr>
            <a:spLocks noGrp="1"/>
          </p:cNvSpPr>
          <p:nvPr/>
        </p:nvSpPr>
        <p:spPr>
          <a:xfrm>
            <a:off x="11112000" y="6354001"/>
            <a:ext cx="936000" cy="360000"/>
          </a:xfrm>
          <a:prstGeom prst="roundRect">
            <a:avLst>
              <a:gd name="adj" fmla="val 2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CEFR  A2</a:t>
            </a:r>
          </a:p>
        </p:txBody>
      </p:sp>
    </p:spTree>
  </p:cSld>
  <p:clrMapOvr>
    <a:masterClr/>
  </p:clrMapOvr>
</p:sld>
</file>

<file path=ppt/slides/slide2.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51" name="box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52" name="box52"/>
          <p:cNvSpPr>
            <a:spLocks noGrp="1"/>
          </p:cNvSpPr>
          <p:nvPr/>
        </p:nvSpPr>
        <p:spPr>
          <a:xfrm>
            <a:off x="0" y="396000"/>
            <a:ext cx="12192000" cy="64800"/>
          </a:xfrm>
          <a:prstGeom prst="rect">
            <a:avLst/>
          </a:prstGeom>
          <a:solidFill>
            <a:srgbClr val="2E75B6"/>
          </a:solidFill>
          <a:ln w="0">
            <a:noFill/>
          </a:ln>
        </p:spPr>
        <p:txBody>
          <a:bodyPr anchor="ctr" wrap="square" lIns="72000" rIns="72000" tIns="54000" bIns="54000"/>
          <a:lstStyle/>
        </p:txBody>
      </p:sp>
      <p:sp>
        <p:nvSpPr>
          <p:cNvPr id="53" name="tb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LEARNING OBJECTIVES</a:t>
            </a:r>
          </a:p>
        </p:txBody>
      </p:sp>
      <p:sp>
        <p:nvSpPr>
          <p:cNvPr id="54" name="box54"/>
          <p:cNvSpPr>
            <a:spLocks noGrp="1"/>
          </p:cNvSpPr>
          <p:nvPr/>
        </p:nvSpPr>
        <p:spPr>
          <a:xfrm>
            <a:off x="180000" y="5400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55" name="box55"/>
          <p:cNvSpPr>
            <a:spLocks noGrp="1"/>
          </p:cNvSpPr>
          <p:nvPr/>
        </p:nvSpPr>
        <p:spPr>
          <a:xfrm>
            <a:off x="558000" y="5400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Form positive, negative, and question sentences with going to.</a:t>
            </a:r>
          </a:p>
        </p:txBody>
      </p:sp>
      <p:sp>
        <p:nvSpPr>
          <p:cNvPr id="56" name="box56"/>
          <p:cNvSpPr>
            <a:spLocks noGrp="1"/>
          </p:cNvSpPr>
          <p:nvPr/>
        </p:nvSpPr>
        <p:spPr>
          <a:xfrm>
            <a:off x="180000" y="9252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57" name="box57"/>
          <p:cNvSpPr>
            <a:spLocks noGrp="1"/>
          </p:cNvSpPr>
          <p:nvPr/>
        </p:nvSpPr>
        <p:spPr>
          <a:xfrm>
            <a:off x="558000" y="9252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Use going to for intentions and plans decided before speaking.</a:t>
            </a:r>
          </a:p>
        </p:txBody>
      </p:sp>
      <p:sp>
        <p:nvSpPr>
          <p:cNvPr id="58" name="box58"/>
          <p:cNvSpPr>
            <a:spLocks noGrp="1"/>
          </p:cNvSpPr>
          <p:nvPr/>
        </p:nvSpPr>
        <p:spPr>
          <a:xfrm>
            <a:off x="180000" y="13104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59" name="box59"/>
          <p:cNvSpPr>
            <a:spLocks noGrp="1"/>
          </p:cNvSpPr>
          <p:nvPr/>
        </p:nvSpPr>
        <p:spPr>
          <a:xfrm>
            <a:off x="558000" y="13104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Use going to for predictions based on present evidence.</a:t>
            </a:r>
          </a:p>
        </p:txBody>
      </p:sp>
      <p:sp>
        <p:nvSpPr>
          <p:cNvPr id="60" name="box60"/>
          <p:cNvSpPr>
            <a:spLocks noGrp="1"/>
          </p:cNvSpPr>
          <p:nvPr/>
        </p:nvSpPr>
        <p:spPr>
          <a:xfrm>
            <a:off x="180000" y="16956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61" name="box61"/>
          <p:cNvSpPr>
            <a:spLocks noGrp="1"/>
          </p:cNvSpPr>
          <p:nvPr/>
        </p:nvSpPr>
        <p:spPr>
          <a:xfrm>
            <a:off x="558000" y="16956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Distinguish going to (decided plan) from will (spontaneous decision).</a:t>
            </a:r>
          </a:p>
        </p:txBody>
      </p:sp>
      <p:sp>
        <p:nvSpPr>
          <p:cNvPr id="62" name="box62"/>
          <p:cNvSpPr>
            <a:spLocks noGrp="1"/>
          </p:cNvSpPr>
          <p:nvPr/>
        </p:nvSpPr>
        <p:spPr>
          <a:xfrm>
            <a:off x="180000" y="20808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63" name="box63"/>
          <p:cNvSpPr>
            <a:spLocks noGrp="1"/>
          </p:cNvSpPr>
          <p:nvPr/>
        </p:nvSpPr>
        <p:spPr>
          <a:xfrm>
            <a:off x="558000" y="20808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Produce sentences about future plans and make predictions from pictures.</a:t>
            </a:r>
          </a:p>
        </p:txBody>
      </p:sp>
    </p:spTree>
  </p:cSld>
  <p:clrMapOvr>
    <a:masterClr/>
  </p:clrMapOvr>
</p:sld>
</file>

<file path=ppt/slides/slide3.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101" name="box1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102" name="box1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103" name="tb1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WARM-UP ACTIVITY</a:t>
            </a:r>
          </a:p>
        </p:txBody>
      </p:sp>
      <p:sp>
        <p:nvSpPr>
          <p:cNvPr id="104" name="box104"/>
          <p:cNvSpPr>
            <a:spLocks noGrp="1"/>
          </p:cNvSpPr>
          <p:nvPr/>
        </p:nvSpPr>
        <p:spPr>
          <a:xfrm>
            <a:off x="180000" y="540000"/>
            <a:ext cx="11832000" cy="396000"/>
          </a:xfrm>
          <a:prstGeom prst="roundRect">
            <a:avLst>
              <a:gd name="adj" fmla="val 15000"/>
            </a:avLst>
          </a:prstGeom>
          <a:solidFill>
            <a:srgbClr val="BF8F00"/>
          </a:solidFill>
          <a:ln w="0">
            <a:noFill/>
          </a:ln>
        </p:spPr>
        <p:txBody>
          <a:bodyPr anchor="ctr" wrap="square" lIns="180000" rIns="72000" tIns="54000" bIns="54000"/>
          <a:lstStyle/>
          <a:p>
            <a:pPr algn="l" spcBef="0" spcAft="0">
              <a:spcPct val="100000"/>
            </a:pPr>
            <a:r>
              <a:rPr lang="en-GB" b="1" sz="2400" dirty="0">
                <a:solidFill>
                  <a:srgbClr val="1F3864"/>
                </a:solidFill>
                <a:latin typeface="Cambria"/>
              </a:rPr>
              <a:t>🔮 Predict!</a:t>
            </a:r>
          </a:p>
        </p:txBody>
      </p:sp>
      <p:sp>
        <p:nvSpPr>
          <p:cNvPr id="105" name="box105"/>
          <p:cNvSpPr>
            <a:spLocks noGrp="1"/>
          </p:cNvSpPr>
          <p:nvPr/>
        </p:nvSpPr>
        <p:spPr>
          <a:xfrm>
            <a:off x="11040000" y="540000"/>
            <a:ext cx="972000" cy="396000"/>
          </a:xfrm>
          <a:prstGeom prst="roundRect">
            <a:avLst>
              <a:gd name="adj" fmla="val 15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BF8F00"/>
                </a:solidFill>
                <a:latin typeface="Calibri"/>
              </a:rPr>
              <a:t>⏱  5 minutes</a:t>
            </a:r>
          </a:p>
        </p:txBody>
      </p:sp>
      <p:sp>
        <p:nvSpPr>
          <p:cNvPr id="106" name="box106"/>
          <p:cNvSpPr>
            <a:spLocks noGrp="1"/>
          </p:cNvSpPr>
          <p:nvPr/>
        </p:nvSpPr>
        <p:spPr>
          <a:xfrm>
            <a:off x="180000" y="1026000"/>
            <a:ext cx="251999" cy="324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600" dirty="0">
                <a:solidFill>
                  <a:srgbClr val="FFFFFF"/>
                </a:solidFill>
                <a:latin typeface="Calibri"/>
              </a:rPr>
              <a:t>1</a:t>
            </a:r>
          </a:p>
        </p:txBody>
      </p:sp>
      <p:sp>
        <p:nvSpPr>
          <p:cNvPr id="107" name="tb107"/>
          <p:cNvSpPr txBox="1">
            <a:spLocks noGrp="1"/>
          </p:cNvSpPr>
          <p:nvPr/>
        </p:nvSpPr>
        <p:spPr>
          <a:xfrm>
            <a:off x="503999" y="1026000"/>
            <a:ext cx="11508000" cy="324000"/>
          </a:xfrm>
          <a:prstGeom prst="rect">
            <a:avLst/>
          </a:prstGeom>
          <a:noFill/>
        </p:spPr>
        <p:txBody>
          <a:bodyPr anchor="ctr" wrap="square" lIns="36000" rIns="36000" tIns="36000" bIns="36000"/>
          <a:lstStyle/>
          <a:p>
            <a:pPr algn="l" spcBef="0" spcAft="0">
              <a:spcPct val="100000"/>
            </a:pPr>
            <a:r>
              <a:rPr lang="en-GB" b="0" sz="1500" dirty="0">
                <a:solidFill>
                  <a:srgbClr val="404040"/>
                </a:solidFill>
                <a:latin typeface="Calibri"/>
              </a:rPr>
              <a:t>Teacher shows pictures with clues (dark clouds, a falling glass, a woman in a wedding dress).</a:t>
            </a:r>
          </a:p>
        </p:txBody>
      </p:sp>
      <p:sp>
        <p:nvSpPr>
          <p:cNvPr id="108" name="box108"/>
          <p:cNvSpPr>
            <a:spLocks noGrp="1"/>
          </p:cNvSpPr>
          <p:nvPr/>
        </p:nvSpPr>
        <p:spPr>
          <a:xfrm>
            <a:off x="180000" y="1458000"/>
            <a:ext cx="251999" cy="324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600" dirty="0">
                <a:solidFill>
                  <a:srgbClr val="FFFFFF"/>
                </a:solidFill>
                <a:latin typeface="Calibri"/>
              </a:rPr>
              <a:t>2</a:t>
            </a:r>
          </a:p>
        </p:txBody>
      </p:sp>
      <p:sp>
        <p:nvSpPr>
          <p:cNvPr id="109" name="tb109"/>
          <p:cNvSpPr txBox="1">
            <a:spLocks noGrp="1"/>
          </p:cNvSpPr>
          <p:nvPr/>
        </p:nvSpPr>
        <p:spPr>
          <a:xfrm>
            <a:off x="503999" y="1458000"/>
            <a:ext cx="11508000" cy="324000"/>
          </a:xfrm>
          <a:prstGeom prst="rect">
            <a:avLst/>
          </a:prstGeom>
          <a:noFill/>
        </p:spPr>
        <p:txBody>
          <a:bodyPr anchor="ctr" wrap="square" lIns="36000" rIns="36000" tIns="36000" bIns="36000"/>
          <a:lstStyle/>
          <a:p>
            <a:pPr algn="l" spcBef="0" spcAft="0">
              <a:spcPct val="100000"/>
            </a:pPr>
            <a:r>
              <a:rPr lang="en-GB" b="0" sz="1500" dirty="0">
                <a:solidFill>
                  <a:srgbClr val="404040"/>
                </a:solidFill>
                <a:latin typeface="Calibri"/>
              </a:rPr>
              <a:t>Students predict: Its going to rain! The glass is going to break! Shes going to get married!</a:t>
            </a:r>
          </a:p>
        </p:txBody>
      </p:sp>
      <p:sp>
        <p:nvSpPr>
          <p:cNvPr id="110" name="box110"/>
          <p:cNvSpPr>
            <a:spLocks noGrp="1"/>
          </p:cNvSpPr>
          <p:nvPr/>
        </p:nvSpPr>
        <p:spPr>
          <a:xfrm>
            <a:off x="180000" y="1890000"/>
            <a:ext cx="251999" cy="324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600" dirty="0">
                <a:solidFill>
                  <a:srgbClr val="FFFFFF"/>
                </a:solidFill>
                <a:latin typeface="Calibri"/>
              </a:rPr>
              <a:t>3</a:t>
            </a:r>
          </a:p>
        </p:txBody>
      </p:sp>
      <p:sp>
        <p:nvSpPr>
          <p:cNvPr id="111" name="tb111"/>
          <p:cNvSpPr txBox="1">
            <a:spLocks noGrp="1"/>
          </p:cNvSpPr>
          <p:nvPr/>
        </p:nvSpPr>
        <p:spPr>
          <a:xfrm>
            <a:off x="503999" y="1890000"/>
            <a:ext cx="11508000" cy="324000"/>
          </a:xfrm>
          <a:prstGeom prst="rect">
            <a:avLst/>
          </a:prstGeom>
          <a:noFill/>
        </p:spPr>
        <p:txBody>
          <a:bodyPr anchor="ctr" wrap="square" lIns="36000" rIns="36000" tIns="36000" bIns="36000"/>
          <a:lstStyle/>
          <a:p>
            <a:pPr algn="l" spcBef="0" spcAft="0">
              <a:spcPct val="100000"/>
            </a:pPr>
            <a:r>
              <a:rPr lang="en-GB" b="0" sz="1500" dirty="0">
                <a:solidFill>
                  <a:srgbClr val="404040"/>
                </a:solidFill>
                <a:latin typeface="Calibri"/>
              </a:rPr>
              <a:t>Students make 2 predictions about the rest of todays class.</a:t>
            </a:r>
          </a:p>
        </p:txBody>
      </p:sp>
    </p:spTree>
  </p:cSld>
  <p:clrMapOvr>
    <a:masterClr/>
  </p:clrMapOvr>
</p:sld>
</file>

<file path=ppt/slides/slide4.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151" name="box1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152" name="box152"/>
          <p:cNvSpPr>
            <a:spLocks noGrp="1"/>
          </p:cNvSpPr>
          <p:nvPr/>
        </p:nvSpPr>
        <p:spPr>
          <a:xfrm>
            <a:off x="0" y="396000"/>
            <a:ext cx="12192000" cy="64800"/>
          </a:xfrm>
          <a:prstGeom prst="rect">
            <a:avLst/>
          </a:prstGeom>
          <a:solidFill>
            <a:srgbClr val="2E75B6"/>
          </a:solidFill>
          <a:ln w="0">
            <a:noFill/>
          </a:ln>
        </p:spPr>
        <p:txBody>
          <a:bodyPr anchor="ctr" wrap="square" lIns="72000" rIns="72000" tIns="54000" bIns="54000"/>
          <a:lstStyle/>
        </p:txBody>
      </p:sp>
      <p:sp>
        <p:nvSpPr>
          <p:cNvPr id="153" name="tb1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VOCABULARY PREVIEW</a:t>
            </a:r>
          </a:p>
        </p:txBody>
      </p:sp>
      <p:sp>
        <p:nvSpPr>
          <p:cNvPr id="154" name="box154"/>
          <p:cNvSpPr>
            <a:spLocks noGrp="1"/>
          </p:cNvSpPr>
          <p:nvPr/>
        </p:nvSpPr>
        <p:spPr>
          <a:xfrm>
            <a:off x="180000" y="5400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intention</a:t>
            </a:r>
          </a:p>
        </p:txBody>
      </p:sp>
      <p:sp>
        <p:nvSpPr>
          <p:cNvPr id="155" name="box155"/>
          <p:cNvSpPr>
            <a:spLocks noGrp="1"/>
          </p:cNvSpPr>
          <p:nvPr/>
        </p:nvSpPr>
        <p:spPr>
          <a:xfrm>
            <a:off x="1007999" y="5400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56" name="box156"/>
          <p:cNvSpPr>
            <a:spLocks noGrp="1"/>
          </p:cNvSpPr>
          <p:nvPr/>
        </p:nvSpPr>
        <p:spPr>
          <a:xfrm>
            <a:off x="1512000" y="5400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a plan to do something</a:t>
            </a:r>
          </a:p>
        </p:txBody>
      </p:sp>
      <p:sp>
        <p:nvSpPr>
          <p:cNvPr id="157" name="box157"/>
          <p:cNvSpPr>
            <a:spLocks noGrp="1"/>
          </p:cNvSpPr>
          <p:nvPr/>
        </p:nvSpPr>
        <p:spPr>
          <a:xfrm>
            <a:off x="6042000" y="5400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decision</a:t>
            </a:r>
          </a:p>
        </p:txBody>
      </p:sp>
      <p:sp>
        <p:nvSpPr>
          <p:cNvPr id="158" name="box158"/>
          <p:cNvSpPr>
            <a:spLocks noGrp="1"/>
          </p:cNvSpPr>
          <p:nvPr/>
        </p:nvSpPr>
        <p:spPr>
          <a:xfrm>
            <a:off x="6869999" y="5400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59" name="box159"/>
          <p:cNvSpPr>
            <a:spLocks noGrp="1"/>
          </p:cNvSpPr>
          <p:nvPr/>
        </p:nvSpPr>
        <p:spPr>
          <a:xfrm>
            <a:off x="7374000" y="5400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a choice you make</a:t>
            </a:r>
          </a:p>
        </p:txBody>
      </p:sp>
      <p:sp>
        <p:nvSpPr>
          <p:cNvPr id="160" name="box160"/>
          <p:cNvSpPr>
            <a:spLocks noGrp="1"/>
          </p:cNvSpPr>
          <p:nvPr/>
        </p:nvSpPr>
        <p:spPr>
          <a:xfrm>
            <a:off x="180000" y="8856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prediction</a:t>
            </a:r>
          </a:p>
        </p:txBody>
      </p:sp>
      <p:sp>
        <p:nvSpPr>
          <p:cNvPr id="161" name="box161"/>
          <p:cNvSpPr>
            <a:spLocks noGrp="1"/>
          </p:cNvSpPr>
          <p:nvPr/>
        </p:nvSpPr>
        <p:spPr>
          <a:xfrm>
            <a:off x="1007999" y="8856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62" name="box162"/>
          <p:cNvSpPr>
            <a:spLocks noGrp="1"/>
          </p:cNvSpPr>
          <p:nvPr/>
        </p:nvSpPr>
        <p:spPr>
          <a:xfrm>
            <a:off x="1512000" y="8856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saying what will happen</a:t>
            </a:r>
          </a:p>
        </p:txBody>
      </p:sp>
      <p:sp>
        <p:nvSpPr>
          <p:cNvPr id="163" name="box163"/>
          <p:cNvSpPr>
            <a:spLocks noGrp="1"/>
          </p:cNvSpPr>
          <p:nvPr/>
        </p:nvSpPr>
        <p:spPr>
          <a:xfrm>
            <a:off x="6042000" y="8856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evidence</a:t>
            </a:r>
          </a:p>
        </p:txBody>
      </p:sp>
      <p:sp>
        <p:nvSpPr>
          <p:cNvPr id="164" name="box164"/>
          <p:cNvSpPr>
            <a:spLocks noGrp="1"/>
          </p:cNvSpPr>
          <p:nvPr/>
        </p:nvSpPr>
        <p:spPr>
          <a:xfrm>
            <a:off x="6869999" y="8856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65" name="box165"/>
          <p:cNvSpPr>
            <a:spLocks noGrp="1"/>
          </p:cNvSpPr>
          <p:nvPr/>
        </p:nvSpPr>
        <p:spPr>
          <a:xfrm>
            <a:off x="7374000" y="8856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facts showing something is true</a:t>
            </a:r>
          </a:p>
        </p:txBody>
      </p:sp>
      <p:sp>
        <p:nvSpPr>
          <p:cNvPr id="166" name="box166"/>
          <p:cNvSpPr>
            <a:spLocks noGrp="1"/>
          </p:cNvSpPr>
          <p:nvPr/>
        </p:nvSpPr>
        <p:spPr>
          <a:xfrm>
            <a:off x="180000" y="12312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plan</a:t>
            </a:r>
          </a:p>
        </p:txBody>
      </p:sp>
      <p:sp>
        <p:nvSpPr>
          <p:cNvPr id="167" name="box167"/>
          <p:cNvSpPr>
            <a:spLocks noGrp="1"/>
          </p:cNvSpPr>
          <p:nvPr/>
        </p:nvSpPr>
        <p:spPr>
          <a:xfrm>
            <a:off x="1007999" y="12312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68" name="box168"/>
          <p:cNvSpPr>
            <a:spLocks noGrp="1"/>
          </p:cNvSpPr>
          <p:nvPr/>
        </p:nvSpPr>
        <p:spPr>
          <a:xfrm>
            <a:off x="1512000" y="12312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an idea of what to do</a:t>
            </a:r>
          </a:p>
        </p:txBody>
      </p:sp>
      <p:sp>
        <p:nvSpPr>
          <p:cNvPr id="169" name="box169"/>
          <p:cNvSpPr>
            <a:spLocks noGrp="1"/>
          </p:cNvSpPr>
          <p:nvPr/>
        </p:nvSpPr>
        <p:spPr>
          <a:xfrm>
            <a:off x="6042000" y="12312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goal</a:t>
            </a:r>
          </a:p>
        </p:txBody>
      </p:sp>
      <p:sp>
        <p:nvSpPr>
          <p:cNvPr id="170" name="box170"/>
          <p:cNvSpPr>
            <a:spLocks noGrp="1"/>
          </p:cNvSpPr>
          <p:nvPr/>
        </p:nvSpPr>
        <p:spPr>
          <a:xfrm>
            <a:off x="6869999" y="12312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71" name="box171"/>
          <p:cNvSpPr>
            <a:spLocks noGrp="1"/>
          </p:cNvSpPr>
          <p:nvPr/>
        </p:nvSpPr>
        <p:spPr>
          <a:xfrm>
            <a:off x="7374000" y="12312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something you want to achieve</a:t>
            </a:r>
          </a:p>
        </p:txBody>
      </p:sp>
      <p:sp>
        <p:nvSpPr>
          <p:cNvPr id="172" name="box172"/>
          <p:cNvSpPr>
            <a:spLocks noGrp="1"/>
          </p:cNvSpPr>
          <p:nvPr/>
        </p:nvSpPr>
        <p:spPr>
          <a:xfrm>
            <a:off x="180000" y="15768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ambition</a:t>
            </a:r>
          </a:p>
        </p:txBody>
      </p:sp>
      <p:sp>
        <p:nvSpPr>
          <p:cNvPr id="173" name="box173"/>
          <p:cNvSpPr>
            <a:spLocks noGrp="1"/>
          </p:cNvSpPr>
          <p:nvPr/>
        </p:nvSpPr>
        <p:spPr>
          <a:xfrm>
            <a:off x="1007999" y="15768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74" name="box174"/>
          <p:cNvSpPr>
            <a:spLocks noGrp="1"/>
          </p:cNvSpPr>
          <p:nvPr/>
        </p:nvSpPr>
        <p:spPr>
          <a:xfrm>
            <a:off x="1512000" y="15768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a strong wish to succeed</a:t>
            </a:r>
          </a:p>
        </p:txBody>
      </p:sp>
      <p:sp>
        <p:nvSpPr>
          <p:cNvPr id="175" name="box175"/>
          <p:cNvSpPr>
            <a:spLocks noGrp="1"/>
          </p:cNvSpPr>
          <p:nvPr/>
        </p:nvSpPr>
        <p:spPr>
          <a:xfrm>
            <a:off x="6042000" y="15768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career</a:t>
            </a:r>
          </a:p>
        </p:txBody>
      </p:sp>
      <p:sp>
        <p:nvSpPr>
          <p:cNvPr id="176" name="box176"/>
          <p:cNvSpPr>
            <a:spLocks noGrp="1"/>
          </p:cNvSpPr>
          <p:nvPr/>
        </p:nvSpPr>
        <p:spPr>
          <a:xfrm>
            <a:off x="6869999" y="15768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77" name="box177"/>
          <p:cNvSpPr>
            <a:spLocks noGrp="1"/>
          </p:cNvSpPr>
          <p:nvPr/>
        </p:nvSpPr>
        <p:spPr>
          <a:xfrm>
            <a:off x="7374000" y="15768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a job or profession over time</a:t>
            </a:r>
          </a:p>
        </p:txBody>
      </p:sp>
      <p:sp>
        <p:nvSpPr>
          <p:cNvPr id="178" name="box178"/>
          <p:cNvSpPr>
            <a:spLocks noGrp="1"/>
          </p:cNvSpPr>
          <p:nvPr/>
        </p:nvSpPr>
        <p:spPr>
          <a:xfrm>
            <a:off x="180000" y="19224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degree</a:t>
            </a:r>
          </a:p>
        </p:txBody>
      </p:sp>
      <p:sp>
        <p:nvSpPr>
          <p:cNvPr id="179" name="box179"/>
          <p:cNvSpPr>
            <a:spLocks noGrp="1"/>
          </p:cNvSpPr>
          <p:nvPr/>
        </p:nvSpPr>
        <p:spPr>
          <a:xfrm>
            <a:off x="1007999" y="19224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80" name="box180"/>
          <p:cNvSpPr>
            <a:spLocks noGrp="1"/>
          </p:cNvSpPr>
          <p:nvPr/>
        </p:nvSpPr>
        <p:spPr>
          <a:xfrm>
            <a:off x="1512000" y="19224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university qualification</a:t>
            </a:r>
          </a:p>
        </p:txBody>
      </p:sp>
      <p:sp>
        <p:nvSpPr>
          <p:cNvPr id="181" name="box181"/>
          <p:cNvSpPr>
            <a:spLocks noGrp="1"/>
          </p:cNvSpPr>
          <p:nvPr/>
        </p:nvSpPr>
        <p:spPr>
          <a:xfrm>
            <a:off x="6042000" y="19224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abroad</a:t>
            </a:r>
          </a:p>
        </p:txBody>
      </p:sp>
      <p:sp>
        <p:nvSpPr>
          <p:cNvPr id="182" name="box182"/>
          <p:cNvSpPr>
            <a:spLocks noGrp="1"/>
          </p:cNvSpPr>
          <p:nvPr/>
        </p:nvSpPr>
        <p:spPr>
          <a:xfrm>
            <a:off x="6869999" y="19224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83" name="box183"/>
          <p:cNvSpPr>
            <a:spLocks noGrp="1"/>
          </p:cNvSpPr>
          <p:nvPr/>
        </p:nvSpPr>
        <p:spPr>
          <a:xfrm>
            <a:off x="7374000" y="19224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in a foreign country</a:t>
            </a:r>
          </a:p>
        </p:txBody>
      </p:sp>
      <p:sp>
        <p:nvSpPr>
          <p:cNvPr id="184" name="tb184"/>
          <p:cNvSpPr txBox="1">
            <a:spLocks noGrp="1"/>
          </p:cNvSpPr>
          <p:nvPr/>
        </p:nvSpPr>
        <p:spPr>
          <a:xfrm>
            <a:off x="180000" y="6606001"/>
            <a:ext cx="11832000" cy="198000"/>
          </a:xfrm>
          <a:prstGeom prst="rect">
            <a:avLst/>
          </a:prstGeom>
          <a:noFill/>
        </p:spPr>
        <p:txBody>
          <a:bodyPr anchor="ctr" wrap="square" lIns="36000" rIns="36000" tIns="36000" bIns="36000"/>
          <a:lstStyle/>
          <a:p>
            <a:pPr algn="l" spcBef="0" spcAft="0">
              <a:spcPct val="100000"/>
            </a:pPr>
            <a:r>
              <a:rPr lang="en-GB" b="0" i="1" sz="1300" dirty="0">
                <a:solidFill>
                  <a:srgbClr val="2E75B6"/>
                </a:solidFill>
                <a:latin typeface="Calibri"/>
              </a:rPr>
              <a:t>📚  Full 30-word vocabulary bank in your workbook — Section 4.</a:t>
            </a:r>
          </a:p>
        </p:txBody>
      </p:sp>
    </p:spTree>
  </p:cSld>
  <p:clrMapOvr>
    <a:masterClr/>
  </p:clrMapOvr>
</p:sld>
</file>

<file path=ppt/slides/slide5.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201" name="box2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202" name="box2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203" name="tb2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GRAMMAR RULE</a:t>
            </a:r>
          </a:p>
        </p:txBody>
      </p:sp>
      <p:sp>
        <p:nvSpPr>
          <p:cNvPr id="204" name="box204"/>
          <p:cNvSpPr>
            <a:spLocks noGrp="1"/>
          </p:cNvSpPr>
          <p:nvPr/>
        </p:nvSpPr>
        <p:spPr>
          <a:xfrm>
            <a:off x="180000" y="522000"/>
            <a:ext cx="11832000" cy="396000"/>
          </a:xfrm>
          <a:prstGeom prst="roundRect">
            <a:avLst>
              <a:gd name="adj" fmla="val 10000"/>
            </a:avLst>
          </a:prstGeom>
          <a:solidFill>
            <a:srgbClr val="FFF2CC"/>
          </a:solidFill>
          <a:ln w="12700">
            <a:solidFill>
              <a:srgbClr val="BF8F00"/>
            </a:solidFill>
          </a:ln>
        </p:spPr>
        <p:txBody>
          <a:bodyPr anchor="ctr" wrap="square" lIns="144000" rIns="72000" tIns="54000" bIns="54000"/>
          <a:lstStyle/>
          <a:p>
            <a:pPr algn="l" spcBef="0" spcAft="0">
              <a:spcPct val="100000"/>
            </a:pPr>
            <a:r>
              <a:rPr lang="en-GB" b="1" sz="1700" dirty="0">
                <a:solidFill>
                  <a:srgbClr val="1F3864"/>
                </a:solidFill>
                <a:latin typeface="Calibri"/>
              </a:rPr>
              <a:t>📌  Going to = intention (I have decided) OR prediction from evidence (I can see it will happen). Structure: am/is/are + going to + base form.</a:t>
            </a:r>
          </a:p>
        </p:txBody>
      </p:sp>
      <p:graphicFrame>
        <p:nvGraphicFramePr>
          <p:cNvPr id="205" name="tbl205"/>
          <p:cNvGraphicFramePr>
            <a:graphicFrameLocks noGrp="1"/>
          </p:cNvGraphicFramePr>
          <p:nvPr/>
        </p:nvGraphicFramePr>
        <p:xfrm>
          <a:off x="180000" y="990000"/>
          <a:ext cx="11832000" cy="5778000"/>
        </p:xfrm>
        <a:graphic>
          <a:graphicData uri="http://schemas.openxmlformats.org/drawingml/2006/table">
            <a:tbl>
              <a:tblPr firstRow="1" bandRow="1">
                <a:tableStyleId>{5C22544A-7EE6-4342-B048-85BDC9FD1C3A}</a:tableStyleId>
              </a:tblPr>
              <a:tblGrid>
                <a:gridCol w="3944000"/>
                <a:gridCol w="3944000"/>
                <a:gridCol w="3944000"/>
              </a:tblGrid>
              <a:tr h="1112400">
                <a:tc>
                  <a:txBody>
                    <a:bodyPr/>
                    <a:lstStyle/>
                    <a:p>
                      <a:pPr algn="l"/>
                      <a:r>
                        <a:rPr lang="en-GB" b="1" sz="1400" dirty="0">
                          <a:solidFill>
                            <a:srgbClr val="FFFFFF"/>
                          </a:solidFill>
                          <a:latin typeface="Calibri"/>
                        </a:rPr>
                        <a:t>Form</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Structure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Example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1112400">
                <a:tc>
                  <a:txBody>
                    <a:bodyPr/>
                    <a:lstStyle/>
                    <a:p>
                      <a:pPr algn="l"/>
                      <a:r>
                        <a:rPr lang="en-GB" b="1" sz="1400" dirty="0">
                          <a:solidFill>
                            <a:srgbClr val="1F3864"/>
                          </a:solidFill>
                          <a:latin typeface="Calibri"/>
                        </a:rPr>
                        <a:t>Positive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am/is/are going to + base form</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Im going to buy a new car.</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1112400">
                <a:tc>
                  <a:txBody>
                    <a:bodyPr/>
                    <a:lstStyle/>
                    <a:p>
                      <a:pPr algn="l"/>
                      <a:r>
                        <a:rPr lang="en-GB" b="1" sz="1400" dirty="0">
                          <a:solidFill>
                            <a:srgbClr val="1F3864"/>
                          </a:solidFill>
                          <a:latin typeface="Calibri"/>
                        </a:rPr>
                        <a:t>Negative</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am/is/are not going to + base form</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She isnt going to come.</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1112400">
                <a:tc>
                  <a:txBody>
                    <a:bodyPr/>
                    <a:lstStyle/>
                    <a:p>
                      <a:pPr algn="l"/>
                      <a:r>
                        <a:rPr lang="en-GB" b="1" sz="1400" dirty="0">
                          <a:solidFill>
                            <a:srgbClr val="1F3864"/>
                          </a:solidFill>
                          <a:latin typeface="Calibri"/>
                        </a:rPr>
                        <a:t>Question</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Am/Is/Are + subject + going to + base?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Are you going to invite John?</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1112400">
                <a:tc>
                  <a:txBody>
                    <a:bodyPr/>
                    <a:lstStyle/>
                    <a:p>
                      <a:pPr algn="l"/>
                      <a:r>
                        <a:rPr lang="en-GB" b="1" sz="1400" dirty="0">
                          <a:solidFill>
                            <a:srgbClr val="1F3864"/>
                          </a:solidFill>
                          <a:latin typeface="Calibri"/>
                        </a:rPr>
                        <a:t>Prediction (evidence)</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is/are going to + base form</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Look! Its going to rain!</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6.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251" name="box2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252" name="box25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253" name="tb2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SPELLING &amp; USAGE NOTES</a:t>
            </a:r>
          </a:p>
        </p:txBody>
      </p:sp>
      <p:sp>
        <p:nvSpPr>
          <p:cNvPr id="254" name="box254"/>
          <p:cNvSpPr>
            <a:spLocks noGrp="1"/>
          </p:cNvSpPr>
          <p:nvPr/>
        </p:nvSpPr>
        <p:spPr>
          <a:xfrm>
            <a:off x="180000" y="540000"/>
            <a:ext cx="11832000" cy="503999"/>
          </a:xfrm>
          <a:prstGeom prst="rect">
            <a:avLst/>
          </a:prstGeom>
          <a:solidFill>
            <a:srgbClr val="DCE6F1"/>
          </a:solidFill>
          <a:ln w="12700">
            <a:solidFill>
              <a:srgbClr val="1F3864"/>
            </a:solidFill>
          </a:ln>
        </p:spPr>
        <p:txBody>
          <a:bodyPr anchor="ctr" wrap="square" lIns="144000" rIns="72000" tIns="54000" bIns="54000"/>
          <a:lstStyle/>
          <a:p>
            <a:pPr algn="l" spcBef="0" spcAft="0">
              <a:spcPct val="100000"/>
            </a:pPr>
            <a:r>
              <a:rPr lang="en-GB" b="1" sz="1500" dirty="0">
                <a:solidFill>
                  <a:srgbClr val="1F3864"/>
                </a:solidFill>
                <a:latin typeface="Calibri"/>
              </a:rPr>
              <a:t>⚠️  Watch Out!  </a:t>
            </a:r>
            <a:r>
              <a:rPr lang="en-GB" b="0" sz="1400" dirty="0">
                <a:solidFill>
                  <a:srgbClr val="1F3864"/>
                </a:solidFill>
                <a:latin typeface="Calibri"/>
              </a:rPr>
              <a:t>Going to = decided BEFORE the moment of speaking. Will = decided AT the moment of speaking. "My hands are dirty." → "Im going to wash them." (I already decided). NOT "Ill wash them" (that would be spontaneous).</a:t>
            </a:r>
          </a:p>
        </p:txBody>
      </p:sp>
      <p:sp>
        <p:nvSpPr>
          <p:cNvPr id="255" name="box255"/>
          <p:cNvSpPr>
            <a:spLocks noGrp="1"/>
          </p:cNvSpPr>
          <p:nvPr/>
        </p:nvSpPr>
        <p:spPr>
          <a:xfrm>
            <a:off x="180000" y="1169998"/>
            <a:ext cx="1260000" cy="216000"/>
          </a:xfrm>
          <a:prstGeom prst="roundRect">
            <a:avLst>
              <a:gd name="adj" fmla="val 10000"/>
            </a:avLst>
          </a:prstGeom>
          <a:solidFill>
            <a:srgbClr val="BF8F00"/>
          </a:solidFill>
          <a:ln w="0">
            <a:noFill/>
          </a:ln>
        </p:spPr>
        <p:txBody>
          <a:bodyPr anchor="ctr" wrap="square" lIns="72000" rIns="72000" tIns="54000" bIns="54000"/>
          <a:lstStyle/>
          <a:p>
            <a:pPr algn="ctr" spcBef="0" spcAft="0">
              <a:spcPct val="100000"/>
            </a:pPr>
            <a:r>
              <a:rPr lang="en-GB" b="1" sz="1400" dirty="0">
                <a:solidFill>
                  <a:srgbClr val="1F3864"/>
                </a:solidFill>
                <a:latin typeface="Calibri"/>
              </a:rPr>
              <a:t>Usage Examples</a:t>
            </a:r>
          </a:p>
        </p:txBody>
      </p:sp>
      <p:sp>
        <p:nvSpPr>
          <p:cNvPr id="256" name="tb256"/>
          <p:cNvSpPr txBox="1">
            <a:spLocks noGrp="1"/>
          </p:cNvSpPr>
          <p:nvPr/>
        </p:nvSpPr>
        <p:spPr>
          <a:xfrm>
            <a:off x="180000" y="1439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Im going to buy some books tomorrow. (plan)</a:t>
            </a:r>
          </a:p>
        </p:txBody>
      </p:sp>
      <p:sp>
        <p:nvSpPr>
          <p:cNvPr id="257" name="tb257"/>
          <p:cNvSpPr txBox="1">
            <a:spLocks noGrp="1"/>
          </p:cNvSpPr>
          <p:nvPr/>
        </p:nvSpPr>
        <p:spPr>
          <a:xfrm>
            <a:off x="180000" y="1655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Look at the clouds! Its going to rain. (evidence)</a:t>
            </a:r>
          </a:p>
        </p:txBody>
      </p:sp>
      <p:sp>
        <p:nvSpPr>
          <p:cNvPr id="258" name="tb258"/>
          <p:cNvSpPr txBox="1">
            <a:spLocks noGrp="1"/>
          </p:cNvSpPr>
          <p:nvPr/>
        </p:nvSpPr>
        <p:spPr>
          <a:xfrm>
            <a:off x="180000" y="1871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She isnt going to have breakfast. Shes not hungry. (intention)</a:t>
            </a:r>
          </a:p>
        </p:txBody>
      </p:sp>
      <p:sp>
        <p:nvSpPr>
          <p:cNvPr id="259" name="tb259"/>
          <p:cNvSpPr txBox="1">
            <a:spLocks noGrp="1"/>
          </p:cNvSpPr>
          <p:nvPr/>
        </p:nvSpPr>
        <p:spPr>
          <a:xfrm>
            <a:off x="180000" y="2087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Are you going to invite Tom to the party? (asking about plans)</a:t>
            </a:r>
          </a:p>
        </p:txBody>
      </p:sp>
    </p:spTree>
  </p:cSld>
  <p:clrMapOvr>
    <a:masterClr/>
  </p:clrMapOvr>
</p:sld>
</file>

<file path=ppt/slides/slide7.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301" name="box3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302" name="box3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303" name="tb3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GUIDED PRACTICE</a:t>
            </a:r>
          </a:p>
        </p:txBody>
      </p:sp>
      <p:sp>
        <p:nvSpPr>
          <p:cNvPr id="304" name="tb304"/>
          <p:cNvSpPr txBox="1">
            <a:spLocks noGrp="1"/>
          </p:cNvSpPr>
          <p:nvPr/>
        </p:nvSpPr>
        <p:spPr>
          <a:xfrm>
            <a:off x="180000" y="540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BF8F00"/>
                </a:solidFill>
                <a:latin typeface="Calibri"/>
              </a:rPr>
              <a:t>Complete with going to. Items 1-2 are done.</a:t>
            </a:r>
          </a:p>
        </p:txBody>
      </p:sp>
      <p:graphicFrame>
        <p:nvGraphicFramePr>
          <p:cNvPr id="305" name="tbl305"/>
          <p:cNvGraphicFramePr>
            <a:graphicFrameLocks noGrp="1"/>
          </p:cNvGraphicFramePr>
          <p:nvPr/>
        </p:nvGraphicFramePr>
        <p:xfrm>
          <a:off x="180000" y="846000"/>
          <a:ext cx="11832000" cy="5922000"/>
        </p:xfrm>
        <a:graphic>
          <a:graphicData uri="http://schemas.openxmlformats.org/drawingml/2006/table">
            <a:tbl>
              <a:tblPr firstRow="1" bandRow="1">
                <a:tableStyleId>{5C22544A-7EE6-4342-B048-85BDC9FD1C3A}</a:tableStyleId>
              </a:tblPr>
              <a:tblGrid>
                <a:gridCol w="709920"/>
                <a:gridCol w="6152640"/>
                <a:gridCol w="4969440"/>
              </a:tblGrid>
              <a:tr h="1141200">
                <a:tc>
                  <a:txBody>
                    <a:bodyPr/>
                    <a:lstStyle/>
                    <a:p>
                      <a:pPr algn="l"/>
                      <a:r>
                        <a:rPr lang="en-GB" b="1" sz="1400" dirty="0">
                          <a:solidFill>
                            <a:srgbClr val="FFFFFF"/>
                          </a:solidFill>
                          <a:latin typeface="Calibri"/>
                        </a:rPr>
                        <a: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Situation</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Sentence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1 ✅</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My hands are dirty. (wash)</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Im going to wash them.</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2 ✅</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She doesnt want breakfast. (not eat)</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She isnt going to eat breakfast.</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3</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Its Sharons birthday. We have a present. (give)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4</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I feel very tired. (lie down)</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8.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351" name="box3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352" name="box35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353" name="tb3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CONTROLLED PRACTICE</a:t>
            </a:r>
          </a:p>
        </p:txBody>
      </p:sp>
      <p:sp>
        <p:nvSpPr>
          <p:cNvPr id="354" name="tb354"/>
          <p:cNvSpPr txBox="1">
            <a:spLocks noGrp="1"/>
          </p:cNvSpPr>
          <p:nvPr/>
        </p:nvSpPr>
        <p:spPr>
          <a:xfrm>
            <a:off x="180000" y="540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BF8F00"/>
                </a:solidFill>
                <a:latin typeface="Calibri"/>
              </a:rPr>
              <a:t>Look at the situation and write what is going to happen.</a:t>
            </a:r>
          </a:p>
        </p:txBody>
      </p:sp>
      <p:graphicFrame>
        <p:nvGraphicFramePr>
          <p:cNvPr id="355" name="tbl355"/>
          <p:cNvGraphicFramePr>
            <a:graphicFrameLocks noGrp="1"/>
          </p:cNvGraphicFramePr>
          <p:nvPr/>
        </p:nvGraphicFramePr>
        <p:xfrm>
          <a:off x="180000" y="846000"/>
          <a:ext cx="11832000" cy="5922000"/>
        </p:xfrm>
        <a:graphic>
          <a:graphicData uri="http://schemas.openxmlformats.org/drawingml/2006/table">
            <a:tbl>
              <a:tblPr firstRow="1" bandRow="1">
                <a:tableStyleId>{5C22544A-7EE6-4342-B048-85BDC9FD1C3A}</a:tableStyleId>
              </a:tblPr>
              <a:tblGrid>
                <a:gridCol w="709920"/>
                <a:gridCol w="5561040"/>
                <a:gridCol w="5561040"/>
              </a:tblGrid>
              <a:tr h="951000">
                <a:tc>
                  <a:txBody>
                    <a:bodyPr/>
                    <a:lstStyle/>
                    <a:p>
                      <a:pPr algn="l"/>
                      <a:r>
                        <a:rPr lang="en-GB" b="1" sz="1400" dirty="0">
                          <a:solidFill>
                            <a:srgbClr val="FFFFFF"/>
                          </a:solidFill>
                          <a:latin typeface="Calibri"/>
                        </a:rPr>
                        <a: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Evidence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Prediction</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1</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Dark clouds in the sky.</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It 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2</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A man standing near the edge.</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He 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3</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A woman holding a suitcase at the door.</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She 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4</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Its 8.55 and the exam starts at 9.</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He 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5</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She has her tennis racket.</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She 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9.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401" name="box4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402" name="box4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403" name="tb4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ERROR CORRECTION</a:t>
            </a:r>
          </a:p>
        </p:txBody>
      </p:sp>
      <p:sp>
        <p:nvSpPr>
          <p:cNvPr id="404" name="tb404"/>
          <p:cNvSpPr txBox="1">
            <a:spLocks noGrp="1"/>
          </p:cNvSpPr>
          <p:nvPr/>
        </p:nvSpPr>
        <p:spPr>
          <a:xfrm>
            <a:off x="180000" y="540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BF8F00"/>
                </a:solidFill>
                <a:latin typeface="Calibri"/>
              </a:rPr>
              <a:t>Find and correct the ONE mistake in each sentence.</a:t>
            </a:r>
          </a:p>
        </p:txBody>
      </p:sp>
      <p:graphicFrame>
        <p:nvGraphicFramePr>
          <p:cNvPr id="405" name="tbl405"/>
          <p:cNvGraphicFramePr>
            <a:graphicFrameLocks noGrp="1"/>
          </p:cNvGraphicFramePr>
          <p:nvPr/>
        </p:nvGraphicFramePr>
        <p:xfrm>
          <a:off x="180000" y="846000"/>
          <a:ext cx="11832000" cy="5922000"/>
        </p:xfrm>
        <a:graphic>
          <a:graphicData uri="http://schemas.openxmlformats.org/drawingml/2006/table">
            <a:tbl>
              <a:tblPr firstRow="1" bandRow="1">
                <a:tableStyleId>{5C22544A-7EE6-4342-B048-85BDC9FD1C3A}</a:tableStyleId>
              </a:tblPr>
              <a:tblGrid>
                <a:gridCol w="591600"/>
                <a:gridCol w="5916000"/>
                <a:gridCol w="5324400"/>
              </a:tblGrid>
              <a:tr h="951000">
                <a:tc>
                  <a:txBody>
                    <a:bodyPr/>
                    <a:lstStyle/>
                    <a:p>
                      <a:pPr algn="l"/>
                      <a:r>
                        <a:rPr lang="en-GB" b="1" sz="1400" dirty="0">
                          <a:solidFill>
                            <a:srgbClr val="FFFFFF"/>
                          </a:solidFill>
                          <a:latin typeface="Calibri"/>
                        </a:rPr>
                        <a: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Incorrect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Corrected</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1</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 going to buy a car.</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2</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She is going to buys a dress.</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3</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Are you going to goes out?</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4</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They are go to travel next month.</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5</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He isnt going eat.</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10.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451" name="box4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452" name="box452"/>
          <p:cNvSpPr>
            <a:spLocks noGrp="1"/>
          </p:cNvSpPr>
          <p:nvPr/>
        </p:nvSpPr>
        <p:spPr>
          <a:xfrm>
            <a:off x="0" y="396000"/>
            <a:ext cx="12192000" cy="64800"/>
          </a:xfrm>
          <a:prstGeom prst="rect">
            <a:avLst/>
          </a:prstGeom>
          <a:solidFill>
            <a:srgbClr val="548235"/>
          </a:solidFill>
          <a:ln w="0">
            <a:noFill/>
          </a:ln>
        </p:spPr>
        <p:txBody>
          <a:bodyPr anchor="ctr" wrap="square" lIns="72000" rIns="72000" tIns="54000" bIns="54000"/>
          <a:lstStyle/>
        </p:txBody>
      </p:sp>
      <p:sp>
        <p:nvSpPr>
          <p:cNvPr id="453" name="tb4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SPEAKING ACTIVITY</a:t>
            </a:r>
          </a:p>
        </p:txBody>
      </p:sp>
      <p:sp>
        <p:nvSpPr>
          <p:cNvPr id="454" name="box454"/>
          <p:cNvSpPr>
            <a:spLocks noGrp="1"/>
          </p:cNvSpPr>
          <p:nvPr/>
        </p:nvSpPr>
        <p:spPr>
          <a:xfrm>
            <a:off x="180000" y="522000"/>
            <a:ext cx="11832000" cy="360000"/>
          </a:xfrm>
          <a:prstGeom prst="roundRect">
            <a:avLst>
              <a:gd name="adj" fmla="val 12000"/>
            </a:avLst>
          </a:prstGeom>
          <a:solidFill>
            <a:srgbClr val="548235"/>
          </a:solidFill>
          <a:ln w="0">
            <a:noFill/>
          </a:ln>
        </p:spPr>
        <p:txBody>
          <a:bodyPr anchor="ctr" wrap="square" lIns="180000" rIns="72000" tIns="54000" bIns="54000"/>
          <a:lstStyle/>
          <a:p>
            <a:pPr algn="l" spcBef="0" spcAft="0">
              <a:spcPct val="100000"/>
            </a:pPr>
            <a:r>
              <a:rPr lang="en-GB" b="1" sz="2200" dirty="0">
                <a:solidFill>
                  <a:srgbClr val="FFFFFF"/>
                </a:solidFill>
                <a:latin typeface="Cambria"/>
              </a:rPr>
              <a:t>🗣️ Life Goals</a:t>
            </a:r>
          </a:p>
        </p:txBody>
      </p:sp>
      <p:sp>
        <p:nvSpPr>
          <p:cNvPr id="455" name="box455"/>
          <p:cNvSpPr>
            <a:spLocks noGrp="1"/>
          </p:cNvSpPr>
          <p:nvPr/>
        </p:nvSpPr>
        <p:spPr>
          <a:xfrm>
            <a:off x="11112000" y="954000"/>
            <a:ext cx="900000" cy="1260000"/>
          </a:xfrm>
          <a:prstGeom prst="roundRect">
            <a:avLst>
              <a:gd name="adj" fmla="val 20000"/>
            </a:avLst>
          </a:prstGeom>
          <a:solidFill>
            <a:srgbClr val="DCE6F1"/>
          </a:solidFill>
          <a:ln w="0">
            <a:noFill/>
          </a:ln>
        </p:spPr>
        <p:txBody>
          <a:bodyPr anchor="ctr" wrap="square" lIns="72000" rIns="72000" tIns="54000" bIns="54000"/>
          <a:lstStyle/>
          <a:p>
            <a:pPr algn="ctr" spcBef="0" spcAft="0">
              <a:spcPct val="100000"/>
            </a:pPr>
            <a:r>
              <a:rPr lang="en-GB" b="0" sz="6000" dirty="0">
                <a:solidFill>
                  <a:srgbClr val="2E75B6"/>
                </a:solidFill>
                <a:latin typeface="Calibri"/>
              </a:rPr>
              <a:t>💬</a:t>
            </a:r>
          </a:p>
        </p:txBody>
      </p:sp>
      <p:sp>
        <p:nvSpPr>
          <p:cNvPr id="456" name="box456"/>
          <p:cNvSpPr>
            <a:spLocks noGrp="1"/>
          </p:cNvSpPr>
          <p:nvPr/>
        </p:nvSpPr>
        <p:spPr>
          <a:xfrm>
            <a:off x="180000" y="9540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1</a:t>
            </a:r>
          </a:p>
        </p:txBody>
      </p:sp>
      <p:sp>
        <p:nvSpPr>
          <p:cNvPr id="457" name="tb457"/>
          <p:cNvSpPr txBox="1">
            <a:spLocks noGrp="1"/>
          </p:cNvSpPr>
          <p:nvPr/>
        </p:nvSpPr>
        <p:spPr>
          <a:xfrm>
            <a:off x="468000" y="9540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Write 4 things you are going to do in the next year.</a:t>
            </a:r>
          </a:p>
        </p:txBody>
      </p:sp>
      <p:sp>
        <p:nvSpPr>
          <p:cNvPr id="458" name="box458"/>
          <p:cNvSpPr>
            <a:spLocks noGrp="1"/>
          </p:cNvSpPr>
          <p:nvPr/>
        </p:nvSpPr>
        <p:spPr>
          <a:xfrm>
            <a:off x="180000" y="12708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2</a:t>
            </a:r>
          </a:p>
        </p:txBody>
      </p:sp>
      <p:sp>
        <p:nvSpPr>
          <p:cNvPr id="459" name="tb459"/>
          <p:cNvSpPr txBox="1">
            <a:spLocks noGrp="1"/>
          </p:cNvSpPr>
          <p:nvPr/>
        </p:nvSpPr>
        <p:spPr>
          <a:xfrm>
            <a:off x="468000" y="12708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Tell your partner: Im going to learn to cook. Im going to save money.</a:t>
            </a:r>
          </a:p>
        </p:txBody>
      </p:sp>
      <p:sp>
        <p:nvSpPr>
          <p:cNvPr id="460" name="box460"/>
          <p:cNvSpPr>
            <a:spLocks noGrp="1"/>
          </p:cNvSpPr>
          <p:nvPr/>
        </p:nvSpPr>
        <p:spPr>
          <a:xfrm>
            <a:off x="180000" y="15876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3</a:t>
            </a:r>
          </a:p>
        </p:txBody>
      </p:sp>
      <p:sp>
        <p:nvSpPr>
          <p:cNvPr id="461" name="tb461"/>
          <p:cNvSpPr txBox="1">
            <a:spLocks noGrp="1"/>
          </p:cNvSpPr>
          <p:nvPr/>
        </p:nvSpPr>
        <p:spPr>
          <a:xfrm>
            <a:off x="468000" y="15876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Ask your partner: What are you going to do this summer?</a:t>
            </a:r>
          </a:p>
        </p:txBody>
      </p:sp>
      <p:sp>
        <p:nvSpPr>
          <p:cNvPr id="462" name="box462"/>
          <p:cNvSpPr>
            <a:spLocks noGrp="1"/>
          </p:cNvSpPr>
          <p:nvPr/>
        </p:nvSpPr>
        <p:spPr>
          <a:xfrm>
            <a:off x="180000" y="19044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4</a:t>
            </a:r>
          </a:p>
        </p:txBody>
      </p:sp>
      <p:sp>
        <p:nvSpPr>
          <p:cNvPr id="463" name="tb463"/>
          <p:cNvSpPr txBox="1">
            <a:spLocks noGrp="1"/>
          </p:cNvSpPr>
          <p:nvPr/>
        </p:nvSpPr>
        <p:spPr>
          <a:xfrm>
            <a:off x="468000" y="19044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Report the most interesting goal to the class.</a:t>
            </a:r>
          </a:p>
        </p:txBody>
      </p:sp>
      <p:sp>
        <p:nvSpPr>
          <p:cNvPr id="464" name="box464"/>
          <p:cNvSpPr>
            <a:spLocks noGrp="1"/>
          </p:cNvSpPr>
          <p:nvPr/>
        </p:nvSpPr>
        <p:spPr>
          <a:xfrm>
            <a:off x="180000" y="6570000"/>
            <a:ext cx="1260000" cy="216000"/>
          </a:xfrm>
          <a:prstGeom prst="roundRect">
            <a:avLst>
              <a:gd name="adj" fmla="val 10000"/>
            </a:avLst>
          </a:prstGeom>
          <a:solidFill>
            <a:srgbClr val="1F3864"/>
          </a:solidFill>
          <a:ln w="0">
            <a:noFill/>
          </a:ln>
        </p:spPr>
        <p:txBody>
          <a:bodyPr anchor="ctr" wrap="square" lIns="72000" rIns="72000" tIns="54000" bIns="54000"/>
          <a:lstStyle/>
          <a:p>
            <a:pPr algn="ctr" spcBef="0" spcAft="0">
              <a:spcPct val="100000"/>
            </a:pPr>
            <a:r>
              <a:rPr lang="en-GB" b="1" sz="1300" dirty="0">
                <a:solidFill>
                  <a:srgbClr val="BF8F00"/>
                </a:solidFill>
                <a:latin typeface="Calibri"/>
              </a:rPr>
              <a:t>👥  Pair Work</a:t>
            </a:r>
          </a:p>
        </p:txBody>
      </p:sp>
    </p:spTree>
  </p:cSld>
  <p:clrMapOvr>
    <a:masterClr/>
  </p:clrMapOvr>
</p:sld>
</file>

<file path=ppt/slides/slide11.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501" name="box5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502" name="box502"/>
          <p:cNvSpPr>
            <a:spLocks noGrp="1"/>
          </p:cNvSpPr>
          <p:nvPr/>
        </p:nvSpPr>
        <p:spPr>
          <a:xfrm>
            <a:off x="0" y="396000"/>
            <a:ext cx="12192000" cy="64800"/>
          </a:xfrm>
          <a:prstGeom prst="rect">
            <a:avLst/>
          </a:prstGeom>
          <a:solidFill>
            <a:srgbClr val="548235"/>
          </a:solidFill>
          <a:ln w="0">
            <a:noFill/>
          </a:ln>
        </p:spPr>
        <p:txBody>
          <a:bodyPr anchor="ctr" wrap="square" lIns="72000" rIns="72000" tIns="54000" bIns="54000"/>
          <a:lstStyle/>
        </p:txBody>
      </p:sp>
      <p:sp>
        <p:nvSpPr>
          <p:cNvPr id="503" name="tb5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READING &amp; WRITING</a:t>
            </a:r>
          </a:p>
        </p:txBody>
      </p:sp>
      <p:sp>
        <p:nvSpPr>
          <p:cNvPr id="504" name="box504"/>
          <p:cNvSpPr>
            <a:spLocks noGrp="1"/>
          </p:cNvSpPr>
          <p:nvPr/>
        </p:nvSpPr>
        <p:spPr>
          <a:xfrm>
            <a:off x="180000" y="540000"/>
            <a:ext cx="900000" cy="198000"/>
          </a:xfrm>
          <a:prstGeom prst="roundRect">
            <a:avLst>
              <a:gd name="adj" fmla="val 10000"/>
            </a:avLst>
          </a:prstGeom>
          <a:solidFill>
            <a:srgbClr val="548235"/>
          </a:solidFill>
          <a:ln w="0">
            <a:noFill/>
          </a:ln>
        </p:spPr>
        <p:txBody>
          <a:bodyPr anchor="ctr" wrap="square" lIns="72000" rIns="72000" tIns="54000" bIns="54000"/>
          <a:lstStyle/>
          <a:p>
            <a:pPr algn="ctr" spcBef="0" spcAft="0">
              <a:spcPct val="100000"/>
            </a:pPr>
            <a:r>
              <a:rPr lang="en-GB" b="1" sz="1300" dirty="0">
                <a:solidFill>
                  <a:srgbClr val="FFFFFF"/>
                </a:solidFill>
                <a:latin typeface="Calibri"/>
              </a:rPr>
              <a:t>Reading</a:t>
            </a:r>
          </a:p>
        </p:txBody>
      </p:sp>
      <p:sp>
        <p:nvSpPr>
          <p:cNvPr id="505" name="box505"/>
          <p:cNvSpPr>
            <a:spLocks noGrp="1"/>
          </p:cNvSpPr>
          <p:nvPr/>
        </p:nvSpPr>
        <p:spPr>
          <a:xfrm>
            <a:off x="180000" y="792000"/>
            <a:ext cx="11832000" cy="612000"/>
          </a:xfrm>
          <a:prstGeom prst="rect">
            <a:avLst/>
          </a:prstGeom>
          <a:solidFill>
            <a:srgbClr val="F2F2F2"/>
          </a:solidFill>
          <a:ln w="12700">
            <a:solidFill>
              <a:srgbClr val="CCCCCC"/>
            </a:solidFill>
          </a:ln>
        </p:spPr>
        <p:txBody>
          <a:bodyPr anchor="t" wrap="square" lIns="108000" rIns="72000" tIns="72000" bIns="54000"/>
          <a:lstStyle/>
          <a:p>
            <a:pPr algn="l" spcBef="0" spcAft="0">
              <a:spcPct val="100000"/>
            </a:pPr>
            <a:r>
              <a:rPr lang="en-GB" b="0" i="1" sz="1300" dirty="0">
                <a:solidFill>
                  <a:srgbClr val="404040"/>
                </a:solidFill>
                <a:latin typeface="Calibri"/>
              </a:rPr>
              <a:t>Ali has made some decisions about this year. He is going to study harder for his exams. He is going to start going to the gym three times a week. He isnt going to eat junk food anymore. He is going to save money to travel abroad in the summer. His friend thinks its going to be difficult, but Ali is determined.</a:t>
            </a:r>
          </a:p>
        </p:txBody>
      </p:sp>
      <p:sp>
        <p:nvSpPr>
          <p:cNvPr id="506" name="box506"/>
          <p:cNvSpPr>
            <a:spLocks noGrp="1"/>
          </p:cNvSpPr>
          <p:nvPr/>
        </p:nvSpPr>
        <p:spPr>
          <a:xfrm>
            <a:off x="180000" y="1475999"/>
            <a:ext cx="900000" cy="198000"/>
          </a:xfrm>
          <a:prstGeom prst="roundRect">
            <a:avLst>
              <a:gd name="adj" fmla="val 10000"/>
            </a:avLst>
          </a:prstGeom>
          <a:solidFill>
            <a:srgbClr val="548235"/>
          </a:solidFill>
          <a:ln w="0">
            <a:noFill/>
          </a:ln>
        </p:spPr>
        <p:txBody>
          <a:bodyPr anchor="ctr" wrap="square" lIns="72000" rIns="72000" tIns="54000" bIns="54000"/>
          <a:lstStyle/>
          <a:p>
            <a:pPr algn="ctr" spcBef="0" spcAft="0">
              <a:spcPct val="100000"/>
            </a:pPr>
            <a:r>
              <a:rPr lang="en-GB" b="1" sz="1300" dirty="0">
                <a:solidFill>
                  <a:srgbClr val="FFFFFF"/>
                </a:solidFill>
                <a:latin typeface="Calibri"/>
              </a:rPr>
              <a:t>Writing</a:t>
            </a:r>
          </a:p>
        </p:txBody>
      </p:sp>
      <p:sp>
        <p:nvSpPr>
          <p:cNvPr id="507" name="tb507"/>
          <p:cNvSpPr txBox="1">
            <a:spLocks noGrp="1"/>
          </p:cNvSpPr>
          <p:nvPr/>
        </p:nvSpPr>
        <p:spPr>
          <a:xfrm>
            <a:off x="180000" y="1728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548235"/>
                </a:solidFill>
                <a:latin typeface="Calibri"/>
              </a:rPr>
              <a:t>Write 5 sentences about your plans and predictions using going to.</a:t>
            </a:r>
          </a:p>
        </p:txBody>
      </p:sp>
      <p:sp>
        <p:nvSpPr>
          <p:cNvPr id="508" name="tb508"/>
          <p:cNvSpPr txBox="1">
            <a:spLocks noGrp="1"/>
          </p:cNvSpPr>
          <p:nvPr/>
        </p:nvSpPr>
        <p:spPr>
          <a:xfrm>
            <a:off x="180000" y="2015999"/>
            <a:ext cx="11832000" cy="125999"/>
          </a:xfrm>
          <a:prstGeom prst="rect">
            <a:avLst/>
          </a:prstGeom>
          <a:noFill/>
        </p:spPr>
        <p:txBody>
          <a:bodyPr anchor="ctr" wrap="square" lIns="36000" rIns="36000" tIns="36000" bIns="36000"/>
          <a:lstStyle/>
          <a:p>
            <a:pPr algn="l" spcBef="0" spcAft="0">
              <a:spcPct val="100000"/>
            </a:pPr>
            <a:r>
              <a:rPr lang="en-GB" b="0" sz="1300" dirty="0">
                <a:solidFill>
                  <a:srgbClr val="404040"/>
                </a:solidFill>
                <a:latin typeface="Calibri"/>
              </a:rPr>
              <a:t>• Something you are going to do this weekend.</a:t>
            </a:r>
          </a:p>
        </p:txBody>
      </p:sp>
      <p:sp>
        <p:nvSpPr>
          <p:cNvPr id="509" name="tb509"/>
          <p:cNvSpPr txBox="1">
            <a:spLocks noGrp="1"/>
          </p:cNvSpPr>
          <p:nvPr/>
        </p:nvSpPr>
        <p:spPr>
          <a:xfrm>
            <a:off x="180000" y="2152799"/>
            <a:ext cx="11832000" cy="125999"/>
          </a:xfrm>
          <a:prstGeom prst="rect">
            <a:avLst/>
          </a:prstGeom>
          <a:noFill/>
        </p:spPr>
        <p:txBody>
          <a:bodyPr anchor="ctr" wrap="square" lIns="36000" rIns="36000" tIns="36000" bIns="36000"/>
          <a:lstStyle/>
          <a:p>
            <a:pPr algn="l" spcBef="0" spcAft="0">
              <a:spcPct val="100000"/>
            </a:pPr>
            <a:r>
              <a:rPr lang="en-GB" b="0" sz="1300" dirty="0">
                <a:solidFill>
                  <a:srgbClr val="404040"/>
                </a:solidFill>
                <a:latin typeface="Calibri"/>
              </a:rPr>
              <a:t>• Something you are not going to do anymore.</a:t>
            </a:r>
          </a:p>
        </p:txBody>
      </p:sp>
      <p:sp>
        <p:nvSpPr>
          <p:cNvPr id="510" name="tb510"/>
          <p:cNvSpPr txBox="1">
            <a:spLocks noGrp="1"/>
          </p:cNvSpPr>
          <p:nvPr/>
        </p:nvSpPr>
        <p:spPr>
          <a:xfrm>
            <a:off x="180000" y="2289599"/>
            <a:ext cx="11832000" cy="125999"/>
          </a:xfrm>
          <a:prstGeom prst="rect">
            <a:avLst/>
          </a:prstGeom>
          <a:noFill/>
        </p:spPr>
        <p:txBody>
          <a:bodyPr anchor="ctr" wrap="square" lIns="36000" rIns="36000" tIns="36000" bIns="36000"/>
          <a:lstStyle/>
          <a:p>
            <a:pPr algn="l" spcBef="0" spcAft="0">
              <a:spcPct val="100000"/>
            </a:pPr>
            <a:r>
              <a:rPr lang="en-GB" b="0" sz="1300" dirty="0">
                <a:solidFill>
                  <a:srgbClr val="404040"/>
                </a:solidFill>
                <a:latin typeface="Calibri"/>
              </a:rPr>
              <a:t>• A prediction from evidence you can see right now.</a:t>
            </a:r>
          </a:p>
        </p:txBody>
      </p:sp>
    </p:spTree>
  </p:cSld>
  <p:clrMapOvr>
    <a:masterClr/>
  </p:clrMapOvr>
</p:sld>
</file>

<file path=ppt/slides/slide12.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551" name="box5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552" name="box552"/>
          <p:cNvSpPr>
            <a:spLocks noGrp="1"/>
          </p:cNvSpPr>
          <p:nvPr/>
        </p:nvSpPr>
        <p:spPr>
          <a:xfrm>
            <a:off x="0" y="396000"/>
            <a:ext cx="12192000" cy="64800"/>
          </a:xfrm>
          <a:prstGeom prst="rect">
            <a:avLst/>
          </a:prstGeom>
          <a:solidFill>
            <a:srgbClr val="2E75B6"/>
          </a:solidFill>
          <a:ln w="0">
            <a:noFill/>
          </a:ln>
        </p:spPr>
        <p:txBody>
          <a:bodyPr anchor="ctr" wrap="square" lIns="72000" rIns="72000" tIns="54000" bIns="54000"/>
          <a:lstStyle/>
        </p:txBody>
      </p:sp>
      <p:sp>
        <p:nvSpPr>
          <p:cNvPr id="553" name="tb5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HOMEWORK</a:t>
            </a:r>
          </a:p>
        </p:txBody>
      </p:sp>
      <p:sp>
        <p:nvSpPr>
          <p:cNvPr id="554" name="box554"/>
          <p:cNvSpPr>
            <a:spLocks noGrp="1"/>
          </p:cNvSpPr>
          <p:nvPr/>
        </p:nvSpPr>
        <p:spPr>
          <a:xfrm>
            <a:off x="180000" y="540000"/>
            <a:ext cx="432000" cy="432000"/>
          </a:xfrm>
          <a:prstGeom prst="roundRect">
            <a:avLst>
              <a:gd name="adj" fmla="val 50000"/>
            </a:avLst>
          </a:prstGeom>
          <a:solidFill>
            <a:srgbClr val="BF8F00"/>
          </a:solidFill>
          <a:ln w="0">
            <a:noFill/>
          </a:ln>
        </p:spPr>
        <p:txBody>
          <a:bodyPr anchor="ctr" wrap="square" lIns="72000" rIns="72000" tIns="54000" bIns="54000"/>
          <a:lstStyle/>
          <a:p>
            <a:pPr algn="ctr" spcBef="0" spcAft="0">
              <a:spcPct val="100000"/>
            </a:pPr>
            <a:r>
              <a:rPr lang="en-GB" b="1" sz="2800" dirty="0">
                <a:solidFill>
                  <a:srgbClr val="1F3864"/>
                </a:solidFill>
                <a:latin typeface="Cambria"/>
              </a:rPr>
              <a:t>1</a:t>
            </a:r>
          </a:p>
        </p:txBody>
      </p:sp>
      <p:sp>
        <p:nvSpPr>
          <p:cNvPr id="555" name="box555"/>
          <p:cNvSpPr>
            <a:spLocks noGrp="1"/>
          </p:cNvSpPr>
          <p:nvPr/>
        </p:nvSpPr>
        <p:spPr>
          <a:xfrm>
            <a:off x="684000" y="540000"/>
            <a:ext cx="11328000" cy="432000"/>
          </a:xfrm>
          <a:prstGeom prst="rect">
            <a:avLst/>
          </a:prstGeom>
          <a:solidFill>
            <a:srgbClr val="DCE6F1"/>
          </a:solidFill>
          <a:ln w="12700">
            <a:solidFill>
              <a:srgbClr val="2E75B6"/>
            </a:solidFill>
          </a:ln>
        </p:spPr>
        <p:txBody>
          <a:bodyPr anchor="ctr" wrap="square" lIns="108000" rIns="72000" tIns="54000" bIns="54000"/>
          <a:lstStyle/>
          <a:p>
            <a:pPr algn="l" spcBef="0" spcAft="0">
              <a:spcPct val="100000"/>
            </a:pPr>
            <a:r>
              <a:rPr lang="en-GB" b="1" sz="1500" dirty="0">
                <a:solidFill>
                  <a:srgbClr val="1F3864"/>
                </a:solidFill>
                <a:latin typeface="Calibri"/>
              </a:rPr>
              <a:t>Production Task  </a:t>
            </a:r>
            <a:r>
              <a:rPr lang="en-GB" b="0" sz="1400" dirty="0">
                <a:solidFill>
                  <a:srgbClr val="404040"/>
                </a:solidFill>
                <a:latin typeface="Calibri"/>
              </a:rPr>
              <a:t>Write 8 sentences: 4 about your intentions (things you have decided to do) and 4 predictions based on evidence (things you think are going to happen).</a:t>
            </a:r>
          </a:p>
        </p:txBody>
      </p:sp>
      <p:sp>
        <p:nvSpPr>
          <p:cNvPr id="556" name="box556"/>
          <p:cNvSpPr>
            <a:spLocks noGrp="1"/>
          </p:cNvSpPr>
          <p:nvPr/>
        </p:nvSpPr>
        <p:spPr>
          <a:xfrm>
            <a:off x="180000" y="1080000"/>
            <a:ext cx="432000" cy="432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2800" dirty="0">
                <a:solidFill>
                  <a:srgbClr val="FFFFFF"/>
                </a:solidFill>
                <a:latin typeface="Cambria"/>
              </a:rPr>
              <a:t>2</a:t>
            </a:r>
          </a:p>
        </p:txBody>
      </p:sp>
      <p:sp>
        <p:nvSpPr>
          <p:cNvPr id="557" name="box557"/>
          <p:cNvSpPr>
            <a:spLocks noGrp="1"/>
          </p:cNvSpPr>
          <p:nvPr/>
        </p:nvSpPr>
        <p:spPr>
          <a:xfrm>
            <a:off x="684000" y="1080000"/>
            <a:ext cx="11328000" cy="432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1" sz="1500" dirty="0">
                <a:solidFill>
                  <a:srgbClr val="1F3864"/>
                </a:solidFill>
                <a:latin typeface="Calibri"/>
              </a:rPr>
              <a:t>Vocabulary Consolidation  </a:t>
            </a:r>
            <a:r>
              <a:rPr lang="en-GB" b="0" sz="1400" dirty="0">
                <a:solidFill>
                  <a:srgbClr val="404040"/>
                </a:solidFill>
                <a:latin typeface="Calibri"/>
              </a:rPr>
              <a:t>Match each of the 30 vocabulary words from Section 4 to its definition.</a:t>
            </a:r>
          </a:p>
        </p:txBody>
      </p:sp>
      <p:sp>
        <p:nvSpPr>
          <p:cNvPr id="558" name="box558"/>
          <p:cNvSpPr>
            <a:spLocks noGrp="1"/>
          </p:cNvSpPr>
          <p:nvPr/>
        </p:nvSpPr>
        <p:spPr>
          <a:xfrm>
            <a:off x="180000" y="6498000"/>
            <a:ext cx="1440000" cy="216000"/>
          </a:xfrm>
          <a:prstGeom prst="roundRect">
            <a:avLst>
              <a:gd name="adj" fmla="val 10000"/>
            </a:avLst>
          </a:prstGeom>
          <a:solidFill>
            <a:srgbClr val="1F3864"/>
          </a:solidFill>
          <a:ln w="0">
            <a:noFill/>
          </a:ln>
        </p:spPr>
        <p:txBody>
          <a:bodyPr anchor="ctr" wrap="square" lIns="72000" rIns="72000" tIns="54000" bIns="54000"/>
          <a:lstStyle/>
          <a:p>
            <a:pPr algn="ctr" spcBef="0" spcAft="0">
              <a:spcPct val="100000"/>
            </a:pPr>
            <a:r>
              <a:rPr lang="en-GB" b="1" sz="1300" dirty="0">
                <a:solidFill>
                  <a:srgbClr val="BF8F00"/>
                </a:solidFill>
                <a:latin typeface="Calibri"/>
              </a:rPr>
              <a:t>📅  Due: next class</a:t>
            </a:r>
          </a:p>
        </p:txBody>
      </p:sp>
    </p:spTree>
  </p:cSld>
  <p:clrMapOvr>
    <a:masterClr/>
  </p:clrMapOvr>
</p:sld>
</file>

<file path=ppt/slides/slide13.xml><?xml version="1.0" encoding="utf-8"?>
<p:sld xmlns:p="http://schemas.openxmlformats.org/presentationml/2006/main" xmlns:a="http://schemas.openxmlformats.org/drawingml/2006/main" xmlns:r="http://schemas.openxmlformats.org/officeDocument/2006/relationships" xmlns:dc="http://purl.org/dc/elements/1.1/">
  <p:cSld>
    <p:bg>
      <p:bgPr>
        <a:solidFill>
          <a:srgbClr val="1F3864"/>
        </a:solidFill>
        <a:effectLst/>
      </p:bgPr>
    </p:bg>
    <p:spTree>
      <p:nvGrpSpPr>
        <p:cNvPr id="1" name="content"/>
        <p:cNvGrpSpPr/>
        <p:nvPr/>
      </p:nvGrpSpPr>
      <p:grpSpPr>
        <a:xfrm>
          <a:off x="0" y="0"/>
          <a:ext cx="12192000" cy="6858000"/>
          <a:chOff x="0" y="0"/>
          <a:chExt cx="12192000" cy="6858000"/>
        </a:xfrm>
      </p:grpSpPr>
      <p:sp>
        <p:nvSpPr>
          <p:cNvPr id="601" name="shape601"/>
          <p:cNvSpPr>
            <a:spLocks noGrp="1"/>
          </p:cNvSpPr>
          <p:nvPr/>
        </p:nvSpPr>
        <p:spPr>
          <a:xfrm>
            <a:off x="0" y="0"/>
            <a:ext cx="12192000" cy="6858000"/>
          </a:xfrm>
          <a:prstGeom prst="rect">
            <a:avLst/>
          </a:prstGeom>
          <a:gradFill rot="1">
            <a:gsLst>
              <a:gs pos="0">
                <a:srgbClr val="1F3864"/>
              </a:gs>
              <a:gs pos="100000">
                <a:srgbClr val="0D2245"/>
              </a:gs>
            </a:gsLst>
            <a:lin ang="5400000" scaled="0"/>
          </a:gradFill>
        </p:spPr>
        <p:txBody>
          <a:bodyPr/>
          <a:lstStyle/>
          <a:p/>
        </p:txBody>
      </p:sp>
      <p:sp>
        <p:nvSpPr>
          <p:cNvPr id="602" name="shape602"/>
          <p:cNvSpPr>
            <a:spLocks noGrp="1"/>
          </p:cNvSpPr>
          <p:nvPr/>
        </p:nvSpPr>
        <p:spPr>
          <a:xfrm>
            <a:off x="0" y="0"/>
            <a:ext cx="12192000" cy="108000"/>
          </a:xfrm>
          <a:prstGeom prst="rect">
            <a:avLst/>
          </a:prstGeom>
          <a:solidFill>
            <a:srgbClr val="BF8F00"/>
          </a:solidFill>
        </p:spPr>
        <p:txBody>
          <a:bodyPr/>
          <a:lstStyle/>
          <a:p/>
        </p:txBody>
      </p:sp>
      <p:sp>
        <p:nvSpPr>
          <p:cNvPr id="603" name="shape603"/>
          <p:cNvSpPr>
            <a:spLocks noGrp="1"/>
          </p:cNvSpPr>
          <p:nvPr/>
        </p:nvSpPr>
        <p:spPr>
          <a:xfrm>
            <a:off x="0" y="6750000"/>
            <a:ext cx="12192000" cy="108000"/>
          </a:xfrm>
          <a:prstGeom prst="rect">
            <a:avLst/>
          </a:prstGeom>
          <a:solidFill>
            <a:srgbClr val="BF8F00"/>
          </a:solidFill>
        </p:spPr>
        <p:txBody>
          <a:bodyPr/>
          <a:lstStyle/>
          <a:p/>
        </p:txBody>
      </p:sp>
      <p:sp>
        <p:nvSpPr>
          <p:cNvPr id="604" name="shape604"/>
          <p:cNvSpPr>
            <a:spLocks noGrp="1"/>
          </p:cNvSpPr>
          <p:nvPr/>
        </p:nvSpPr>
        <p:spPr>
          <a:xfrm>
            <a:off x="0" y="0"/>
            <a:ext cx="144000" cy="6858000"/>
          </a:xfrm>
          <a:prstGeom prst="rect">
            <a:avLst/>
          </a:prstGeom>
          <a:solidFill>
            <a:srgbClr val="BF8F00"/>
          </a:solidFill>
        </p:spPr>
        <p:txBody>
          <a:bodyPr/>
          <a:lstStyle/>
          <a:p/>
        </p:txBody>
      </p:sp>
      <p:sp>
        <p:nvSpPr>
          <p:cNvPr id="605" name="box605"/>
          <p:cNvSpPr>
            <a:spLocks noGrp="1"/>
          </p:cNvSpPr>
          <p:nvPr/>
        </p:nvSpPr>
        <p:spPr>
          <a:xfrm>
            <a:off x="432000" y="432000"/>
            <a:ext cx="1800000" cy="324000"/>
          </a:xfrm>
          <a:prstGeom prst="roundRect">
            <a:avLst>
              <a:gd name="adj" fmla="val 20000"/>
            </a:avLst>
          </a:prstGeom>
          <a:solidFill>
            <a:srgbClr val="BF8F00"/>
          </a:solidFill>
          <a:ln w="0">
            <a:noFill/>
          </a:ln>
        </p:spPr>
        <p:txBody>
          <a:bodyPr anchor="ctr" wrap="square" lIns="72000" rIns="72000" tIns="54000" bIns="54000"/>
          <a:lstStyle/>
          <a:p>
            <a:pPr algn="ctr" spcBef="0" spcAft="0">
              <a:spcPct val="100000"/>
            </a:pPr>
            <a:r>
              <a:rPr lang="en-GB" b="1" sz="1600" dirty="0">
                <a:solidFill>
                  <a:srgbClr val="1F3864"/>
                </a:solidFill>
                <a:latin typeface="Cambria"/>
              </a:rPr>
              <a:t>UNIT 27  ·  A2</a:t>
            </a:r>
          </a:p>
        </p:txBody>
      </p:sp>
      <p:sp>
        <p:nvSpPr>
          <p:cNvPr id="606" name="tb606"/>
          <p:cNvSpPr txBox="1">
            <a:spLocks noGrp="1"/>
          </p:cNvSpPr>
          <p:nvPr/>
        </p:nvSpPr>
        <p:spPr>
          <a:xfrm>
            <a:off x="432000" y="827999"/>
            <a:ext cx="11472000" cy="900000"/>
          </a:xfrm>
          <a:prstGeom prst="rect">
            <a:avLst/>
          </a:prstGeom>
          <a:noFill/>
        </p:spPr>
        <p:txBody>
          <a:bodyPr anchor="t" wrap="square" lIns="36000" rIns="36000" tIns="36000" bIns="36000"/>
          <a:lstStyle/>
          <a:p>
            <a:pPr algn="l" spcBef="0" spcAft="0">
              <a:spcPct val="100000"/>
            </a:pPr>
            <a:r>
              <a:rPr lang="en-GB" b="1" sz="3600" dirty="0">
                <a:solidFill>
                  <a:srgbClr val="FFFFFF"/>
                </a:solidFill>
                <a:latin typeface="Cambria"/>
              </a:rPr>
              <a:t>Going To — Plans and Predictions</a:t>
            </a:r>
          </a:p>
        </p:txBody>
      </p:sp>
      <p:sp>
        <p:nvSpPr>
          <p:cNvPr id="607" name="tb607"/>
          <p:cNvSpPr txBox="1">
            <a:spLocks noGrp="1"/>
          </p:cNvSpPr>
          <p:nvPr/>
        </p:nvSpPr>
        <p:spPr>
          <a:xfrm>
            <a:off x="432000" y="1800000"/>
            <a:ext cx="11472000" cy="324000"/>
          </a:xfrm>
          <a:prstGeom prst="rect">
            <a:avLst/>
          </a:prstGeom>
          <a:noFill/>
        </p:spPr>
        <p:txBody>
          <a:bodyPr anchor="ctr" wrap="square" lIns="36000" rIns="36000" tIns="36000" bIns="36000"/>
          <a:lstStyle/>
          <a:p>
            <a:pPr algn="l" spcBef="0" spcAft="0">
              <a:spcPct val="100000"/>
            </a:pPr>
            <a:r>
              <a:rPr lang="en-GB" b="0" i="1" sz="1600" dirty="0">
                <a:solidFill>
                  <a:srgbClr val="BF8F00"/>
                </a:solidFill>
                <a:latin typeface="Calibri"/>
              </a:rPr>
              <a:t>✦  The more you practise, the more natural it feels.</a:t>
            </a:r>
          </a:p>
        </p:txBody>
      </p:sp>
      <p:sp>
        <p:nvSpPr>
          <p:cNvPr id="608" name="box608"/>
          <p:cNvSpPr>
            <a:spLocks noGrp="1"/>
          </p:cNvSpPr>
          <p:nvPr/>
        </p:nvSpPr>
        <p:spPr>
          <a:xfrm>
            <a:off x="10752000" y="6462000"/>
            <a:ext cx="1260000" cy="234000"/>
          </a:xfrm>
          <a:prstGeom prst="roundRect">
            <a:avLst>
              <a:gd name="adj" fmla="val 10000"/>
            </a:avLst>
          </a:prstGeom>
          <a:solidFill>
            <a:srgbClr val="2E75B6"/>
          </a:solidFill>
          <a:ln w="0">
            <a:noFill/>
          </a:ln>
        </p:spPr>
        <p:txBody>
          <a:bodyPr anchor="ctr" wrap="square" lIns="72000" rIns="72000" tIns="54000" bIns="54000"/>
          <a:lstStyle/>
          <a:p>
            <a:pPr algn="ctr" spcBef="0" spcAft="0">
              <a:spcPct val="100000"/>
            </a:pPr>
            <a:r>
              <a:rPr lang="en-GB" b="1" sz="1300" dirty="0">
                <a:solidFill>
                  <a:srgbClr val="FFFFFF"/>
                </a:solidFill>
                <a:latin typeface="Calibri"/>
              </a:rPr>
              <a:t>See you next class! 👋</a:t>
            </a:r>
          </a:p>
        </p:txBody>
      </p:sp>
    </p:spTree>
  </p:cSld>
  <p:clrMapOvr>
    <a:masterClr/>
  </p:clrMapOvr>
</p:sld>
</file>