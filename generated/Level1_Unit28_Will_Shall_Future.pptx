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officeDocument"
    Target="ppt/presentation.xml"/>
</Relationships>
</file>

<file path=ppt/presentation.xml><?xml version="1.0" encoding="utf-8"?>
<p:presentation xmlns:p="http://schemas.openxmlformats.org/presentationml/2006/main" xmlns:a="http://schemas.openxmlformats.org/drawingml/2006/main" xmlns:r="http://schemas.openxmlformats.org/officeDocument/2006/relationships" saveSubsetFonts="1">
  <p:sldMasterIdLst>
    <p:sldMasterId id="2147483648" r:id="rId0"/>
  </p:sldMasterIdLst>
  <p:sldIdLst>
    <p:sldId id="256" r:id="rId1"/>
    <p:sldId id="257" r:id="rId2"/>
    <p:sldId id="258" r:id="rId3"/>
    <p:sldId id="259" r:id="rId4"/>
    <p:sldId id="260" r:id="rId5"/>
    <p:sldId id="261" r:id="rId6"/>
    <p:sldId id="262" r:id="rId7"/>
    <p:sldId id="263" r:id="rId8"/>
    <p:sldId id="264" r:id="rId9"/>
    <p:sldId id="265" r:id="rId10"/>
    <p:sldId id="266" r:id="rId11"/>
    <p:sldId id="267" r:id="rId12"/>
    <p:sldId id="268" r:id="rId13"/>
  </p:sldIdLst>
  <p:sldSz cx="12192000" cy="6858000" type="screen16x9"/>
  <p:notesSz cx="6858000" cy="12192000"/>
</p:presentation>
</file>

<file path=ppt/_rels/presentation.xml.rels><?xml version="1.0" encoding="UTF-8" standalone="yes"?>
<Relationships xmlns="http://schemas.openxmlformats.org/package/2006/relationships">
  <Relationship Id="rId0"
    Type="http://schemas.openxmlformats.org/officeDocument/2006/relationships/slideMaster"
    Target="slideMasters/slideMaster1.xml"/>
  <Relationship Id="rId1"
    Type="http://schemas.openxmlformats.org/officeDocument/2006/relationships/slide"
    Target="slides/slide1.xml"/>
  <Relationship Id="rId2"
    Type="http://schemas.openxmlformats.org/officeDocument/2006/relationships/slide"
    Target="slides/slide2.xml"/>
  <Relationship Id="rId3"
    Type="http://schemas.openxmlformats.org/officeDocument/2006/relationships/slide"
    Target="slides/slide3.xml"/>
  <Relationship Id="rId4"
    Type="http://schemas.openxmlformats.org/officeDocument/2006/relationships/slide"
    Target="slides/slide4.xml"/>
  <Relationship Id="rId5"
    Type="http://schemas.openxmlformats.org/officeDocument/2006/relationships/slide"
    Target="slides/slide5.xml"/>
  <Relationship Id="rId6"
    Type="http://schemas.openxmlformats.org/officeDocument/2006/relationships/slide"
    Target="slides/slide6.xml"/>
  <Relationship Id="rId7"
    Type="http://schemas.openxmlformats.org/officeDocument/2006/relationships/slide"
    Target="slides/slide7.xml"/>
  <Relationship Id="rId8"
    Type="http://schemas.openxmlformats.org/officeDocument/2006/relationships/slide"
    Target="slides/slide8.xml"/>
  <Relationship Id="rId9"
    Type="http://schemas.openxmlformats.org/officeDocument/2006/relationships/slide"
    Target="slides/slide9.xml"/>
  <Relationship Id="rId10"
    Type="http://schemas.openxmlformats.org/officeDocument/2006/relationships/slide"
    Target="slides/slide10.xml"/>
  <Relationship Id="rId11"
    Type="http://schemas.openxmlformats.org/officeDocument/2006/relationships/slide"
    Target="slides/slide11.xml"/>
  <Relationship Id="rId12"
    Type="http://schemas.openxmlformats.org/officeDocument/2006/relationships/slide"
    Target="slides/slide12.xml"/>
  <Relationship Id="rId13"
    Type="http://schemas.openxmlformats.org/officeDocument/2006/relationships/slide"
    Target="slides/slide13.xml"/>
</Relationships>
</file>

<file path=ppt/slideLayouts/_rels/slideLayout1.xml.rels><?xml version="1.0" encoding="UTF-8" standalone="yes"?>
<Relationships xmlns="http://schemas.openxmlformats.org/package/2006/relationships">
  <Relationship Id="rId1"
    Type="http://schemas.openxmlformats.org/officeDocument/2006/relationships/slideMaster"
    Target="../slideMasters/slideMaster1.xml"/>
</Relationships>
</file>

<file path=ppt/slideLayouts/slideLayout1.xml><?xml version="1.0" encoding="utf-8"?>
<p:sldLayout xmlns:p="http://schemas.openxmlformats.org/presentationml/2006/main" xmlns:a="http://schemas.openxmlformats.org/drawingml/2006/main" xmlns:r="http://schemas.openxmlformats.org/officeDocument/2006/relationships" type="blank" preserve="1">
  <p:cSld name="Blank">
    <p:spTree>
      <p:nvGrpSpPr>
        <p:cNvPr id="1" name=""/>
        <p:cNvGrpSpPr/>
        <p:nvPr/>
      </p:nvGrpSpPr>
      <p:grpSpPr>
        <a:xfrm>
          <a:off x="0" y="0"/>
          <a:ext cx="12192000" cy="6858000"/>
          <a:chOff x="0" y="0"/>
          <a:chExt cx="12192000" cy="6858000"/>
        </a:xfrm>
      </p:grpSpPr>
    </p:spTree>
  </p:cSld>
  <p:clrMapOvr>
    <a:masterClr/>
  </p:clrMapOvr>
</p:sldLayout>
</file>

<file path=ppt/slideMasters/_rels/slideMaster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Masters/slideMaster1.xml><?xml version="1.0" encoding="utf-8"?>
<p:sldMaster xmlns:p="http://schemas.openxmlformats.org/presentationml/2006/main" xmlns:a="http://schemas.openxmlformats.org/drawingml/2006/main" xmlns:r="http://schemas.openxmlformats.org/officeDocument/2006/relationships">
  <p:cSld>
    <p:spTree>
      <p:nvGrpSpPr>
        <p:cNvPr id="1" name=""/>
        <p:cNvGrpSpPr/>
        <p:nvPr/>
      </p:nvGrpSpPr>
      <p:grpSpPr>
        <a:xfrm>
          <a:off x="0" y="0"/>
          <a:ext cx="12192000" cy="6858000"/>
          <a:chOff x="0" y="0"/>
          <a:chExt cx="12192000" cy="6858000"/>
        </a:xfrm>
      </p:grpSpPr>
    </p:spTree>
  </p:cSld>
  <p:clrMap bg1="lt1" tx1="dk1" bg2="lt2" tx2="dk2" accent1="accent1" accent2="accent2" accent3="accent3" accent4="accent4" accent5="accent5" accent6="accent6" hlink="hlink" folHlink="folHlink"/>
  <p:sldLayoutIdLst>
    <p:sldLayoutId id="2147483649" r:id="rId1"/>
  </p:sldLayoutIdLst>
  <p:txStyles>
    <p:titleStyle>
      <a:lstStyle/>
    </p:titleStyle>
    <p:bodyStyle>
      <a:lstStyle/>
    </p:bodyStyle>
    <p:otherStyle>
      <a:lstStyle/>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slide1.xml><?xml version="1.0" encoding="utf-8"?>
<p:sld xmlns:p="http://schemas.openxmlformats.org/presentationml/2006/main" xmlns:a="http://schemas.openxmlformats.org/drawingml/2006/main" xmlns:r="http://schemas.openxmlformats.org/officeDocument/2006/relationships" xmlns:dc="http://purl.org/dc/elements/1.1/">
  <p:cSld>
    <p:bg>
      <p:bgPr>
        <a:solidFill>
          <a:srgbClr val="1F3864"/>
        </a:solidFill>
        <a:effectLst/>
      </p:bgPr>
    </p:bg>
    <p:spTree>
      <p:nvGrpSpPr>
        <p:cNvPr id="1" name="content"/>
        <p:cNvGrpSpPr/>
        <p:nvPr/>
      </p:nvGrpSpPr>
      <p:grpSpPr>
        <a:xfrm>
          <a:off x="0" y="0"/>
          <a:ext cx="12192000" cy="6858000"/>
          <a:chOff x="0" y="0"/>
          <a:chExt cx="12192000" cy="6858000"/>
        </a:xfrm>
      </p:grpSpPr>
      <p:sp>
        <p:nvSpPr>
          <p:cNvPr id="11" name="shape11"/>
          <p:cNvSpPr>
            <a:spLocks noGrp="1"/>
          </p:cNvSpPr>
          <p:nvPr/>
        </p:nvSpPr>
        <p:spPr>
          <a:xfrm>
            <a:off x="0" y="0"/>
            <a:ext cx="12192000" cy="6858000"/>
          </a:xfrm>
          <a:prstGeom prst="rect">
            <a:avLst/>
          </a:prstGeom>
          <a:gradFill rot="1">
            <a:gsLst>
              <a:gs pos="0">
                <a:srgbClr val="1F3864"/>
              </a:gs>
              <a:gs pos="100000">
                <a:srgbClr val="0D2245"/>
              </a:gs>
            </a:gsLst>
            <a:lin ang="5400000" scaled="0"/>
          </a:gradFill>
        </p:spPr>
        <p:txBody>
          <a:bodyPr/>
          <a:lstStyle/>
          <a:p/>
        </p:txBody>
      </p:sp>
      <p:sp>
        <p:nvSpPr>
          <p:cNvPr id="12" name="shape12"/>
          <p:cNvSpPr>
            <a:spLocks noGrp="1"/>
          </p:cNvSpPr>
          <p:nvPr/>
        </p:nvSpPr>
        <p:spPr>
          <a:xfrm>
            <a:off x="0" y="0"/>
            <a:ext cx="144000" cy="6858000"/>
          </a:xfrm>
          <a:prstGeom prst="rect">
            <a:avLst/>
          </a:prstGeom>
          <a:solidFill>
            <a:srgbClr val="BF8F00"/>
          </a:solidFill>
        </p:spPr>
        <p:txBody>
          <a:bodyPr/>
          <a:lstStyle/>
          <a:p/>
        </p:txBody>
      </p:sp>
      <p:sp>
        <p:nvSpPr>
          <p:cNvPr id="13" name="shape13"/>
          <p:cNvSpPr>
            <a:spLocks noGrp="1"/>
          </p:cNvSpPr>
          <p:nvPr/>
        </p:nvSpPr>
        <p:spPr>
          <a:xfrm>
            <a:off x="0" y="0"/>
            <a:ext cx="12192000" cy="108000"/>
          </a:xfrm>
          <a:prstGeom prst="rect">
            <a:avLst/>
          </a:prstGeom>
          <a:solidFill>
            <a:srgbClr val="BF8F00"/>
          </a:solidFill>
        </p:spPr>
        <p:txBody>
          <a:bodyPr/>
          <a:lstStyle/>
          <a:p/>
        </p:txBody>
      </p:sp>
      <p:sp>
        <p:nvSpPr>
          <p:cNvPr id="14" name="box14"/>
          <p:cNvSpPr>
            <a:spLocks noGrp="1"/>
          </p:cNvSpPr>
          <p:nvPr/>
        </p:nvSpPr>
        <p:spPr>
          <a:xfrm>
            <a:off x="432000" y="468000"/>
            <a:ext cx="1800000" cy="324000"/>
          </a:xfrm>
          <a:prstGeom prst="roundRect">
            <a:avLst>
              <a:gd name="adj" fmla="val 20000"/>
            </a:avLst>
          </a:prstGeom>
          <a:solidFill>
            <a:srgbClr val="BF8F00"/>
          </a:solidFill>
          <a:ln w="0">
            <a:noFill/>
          </a:ln>
        </p:spPr>
        <p:txBody>
          <a:bodyPr anchor="ctr" wrap="square" lIns="72000" rIns="72000" tIns="54000" bIns="54000"/>
          <a:lstStyle/>
          <a:p>
            <a:pPr algn="ctr" spcBef="0" spcAft="0">
              <a:spcPct val="100000"/>
            </a:pPr>
            <a:r>
              <a:rPr lang="en-GB" b="1" sz="1600" dirty="0">
                <a:solidFill>
                  <a:srgbClr val="1F3864"/>
                </a:solidFill>
                <a:latin typeface="Cambria"/>
              </a:rPr>
              <a:t>UNIT 28  ·  A2</a:t>
            </a:r>
          </a:p>
        </p:txBody>
      </p:sp>
      <p:sp>
        <p:nvSpPr>
          <p:cNvPr id="15" name="tb15"/>
          <p:cNvSpPr txBox="1">
            <a:spLocks noGrp="1"/>
          </p:cNvSpPr>
          <p:nvPr/>
        </p:nvSpPr>
        <p:spPr>
          <a:xfrm>
            <a:off x="432000" y="900000"/>
            <a:ext cx="11472000" cy="288000"/>
          </a:xfrm>
          <a:prstGeom prst="rect">
            <a:avLst/>
          </a:prstGeom>
          <a:noFill/>
        </p:spPr>
        <p:txBody>
          <a:bodyPr anchor="ctr" wrap="square" lIns="36000" rIns="36000" tIns="36000" bIns="36000"/>
          <a:lstStyle/>
          <a:p>
            <a:pPr algn="l" spcBef="0" spcAft="0">
              <a:spcPct val="100000"/>
            </a:pPr>
            <a:r>
              <a:rPr lang="en-GB" b="0" sz="1500" dirty="0">
                <a:solidFill>
                  <a:srgbClr val="BFC9D6"/>
                </a:solidFill>
                <a:latin typeface="Calibri"/>
              </a:rPr>
              <a:t>English Grammar in Action — Level 1</a:t>
            </a:r>
          </a:p>
        </p:txBody>
      </p:sp>
      <p:sp>
        <p:nvSpPr>
          <p:cNvPr id="16" name="tb16"/>
          <p:cNvSpPr txBox="1">
            <a:spLocks noGrp="1"/>
          </p:cNvSpPr>
          <p:nvPr/>
        </p:nvSpPr>
        <p:spPr>
          <a:xfrm>
            <a:off x="432000" y="1188000"/>
            <a:ext cx="11472000" cy="1080000"/>
          </a:xfrm>
          <a:prstGeom prst="rect">
            <a:avLst/>
          </a:prstGeom>
          <a:noFill/>
        </p:spPr>
        <p:txBody>
          <a:bodyPr anchor="t" wrap="square" lIns="36000" rIns="36000" tIns="36000" bIns="36000"/>
          <a:lstStyle/>
          <a:p>
            <a:pPr algn="l" spcBef="0" spcAft="0">
              <a:spcPct val="100000"/>
            </a:pPr>
            <a:r>
              <a:rPr lang="en-GB" b="1" sz="4000" dirty="0">
                <a:solidFill>
                  <a:srgbClr val="FFFFFF"/>
                </a:solidFill>
                <a:latin typeface="Cambria"/>
              </a:rPr>
              <a:t>Will and Shall — Future Simple</a:t>
            </a:r>
          </a:p>
        </p:txBody>
      </p:sp>
      <p:sp>
        <p:nvSpPr>
          <p:cNvPr id="17" name="tb17"/>
          <p:cNvSpPr txBox="1">
            <a:spLocks noGrp="1"/>
          </p:cNvSpPr>
          <p:nvPr/>
        </p:nvSpPr>
        <p:spPr>
          <a:xfrm>
            <a:off x="432000" y="2088000"/>
            <a:ext cx="11472000" cy="360000"/>
          </a:xfrm>
          <a:prstGeom prst="rect">
            <a:avLst/>
          </a:prstGeom>
          <a:noFill/>
        </p:spPr>
        <p:txBody>
          <a:bodyPr anchor="ctr" wrap="square" lIns="36000" rIns="36000" tIns="36000" bIns="36000"/>
          <a:lstStyle/>
          <a:p>
            <a:pPr algn="l" spcBef="0" spcAft="0">
              <a:spcPct val="100000"/>
            </a:pPr>
            <a:r>
              <a:rPr lang="en-GB" b="0" i="1" sz="1700" dirty="0">
                <a:solidFill>
                  <a:srgbClr val="DCE6F1"/>
                </a:solidFill>
                <a:latin typeface="Calibri"/>
              </a:rPr>
              <a:t>will/wont + base form; predictions, offers, promises, spontaneous decisions; shall for suggestions</a:t>
            </a:r>
          </a:p>
        </p:txBody>
      </p:sp>
      <p:sp>
        <p:nvSpPr>
          <p:cNvPr id="18" name="shape18"/>
          <p:cNvSpPr>
            <a:spLocks noGrp="1"/>
          </p:cNvSpPr>
          <p:nvPr/>
        </p:nvSpPr>
        <p:spPr>
          <a:xfrm>
            <a:off x="0" y="6768000"/>
            <a:ext cx="12192000" cy="90000"/>
          </a:xfrm>
          <a:prstGeom prst="rect">
            <a:avLst/>
          </a:prstGeom>
          <a:solidFill>
            <a:srgbClr val="BF8F00"/>
          </a:solidFill>
        </p:spPr>
        <p:txBody>
          <a:bodyPr/>
          <a:lstStyle/>
          <a:p/>
        </p:txBody>
      </p:sp>
      <p:sp>
        <p:nvSpPr>
          <p:cNvPr id="19" name="box19"/>
          <p:cNvSpPr>
            <a:spLocks noGrp="1"/>
          </p:cNvSpPr>
          <p:nvPr/>
        </p:nvSpPr>
        <p:spPr>
          <a:xfrm>
            <a:off x="11112000" y="6354001"/>
            <a:ext cx="936000" cy="360000"/>
          </a:xfrm>
          <a:prstGeom prst="roundRect">
            <a:avLst>
              <a:gd name="adj" fmla="val 2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CEFR  A2</a:t>
            </a:r>
          </a:p>
        </p:txBody>
      </p:sp>
    </p:spTree>
  </p:cSld>
  <p:clrMapOvr>
    <a:masterClr/>
  </p:clrMapOvr>
</p:sld>
</file>

<file path=ppt/slides/slide2.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51" name="box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52" name="box52"/>
          <p:cNvSpPr>
            <a:spLocks noGrp="1"/>
          </p:cNvSpPr>
          <p:nvPr/>
        </p:nvSpPr>
        <p:spPr>
          <a:xfrm>
            <a:off x="0" y="396000"/>
            <a:ext cx="12192000" cy="64800"/>
          </a:xfrm>
          <a:prstGeom prst="rect">
            <a:avLst/>
          </a:prstGeom>
          <a:solidFill>
            <a:srgbClr val="2E75B6"/>
          </a:solidFill>
          <a:ln w="0">
            <a:noFill/>
          </a:ln>
        </p:spPr>
        <p:txBody>
          <a:bodyPr anchor="ctr" wrap="square" lIns="72000" rIns="72000" tIns="54000" bIns="54000"/>
          <a:lstStyle/>
        </p:txBody>
      </p:sp>
      <p:sp>
        <p:nvSpPr>
          <p:cNvPr id="53" name="tb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LEARNING OBJECTIVES</a:t>
            </a:r>
          </a:p>
        </p:txBody>
      </p:sp>
      <p:sp>
        <p:nvSpPr>
          <p:cNvPr id="54" name="box54"/>
          <p:cNvSpPr>
            <a:spLocks noGrp="1"/>
          </p:cNvSpPr>
          <p:nvPr/>
        </p:nvSpPr>
        <p:spPr>
          <a:xfrm>
            <a:off x="180000" y="5400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55" name="box55"/>
          <p:cNvSpPr>
            <a:spLocks noGrp="1"/>
          </p:cNvSpPr>
          <p:nvPr/>
        </p:nvSpPr>
        <p:spPr>
          <a:xfrm>
            <a:off x="558000" y="5400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Form positive, negative, and question sentences with will.</a:t>
            </a:r>
          </a:p>
        </p:txBody>
      </p:sp>
      <p:sp>
        <p:nvSpPr>
          <p:cNvPr id="56" name="box56"/>
          <p:cNvSpPr>
            <a:spLocks noGrp="1"/>
          </p:cNvSpPr>
          <p:nvPr/>
        </p:nvSpPr>
        <p:spPr>
          <a:xfrm>
            <a:off x="180000" y="9252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57" name="box57"/>
          <p:cNvSpPr>
            <a:spLocks noGrp="1"/>
          </p:cNvSpPr>
          <p:nvPr/>
        </p:nvSpPr>
        <p:spPr>
          <a:xfrm>
            <a:off x="558000" y="9252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Use will for predictions (opinions about the future).</a:t>
            </a:r>
          </a:p>
        </p:txBody>
      </p:sp>
      <p:sp>
        <p:nvSpPr>
          <p:cNvPr id="58" name="box58"/>
          <p:cNvSpPr>
            <a:spLocks noGrp="1"/>
          </p:cNvSpPr>
          <p:nvPr/>
        </p:nvSpPr>
        <p:spPr>
          <a:xfrm>
            <a:off x="180000" y="13104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59" name="box59"/>
          <p:cNvSpPr>
            <a:spLocks noGrp="1"/>
          </p:cNvSpPr>
          <p:nvPr/>
        </p:nvSpPr>
        <p:spPr>
          <a:xfrm>
            <a:off x="558000" y="13104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Use will for spontaneous decisions, offers, and promises.</a:t>
            </a:r>
          </a:p>
        </p:txBody>
      </p:sp>
      <p:sp>
        <p:nvSpPr>
          <p:cNvPr id="60" name="box60"/>
          <p:cNvSpPr>
            <a:spLocks noGrp="1"/>
          </p:cNvSpPr>
          <p:nvPr/>
        </p:nvSpPr>
        <p:spPr>
          <a:xfrm>
            <a:off x="180000" y="16956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61" name="box61"/>
          <p:cNvSpPr>
            <a:spLocks noGrp="1"/>
          </p:cNvSpPr>
          <p:nvPr/>
        </p:nvSpPr>
        <p:spPr>
          <a:xfrm>
            <a:off x="558000" y="16956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Use shall I/we for offers and suggestions.</a:t>
            </a:r>
          </a:p>
        </p:txBody>
      </p:sp>
      <p:sp>
        <p:nvSpPr>
          <p:cNvPr id="62" name="box62"/>
          <p:cNvSpPr>
            <a:spLocks noGrp="1"/>
          </p:cNvSpPr>
          <p:nvPr/>
        </p:nvSpPr>
        <p:spPr>
          <a:xfrm>
            <a:off x="180000" y="20808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63" name="box63"/>
          <p:cNvSpPr>
            <a:spLocks noGrp="1"/>
          </p:cNvSpPr>
          <p:nvPr/>
        </p:nvSpPr>
        <p:spPr>
          <a:xfrm>
            <a:off x="558000" y="20808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Distinguish will (spontaneous/prediction) from going to (planned intention).</a:t>
            </a:r>
          </a:p>
        </p:txBody>
      </p:sp>
    </p:spTree>
  </p:cSld>
  <p:clrMapOvr>
    <a:masterClr/>
  </p:clrMapOvr>
</p:sld>
</file>

<file path=ppt/slides/slide3.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101" name="box10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102" name="box10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103" name="tb10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WARM-UP ACTIVITY</a:t>
            </a:r>
          </a:p>
        </p:txBody>
      </p:sp>
      <p:sp>
        <p:nvSpPr>
          <p:cNvPr id="104" name="box104"/>
          <p:cNvSpPr>
            <a:spLocks noGrp="1"/>
          </p:cNvSpPr>
          <p:nvPr/>
        </p:nvSpPr>
        <p:spPr>
          <a:xfrm>
            <a:off x="180000" y="540000"/>
            <a:ext cx="11832000" cy="396000"/>
          </a:xfrm>
          <a:prstGeom prst="roundRect">
            <a:avLst>
              <a:gd name="adj" fmla="val 15000"/>
            </a:avLst>
          </a:prstGeom>
          <a:solidFill>
            <a:srgbClr val="BF8F00"/>
          </a:solidFill>
          <a:ln w="0">
            <a:noFill/>
          </a:ln>
        </p:spPr>
        <p:txBody>
          <a:bodyPr anchor="ctr" wrap="square" lIns="180000" rIns="72000" tIns="54000" bIns="54000"/>
          <a:lstStyle/>
          <a:p>
            <a:pPr algn="l" spcBef="0" spcAft="0">
              <a:spcPct val="100000"/>
            </a:pPr>
            <a:r>
              <a:rPr lang="en-GB" b="1" sz="2400" dirty="0">
                <a:solidFill>
                  <a:srgbClr val="1F3864"/>
                </a:solidFill>
                <a:latin typeface="Cambria"/>
              </a:rPr>
              <a:t>🎱 Fortune Teller</a:t>
            </a:r>
          </a:p>
        </p:txBody>
      </p:sp>
      <p:sp>
        <p:nvSpPr>
          <p:cNvPr id="105" name="box105"/>
          <p:cNvSpPr>
            <a:spLocks noGrp="1"/>
          </p:cNvSpPr>
          <p:nvPr/>
        </p:nvSpPr>
        <p:spPr>
          <a:xfrm>
            <a:off x="11040000" y="540000"/>
            <a:ext cx="972000" cy="396000"/>
          </a:xfrm>
          <a:prstGeom prst="roundRect">
            <a:avLst>
              <a:gd name="adj" fmla="val 15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BF8F00"/>
                </a:solidFill>
                <a:latin typeface="Calibri"/>
              </a:rPr>
              <a:t>⏱  5 minutes</a:t>
            </a:r>
          </a:p>
        </p:txBody>
      </p:sp>
      <p:sp>
        <p:nvSpPr>
          <p:cNvPr id="106" name="box106"/>
          <p:cNvSpPr>
            <a:spLocks noGrp="1"/>
          </p:cNvSpPr>
          <p:nvPr/>
        </p:nvSpPr>
        <p:spPr>
          <a:xfrm>
            <a:off x="180000" y="1026000"/>
            <a:ext cx="251999" cy="324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600" dirty="0">
                <a:solidFill>
                  <a:srgbClr val="FFFFFF"/>
                </a:solidFill>
                <a:latin typeface="Calibri"/>
              </a:rPr>
              <a:t>1</a:t>
            </a:r>
          </a:p>
        </p:txBody>
      </p:sp>
      <p:sp>
        <p:nvSpPr>
          <p:cNvPr id="107" name="tb107"/>
          <p:cNvSpPr txBox="1">
            <a:spLocks noGrp="1"/>
          </p:cNvSpPr>
          <p:nvPr/>
        </p:nvSpPr>
        <p:spPr>
          <a:xfrm>
            <a:off x="503999" y="1026000"/>
            <a:ext cx="11508000" cy="324000"/>
          </a:xfrm>
          <a:prstGeom prst="rect">
            <a:avLst/>
          </a:prstGeom>
          <a:noFill/>
        </p:spPr>
        <p:txBody>
          <a:bodyPr anchor="ctr" wrap="square" lIns="36000" rIns="36000" tIns="36000" bIns="36000"/>
          <a:lstStyle/>
          <a:p>
            <a:pPr algn="l" spcBef="0" spcAft="0">
              <a:spcPct val="100000"/>
            </a:pPr>
            <a:r>
              <a:rPr lang="en-GB" b="0" sz="1500" dirty="0">
                <a:solidFill>
                  <a:srgbClr val="404040"/>
                </a:solidFill>
                <a:latin typeface="Calibri"/>
              </a:rPr>
              <a:t>Teacher is the fortune teller. Students ask: Will I be rich? Will I travel?</a:t>
            </a:r>
          </a:p>
        </p:txBody>
      </p:sp>
      <p:sp>
        <p:nvSpPr>
          <p:cNvPr id="108" name="box108"/>
          <p:cNvSpPr>
            <a:spLocks noGrp="1"/>
          </p:cNvSpPr>
          <p:nvPr/>
        </p:nvSpPr>
        <p:spPr>
          <a:xfrm>
            <a:off x="180000" y="1458000"/>
            <a:ext cx="251999" cy="324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600" dirty="0">
                <a:solidFill>
                  <a:srgbClr val="FFFFFF"/>
                </a:solidFill>
                <a:latin typeface="Calibri"/>
              </a:rPr>
              <a:t>2</a:t>
            </a:r>
          </a:p>
        </p:txBody>
      </p:sp>
      <p:sp>
        <p:nvSpPr>
          <p:cNvPr id="109" name="tb109"/>
          <p:cNvSpPr txBox="1">
            <a:spLocks noGrp="1"/>
          </p:cNvSpPr>
          <p:nvPr/>
        </p:nvSpPr>
        <p:spPr>
          <a:xfrm>
            <a:off x="503999" y="1458000"/>
            <a:ext cx="11508000" cy="324000"/>
          </a:xfrm>
          <a:prstGeom prst="rect">
            <a:avLst/>
          </a:prstGeom>
          <a:noFill/>
        </p:spPr>
        <p:txBody>
          <a:bodyPr anchor="ctr" wrap="square" lIns="36000" rIns="36000" tIns="36000" bIns="36000"/>
          <a:lstStyle/>
          <a:p>
            <a:pPr algn="l" spcBef="0" spcAft="0">
              <a:spcPct val="100000"/>
            </a:pPr>
            <a:r>
              <a:rPr lang="en-GB" b="0" sz="1500" dirty="0">
                <a:solidFill>
                  <a:srgbClr val="404040"/>
                </a:solidFill>
                <a:latin typeface="Calibri"/>
              </a:rPr>
              <a:t>Teacher answers with will/wont: You will travel to many countries!</a:t>
            </a:r>
          </a:p>
        </p:txBody>
      </p:sp>
      <p:sp>
        <p:nvSpPr>
          <p:cNvPr id="110" name="box110"/>
          <p:cNvSpPr>
            <a:spLocks noGrp="1"/>
          </p:cNvSpPr>
          <p:nvPr/>
        </p:nvSpPr>
        <p:spPr>
          <a:xfrm>
            <a:off x="180000" y="1890000"/>
            <a:ext cx="251999" cy="324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600" dirty="0">
                <a:solidFill>
                  <a:srgbClr val="FFFFFF"/>
                </a:solidFill>
                <a:latin typeface="Calibri"/>
              </a:rPr>
              <a:t>3</a:t>
            </a:r>
          </a:p>
        </p:txBody>
      </p:sp>
      <p:sp>
        <p:nvSpPr>
          <p:cNvPr id="111" name="tb111"/>
          <p:cNvSpPr txBox="1">
            <a:spLocks noGrp="1"/>
          </p:cNvSpPr>
          <p:nvPr/>
        </p:nvSpPr>
        <p:spPr>
          <a:xfrm>
            <a:off x="503999" y="1890000"/>
            <a:ext cx="11508000" cy="324000"/>
          </a:xfrm>
          <a:prstGeom prst="rect">
            <a:avLst/>
          </a:prstGeom>
          <a:noFill/>
        </p:spPr>
        <p:txBody>
          <a:bodyPr anchor="ctr" wrap="square" lIns="36000" rIns="36000" tIns="36000" bIns="36000"/>
          <a:lstStyle/>
          <a:p>
            <a:pPr algn="l" spcBef="0" spcAft="0">
              <a:spcPct val="100000"/>
            </a:pPr>
            <a:r>
              <a:rPr lang="en-GB" b="0" sz="1500" dirty="0">
                <a:solidFill>
                  <a:srgbClr val="404040"/>
                </a:solidFill>
                <a:latin typeface="Calibri"/>
              </a:rPr>
              <a:t>Students make predictions about their partners future.</a:t>
            </a:r>
          </a:p>
        </p:txBody>
      </p:sp>
    </p:spTree>
  </p:cSld>
  <p:clrMapOvr>
    <a:masterClr/>
  </p:clrMapOvr>
</p:sld>
</file>

<file path=ppt/slides/slide4.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151" name="box1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152" name="box152"/>
          <p:cNvSpPr>
            <a:spLocks noGrp="1"/>
          </p:cNvSpPr>
          <p:nvPr/>
        </p:nvSpPr>
        <p:spPr>
          <a:xfrm>
            <a:off x="0" y="396000"/>
            <a:ext cx="12192000" cy="64800"/>
          </a:xfrm>
          <a:prstGeom prst="rect">
            <a:avLst/>
          </a:prstGeom>
          <a:solidFill>
            <a:srgbClr val="2E75B6"/>
          </a:solidFill>
          <a:ln w="0">
            <a:noFill/>
          </a:ln>
        </p:spPr>
        <p:txBody>
          <a:bodyPr anchor="ctr" wrap="square" lIns="72000" rIns="72000" tIns="54000" bIns="54000"/>
          <a:lstStyle/>
        </p:txBody>
      </p:sp>
      <p:sp>
        <p:nvSpPr>
          <p:cNvPr id="153" name="tb1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VOCABULARY PREVIEW</a:t>
            </a:r>
          </a:p>
        </p:txBody>
      </p:sp>
      <p:sp>
        <p:nvSpPr>
          <p:cNvPr id="154" name="box154"/>
          <p:cNvSpPr>
            <a:spLocks noGrp="1"/>
          </p:cNvSpPr>
          <p:nvPr/>
        </p:nvSpPr>
        <p:spPr>
          <a:xfrm>
            <a:off x="180000" y="5400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future</a:t>
            </a:r>
          </a:p>
        </p:txBody>
      </p:sp>
      <p:sp>
        <p:nvSpPr>
          <p:cNvPr id="155" name="box155"/>
          <p:cNvSpPr>
            <a:spLocks noGrp="1"/>
          </p:cNvSpPr>
          <p:nvPr/>
        </p:nvSpPr>
        <p:spPr>
          <a:xfrm>
            <a:off x="1007999" y="5400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nou</a:t>
            </a:r>
          </a:p>
        </p:txBody>
      </p:sp>
      <p:sp>
        <p:nvSpPr>
          <p:cNvPr id="156" name="box156"/>
          <p:cNvSpPr>
            <a:spLocks noGrp="1"/>
          </p:cNvSpPr>
          <p:nvPr/>
        </p:nvSpPr>
        <p:spPr>
          <a:xfrm>
            <a:off x="1512000" y="5400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the time that will come</a:t>
            </a:r>
          </a:p>
        </p:txBody>
      </p:sp>
      <p:sp>
        <p:nvSpPr>
          <p:cNvPr id="157" name="box157"/>
          <p:cNvSpPr>
            <a:spLocks noGrp="1"/>
          </p:cNvSpPr>
          <p:nvPr/>
        </p:nvSpPr>
        <p:spPr>
          <a:xfrm>
            <a:off x="6042000" y="5400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prediction</a:t>
            </a:r>
          </a:p>
        </p:txBody>
      </p:sp>
      <p:sp>
        <p:nvSpPr>
          <p:cNvPr id="158" name="box158"/>
          <p:cNvSpPr>
            <a:spLocks noGrp="1"/>
          </p:cNvSpPr>
          <p:nvPr/>
        </p:nvSpPr>
        <p:spPr>
          <a:xfrm>
            <a:off x="6869999" y="5400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nou</a:t>
            </a:r>
          </a:p>
        </p:txBody>
      </p:sp>
      <p:sp>
        <p:nvSpPr>
          <p:cNvPr id="159" name="box159"/>
          <p:cNvSpPr>
            <a:spLocks noGrp="1"/>
          </p:cNvSpPr>
          <p:nvPr/>
        </p:nvSpPr>
        <p:spPr>
          <a:xfrm>
            <a:off x="7374000" y="5400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a statement about the future</a:t>
            </a:r>
          </a:p>
        </p:txBody>
      </p:sp>
      <p:sp>
        <p:nvSpPr>
          <p:cNvPr id="160" name="box160"/>
          <p:cNvSpPr>
            <a:spLocks noGrp="1"/>
          </p:cNvSpPr>
          <p:nvPr/>
        </p:nvSpPr>
        <p:spPr>
          <a:xfrm>
            <a:off x="180000" y="8856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promise</a:t>
            </a:r>
          </a:p>
        </p:txBody>
      </p:sp>
      <p:sp>
        <p:nvSpPr>
          <p:cNvPr id="161" name="box161"/>
          <p:cNvSpPr>
            <a:spLocks noGrp="1"/>
          </p:cNvSpPr>
          <p:nvPr/>
        </p:nvSpPr>
        <p:spPr>
          <a:xfrm>
            <a:off x="1007999" y="8856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nou</a:t>
            </a:r>
          </a:p>
        </p:txBody>
      </p:sp>
      <p:sp>
        <p:nvSpPr>
          <p:cNvPr id="162" name="box162"/>
          <p:cNvSpPr>
            <a:spLocks noGrp="1"/>
          </p:cNvSpPr>
          <p:nvPr/>
        </p:nvSpPr>
        <p:spPr>
          <a:xfrm>
            <a:off x="1512000" y="8856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a statement that you will do</a:t>
            </a:r>
          </a:p>
        </p:txBody>
      </p:sp>
      <p:sp>
        <p:nvSpPr>
          <p:cNvPr id="163" name="box163"/>
          <p:cNvSpPr>
            <a:spLocks noGrp="1"/>
          </p:cNvSpPr>
          <p:nvPr/>
        </p:nvSpPr>
        <p:spPr>
          <a:xfrm>
            <a:off x="6042000" y="8856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offer</a:t>
            </a:r>
          </a:p>
        </p:txBody>
      </p:sp>
      <p:sp>
        <p:nvSpPr>
          <p:cNvPr id="164" name="box164"/>
          <p:cNvSpPr>
            <a:spLocks noGrp="1"/>
          </p:cNvSpPr>
          <p:nvPr/>
        </p:nvSpPr>
        <p:spPr>
          <a:xfrm>
            <a:off x="6869999" y="8856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nou</a:t>
            </a:r>
          </a:p>
        </p:txBody>
      </p:sp>
      <p:sp>
        <p:nvSpPr>
          <p:cNvPr id="165" name="box165"/>
          <p:cNvSpPr>
            <a:spLocks noGrp="1"/>
          </p:cNvSpPr>
          <p:nvPr/>
        </p:nvSpPr>
        <p:spPr>
          <a:xfrm>
            <a:off x="7374000" y="8856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saying you will do something</a:t>
            </a:r>
          </a:p>
        </p:txBody>
      </p:sp>
      <p:sp>
        <p:nvSpPr>
          <p:cNvPr id="166" name="box166"/>
          <p:cNvSpPr>
            <a:spLocks noGrp="1"/>
          </p:cNvSpPr>
          <p:nvPr/>
        </p:nvSpPr>
        <p:spPr>
          <a:xfrm>
            <a:off x="180000" y="12312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suggestion</a:t>
            </a:r>
          </a:p>
        </p:txBody>
      </p:sp>
      <p:sp>
        <p:nvSpPr>
          <p:cNvPr id="167" name="box167"/>
          <p:cNvSpPr>
            <a:spLocks noGrp="1"/>
          </p:cNvSpPr>
          <p:nvPr/>
        </p:nvSpPr>
        <p:spPr>
          <a:xfrm>
            <a:off x="1007999" y="12312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nou</a:t>
            </a:r>
          </a:p>
        </p:txBody>
      </p:sp>
      <p:sp>
        <p:nvSpPr>
          <p:cNvPr id="168" name="box168"/>
          <p:cNvSpPr>
            <a:spLocks noGrp="1"/>
          </p:cNvSpPr>
          <p:nvPr/>
        </p:nvSpPr>
        <p:spPr>
          <a:xfrm>
            <a:off x="1512000" y="12312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an idea put forward</a:t>
            </a:r>
          </a:p>
        </p:txBody>
      </p:sp>
      <p:sp>
        <p:nvSpPr>
          <p:cNvPr id="169" name="box169"/>
          <p:cNvSpPr>
            <a:spLocks noGrp="1"/>
          </p:cNvSpPr>
          <p:nvPr/>
        </p:nvSpPr>
        <p:spPr>
          <a:xfrm>
            <a:off x="6042000" y="12312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decision</a:t>
            </a:r>
          </a:p>
        </p:txBody>
      </p:sp>
      <p:sp>
        <p:nvSpPr>
          <p:cNvPr id="170" name="box170"/>
          <p:cNvSpPr>
            <a:spLocks noGrp="1"/>
          </p:cNvSpPr>
          <p:nvPr/>
        </p:nvSpPr>
        <p:spPr>
          <a:xfrm>
            <a:off x="6869999" y="12312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nou</a:t>
            </a:r>
          </a:p>
        </p:txBody>
      </p:sp>
      <p:sp>
        <p:nvSpPr>
          <p:cNvPr id="171" name="box171"/>
          <p:cNvSpPr>
            <a:spLocks noGrp="1"/>
          </p:cNvSpPr>
          <p:nvPr/>
        </p:nvSpPr>
        <p:spPr>
          <a:xfrm>
            <a:off x="7374000" y="12312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a choice made now</a:t>
            </a:r>
          </a:p>
        </p:txBody>
      </p:sp>
      <p:sp>
        <p:nvSpPr>
          <p:cNvPr id="172" name="box172"/>
          <p:cNvSpPr>
            <a:spLocks noGrp="1"/>
          </p:cNvSpPr>
          <p:nvPr/>
        </p:nvSpPr>
        <p:spPr>
          <a:xfrm>
            <a:off x="180000" y="15768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probably</a:t>
            </a:r>
          </a:p>
        </p:txBody>
      </p:sp>
      <p:sp>
        <p:nvSpPr>
          <p:cNvPr id="173" name="box173"/>
          <p:cNvSpPr>
            <a:spLocks noGrp="1"/>
          </p:cNvSpPr>
          <p:nvPr/>
        </p:nvSpPr>
        <p:spPr>
          <a:xfrm>
            <a:off x="1007999" y="15768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adv</a:t>
            </a:r>
          </a:p>
        </p:txBody>
      </p:sp>
      <p:sp>
        <p:nvSpPr>
          <p:cNvPr id="174" name="box174"/>
          <p:cNvSpPr>
            <a:spLocks noGrp="1"/>
          </p:cNvSpPr>
          <p:nvPr/>
        </p:nvSpPr>
        <p:spPr>
          <a:xfrm>
            <a:off x="1512000" y="15768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very likely</a:t>
            </a:r>
          </a:p>
        </p:txBody>
      </p:sp>
      <p:sp>
        <p:nvSpPr>
          <p:cNvPr id="175" name="box175"/>
          <p:cNvSpPr>
            <a:spLocks noGrp="1"/>
          </p:cNvSpPr>
          <p:nvPr/>
        </p:nvSpPr>
        <p:spPr>
          <a:xfrm>
            <a:off x="6042000" y="15768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certainly</a:t>
            </a:r>
          </a:p>
        </p:txBody>
      </p:sp>
      <p:sp>
        <p:nvSpPr>
          <p:cNvPr id="176" name="box176"/>
          <p:cNvSpPr>
            <a:spLocks noGrp="1"/>
          </p:cNvSpPr>
          <p:nvPr/>
        </p:nvSpPr>
        <p:spPr>
          <a:xfrm>
            <a:off x="6869999" y="15768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adv</a:t>
            </a:r>
          </a:p>
        </p:txBody>
      </p:sp>
      <p:sp>
        <p:nvSpPr>
          <p:cNvPr id="177" name="box177"/>
          <p:cNvSpPr>
            <a:spLocks noGrp="1"/>
          </p:cNvSpPr>
          <p:nvPr/>
        </p:nvSpPr>
        <p:spPr>
          <a:xfrm>
            <a:off x="7374000" y="15768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for sure; definitely</a:t>
            </a:r>
          </a:p>
        </p:txBody>
      </p:sp>
      <p:sp>
        <p:nvSpPr>
          <p:cNvPr id="178" name="box178"/>
          <p:cNvSpPr>
            <a:spLocks noGrp="1"/>
          </p:cNvSpPr>
          <p:nvPr/>
        </p:nvSpPr>
        <p:spPr>
          <a:xfrm>
            <a:off x="180000" y="19224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perhaps</a:t>
            </a:r>
          </a:p>
        </p:txBody>
      </p:sp>
      <p:sp>
        <p:nvSpPr>
          <p:cNvPr id="179" name="box179"/>
          <p:cNvSpPr>
            <a:spLocks noGrp="1"/>
          </p:cNvSpPr>
          <p:nvPr/>
        </p:nvSpPr>
        <p:spPr>
          <a:xfrm>
            <a:off x="1007999" y="19224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adv</a:t>
            </a:r>
          </a:p>
        </p:txBody>
      </p:sp>
      <p:sp>
        <p:nvSpPr>
          <p:cNvPr id="180" name="box180"/>
          <p:cNvSpPr>
            <a:spLocks noGrp="1"/>
          </p:cNvSpPr>
          <p:nvPr/>
        </p:nvSpPr>
        <p:spPr>
          <a:xfrm>
            <a:off x="1512000" y="19224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maybe; possibly</a:t>
            </a:r>
          </a:p>
        </p:txBody>
      </p:sp>
      <p:sp>
        <p:nvSpPr>
          <p:cNvPr id="181" name="box181"/>
          <p:cNvSpPr>
            <a:spLocks noGrp="1"/>
          </p:cNvSpPr>
          <p:nvPr/>
        </p:nvSpPr>
        <p:spPr>
          <a:xfrm>
            <a:off x="6042000" y="19224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definitely</a:t>
            </a:r>
          </a:p>
        </p:txBody>
      </p:sp>
      <p:sp>
        <p:nvSpPr>
          <p:cNvPr id="182" name="box182"/>
          <p:cNvSpPr>
            <a:spLocks noGrp="1"/>
          </p:cNvSpPr>
          <p:nvPr/>
        </p:nvSpPr>
        <p:spPr>
          <a:xfrm>
            <a:off x="6869999" y="19224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adv</a:t>
            </a:r>
          </a:p>
        </p:txBody>
      </p:sp>
      <p:sp>
        <p:nvSpPr>
          <p:cNvPr id="183" name="box183"/>
          <p:cNvSpPr>
            <a:spLocks noGrp="1"/>
          </p:cNvSpPr>
          <p:nvPr/>
        </p:nvSpPr>
        <p:spPr>
          <a:xfrm>
            <a:off x="7374000" y="19224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without any doubt</a:t>
            </a:r>
          </a:p>
        </p:txBody>
      </p:sp>
      <p:sp>
        <p:nvSpPr>
          <p:cNvPr id="184" name="tb184"/>
          <p:cNvSpPr txBox="1">
            <a:spLocks noGrp="1"/>
          </p:cNvSpPr>
          <p:nvPr/>
        </p:nvSpPr>
        <p:spPr>
          <a:xfrm>
            <a:off x="180000" y="6606001"/>
            <a:ext cx="11832000" cy="198000"/>
          </a:xfrm>
          <a:prstGeom prst="rect">
            <a:avLst/>
          </a:prstGeom>
          <a:noFill/>
        </p:spPr>
        <p:txBody>
          <a:bodyPr anchor="ctr" wrap="square" lIns="36000" rIns="36000" tIns="36000" bIns="36000"/>
          <a:lstStyle/>
          <a:p>
            <a:pPr algn="l" spcBef="0" spcAft="0">
              <a:spcPct val="100000"/>
            </a:pPr>
            <a:r>
              <a:rPr lang="en-GB" b="0" i="1" sz="1300" dirty="0">
                <a:solidFill>
                  <a:srgbClr val="2E75B6"/>
                </a:solidFill>
                <a:latin typeface="Calibri"/>
              </a:rPr>
              <a:t>📚  Full 30-word vocabulary bank in your workbook — Section 4.</a:t>
            </a:r>
          </a:p>
        </p:txBody>
      </p:sp>
    </p:spTree>
  </p:cSld>
  <p:clrMapOvr>
    <a:masterClr/>
  </p:clrMapOvr>
</p:sld>
</file>

<file path=ppt/slides/slide5.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201" name="box20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202" name="box20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203" name="tb20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GRAMMAR RULE</a:t>
            </a:r>
          </a:p>
        </p:txBody>
      </p:sp>
      <p:sp>
        <p:nvSpPr>
          <p:cNvPr id="204" name="box204"/>
          <p:cNvSpPr>
            <a:spLocks noGrp="1"/>
          </p:cNvSpPr>
          <p:nvPr/>
        </p:nvSpPr>
        <p:spPr>
          <a:xfrm>
            <a:off x="180000" y="522000"/>
            <a:ext cx="11832000" cy="396000"/>
          </a:xfrm>
          <a:prstGeom prst="roundRect">
            <a:avLst>
              <a:gd name="adj" fmla="val 10000"/>
            </a:avLst>
          </a:prstGeom>
          <a:solidFill>
            <a:srgbClr val="FFF2CC"/>
          </a:solidFill>
          <a:ln w="12700">
            <a:solidFill>
              <a:srgbClr val="BF8F00"/>
            </a:solidFill>
          </a:ln>
        </p:spPr>
        <p:txBody>
          <a:bodyPr anchor="ctr" wrap="square" lIns="144000" rIns="72000" tIns="54000" bIns="54000"/>
          <a:lstStyle/>
          <a:p>
            <a:pPr algn="l" spcBef="0" spcAft="0">
              <a:spcPct val="100000"/>
            </a:pPr>
            <a:r>
              <a:rPr lang="en-GB" b="1" sz="1700" dirty="0">
                <a:solidFill>
                  <a:srgbClr val="1F3864"/>
                </a:solidFill>
                <a:latin typeface="Calibri"/>
              </a:rPr>
              <a:t>📌  Will + base form for: predictions (I think...), spontaneous decisions (Ill answer it!), offers (Ill help you), promises (I wont tell anyone). Shall I/we for suggestions and offers.</a:t>
            </a:r>
          </a:p>
        </p:txBody>
      </p:sp>
      <p:graphicFrame>
        <p:nvGraphicFramePr>
          <p:cNvPr id="205" name="tbl205"/>
          <p:cNvGraphicFramePr>
            <a:graphicFrameLocks noGrp="1"/>
          </p:cNvGraphicFramePr>
          <p:nvPr/>
        </p:nvGraphicFramePr>
        <p:xfrm>
          <a:off x="180000" y="990000"/>
          <a:ext cx="11832000" cy="5778000"/>
        </p:xfrm>
        <a:graphic>
          <a:graphicData uri="http://schemas.openxmlformats.org/drawingml/2006/table">
            <a:tbl>
              <a:tblPr firstRow="1" bandRow="1">
                <a:tableStyleId>{5C22544A-7EE6-4342-B048-85BDC9FD1C3A}</a:tableStyleId>
              </a:tblPr>
              <a:tblGrid>
                <a:gridCol w="3944000"/>
                <a:gridCol w="3944000"/>
                <a:gridCol w="3944000"/>
              </a:tblGrid>
              <a:tr h="927000">
                <a:tc>
                  <a:txBody>
                    <a:bodyPr/>
                    <a:lstStyle/>
                    <a:p>
                      <a:pPr algn="l"/>
                      <a:r>
                        <a:rPr lang="en-GB" b="1" sz="1400" dirty="0">
                          <a:solidFill>
                            <a:srgbClr val="FFFFFF"/>
                          </a:solidFill>
                          <a:latin typeface="Calibri"/>
                        </a:rPr>
                        <a:t>Form</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Structure</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Example</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r>
              <a:tr h="927000">
                <a:tc>
                  <a:txBody>
                    <a:bodyPr/>
                    <a:lstStyle/>
                    <a:p>
                      <a:pPr algn="l"/>
                      <a:r>
                        <a:rPr lang="en-GB" b="1" sz="1400" dirty="0">
                          <a:solidFill>
                            <a:srgbClr val="1F3864"/>
                          </a:solidFill>
                          <a:latin typeface="Calibri"/>
                        </a:rPr>
                        <a:t>Positive</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will (ll) + base form</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Itll be cold tomorrow.</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927000">
                <a:tc>
                  <a:txBody>
                    <a:bodyPr/>
                    <a:lstStyle/>
                    <a:p>
                      <a:pPr algn="l"/>
                      <a:r>
                        <a:rPr lang="en-GB" b="1" sz="1400" dirty="0">
                          <a:solidFill>
                            <a:srgbClr val="1F3864"/>
                          </a:solidFill>
                          <a:latin typeface="Calibri"/>
                        </a:rPr>
                        <a:t>Negative</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will not (wont) + base form</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I wont be late. I promise.</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927000">
                <a:tc>
                  <a:txBody>
                    <a:bodyPr/>
                    <a:lstStyle/>
                    <a:p>
                      <a:pPr algn="l"/>
                      <a:r>
                        <a:rPr lang="en-GB" b="1" sz="1400" dirty="0">
                          <a:solidFill>
                            <a:srgbClr val="1F3864"/>
                          </a:solidFill>
                          <a:latin typeface="Calibri"/>
                        </a:rPr>
                        <a:t>Question</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Will + subject + base form?</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Will you be at home tonight?</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927000">
                <a:tc>
                  <a:txBody>
                    <a:bodyPr/>
                    <a:lstStyle/>
                    <a:p>
                      <a:pPr algn="l"/>
                      <a:r>
                        <a:rPr lang="en-GB" b="1" sz="1400" dirty="0">
                          <a:solidFill>
                            <a:srgbClr val="1F3864"/>
                          </a:solidFill>
                          <a:latin typeface="Calibri"/>
                        </a:rPr>
                        <a:t>Shall (suggestion)</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Shall I/we + base form?</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Shall I open the window?</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927000">
                <a:tc>
                  <a:txBody>
                    <a:bodyPr/>
                    <a:lstStyle/>
                    <a:p>
                      <a:pPr algn="l"/>
                      <a:r>
                        <a:rPr lang="en-GB" b="1" sz="1400" dirty="0">
                          <a:solidFill>
                            <a:srgbClr val="1F3864"/>
                          </a:solidFill>
                          <a:latin typeface="Calibri"/>
                        </a:rPr>
                        <a:t>I think + will</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I think + subject + will...</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I think Diana will pass.</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Tree>
  </p:cSld>
  <p:clrMapOvr>
    <a:masterClr/>
  </p:clrMapOvr>
</p:sld>
</file>

<file path=ppt/slides/slide6.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251" name="box2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252" name="box25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253" name="tb2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SPELLING &amp; USAGE NOTES</a:t>
            </a:r>
          </a:p>
        </p:txBody>
      </p:sp>
      <p:sp>
        <p:nvSpPr>
          <p:cNvPr id="254" name="box254"/>
          <p:cNvSpPr>
            <a:spLocks noGrp="1"/>
          </p:cNvSpPr>
          <p:nvPr/>
        </p:nvSpPr>
        <p:spPr>
          <a:xfrm>
            <a:off x="180000" y="540000"/>
            <a:ext cx="11832000" cy="503999"/>
          </a:xfrm>
          <a:prstGeom prst="rect">
            <a:avLst/>
          </a:prstGeom>
          <a:solidFill>
            <a:srgbClr val="DCE6F1"/>
          </a:solidFill>
          <a:ln w="12700">
            <a:solidFill>
              <a:srgbClr val="1F3864"/>
            </a:solidFill>
          </a:ln>
        </p:spPr>
        <p:txBody>
          <a:bodyPr anchor="ctr" wrap="square" lIns="144000" rIns="72000" tIns="54000" bIns="54000"/>
          <a:lstStyle/>
          <a:p>
            <a:pPr algn="l" spcBef="0" spcAft="0">
              <a:spcPct val="100000"/>
            </a:pPr>
            <a:r>
              <a:rPr lang="en-GB" b="1" sz="1500" dirty="0">
                <a:solidFill>
                  <a:srgbClr val="1F3864"/>
                </a:solidFill>
                <a:latin typeface="Calibri"/>
              </a:rPr>
              <a:t>⚠️  Watch Out!  </a:t>
            </a:r>
            <a:r>
              <a:rPr lang="en-GB" b="0" sz="1400" dirty="0">
                <a:solidFill>
                  <a:srgbClr val="1F3864"/>
                </a:solidFill>
                <a:latin typeface="Calibri"/>
              </a:rPr>
              <a:t>WILL = spontaneous (deciding NOW). GOING TO = planned (decided BEFORE). "The phone is ringing." → "Ill answer it!" (spontaneous). "Im going to call the doctor tomorrow." (already planned).</a:t>
            </a:r>
          </a:p>
        </p:txBody>
      </p:sp>
      <p:sp>
        <p:nvSpPr>
          <p:cNvPr id="255" name="box255"/>
          <p:cNvSpPr>
            <a:spLocks noGrp="1"/>
          </p:cNvSpPr>
          <p:nvPr/>
        </p:nvSpPr>
        <p:spPr>
          <a:xfrm>
            <a:off x="180000" y="1169998"/>
            <a:ext cx="1260000" cy="216000"/>
          </a:xfrm>
          <a:prstGeom prst="roundRect">
            <a:avLst>
              <a:gd name="adj" fmla="val 10000"/>
            </a:avLst>
          </a:prstGeom>
          <a:solidFill>
            <a:srgbClr val="BF8F00"/>
          </a:solidFill>
          <a:ln w="0">
            <a:noFill/>
          </a:ln>
        </p:spPr>
        <p:txBody>
          <a:bodyPr anchor="ctr" wrap="square" lIns="72000" rIns="72000" tIns="54000" bIns="54000"/>
          <a:lstStyle/>
          <a:p>
            <a:pPr algn="ctr" spcBef="0" spcAft="0">
              <a:spcPct val="100000"/>
            </a:pPr>
            <a:r>
              <a:rPr lang="en-GB" b="1" sz="1400" dirty="0">
                <a:solidFill>
                  <a:srgbClr val="1F3864"/>
                </a:solidFill>
                <a:latin typeface="Calibri"/>
              </a:rPr>
              <a:t>Usage Examples</a:t>
            </a:r>
          </a:p>
        </p:txBody>
      </p:sp>
      <p:sp>
        <p:nvSpPr>
          <p:cNvPr id="256" name="tb256"/>
          <p:cNvSpPr txBox="1">
            <a:spLocks noGrp="1"/>
          </p:cNvSpPr>
          <p:nvPr/>
        </p:nvSpPr>
        <p:spPr>
          <a:xfrm>
            <a:off x="180000" y="1439998"/>
            <a:ext cx="11832000" cy="1980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  I think itll rain tomorrow. (prediction/opinion)</a:t>
            </a:r>
          </a:p>
        </p:txBody>
      </p:sp>
      <p:sp>
        <p:nvSpPr>
          <p:cNvPr id="257" name="tb257"/>
          <p:cNvSpPr txBox="1">
            <a:spLocks noGrp="1"/>
          </p:cNvSpPr>
          <p:nvPr/>
        </p:nvSpPr>
        <p:spPr>
          <a:xfrm>
            <a:off x="180000" y="1655998"/>
            <a:ext cx="11832000" cy="1980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  Ill carry that bag for you. (offer at the moment)</a:t>
            </a:r>
          </a:p>
        </p:txBody>
      </p:sp>
      <p:sp>
        <p:nvSpPr>
          <p:cNvPr id="258" name="tb258"/>
          <p:cNvSpPr txBox="1">
            <a:spLocks noGrp="1"/>
          </p:cNvSpPr>
          <p:nvPr/>
        </p:nvSpPr>
        <p:spPr>
          <a:xfrm>
            <a:off x="180000" y="1871998"/>
            <a:ext cx="11832000" cy="1980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  I wont tell anyone your secret. (promise)</a:t>
            </a:r>
          </a:p>
        </p:txBody>
      </p:sp>
      <p:sp>
        <p:nvSpPr>
          <p:cNvPr id="259" name="tb259"/>
          <p:cNvSpPr txBox="1">
            <a:spLocks noGrp="1"/>
          </p:cNvSpPr>
          <p:nvPr/>
        </p:nvSpPr>
        <p:spPr>
          <a:xfrm>
            <a:off x="180000" y="2087998"/>
            <a:ext cx="11832000" cy="1980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  Shall we go to a restaurant tonight? (suggestion)</a:t>
            </a:r>
          </a:p>
        </p:txBody>
      </p:sp>
    </p:spTree>
  </p:cSld>
  <p:clrMapOvr>
    <a:masterClr/>
  </p:clrMapOvr>
</p:sld>
</file>

<file path=ppt/slides/slide7.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301" name="box30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302" name="box30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303" name="tb30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GUIDED PRACTICE</a:t>
            </a:r>
          </a:p>
        </p:txBody>
      </p:sp>
      <p:sp>
        <p:nvSpPr>
          <p:cNvPr id="304" name="tb304"/>
          <p:cNvSpPr txBox="1">
            <a:spLocks noGrp="1"/>
          </p:cNvSpPr>
          <p:nvPr/>
        </p:nvSpPr>
        <p:spPr>
          <a:xfrm>
            <a:off x="180000" y="540000"/>
            <a:ext cx="11832000" cy="234000"/>
          </a:xfrm>
          <a:prstGeom prst="rect">
            <a:avLst/>
          </a:prstGeom>
          <a:noFill/>
        </p:spPr>
        <p:txBody>
          <a:bodyPr anchor="ctr" wrap="square" lIns="36000" rIns="36000" tIns="36000" bIns="36000"/>
          <a:lstStyle/>
          <a:p>
            <a:pPr algn="l" spcBef="0" spcAft="0">
              <a:spcPct val="100000"/>
            </a:pPr>
            <a:r>
              <a:rPr lang="en-GB" b="0" i="1" sz="1400" dirty="0">
                <a:solidFill>
                  <a:srgbClr val="BF8F00"/>
                </a:solidFill>
                <a:latin typeface="Calibri"/>
              </a:rPr>
              <a:t>Complete with will/wont/shall. Items 1-2 are done.</a:t>
            </a:r>
          </a:p>
        </p:txBody>
      </p:sp>
      <p:graphicFrame>
        <p:nvGraphicFramePr>
          <p:cNvPr id="305" name="tbl305"/>
          <p:cNvGraphicFramePr>
            <a:graphicFrameLocks noGrp="1"/>
          </p:cNvGraphicFramePr>
          <p:nvPr/>
        </p:nvGraphicFramePr>
        <p:xfrm>
          <a:off x="180000" y="846000"/>
          <a:ext cx="11832000" cy="5922000"/>
        </p:xfrm>
        <a:graphic>
          <a:graphicData uri="http://schemas.openxmlformats.org/drawingml/2006/table">
            <a:tbl>
              <a:tblPr firstRow="1" bandRow="1">
                <a:tableStyleId>{5C22544A-7EE6-4342-B048-85BDC9FD1C3A}</a:tableStyleId>
              </a:tblPr>
              <a:tblGrid>
                <a:gridCol w="709920"/>
                <a:gridCol w="6152640"/>
                <a:gridCol w="4969440"/>
              </a:tblGrid>
              <a:tr h="1141200">
                <a:tc>
                  <a:txBody>
                    <a:bodyPr/>
                    <a:lstStyle/>
                    <a:p>
                      <a:pPr algn="l"/>
                      <a:r>
                        <a:rPr lang="en-GB" b="1" sz="1400" dirty="0">
                          <a:solidFill>
                            <a:srgbClr val="FFFFFF"/>
                          </a:solidFill>
                          <a:latin typeface="Calibri"/>
                        </a:rPr>
                        <a:t>#</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Situation</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Response</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r>
              <a:tr h="1141200">
                <a:tc>
                  <a:txBody>
                    <a:bodyPr/>
                    <a:lstStyle/>
                    <a:p>
                      <a:pPr algn="l"/>
                      <a:r>
                        <a:rPr lang="en-GB" b="1" sz="1400" dirty="0">
                          <a:solidFill>
                            <a:srgbClr val="1F3864"/>
                          </a:solidFill>
                          <a:latin typeface="Calibri"/>
                        </a:rPr>
                        <a:t>1 ✅</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The phone is ringing.</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Ill answer it.</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1141200">
                <a:tc>
                  <a:txBody>
                    <a:bodyPr/>
                    <a:lstStyle/>
                    <a:p>
                      <a:pPr algn="l"/>
                      <a:r>
                        <a:rPr lang="en-GB" b="1" sz="1400" dirty="0">
                          <a:solidFill>
                            <a:srgbClr val="1F3864"/>
                          </a:solidFill>
                          <a:latin typeface="Calibri"/>
                        </a:rPr>
                        <a:t>2 ✅</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I dont think it ___ rain.</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I dont think it will rain.</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1141200">
                <a:tc>
                  <a:txBody>
                    <a:bodyPr/>
                    <a:lstStyle/>
                    <a:p>
                      <a:pPr algn="l"/>
                      <a:r>
                        <a:rPr lang="en-GB" b="1" sz="1400" dirty="0">
                          <a:solidFill>
                            <a:srgbClr val="1F3864"/>
                          </a:solidFill>
                          <a:latin typeface="Calibri"/>
                        </a:rPr>
                        <a:t>3</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Im cold. (offer to close window)</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1141200">
                <a:tc>
                  <a:txBody>
                    <a:bodyPr/>
                    <a:lstStyle/>
                    <a:p>
                      <a:pPr algn="l"/>
                      <a:r>
                        <a:rPr lang="en-GB" b="1" sz="1400" dirty="0">
                          <a:solidFill>
                            <a:srgbClr val="1F3864"/>
                          </a:solidFill>
                          <a:latin typeface="Calibri"/>
                        </a:rPr>
                        <a:t>4</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You look tired. ___ I make you tea?</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________________________</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Tree>
  </p:cSld>
  <p:clrMapOvr>
    <a:masterClr/>
  </p:clrMapOvr>
</p:sld>
</file>

<file path=ppt/slides/slide8.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351" name="box3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352" name="box35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353" name="tb3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CONTROLLED PRACTICE</a:t>
            </a:r>
          </a:p>
        </p:txBody>
      </p:sp>
      <p:sp>
        <p:nvSpPr>
          <p:cNvPr id="354" name="tb354"/>
          <p:cNvSpPr txBox="1">
            <a:spLocks noGrp="1"/>
          </p:cNvSpPr>
          <p:nvPr/>
        </p:nvSpPr>
        <p:spPr>
          <a:xfrm>
            <a:off x="180000" y="540000"/>
            <a:ext cx="11832000" cy="234000"/>
          </a:xfrm>
          <a:prstGeom prst="rect">
            <a:avLst/>
          </a:prstGeom>
          <a:noFill/>
        </p:spPr>
        <p:txBody>
          <a:bodyPr anchor="ctr" wrap="square" lIns="36000" rIns="36000" tIns="36000" bIns="36000"/>
          <a:lstStyle/>
          <a:p>
            <a:pPr algn="l" spcBef="0" spcAft="0">
              <a:spcPct val="100000"/>
            </a:pPr>
            <a:r>
              <a:rPr lang="en-GB" b="0" i="1" sz="1400" dirty="0">
                <a:solidFill>
                  <a:srgbClr val="BF8F00"/>
                </a:solidFill>
                <a:latin typeface="Calibri"/>
              </a:rPr>
              <a:t>Choose will or going to.</a:t>
            </a:r>
          </a:p>
        </p:txBody>
      </p:sp>
      <p:graphicFrame>
        <p:nvGraphicFramePr>
          <p:cNvPr id="355" name="tbl355"/>
          <p:cNvGraphicFramePr>
            <a:graphicFrameLocks noGrp="1"/>
          </p:cNvGraphicFramePr>
          <p:nvPr/>
        </p:nvGraphicFramePr>
        <p:xfrm>
          <a:off x="180000" y="846000"/>
          <a:ext cx="11832000" cy="5922000"/>
        </p:xfrm>
        <a:graphic>
          <a:graphicData uri="http://schemas.openxmlformats.org/drawingml/2006/table">
            <a:tbl>
              <a:tblPr firstRow="1" bandRow="1">
                <a:tableStyleId>{5C22544A-7EE6-4342-B048-85BDC9FD1C3A}</a:tableStyleId>
              </a:tblPr>
              <a:tblGrid>
                <a:gridCol w="709920"/>
                <a:gridCol w="5561040"/>
                <a:gridCol w="5561040"/>
              </a:tblGrid>
              <a:tr h="951000">
                <a:tc>
                  <a:txBody>
                    <a:bodyPr/>
                    <a:lstStyle/>
                    <a:p>
                      <a:pPr algn="l"/>
                      <a:r>
                        <a:rPr lang="en-GB" b="1" sz="1400" dirty="0">
                          <a:solidFill>
                            <a:srgbClr val="FFFFFF"/>
                          </a:solidFill>
                          <a:latin typeface="Calibri"/>
                        </a:rPr>
                        <a:t>#</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Sentence</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Answer</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1</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I decided yesterday. I ___ (buy) a new phone.</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2</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Oh no, I forgot my wallet! I ___ (go) back.</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________________________</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3</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I think she ___ (pass) the exam.</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4</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Look at those clouds. It ___ (rain).</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________________________</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5</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Someone is at the door. I ___ (open) it.</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Tree>
  </p:cSld>
  <p:clrMapOvr>
    <a:masterClr/>
  </p:clrMapOvr>
</p:sld>
</file>

<file path=ppt/slides/slide9.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401" name="box40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402" name="box40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403" name="tb40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ERROR CORRECTION</a:t>
            </a:r>
          </a:p>
        </p:txBody>
      </p:sp>
      <p:sp>
        <p:nvSpPr>
          <p:cNvPr id="404" name="tb404"/>
          <p:cNvSpPr txBox="1">
            <a:spLocks noGrp="1"/>
          </p:cNvSpPr>
          <p:nvPr/>
        </p:nvSpPr>
        <p:spPr>
          <a:xfrm>
            <a:off x="180000" y="540000"/>
            <a:ext cx="11832000" cy="234000"/>
          </a:xfrm>
          <a:prstGeom prst="rect">
            <a:avLst/>
          </a:prstGeom>
          <a:noFill/>
        </p:spPr>
        <p:txBody>
          <a:bodyPr anchor="ctr" wrap="square" lIns="36000" rIns="36000" tIns="36000" bIns="36000"/>
          <a:lstStyle/>
          <a:p>
            <a:pPr algn="l" spcBef="0" spcAft="0">
              <a:spcPct val="100000"/>
            </a:pPr>
            <a:r>
              <a:rPr lang="en-GB" b="0" i="1" sz="1400" dirty="0">
                <a:solidFill>
                  <a:srgbClr val="BF8F00"/>
                </a:solidFill>
                <a:latin typeface="Calibri"/>
              </a:rPr>
              <a:t>Find and correct the ONE mistake in each sentence.</a:t>
            </a:r>
          </a:p>
        </p:txBody>
      </p:sp>
      <p:graphicFrame>
        <p:nvGraphicFramePr>
          <p:cNvPr id="405" name="tbl405"/>
          <p:cNvGraphicFramePr>
            <a:graphicFrameLocks noGrp="1"/>
          </p:cNvGraphicFramePr>
          <p:nvPr/>
        </p:nvGraphicFramePr>
        <p:xfrm>
          <a:off x="180000" y="846000"/>
          <a:ext cx="11832000" cy="5922000"/>
        </p:xfrm>
        <a:graphic>
          <a:graphicData uri="http://schemas.openxmlformats.org/drawingml/2006/table">
            <a:tbl>
              <a:tblPr firstRow="1" bandRow="1">
                <a:tableStyleId>{5C22544A-7EE6-4342-B048-85BDC9FD1C3A}</a:tableStyleId>
              </a:tblPr>
              <a:tblGrid>
                <a:gridCol w="591600"/>
                <a:gridCol w="5916000"/>
                <a:gridCol w="5324400"/>
              </a:tblGrid>
              <a:tr h="951000">
                <a:tc>
                  <a:txBody>
                    <a:bodyPr/>
                    <a:lstStyle/>
                    <a:p>
                      <a:pPr algn="l"/>
                      <a:r>
                        <a:rPr lang="en-GB" b="1" sz="1400" dirty="0">
                          <a:solidFill>
                            <a:srgbClr val="FFFFFF"/>
                          </a:solidFill>
                          <a:latin typeface="Calibri"/>
                        </a:rPr>
                        <a:t>#</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Incorrect</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Corrected</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1</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I will to help you.</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2</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She wills come tomorrow.</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________________________</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3</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Shall he opens the door?</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4</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I think it will raining.</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________________________</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5</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Tom will be late. (shall not used with he)</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Tree>
  </p:cSld>
  <p:clrMapOvr>
    <a:masterClr/>
  </p:clrMapOvr>
</p:sld>
</file>

<file path=ppt/slides/slide10.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451" name="box4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452" name="box452"/>
          <p:cNvSpPr>
            <a:spLocks noGrp="1"/>
          </p:cNvSpPr>
          <p:nvPr/>
        </p:nvSpPr>
        <p:spPr>
          <a:xfrm>
            <a:off x="0" y="396000"/>
            <a:ext cx="12192000" cy="64800"/>
          </a:xfrm>
          <a:prstGeom prst="rect">
            <a:avLst/>
          </a:prstGeom>
          <a:solidFill>
            <a:srgbClr val="548235"/>
          </a:solidFill>
          <a:ln w="0">
            <a:noFill/>
          </a:ln>
        </p:spPr>
        <p:txBody>
          <a:bodyPr anchor="ctr" wrap="square" lIns="72000" rIns="72000" tIns="54000" bIns="54000"/>
          <a:lstStyle/>
        </p:txBody>
      </p:sp>
      <p:sp>
        <p:nvSpPr>
          <p:cNvPr id="453" name="tb4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SPEAKING ACTIVITY</a:t>
            </a:r>
          </a:p>
        </p:txBody>
      </p:sp>
      <p:sp>
        <p:nvSpPr>
          <p:cNvPr id="454" name="box454"/>
          <p:cNvSpPr>
            <a:spLocks noGrp="1"/>
          </p:cNvSpPr>
          <p:nvPr/>
        </p:nvSpPr>
        <p:spPr>
          <a:xfrm>
            <a:off x="180000" y="522000"/>
            <a:ext cx="11832000" cy="360000"/>
          </a:xfrm>
          <a:prstGeom prst="roundRect">
            <a:avLst>
              <a:gd name="adj" fmla="val 12000"/>
            </a:avLst>
          </a:prstGeom>
          <a:solidFill>
            <a:srgbClr val="548235"/>
          </a:solidFill>
          <a:ln w="0">
            <a:noFill/>
          </a:ln>
        </p:spPr>
        <p:txBody>
          <a:bodyPr anchor="ctr" wrap="square" lIns="180000" rIns="72000" tIns="54000" bIns="54000"/>
          <a:lstStyle/>
          <a:p>
            <a:pPr algn="l" spcBef="0" spcAft="0">
              <a:spcPct val="100000"/>
            </a:pPr>
            <a:r>
              <a:rPr lang="en-GB" b="1" sz="2200" dirty="0">
                <a:solidFill>
                  <a:srgbClr val="FFFFFF"/>
                </a:solidFill>
                <a:latin typeface="Cambria"/>
              </a:rPr>
              <a:t>🗣️ Offers and Predictions</a:t>
            </a:r>
          </a:p>
        </p:txBody>
      </p:sp>
      <p:sp>
        <p:nvSpPr>
          <p:cNvPr id="455" name="box455"/>
          <p:cNvSpPr>
            <a:spLocks noGrp="1"/>
          </p:cNvSpPr>
          <p:nvPr/>
        </p:nvSpPr>
        <p:spPr>
          <a:xfrm>
            <a:off x="11112000" y="954000"/>
            <a:ext cx="900000" cy="1260000"/>
          </a:xfrm>
          <a:prstGeom prst="roundRect">
            <a:avLst>
              <a:gd name="adj" fmla="val 20000"/>
            </a:avLst>
          </a:prstGeom>
          <a:solidFill>
            <a:srgbClr val="DCE6F1"/>
          </a:solidFill>
          <a:ln w="0">
            <a:noFill/>
          </a:ln>
        </p:spPr>
        <p:txBody>
          <a:bodyPr anchor="ctr" wrap="square" lIns="72000" rIns="72000" tIns="54000" bIns="54000"/>
          <a:lstStyle/>
          <a:p>
            <a:pPr algn="ctr" spcBef="0" spcAft="0">
              <a:spcPct val="100000"/>
            </a:pPr>
            <a:r>
              <a:rPr lang="en-GB" b="0" sz="6000" dirty="0">
                <a:solidFill>
                  <a:srgbClr val="2E75B6"/>
                </a:solidFill>
                <a:latin typeface="Calibri"/>
              </a:rPr>
              <a:t>💬</a:t>
            </a:r>
          </a:p>
        </p:txBody>
      </p:sp>
      <p:sp>
        <p:nvSpPr>
          <p:cNvPr id="456" name="box456"/>
          <p:cNvSpPr>
            <a:spLocks noGrp="1"/>
          </p:cNvSpPr>
          <p:nvPr/>
        </p:nvSpPr>
        <p:spPr>
          <a:xfrm>
            <a:off x="180000" y="954000"/>
            <a:ext cx="234000" cy="2592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1</a:t>
            </a:r>
          </a:p>
        </p:txBody>
      </p:sp>
      <p:sp>
        <p:nvSpPr>
          <p:cNvPr id="457" name="tb457"/>
          <p:cNvSpPr txBox="1">
            <a:spLocks noGrp="1"/>
          </p:cNvSpPr>
          <p:nvPr/>
        </p:nvSpPr>
        <p:spPr>
          <a:xfrm>
            <a:off x="468000" y="954000"/>
            <a:ext cx="10464000" cy="2592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Work in pairs. Student A describes a problem. Student B offers help with will.</a:t>
            </a:r>
          </a:p>
        </p:txBody>
      </p:sp>
      <p:sp>
        <p:nvSpPr>
          <p:cNvPr id="458" name="box458"/>
          <p:cNvSpPr>
            <a:spLocks noGrp="1"/>
          </p:cNvSpPr>
          <p:nvPr/>
        </p:nvSpPr>
        <p:spPr>
          <a:xfrm>
            <a:off x="180000" y="1270800"/>
            <a:ext cx="234000" cy="2592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2</a:t>
            </a:r>
          </a:p>
        </p:txBody>
      </p:sp>
      <p:sp>
        <p:nvSpPr>
          <p:cNvPr id="459" name="tb459"/>
          <p:cNvSpPr txBox="1">
            <a:spLocks noGrp="1"/>
          </p:cNvSpPr>
          <p:nvPr/>
        </p:nvSpPr>
        <p:spPr>
          <a:xfrm>
            <a:off x="468000" y="1270800"/>
            <a:ext cx="10464000" cy="2592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Example: A: Im cold. B: Ill close the window.</a:t>
            </a:r>
          </a:p>
        </p:txBody>
      </p:sp>
      <p:sp>
        <p:nvSpPr>
          <p:cNvPr id="460" name="box460"/>
          <p:cNvSpPr>
            <a:spLocks noGrp="1"/>
          </p:cNvSpPr>
          <p:nvPr/>
        </p:nvSpPr>
        <p:spPr>
          <a:xfrm>
            <a:off x="180000" y="1587600"/>
            <a:ext cx="234000" cy="2592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3</a:t>
            </a:r>
          </a:p>
        </p:txBody>
      </p:sp>
      <p:sp>
        <p:nvSpPr>
          <p:cNvPr id="461" name="tb461"/>
          <p:cNvSpPr txBox="1">
            <a:spLocks noGrp="1"/>
          </p:cNvSpPr>
          <p:nvPr/>
        </p:nvSpPr>
        <p:spPr>
          <a:xfrm>
            <a:off x="468000" y="1587600"/>
            <a:ext cx="10464000" cy="2592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Then make 3 predictions about next year together.</a:t>
            </a:r>
          </a:p>
        </p:txBody>
      </p:sp>
      <p:sp>
        <p:nvSpPr>
          <p:cNvPr id="462" name="box462"/>
          <p:cNvSpPr>
            <a:spLocks noGrp="1"/>
          </p:cNvSpPr>
          <p:nvPr/>
        </p:nvSpPr>
        <p:spPr>
          <a:xfrm>
            <a:off x="180000" y="1904400"/>
            <a:ext cx="234000" cy="2592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4</a:t>
            </a:r>
          </a:p>
        </p:txBody>
      </p:sp>
      <p:sp>
        <p:nvSpPr>
          <p:cNvPr id="463" name="tb463"/>
          <p:cNvSpPr txBox="1">
            <a:spLocks noGrp="1"/>
          </p:cNvSpPr>
          <p:nvPr/>
        </p:nvSpPr>
        <p:spPr>
          <a:xfrm>
            <a:off x="468000" y="1904400"/>
            <a:ext cx="10464000" cy="2592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Share your best prediction with the class.</a:t>
            </a:r>
          </a:p>
        </p:txBody>
      </p:sp>
      <p:sp>
        <p:nvSpPr>
          <p:cNvPr id="464" name="box464"/>
          <p:cNvSpPr>
            <a:spLocks noGrp="1"/>
          </p:cNvSpPr>
          <p:nvPr/>
        </p:nvSpPr>
        <p:spPr>
          <a:xfrm>
            <a:off x="180000" y="6570000"/>
            <a:ext cx="1260000" cy="216000"/>
          </a:xfrm>
          <a:prstGeom prst="roundRect">
            <a:avLst>
              <a:gd name="adj" fmla="val 10000"/>
            </a:avLst>
          </a:prstGeom>
          <a:solidFill>
            <a:srgbClr val="1F3864"/>
          </a:solidFill>
          <a:ln w="0">
            <a:noFill/>
          </a:ln>
        </p:spPr>
        <p:txBody>
          <a:bodyPr anchor="ctr" wrap="square" lIns="72000" rIns="72000" tIns="54000" bIns="54000"/>
          <a:lstStyle/>
          <a:p>
            <a:pPr algn="ctr" spcBef="0" spcAft="0">
              <a:spcPct val="100000"/>
            </a:pPr>
            <a:r>
              <a:rPr lang="en-GB" b="1" sz="1300" dirty="0">
                <a:solidFill>
                  <a:srgbClr val="BF8F00"/>
                </a:solidFill>
                <a:latin typeface="Calibri"/>
              </a:rPr>
              <a:t>👥  Pair Work</a:t>
            </a:r>
          </a:p>
        </p:txBody>
      </p:sp>
    </p:spTree>
  </p:cSld>
  <p:clrMapOvr>
    <a:masterClr/>
  </p:clrMapOvr>
</p:sld>
</file>

<file path=ppt/slides/slide11.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501" name="box50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502" name="box502"/>
          <p:cNvSpPr>
            <a:spLocks noGrp="1"/>
          </p:cNvSpPr>
          <p:nvPr/>
        </p:nvSpPr>
        <p:spPr>
          <a:xfrm>
            <a:off x="0" y="396000"/>
            <a:ext cx="12192000" cy="64800"/>
          </a:xfrm>
          <a:prstGeom prst="rect">
            <a:avLst/>
          </a:prstGeom>
          <a:solidFill>
            <a:srgbClr val="548235"/>
          </a:solidFill>
          <a:ln w="0">
            <a:noFill/>
          </a:ln>
        </p:spPr>
        <p:txBody>
          <a:bodyPr anchor="ctr" wrap="square" lIns="72000" rIns="72000" tIns="54000" bIns="54000"/>
          <a:lstStyle/>
        </p:txBody>
      </p:sp>
      <p:sp>
        <p:nvSpPr>
          <p:cNvPr id="503" name="tb50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READING &amp; WRITING</a:t>
            </a:r>
          </a:p>
        </p:txBody>
      </p:sp>
      <p:sp>
        <p:nvSpPr>
          <p:cNvPr id="504" name="box504"/>
          <p:cNvSpPr>
            <a:spLocks noGrp="1"/>
          </p:cNvSpPr>
          <p:nvPr/>
        </p:nvSpPr>
        <p:spPr>
          <a:xfrm>
            <a:off x="180000" y="540000"/>
            <a:ext cx="900000" cy="198000"/>
          </a:xfrm>
          <a:prstGeom prst="roundRect">
            <a:avLst>
              <a:gd name="adj" fmla="val 10000"/>
            </a:avLst>
          </a:prstGeom>
          <a:solidFill>
            <a:srgbClr val="548235"/>
          </a:solidFill>
          <a:ln w="0">
            <a:noFill/>
          </a:ln>
        </p:spPr>
        <p:txBody>
          <a:bodyPr anchor="ctr" wrap="square" lIns="72000" rIns="72000" tIns="54000" bIns="54000"/>
          <a:lstStyle/>
          <a:p>
            <a:pPr algn="ctr" spcBef="0" spcAft="0">
              <a:spcPct val="100000"/>
            </a:pPr>
            <a:r>
              <a:rPr lang="en-GB" b="1" sz="1300" dirty="0">
                <a:solidFill>
                  <a:srgbClr val="FFFFFF"/>
                </a:solidFill>
                <a:latin typeface="Calibri"/>
              </a:rPr>
              <a:t>Reading</a:t>
            </a:r>
          </a:p>
        </p:txBody>
      </p:sp>
      <p:sp>
        <p:nvSpPr>
          <p:cNvPr id="505" name="box505"/>
          <p:cNvSpPr>
            <a:spLocks noGrp="1"/>
          </p:cNvSpPr>
          <p:nvPr/>
        </p:nvSpPr>
        <p:spPr>
          <a:xfrm>
            <a:off x="180000" y="792000"/>
            <a:ext cx="11832000" cy="612000"/>
          </a:xfrm>
          <a:prstGeom prst="rect">
            <a:avLst/>
          </a:prstGeom>
          <a:solidFill>
            <a:srgbClr val="F2F2F2"/>
          </a:solidFill>
          <a:ln w="12700">
            <a:solidFill>
              <a:srgbClr val="CCCCCC"/>
            </a:solidFill>
          </a:ln>
        </p:spPr>
        <p:txBody>
          <a:bodyPr anchor="t" wrap="square" lIns="108000" rIns="72000" tIns="72000" bIns="54000"/>
          <a:lstStyle/>
          <a:p>
            <a:pPr algn="l" spcBef="0" spcAft="0">
              <a:spcPct val="100000"/>
            </a:pPr>
            <a:r>
              <a:rPr lang="en-GB" b="0" i="1" sz="1300" dirty="0">
                <a:solidFill>
                  <a:srgbClr val="404040"/>
                </a:solidFill>
                <a:latin typeface="Calibri"/>
              </a:rPr>
              <a:t>Next year will be exciting for our school. The headteacher says there will be a new sports hall. She thinks it will be ready by September. She promises the school will also have new computers. Students wont have to share anymore. Shall we celebrate when its finished? Of course we will!</a:t>
            </a:r>
          </a:p>
        </p:txBody>
      </p:sp>
      <p:sp>
        <p:nvSpPr>
          <p:cNvPr id="506" name="box506"/>
          <p:cNvSpPr>
            <a:spLocks noGrp="1"/>
          </p:cNvSpPr>
          <p:nvPr/>
        </p:nvSpPr>
        <p:spPr>
          <a:xfrm>
            <a:off x="180000" y="1475999"/>
            <a:ext cx="900000" cy="198000"/>
          </a:xfrm>
          <a:prstGeom prst="roundRect">
            <a:avLst>
              <a:gd name="adj" fmla="val 10000"/>
            </a:avLst>
          </a:prstGeom>
          <a:solidFill>
            <a:srgbClr val="548235"/>
          </a:solidFill>
          <a:ln w="0">
            <a:noFill/>
          </a:ln>
        </p:spPr>
        <p:txBody>
          <a:bodyPr anchor="ctr" wrap="square" lIns="72000" rIns="72000" tIns="54000" bIns="54000"/>
          <a:lstStyle/>
          <a:p>
            <a:pPr algn="ctr" spcBef="0" spcAft="0">
              <a:spcPct val="100000"/>
            </a:pPr>
            <a:r>
              <a:rPr lang="en-GB" b="1" sz="1300" dirty="0">
                <a:solidFill>
                  <a:srgbClr val="FFFFFF"/>
                </a:solidFill>
                <a:latin typeface="Calibri"/>
              </a:rPr>
              <a:t>Writing</a:t>
            </a:r>
          </a:p>
        </p:txBody>
      </p:sp>
      <p:sp>
        <p:nvSpPr>
          <p:cNvPr id="507" name="tb507"/>
          <p:cNvSpPr txBox="1">
            <a:spLocks noGrp="1"/>
          </p:cNvSpPr>
          <p:nvPr/>
        </p:nvSpPr>
        <p:spPr>
          <a:xfrm>
            <a:off x="180000" y="1728000"/>
            <a:ext cx="11832000" cy="234000"/>
          </a:xfrm>
          <a:prstGeom prst="rect">
            <a:avLst/>
          </a:prstGeom>
          <a:noFill/>
        </p:spPr>
        <p:txBody>
          <a:bodyPr anchor="ctr" wrap="square" lIns="36000" rIns="36000" tIns="36000" bIns="36000"/>
          <a:lstStyle/>
          <a:p>
            <a:pPr algn="l" spcBef="0" spcAft="0">
              <a:spcPct val="100000"/>
            </a:pPr>
            <a:r>
              <a:rPr lang="en-GB" b="0" i="1" sz="1400" dirty="0">
                <a:solidFill>
                  <a:srgbClr val="548235"/>
                </a:solidFill>
                <a:latin typeface="Calibri"/>
              </a:rPr>
              <a:t>Write 5 sentences using will/wont/shall.</a:t>
            </a:r>
          </a:p>
        </p:txBody>
      </p:sp>
      <p:sp>
        <p:nvSpPr>
          <p:cNvPr id="508" name="tb508"/>
          <p:cNvSpPr txBox="1">
            <a:spLocks noGrp="1"/>
          </p:cNvSpPr>
          <p:nvPr/>
        </p:nvSpPr>
        <p:spPr>
          <a:xfrm>
            <a:off x="180000" y="2015999"/>
            <a:ext cx="11832000" cy="125999"/>
          </a:xfrm>
          <a:prstGeom prst="rect">
            <a:avLst/>
          </a:prstGeom>
          <a:noFill/>
        </p:spPr>
        <p:txBody>
          <a:bodyPr anchor="ctr" wrap="square" lIns="36000" rIns="36000" tIns="36000" bIns="36000"/>
          <a:lstStyle/>
          <a:p>
            <a:pPr algn="l" spcBef="0" spcAft="0">
              <a:spcPct val="100000"/>
            </a:pPr>
            <a:r>
              <a:rPr lang="en-GB" b="0" sz="1300" dirty="0">
                <a:solidFill>
                  <a:srgbClr val="404040"/>
                </a:solidFill>
                <a:latin typeface="Calibri"/>
              </a:rPr>
              <a:t>• A prediction about the future (I think...will...)</a:t>
            </a:r>
          </a:p>
        </p:txBody>
      </p:sp>
      <p:sp>
        <p:nvSpPr>
          <p:cNvPr id="509" name="tb509"/>
          <p:cNvSpPr txBox="1">
            <a:spLocks noGrp="1"/>
          </p:cNvSpPr>
          <p:nvPr/>
        </p:nvSpPr>
        <p:spPr>
          <a:xfrm>
            <a:off x="180000" y="2152799"/>
            <a:ext cx="11832000" cy="125999"/>
          </a:xfrm>
          <a:prstGeom prst="rect">
            <a:avLst/>
          </a:prstGeom>
          <a:noFill/>
        </p:spPr>
        <p:txBody>
          <a:bodyPr anchor="ctr" wrap="square" lIns="36000" rIns="36000" tIns="36000" bIns="36000"/>
          <a:lstStyle/>
          <a:p>
            <a:pPr algn="l" spcBef="0" spcAft="0">
              <a:spcPct val="100000"/>
            </a:pPr>
            <a:r>
              <a:rPr lang="en-GB" b="0" sz="1300" dirty="0">
                <a:solidFill>
                  <a:srgbClr val="404040"/>
                </a:solidFill>
                <a:latin typeface="Calibri"/>
              </a:rPr>
              <a:t>• An offer to help someone (Ill...)</a:t>
            </a:r>
          </a:p>
        </p:txBody>
      </p:sp>
      <p:sp>
        <p:nvSpPr>
          <p:cNvPr id="510" name="tb510"/>
          <p:cNvSpPr txBox="1">
            <a:spLocks noGrp="1"/>
          </p:cNvSpPr>
          <p:nvPr/>
        </p:nvSpPr>
        <p:spPr>
          <a:xfrm>
            <a:off x="180000" y="2289599"/>
            <a:ext cx="11832000" cy="125999"/>
          </a:xfrm>
          <a:prstGeom prst="rect">
            <a:avLst/>
          </a:prstGeom>
          <a:noFill/>
        </p:spPr>
        <p:txBody>
          <a:bodyPr anchor="ctr" wrap="square" lIns="36000" rIns="36000" tIns="36000" bIns="36000"/>
          <a:lstStyle/>
          <a:p>
            <a:pPr algn="l" spcBef="0" spcAft="0">
              <a:spcPct val="100000"/>
            </a:pPr>
            <a:r>
              <a:rPr lang="en-GB" b="0" sz="1300" dirty="0">
                <a:solidFill>
                  <a:srgbClr val="404040"/>
                </a:solidFill>
                <a:latin typeface="Calibri"/>
              </a:rPr>
              <a:t>• A promise (I wont...)</a:t>
            </a:r>
          </a:p>
        </p:txBody>
      </p:sp>
    </p:spTree>
  </p:cSld>
  <p:clrMapOvr>
    <a:masterClr/>
  </p:clrMapOvr>
</p:sld>
</file>

<file path=ppt/slides/slide12.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551" name="box5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552" name="box552"/>
          <p:cNvSpPr>
            <a:spLocks noGrp="1"/>
          </p:cNvSpPr>
          <p:nvPr/>
        </p:nvSpPr>
        <p:spPr>
          <a:xfrm>
            <a:off x="0" y="396000"/>
            <a:ext cx="12192000" cy="64800"/>
          </a:xfrm>
          <a:prstGeom prst="rect">
            <a:avLst/>
          </a:prstGeom>
          <a:solidFill>
            <a:srgbClr val="2E75B6"/>
          </a:solidFill>
          <a:ln w="0">
            <a:noFill/>
          </a:ln>
        </p:spPr>
        <p:txBody>
          <a:bodyPr anchor="ctr" wrap="square" lIns="72000" rIns="72000" tIns="54000" bIns="54000"/>
          <a:lstStyle/>
        </p:txBody>
      </p:sp>
      <p:sp>
        <p:nvSpPr>
          <p:cNvPr id="553" name="tb5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HOMEWORK</a:t>
            </a:r>
          </a:p>
        </p:txBody>
      </p:sp>
      <p:sp>
        <p:nvSpPr>
          <p:cNvPr id="554" name="box554"/>
          <p:cNvSpPr>
            <a:spLocks noGrp="1"/>
          </p:cNvSpPr>
          <p:nvPr/>
        </p:nvSpPr>
        <p:spPr>
          <a:xfrm>
            <a:off x="180000" y="540000"/>
            <a:ext cx="432000" cy="432000"/>
          </a:xfrm>
          <a:prstGeom prst="roundRect">
            <a:avLst>
              <a:gd name="adj" fmla="val 50000"/>
            </a:avLst>
          </a:prstGeom>
          <a:solidFill>
            <a:srgbClr val="BF8F00"/>
          </a:solidFill>
          <a:ln w="0">
            <a:noFill/>
          </a:ln>
        </p:spPr>
        <p:txBody>
          <a:bodyPr anchor="ctr" wrap="square" lIns="72000" rIns="72000" tIns="54000" bIns="54000"/>
          <a:lstStyle/>
          <a:p>
            <a:pPr algn="ctr" spcBef="0" spcAft="0">
              <a:spcPct val="100000"/>
            </a:pPr>
            <a:r>
              <a:rPr lang="en-GB" b="1" sz="2800" dirty="0">
                <a:solidFill>
                  <a:srgbClr val="1F3864"/>
                </a:solidFill>
                <a:latin typeface="Cambria"/>
              </a:rPr>
              <a:t>1</a:t>
            </a:r>
          </a:p>
        </p:txBody>
      </p:sp>
      <p:sp>
        <p:nvSpPr>
          <p:cNvPr id="555" name="box555"/>
          <p:cNvSpPr>
            <a:spLocks noGrp="1"/>
          </p:cNvSpPr>
          <p:nvPr/>
        </p:nvSpPr>
        <p:spPr>
          <a:xfrm>
            <a:off x="684000" y="540000"/>
            <a:ext cx="11328000" cy="432000"/>
          </a:xfrm>
          <a:prstGeom prst="rect">
            <a:avLst/>
          </a:prstGeom>
          <a:solidFill>
            <a:srgbClr val="DCE6F1"/>
          </a:solidFill>
          <a:ln w="12700">
            <a:solidFill>
              <a:srgbClr val="2E75B6"/>
            </a:solidFill>
          </a:ln>
        </p:spPr>
        <p:txBody>
          <a:bodyPr anchor="ctr" wrap="square" lIns="108000" rIns="72000" tIns="54000" bIns="54000"/>
          <a:lstStyle/>
          <a:p>
            <a:pPr algn="l" spcBef="0" spcAft="0">
              <a:spcPct val="100000"/>
            </a:pPr>
            <a:r>
              <a:rPr lang="en-GB" b="1" sz="1500" dirty="0">
                <a:solidFill>
                  <a:srgbClr val="1F3864"/>
                </a:solidFill>
                <a:latin typeface="Calibri"/>
              </a:rPr>
              <a:t>Production Task  </a:t>
            </a:r>
            <a:r>
              <a:rPr lang="en-GB" b="0" sz="1400" dirty="0">
                <a:solidFill>
                  <a:srgbClr val="404040"/>
                </a:solidFill>
                <a:latin typeface="Calibri"/>
              </a:rPr>
              <a:t>Write 8 sentences: 2 predictions (I think...will), 2 offers (Ill...), 2 promises (I will/wont...), 2 suggestions (Shall we/I...?).</a:t>
            </a:r>
          </a:p>
        </p:txBody>
      </p:sp>
      <p:sp>
        <p:nvSpPr>
          <p:cNvPr id="556" name="box556"/>
          <p:cNvSpPr>
            <a:spLocks noGrp="1"/>
          </p:cNvSpPr>
          <p:nvPr/>
        </p:nvSpPr>
        <p:spPr>
          <a:xfrm>
            <a:off x="180000" y="1080000"/>
            <a:ext cx="432000" cy="432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2800" dirty="0">
                <a:solidFill>
                  <a:srgbClr val="FFFFFF"/>
                </a:solidFill>
                <a:latin typeface="Cambria"/>
              </a:rPr>
              <a:t>2</a:t>
            </a:r>
          </a:p>
        </p:txBody>
      </p:sp>
      <p:sp>
        <p:nvSpPr>
          <p:cNvPr id="557" name="box557"/>
          <p:cNvSpPr>
            <a:spLocks noGrp="1"/>
          </p:cNvSpPr>
          <p:nvPr/>
        </p:nvSpPr>
        <p:spPr>
          <a:xfrm>
            <a:off x="684000" y="1080000"/>
            <a:ext cx="11328000" cy="432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1" sz="1500" dirty="0">
                <a:solidFill>
                  <a:srgbClr val="1F3864"/>
                </a:solidFill>
                <a:latin typeface="Calibri"/>
              </a:rPr>
              <a:t>Vocabulary Consolidation  </a:t>
            </a:r>
            <a:r>
              <a:rPr lang="en-GB" b="0" sz="1400" dirty="0">
                <a:solidFill>
                  <a:srgbClr val="404040"/>
                </a:solidFill>
                <a:latin typeface="Calibri"/>
              </a:rPr>
              <a:t>Match each of the 30 vocabulary words from Section 4 to its definition.</a:t>
            </a:r>
          </a:p>
        </p:txBody>
      </p:sp>
      <p:sp>
        <p:nvSpPr>
          <p:cNvPr id="558" name="box558"/>
          <p:cNvSpPr>
            <a:spLocks noGrp="1"/>
          </p:cNvSpPr>
          <p:nvPr/>
        </p:nvSpPr>
        <p:spPr>
          <a:xfrm>
            <a:off x="180000" y="6498000"/>
            <a:ext cx="1440000" cy="216000"/>
          </a:xfrm>
          <a:prstGeom prst="roundRect">
            <a:avLst>
              <a:gd name="adj" fmla="val 10000"/>
            </a:avLst>
          </a:prstGeom>
          <a:solidFill>
            <a:srgbClr val="1F3864"/>
          </a:solidFill>
          <a:ln w="0">
            <a:noFill/>
          </a:ln>
        </p:spPr>
        <p:txBody>
          <a:bodyPr anchor="ctr" wrap="square" lIns="72000" rIns="72000" tIns="54000" bIns="54000"/>
          <a:lstStyle/>
          <a:p>
            <a:pPr algn="ctr" spcBef="0" spcAft="0">
              <a:spcPct val="100000"/>
            </a:pPr>
            <a:r>
              <a:rPr lang="en-GB" b="1" sz="1300" dirty="0">
                <a:solidFill>
                  <a:srgbClr val="BF8F00"/>
                </a:solidFill>
                <a:latin typeface="Calibri"/>
              </a:rPr>
              <a:t>📅  Due: next class</a:t>
            </a:r>
          </a:p>
        </p:txBody>
      </p:sp>
    </p:spTree>
  </p:cSld>
  <p:clrMapOvr>
    <a:masterClr/>
  </p:clrMapOvr>
</p:sld>
</file>

<file path=ppt/slides/slide13.xml><?xml version="1.0" encoding="utf-8"?>
<p:sld xmlns:p="http://schemas.openxmlformats.org/presentationml/2006/main" xmlns:a="http://schemas.openxmlformats.org/drawingml/2006/main" xmlns:r="http://schemas.openxmlformats.org/officeDocument/2006/relationships" xmlns:dc="http://purl.org/dc/elements/1.1/">
  <p:cSld>
    <p:bg>
      <p:bgPr>
        <a:solidFill>
          <a:srgbClr val="1F3864"/>
        </a:solidFill>
        <a:effectLst/>
      </p:bgPr>
    </p:bg>
    <p:spTree>
      <p:nvGrpSpPr>
        <p:cNvPr id="1" name="content"/>
        <p:cNvGrpSpPr/>
        <p:nvPr/>
      </p:nvGrpSpPr>
      <p:grpSpPr>
        <a:xfrm>
          <a:off x="0" y="0"/>
          <a:ext cx="12192000" cy="6858000"/>
          <a:chOff x="0" y="0"/>
          <a:chExt cx="12192000" cy="6858000"/>
        </a:xfrm>
      </p:grpSpPr>
      <p:sp>
        <p:nvSpPr>
          <p:cNvPr id="601" name="shape601"/>
          <p:cNvSpPr>
            <a:spLocks noGrp="1"/>
          </p:cNvSpPr>
          <p:nvPr/>
        </p:nvSpPr>
        <p:spPr>
          <a:xfrm>
            <a:off x="0" y="0"/>
            <a:ext cx="12192000" cy="6858000"/>
          </a:xfrm>
          <a:prstGeom prst="rect">
            <a:avLst/>
          </a:prstGeom>
          <a:gradFill rot="1">
            <a:gsLst>
              <a:gs pos="0">
                <a:srgbClr val="1F3864"/>
              </a:gs>
              <a:gs pos="100000">
                <a:srgbClr val="0D2245"/>
              </a:gs>
            </a:gsLst>
            <a:lin ang="5400000" scaled="0"/>
          </a:gradFill>
        </p:spPr>
        <p:txBody>
          <a:bodyPr/>
          <a:lstStyle/>
          <a:p/>
        </p:txBody>
      </p:sp>
      <p:sp>
        <p:nvSpPr>
          <p:cNvPr id="602" name="shape602"/>
          <p:cNvSpPr>
            <a:spLocks noGrp="1"/>
          </p:cNvSpPr>
          <p:nvPr/>
        </p:nvSpPr>
        <p:spPr>
          <a:xfrm>
            <a:off x="0" y="0"/>
            <a:ext cx="12192000" cy="108000"/>
          </a:xfrm>
          <a:prstGeom prst="rect">
            <a:avLst/>
          </a:prstGeom>
          <a:solidFill>
            <a:srgbClr val="BF8F00"/>
          </a:solidFill>
        </p:spPr>
        <p:txBody>
          <a:bodyPr/>
          <a:lstStyle/>
          <a:p/>
        </p:txBody>
      </p:sp>
      <p:sp>
        <p:nvSpPr>
          <p:cNvPr id="603" name="shape603"/>
          <p:cNvSpPr>
            <a:spLocks noGrp="1"/>
          </p:cNvSpPr>
          <p:nvPr/>
        </p:nvSpPr>
        <p:spPr>
          <a:xfrm>
            <a:off x="0" y="6750000"/>
            <a:ext cx="12192000" cy="108000"/>
          </a:xfrm>
          <a:prstGeom prst="rect">
            <a:avLst/>
          </a:prstGeom>
          <a:solidFill>
            <a:srgbClr val="BF8F00"/>
          </a:solidFill>
        </p:spPr>
        <p:txBody>
          <a:bodyPr/>
          <a:lstStyle/>
          <a:p/>
        </p:txBody>
      </p:sp>
      <p:sp>
        <p:nvSpPr>
          <p:cNvPr id="604" name="shape604"/>
          <p:cNvSpPr>
            <a:spLocks noGrp="1"/>
          </p:cNvSpPr>
          <p:nvPr/>
        </p:nvSpPr>
        <p:spPr>
          <a:xfrm>
            <a:off x="0" y="0"/>
            <a:ext cx="144000" cy="6858000"/>
          </a:xfrm>
          <a:prstGeom prst="rect">
            <a:avLst/>
          </a:prstGeom>
          <a:solidFill>
            <a:srgbClr val="BF8F00"/>
          </a:solidFill>
        </p:spPr>
        <p:txBody>
          <a:bodyPr/>
          <a:lstStyle/>
          <a:p/>
        </p:txBody>
      </p:sp>
      <p:sp>
        <p:nvSpPr>
          <p:cNvPr id="605" name="box605"/>
          <p:cNvSpPr>
            <a:spLocks noGrp="1"/>
          </p:cNvSpPr>
          <p:nvPr/>
        </p:nvSpPr>
        <p:spPr>
          <a:xfrm>
            <a:off x="432000" y="432000"/>
            <a:ext cx="1800000" cy="324000"/>
          </a:xfrm>
          <a:prstGeom prst="roundRect">
            <a:avLst>
              <a:gd name="adj" fmla="val 20000"/>
            </a:avLst>
          </a:prstGeom>
          <a:solidFill>
            <a:srgbClr val="BF8F00"/>
          </a:solidFill>
          <a:ln w="0">
            <a:noFill/>
          </a:ln>
        </p:spPr>
        <p:txBody>
          <a:bodyPr anchor="ctr" wrap="square" lIns="72000" rIns="72000" tIns="54000" bIns="54000"/>
          <a:lstStyle/>
          <a:p>
            <a:pPr algn="ctr" spcBef="0" spcAft="0">
              <a:spcPct val="100000"/>
            </a:pPr>
            <a:r>
              <a:rPr lang="en-GB" b="1" sz="1600" dirty="0">
                <a:solidFill>
                  <a:srgbClr val="1F3864"/>
                </a:solidFill>
                <a:latin typeface="Cambria"/>
              </a:rPr>
              <a:t>UNIT 28  ·  A2</a:t>
            </a:r>
          </a:p>
        </p:txBody>
      </p:sp>
      <p:sp>
        <p:nvSpPr>
          <p:cNvPr id="606" name="tb606"/>
          <p:cNvSpPr txBox="1">
            <a:spLocks noGrp="1"/>
          </p:cNvSpPr>
          <p:nvPr/>
        </p:nvSpPr>
        <p:spPr>
          <a:xfrm>
            <a:off x="432000" y="827999"/>
            <a:ext cx="11472000" cy="900000"/>
          </a:xfrm>
          <a:prstGeom prst="rect">
            <a:avLst/>
          </a:prstGeom>
          <a:noFill/>
        </p:spPr>
        <p:txBody>
          <a:bodyPr anchor="t" wrap="square" lIns="36000" rIns="36000" tIns="36000" bIns="36000"/>
          <a:lstStyle/>
          <a:p>
            <a:pPr algn="l" spcBef="0" spcAft="0">
              <a:spcPct val="100000"/>
            </a:pPr>
            <a:r>
              <a:rPr lang="en-GB" b="1" sz="3600" dirty="0">
                <a:solidFill>
                  <a:srgbClr val="FFFFFF"/>
                </a:solidFill>
                <a:latin typeface="Cambria"/>
              </a:rPr>
              <a:t>Will and Shall — Future Simple</a:t>
            </a:r>
          </a:p>
        </p:txBody>
      </p:sp>
      <p:sp>
        <p:nvSpPr>
          <p:cNvPr id="607" name="tb607"/>
          <p:cNvSpPr txBox="1">
            <a:spLocks noGrp="1"/>
          </p:cNvSpPr>
          <p:nvPr/>
        </p:nvSpPr>
        <p:spPr>
          <a:xfrm>
            <a:off x="432000" y="1800000"/>
            <a:ext cx="11472000" cy="324000"/>
          </a:xfrm>
          <a:prstGeom prst="rect">
            <a:avLst/>
          </a:prstGeom>
          <a:noFill/>
        </p:spPr>
        <p:txBody>
          <a:bodyPr anchor="ctr" wrap="square" lIns="36000" rIns="36000" tIns="36000" bIns="36000"/>
          <a:lstStyle/>
          <a:p>
            <a:pPr algn="l" spcBef="0" spcAft="0">
              <a:spcPct val="100000"/>
            </a:pPr>
            <a:r>
              <a:rPr lang="en-GB" b="0" i="1" sz="1600" dirty="0">
                <a:solidFill>
                  <a:srgbClr val="BF8F00"/>
                </a:solidFill>
                <a:latin typeface="Calibri"/>
              </a:rPr>
              <a:t>✦  Every great speaker was once a student. Keep going!</a:t>
            </a:r>
          </a:p>
        </p:txBody>
      </p:sp>
      <p:sp>
        <p:nvSpPr>
          <p:cNvPr id="608" name="box608"/>
          <p:cNvSpPr>
            <a:spLocks noGrp="1"/>
          </p:cNvSpPr>
          <p:nvPr/>
        </p:nvSpPr>
        <p:spPr>
          <a:xfrm>
            <a:off x="10752000" y="6462000"/>
            <a:ext cx="1260000" cy="234000"/>
          </a:xfrm>
          <a:prstGeom prst="roundRect">
            <a:avLst>
              <a:gd name="adj" fmla="val 10000"/>
            </a:avLst>
          </a:prstGeom>
          <a:solidFill>
            <a:srgbClr val="2E75B6"/>
          </a:solidFill>
          <a:ln w="0">
            <a:noFill/>
          </a:ln>
        </p:spPr>
        <p:txBody>
          <a:bodyPr anchor="ctr" wrap="square" lIns="72000" rIns="72000" tIns="54000" bIns="54000"/>
          <a:lstStyle/>
          <a:p>
            <a:pPr algn="ctr" spcBef="0" spcAft="0">
              <a:spcPct val="100000"/>
            </a:pPr>
            <a:r>
              <a:rPr lang="en-GB" b="1" sz="1300" dirty="0">
                <a:solidFill>
                  <a:srgbClr val="FFFFFF"/>
                </a:solidFill>
                <a:latin typeface="Calibri"/>
              </a:rPr>
              <a:t>See you next class! 👋</a:t>
            </a:r>
          </a:p>
        </p:txBody>
      </p:sp>
    </p:spTree>
  </p:cSld>
  <p:clrMapOvr>
    <a:masterClr/>
  </p:clrMapOvr>
</p:sld>
</file>