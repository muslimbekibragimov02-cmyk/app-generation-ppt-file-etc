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0"/>
  </p:sld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type="screen16x9"/>
  <p:notesSz cx="6858000" cy="12192000"/>
</p:presentation>
</file>

<file path=ppt/_rels/presentation.xml.rels><?xml version="1.0" encoding="UTF-8" standalone="yes"?>
<Relationships xmlns="http://schemas.openxmlformats.org/package/2006/relationships">
  <Relationship Id="rId0"
    Type="http://schemas.openxmlformats.org/officeDocument/2006/relationships/slideMaster"
    Target="slideMasters/slideMaster1.xml"/>
  <Relationship Id="rId1"
    Type="http://schemas.openxmlformats.org/officeDocument/2006/relationships/slide"
    Target="slides/slide1.xml"/>
  <Relationship Id="rId2"
    Type="http://schemas.openxmlformats.org/officeDocument/2006/relationships/slide"
    Target="slides/slide2.xml"/>
  <Relationship Id="rId3"
    Type="http://schemas.openxmlformats.org/officeDocument/2006/relationships/slide"
    Target="slides/slide3.xml"/>
  <Relationship Id="rId4"
    Type="http://schemas.openxmlformats.org/officeDocument/2006/relationships/slide"
    Target="slides/slide4.xml"/>
  <Relationship Id="rId5"
    Type="http://schemas.openxmlformats.org/officeDocument/2006/relationships/slide"
    Target="slides/slide5.xml"/>
  <Relationship Id="rId6"
    Type="http://schemas.openxmlformats.org/officeDocument/2006/relationships/slide"
    Target="slides/slide6.xml"/>
  <Relationship Id="rId7"
    Type="http://schemas.openxmlformats.org/officeDocument/2006/relationships/slide"
    Target="slides/slide7.xml"/>
  <Relationship Id="rId8"
    Type="http://schemas.openxmlformats.org/officeDocument/2006/relationships/slide"
    Target="slides/slide8.xml"/>
  <Relationship Id="rId9"
    Type="http://schemas.openxmlformats.org/officeDocument/2006/relationships/slide"
    Target="slides/slide9.xml"/>
  <Relationship Id="rId10"
    Type="http://schemas.openxmlformats.org/officeDocument/2006/relationships/slide"
    Target="slides/slide10.xml"/>
  <Relationship Id="rId11"
    Type="http://schemas.openxmlformats.org/officeDocument/2006/relationships/slide"
    Target="slides/slide11.xml"/>
  <Relationship Id="rId12"
    Type="http://schemas.openxmlformats.org/officeDocument/2006/relationships/slide"
    Target="slides/slide12.xml"/>
  <Relationship Id="rId13"
    Type="http://schemas.openxmlformats.org/officeDocument/2006/relationships/slide"
    Target="slides/slide13.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p="http://schemas.openxmlformats.org/presentationml/2006/main" xmlns:a="http://schemas.openxmlformats.org/drawingml/2006/main" xmlns:r="http://schemas.openxmlformats.org/officeDocument/2006/relationships" type="blank" preserve="1">
  <p:cSld name="Blank">
    <p:spTree>
      <p:nvGrpSpPr>
        <p:cNvPr id="1" name=""/>
        <p:cNvGrpSpPr/>
        <p:nvPr/>
      </p:nvGrpSpPr>
      <p:grpSpPr>
        <a:xfrm>
          <a:off x="0" y="0"/>
          <a:ext cx="12192000" cy="6858000"/>
          <a:chOff x="0" y="0"/>
          <a:chExt cx="12192000" cy="6858000"/>
        </a:xfrm>
      </p:grpSpPr>
    </p:spTree>
  </p:cSld>
  <p:clrMapOvr>
    <a:masterClr/>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Masters/slideMaster1.xml><?xml version="1.0" encoding="utf-8"?>
<p:sldMaster xmlns:p="http://schemas.openxmlformats.org/presentationml/2006/main" xmlns:a="http://schemas.openxmlformats.org/drawingml/2006/main" xmlns:r="http://schemas.openxmlformats.org/officeDocument/2006/relationships">
  <p:cSld>
    <p:spTree>
      <p:nvGrpSpPr>
        <p:cNvPr id="1" name=""/>
        <p:cNvGrpSpPr/>
        <p:nvPr/>
      </p:nvGrpSpPr>
      <p:grpSpPr>
        <a:xfrm>
          <a:off x="0" y="0"/>
          <a:ext cx="12192000" cy="6858000"/>
          <a:chOff x="0" y="0"/>
          <a:chExt cx="12192000" cy="6858000"/>
        </a:xfrm>
      </p:grpSpPr>
    </p:spTree>
  </p:cSld>
  <p:clrMap bg1="lt1" tx1="dk1" bg2="lt2" tx2="dk2" accent1="accent1" accent2="accent2" accent3="accent3" accent4="accent4" accent5="accent5" accent6="accent6" hlink="hlink" folHlink="folHlink"/>
  <p:sldLayoutIdLst>
    <p:sldLayoutId id="2147483649" r:id="rId1"/>
  </p:sldLayoutIdLst>
  <p:txStyles>
    <p:titleStyle>
      <a:lstStyle/>
    </p:titleStyle>
    <p:bodyStyle>
      <a:lstStyle/>
    </p:bodyStyle>
    <p:otherStyle>
      <a:lstStyle/>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p="http://schemas.openxmlformats.org/presentationml/2006/main" xmlns:a="http://schemas.openxmlformats.org/drawingml/2006/main" xmlns:r="http://schemas.openxmlformats.org/officeDocument/2006/relationships" xmlns:dc="http://purl.org/dc/elements/1.1/">
  <p:cSld>
    <p:bg>
      <p:bgPr>
        <a:solidFill>
          <a:srgbClr val="1F3864"/>
        </a:solidFill>
        <a:effectLst/>
      </p:bgPr>
    </p:bg>
    <p:spTree>
      <p:nvGrpSpPr>
        <p:cNvPr id="1" name="content"/>
        <p:cNvGrpSpPr/>
        <p:nvPr/>
      </p:nvGrpSpPr>
      <p:grpSpPr>
        <a:xfrm>
          <a:off x="0" y="0"/>
          <a:ext cx="12192000" cy="6858000"/>
          <a:chOff x="0" y="0"/>
          <a:chExt cx="12192000" cy="6858000"/>
        </a:xfrm>
      </p:grpSpPr>
      <p:sp>
        <p:nvSpPr>
          <p:cNvPr id="11" name="shape11"/>
          <p:cNvSpPr>
            <a:spLocks noGrp="1"/>
          </p:cNvSpPr>
          <p:nvPr/>
        </p:nvSpPr>
        <p:spPr>
          <a:xfrm>
            <a:off x="0" y="0"/>
            <a:ext cx="12192000" cy="6858000"/>
          </a:xfrm>
          <a:prstGeom prst="rect">
            <a:avLst/>
          </a:prstGeom>
          <a:gradFill rot="1">
            <a:gsLst>
              <a:gs pos="0">
                <a:srgbClr val="1F3864"/>
              </a:gs>
              <a:gs pos="100000">
                <a:srgbClr val="0D2245"/>
              </a:gs>
            </a:gsLst>
            <a:lin ang="5400000" scaled="0"/>
          </a:gradFill>
        </p:spPr>
        <p:txBody>
          <a:bodyPr/>
          <a:lstStyle/>
          <a:p/>
        </p:txBody>
      </p:sp>
      <p:sp>
        <p:nvSpPr>
          <p:cNvPr id="12" name="shape12"/>
          <p:cNvSpPr>
            <a:spLocks noGrp="1"/>
          </p:cNvSpPr>
          <p:nvPr/>
        </p:nvSpPr>
        <p:spPr>
          <a:xfrm>
            <a:off x="0" y="0"/>
            <a:ext cx="144000" cy="6858000"/>
          </a:xfrm>
          <a:prstGeom prst="rect">
            <a:avLst/>
          </a:prstGeom>
          <a:solidFill>
            <a:srgbClr val="BF8F00"/>
          </a:solidFill>
        </p:spPr>
        <p:txBody>
          <a:bodyPr/>
          <a:lstStyle/>
          <a:p/>
        </p:txBody>
      </p:sp>
      <p:sp>
        <p:nvSpPr>
          <p:cNvPr id="13" name="shape13"/>
          <p:cNvSpPr>
            <a:spLocks noGrp="1"/>
          </p:cNvSpPr>
          <p:nvPr/>
        </p:nvSpPr>
        <p:spPr>
          <a:xfrm>
            <a:off x="0" y="0"/>
            <a:ext cx="12192000" cy="108000"/>
          </a:xfrm>
          <a:prstGeom prst="rect">
            <a:avLst/>
          </a:prstGeom>
          <a:solidFill>
            <a:srgbClr val="BF8F00"/>
          </a:solidFill>
        </p:spPr>
        <p:txBody>
          <a:bodyPr/>
          <a:lstStyle/>
          <a:p/>
        </p:txBody>
      </p:sp>
      <p:sp>
        <p:nvSpPr>
          <p:cNvPr id="14" name="box14"/>
          <p:cNvSpPr>
            <a:spLocks noGrp="1"/>
          </p:cNvSpPr>
          <p:nvPr/>
        </p:nvSpPr>
        <p:spPr>
          <a:xfrm>
            <a:off x="432000" y="468000"/>
            <a:ext cx="1800000" cy="324000"/>
          </a:xfrm>
          <a:prstGeom prst="roundRect">
            <a:avLst>
              <a:gd name="adj" fmla="val 20000"/>
            </a:avLst>
          </a:prstGeom>
          <a:solidFill>
            <a:srgbClr val="BF8F00"/>
          </a:solidFill>
          <a:ln w="0">
            <a:noFill/>
          </a:ln>
        </p:spPr>
        <p:txBody>
          <a:bodyPr anchor="ctr" wrap="square" lIns="72000" rIns="72000" tIns="54000" bIns="54000"/>
          <a:lstStyle/>
          <a:p>
            <a:pPr algn="ctr" spcBef="0" spcAft="0">
              <a:spcPct val="100000"/>
            </a:pPr>
            <a:r>
              <a:rPr lang="en-GB" b="1" sz="1600" dirty="0">
                <a:solidFill>
                  <a:srgbClr val="1F3864"/>
                </a:solidFill>
                <a:latin typeface="Cambria"/>
              </a:rPr>
              <a:t>UNIT 30  ·  A2</a:t>
            </a:r>
          </a:p>
        </p:txBody>
      </p:sp>
      <p:sp>
        <p:nvSpPr>
          <p:cNvPr id="15" name="tb15"/>
          <p:cNvSpPr txBox="1">
            <a:spLocks noGrp="1"/>
          </p:cNvSpPr>
          <p:nvPr/>
        </p:nvSpPr>
        <p:spPr>
          <a:xfrm>
            <a:off x="432000" y="900000"/>
            <a:ext cx="11472000" cy="288000"/>
          </a:xfrm>
          <a:prstGeom prst="rect">
            <a:avLst/>
          </a:prstGeom>
          <a:noFill/>
        </p:spPr>
        <p:txBody>
          <a:bodyPr anchor="ctr" wrap="square" lIns="36000" rIns="36000" tIns="36000" bIns="36000"/>
          <a:lstStyle/>
          <a:p>
            <a:pPr algn="l" spcBef="0" spcAft="0">
              <a:spcPct val="100000"/>
            </a:pPr>
            <a:r>
              <a:rPr lang="en-GB" b="0" sz="1500" dirty="0">
                <a:solidFill>
                  <a:srgbClr val="BFC9D6"/>
                </a:solidFill>
                <a:latin typeface="Calibri"/>
              </a:rPr>
              <a:t>English Grammar in Action — Level 1</a:t>
            </a:r>
          </a:p>
        </p:txBody>
      </p:sp>
      <p:sp>
        <p:nvSpPr>
          <p:cNvPr id="16" name="tb16"/>
          <p:cNvSpPr txBox="1">
            <a:spLocks noGrp="1"/>
          </p:cNvSpPr>
          <p:nvPr/>
        </p:nvSpPr>
        <p:spPr>
          <a:xfrm>
            <a:off x="432000" y="1188000"/>
            <a:ext cx="11472000" cy="1080000"/>
          </a:xfrm>
          <a:prstGeom prst="rect">
            <a:avLst/>
          </a:prstGeom>
          <a:noFill/>
        </p:spPr>
        <p:txBody>
          <a:bodyPr anchor="t" wrap="square" lIns="36000" rIns="36000" tIns="36000" bIns="36000"/>
          <a:lstStyle/>
          <a:p>
            <a:pPr algn="l" spcBef="0" spcAft="0">
              <a:spcPct val="100000"/>
            </a:pPr>
            <a:r>
              <a:rPr lang="en-GB" b="1" sz="4000" dirty="0">
                <a:solidFill>
                  <a:srgbClr val="FFFFFF"/>
                </a:solidFill>
                <a:latin typeface="Cambria"/>
              </a:rPr>
              <a:t>Might and May — Possibility</a:t>
            </a:r>
          </a:p>
        </p:txBody>
      </p:sp>
      <p:sp>
        <p:nvSpPr>
          <p:cNvPr id="17" name="tb17"/>
          <p:cNvSpPr txBox="1">
            <a:spLocks noGrp="1"/>
          </p:cNvSpPr>
          <p:nvPr/>
        </p:nvSpPr>
        <p:spPr>
          <a:xfrm>
            <a:off x="432000" y="2088000"/>
            <a:ext cx="11472000" cy="360000"/>
          </a:xfrm>
          <a:prstGeom prst="rect">
            <a:avLst/>
          </a:prstGeom>
          <a:noFill/>
        </p:spPr>
        <p:txBody>
          <a:bodyPr anchor="ctr" wrap="square" lIns="36000" rIns="36000" tIns="36000" bIns="36000"/>
          <a:lstStyle/>
          <a:p>
            <a:pPr algn="l" spcBef="0" spcAft="0">
              <a:spcPct val="100000"/>
            </a:pPr>
            <a:r>
              <a:rPr lang="en-GB" b="0" i="1" sz="1700" dirty="0">
                <a:solidFill>
                  <a:srgbClr val="DCE6F1"/>
                </a:solidFill>
                <a:latin typeface="Calibri"/>
              </a:rPr>
              <a:t>might/may + base form for possibility; might not; sure (will) vs possible (might)</a:t>
            </a:r>
          </a:p>
        </p:txBody>
      </p:sp>
      <p:sp>
        <p:nvSpPr>
          <p:cNvPr id="18" name="shape18"/>
          <p:cNvSpPr>
            <a:spLocks noGrp="1"/>
          </p:cNvSpPr>
          <p:nvPr/>
        </p:nvSpPr>
        <p:spPr>
          <a:xfrm>
            <a:off x="0" y="6768000"/>
            <a:ext cx="12192000" cy="90000"/>
          </a:xfrm>
          <a:prstGeom prst="rect">
            <a:avLst/>
          </a:prstGeom>
          <a:solidFill>
            <a:srgbClr val="BF8F00"/>
          </a:solidFill>
        </p:spPr>
        <p:txBody>
          <a:bodyPr/>
          <a:lstStyle/>
          <a:p/>
        </p:txBody>
      </p:sp>
      <p:sp>
        <p:nvSpPr>
          <p:cNvPr id="19" name="box19"/>
          <p:cNvSpPr>
            <a:spLocks noGrp="1"/>
          </p:cNvSpPr>
          <p:nvPr/>
        </p:nvSpPr>
        <p:spPr>
          <a:xfrm>
            <a:off x="11112000" y="6354001"/>
            <a:ext cx="936000" cy="360000"/>
          </a:xfrm>
          <a:prstGeom prst="roundRect">
            <a:avLst>
              <a:gd name="adj" fmla="val 2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CEFR  A2</a:t>
            </a:r>
          </a:p>
        </p:txBody>
      </p:sp>
    </p:spTree>
  </p:cSld>
  <p:clrMapOvr>
    <a:masterClr/>
  </p:clrMapOvr>
</p:sld>
</file>

<file path=ppt/slides/slide2.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1" name="box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2" name="box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53" name="tb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LEARNING OBJECTIVES</a:t>
            </a:r>
          </a:p>
        </p:txBody>
      </p:sp>
      <p:sp>
        <p:nvSpPr>
          <p:cNvPr id="54" name="box54"/>
          <p:cNvSpPr>
            <a:spLocks noGrp="1"/>
          </p:cNvSpPr>
          <p:nvPr/>
        </p:nvSpPr>
        <p:spPr>
          <a:xfrm>
            <a:off x="180000" y="5400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5" name="box55"/>
          <p:cNvSpPr>
            <a:spLocks noGrp="1"/>
          </p:cNvSpPr>
          <p:nvPr/>
        </p:nvSpPr>
        <p:spPr>
          <a:xfrm>
            <a:off x="558000" y="5400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Use might + base form to express possibility (it is possible that...).</a:t>
            </a:r>
          </a:p>
        </p:txBody>
      </p:sp>
      <p:sp>
        <p:nvSpPr>
          <p:cNvPr id="56" name="box56"/>
          <p:cNvSpPr>
            <a:spLocks noGrp="1"/>
          </p:cNvSpPr>
          <p:nvPr/>
        </p:nvSpPr>
        <p:spPr>
          <a:xfrm>
            <a:off x="180000" y="9252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7" name="box57"/>
          <p:cNvSpPr>
            <a:spLocks noGrp="1"/>
          </p:cNvSpPr>
          <p:nvPr/>
        </p:nvSpPr>
        <p:spPr>
          <a:xfrm>
            <a:off x="558000" y="9252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Use may as an alternative to might for possibility.</a:t>
            </a:r>
          </a:p>
        </p:txBody>
      </p:sp>
      <p:sp>
        <p:nvSpPr>
          <p:cNvPr id="58" name="box58"/>
          <p:cNvSpPr>
            <a:spLocks noGrp="1"/>
          </p:cNvSpPr>
          <p:nvPr/>
        </p:nvSpPr>
        <p:spPr>
          <a:xfrm>
            <a:off x="180000" y="13104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9" name="box59"/>
          <p:cNvSpPr>
            <a:spLocks noGrp="1"/>
          </p:cNvSpPr>
          <p:nvPr/>
        </p:nvSpPr>
        <p:spPr>
          <a:xfrm>
            <a:off x="558000" y="13104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Form negative: might not / may not (no contraction mayn t).</a:t>
            </a:r>
          </a:p>
        </p:txBody>
      </p:sp>
      <p:sp>
        <p:nvSpPr>
          <p:cNvPr id="60" name="box60"/>
          <p:cNvSpPr>
            <a:spLocks noGrp="1"/>
          </p:cNvSpPr>
          <p:nvPr/>
        </p:nvSpPr>
        <p:spPr>
          <a:xfrm>
            <a:off x="180000" y="16956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61" name="box61"/>
          <p:cNvSpPr>
            <a:spLocks noGrp="1"/>
          </p:cNvSpPr>
          <p:nvPr/>
        </p:nvSpPr>
        <p:spPr>
          <a:xfrm>
            <a:off x="558000" y="16956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Distinguish sure plans (will/going to) from possible plans (might).</a:t>
            </a:r>
          </a:p>
        </p:txBody>
      </p:sp>
      <p:sp>
        <p:nvSpPr>
          <p:cNvPr id="62" name="box62"/>
          <p:cNvSpPr>
            <a:spLocks noGrp="1"/>
          </p:cNvSpPr>
          <p:nvPr/>
        </p:nvSpPr>
        <p:spPr>
          <a:xfrm>
            <a:off x="180000" y="20808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63" name="box63"/>
          <p:cNvSpPr>
            <a:spLocks noGrp="1"/>
          </p:cNvSpPr>
          <p:nvPr/>
        </p:nvSpPr>
        <p:spPr>
          <a:xfrm>
            <a:off x="558000" y="20808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Produce sentences expressing uncertainty about the future.</a:t>
            </a:r>
          </a:p>
        </p:txBody>
      </p:sp>
    </p:spTree>
  </p:cSld>
  <p:clrMapOvr>
    <a:masterClr/>
  </p:clrMapOvr>
</p:sld>
</file>

<file path=ppt/slides/slide3.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101" name="box1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102" name="box1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103" name="tb1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WARM-UP ACTIVITY</a:t>
            </a:r>
          </a:p>
        </p:txBody>
      </p:sp>
      <p:sp>
        <p:nvSpPr>
          <p:cNvPr id="104" name="box104"/>
          <p:cNvSpPr>
            <a:spLocks noGrp="1"/>
          </p:cNvSpPr>
          <p:nvPr/>
        </p:nvSpPr>
        <p:spPr>
          <a:xfrm>
            <a:off x="180000" y="540000"/>
            <a:ext cx="11832000" cy="396000"/>
          </a:xfrm>
          <a:prstGeom prst="roundRect">
            <a:avLst>
              <a:gd name="adj" fmla="val 15000"/>
            </a:avLst>
          </a:prstGeom>
          <a:solidFill>
            <a:srgbClr val="BF8F00"/>
          </a:solidFill>
          <a:ln w="0">
            <a:noFill/>
          </a:ln>
        </p:spPr>
        <p:txBody>
          <a:bodyPr anchor="ctr" wrap="square" lIns="180000" rIns="72000" tIns="54000" bIns="54000"/>
          <a:lstStyle/>
          <a:p>
            <a:pPr algn="l" spcBef="0" spcAft="0">
              <a:spcPct val="100000"/>
            </a:pPr>
            <a:r>
              <a:rPr lang="en-GB" b="1" sz="2400" dirty="0">
                <a:solidFill>
                  <a:srgbClr val="1F3864"/>
                </a:solidFill>
                <a:latin typeface="Cambria"/>
              </a:rPr>
              <a:t>🤔 Maybe, Maybe Not</a:t>
            </a:r>
          </a:p>
        </p:txBody>
      </p:sp>
      <p:sp>
        <p:nvSpPr>
          <p:cNvPr id="105" name="box105"/>
          <p:cNvSpPr>
            <a:spLocks noGrp="1"/>
          </p:cNvSpPr>
          <p:nvPr/>
        </p:nvSpPr>
        <p:spPr>
          <a:xfrm>
            <a:off x="11040000" y="540000"/>
            <a:ext cx="972000" cy="396000"/>
          </a:xfrm>
          <a:prstGeom prst="roundRect">
            <a:avLst>
              <a:gd name="adj" fmla="val 15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BF8F00"/>
                </a:solidFill>
                <a:latin typeface="Calibri"/>
              </a:rPr>
              <a:t>⏱  5 minutes</a:t>
            </a:r>
          </a:p>
        </p:txBody>
      </p:sp>
      <p:sp>
        <p:nvSpPr>
          <p:cNvPr id="106" name="box106"/>
          <p:cNvSpPr>
            <a:spLocks noGrp="1"/>
          </p:cNvSpPr>
          <p:nvPr/>
        </p:nvSpPr>
        <p:spPr>
          <a:xfrm>
            <a:off x="180000" y="1026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1</a:t>
            </a:r>
          </a:p>
        </p:txBody>
      </p:sp>
      <p:sp>
        <p:nvSpPr>
          <p:cNvPr id="107" name="tb107"/>
          <p:cNvSpPr txBox="1">
            <a:spLocks noGrp="1"/>
          </p:cNvSpPr>
          <p:nvPr/>
        </p:nvSpPr>
        <p:spPr>
          <a:xfrm>
            <a:off x="503999" y="1026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Teacher asks: Are you going out this evening? Students answer: I might. I might not.</a:t>
            </a:r>
          </a:p>
        </p:txBody>
      </p:sp>
      <p:sp>
        <p:nvSpPr>
          <p:cNvPr id="108" name="box108"/>
          <p:cNvSpPr>
            <a:spLocks noGrp="1"/>
          </p:cNvSpPr>
          <p:nvPr/>
        </p:nvSpPr>
        <p:spPr>
          <a:xfrm>
            <a:off x="180000" y="1458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2</a:t>
            </a:r>
          </a:p>
        </p:txBody>
      </p:sp>
      <p:sp>
        <p:nvSpPr>
          <p:cNvPr id="109" name="tb109"/>
          <p:cNvSpPr txBox="1">
            <a:spLocks noGrp="1"/>
          </p:cNvSpPr>
          <p:nvPr/>
        </p:nvSpPr>
        <p:spPr>
          <a:xfrm>
            <a:off x="503999" y="1458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Ask 3 more questions about weekend plans.</a:t>
            </a:r>
          </a:p>
        </p:txBody>
      </p:sp>
      <p:sp>
        <p:nvSpPr>
          <p:cNvPr id="110" name="box110"/>
          <p:cNvSpPr>
            <a:spLocks noGrp="1"/>
          </p:cNvSpPr>
          <p:nvPr/>
        </p:nvSpPr>
        <p:spPr>
          <a:xfrm>
            <a:off x="180000" y="1890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3</a:t>
            </a:r>
          </a:p>
        </p:txBody>
      </p:sp>
      <p:sp>
        <p:nvSpPr>
          <p:cNvPr id="111" name="tb111"/>
          <p:cNvSpPr txBox="1">
            <a:spLocks noGrp="1"/>
          </p:cNvSpPr>
          <p:nvPr/>
        </p:nvSpPr>
        <p:spPr>
          <a:xfrm>
            <a:off x="503999" y="1890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Students use: definitely (will), possibly (might), or definitely not (wont).</a:t>
            </a:r>
          </a:p>
        </p:txBody>
      </p:sp>
    </p:spTree>
  </p:cSld>
  <p:clrMapOvr>
    <a:masterClr/>
  </p:clrMapOvr>
</p:sld>
</file>

<file path=ppt/slides/slide4.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151" name="box1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152" name="box1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153" name="tb1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VOCABULARY PREVIEW</a:t>
            </a:r>
          </a:p>
        </p:txBody>
      </p:sp>
      <p:sp>
        <p:nvSpPr>
          <p:cNvPr id="154" name="box154"/>
          <p:cNvSpPr>
            <a:spLocks noGrp="1"/>
          </p:cNvSpPr>
          <p:nvPr/>
        </p:nvSpPr>
        <p:spPr>
          <a:xfrm>
            <a:off x="180000" y="5400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possible</a:t>
            </a:r>
          </a:p>
        </p:txBody>
      </p:sp>
      <p:sp>
        <p:nvSpPr>
          <p:cNvPr id="155" name="box155"/>
          <p:cNvSpPr>
            <a:spLocks noGrp="1"/>
          </p:cNvSpPr>
          <p:nvPr/>
        </p:nvSpPr>
        <p:spPr>
          <a:xfrm>
            <a:off x="1007999" y="5400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adj</a:t>
            </a:r>
          </a:p>
        </p:txBody>
      </p:sp>
      <p:sp>
        <p:nvSpPr>
          <p:cNvPr id="156" name="box156"/>
          <p:cNvSpPr>
            <a:spLocks noGrp="1"/>
          </p:cNvSpPr>
          <p:nvPr/>
        </p:nvSpPr>
        <p:spPr>
          <a:xfrm>
            <a:off x="1512000" y="5400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able to happen</a:t>
            </a:r>
          </a:p>
        </p:txBody>
      </p:sp>
      <p:sp>
        <p:nvSpPr>
          <p:cNvPr id="157" name="box157"/>
          <p:cNvSpPr>
            <a:spLocks noGrp="1"/>
          </p:cNvSpPr>
          <p:nvPr/>
        </p:nvSpPr>
        <p:spPr>
          <a:xfrm>
            <a:off x="6042000" y="5400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impossible</a:t>
            </a:r>
          </a:p>
        </p:txBody>
      </p:sp>
      <p:sp>
        <p:nvSpPr>
          <p:cNvPr id="158" name="box158"/>
          <p:cNvSpPr>
            <a:spLocks noGrp="1"/>
          </p:cNvSpPr>
          <p:nvPr/>
        </p:nvSpPr>
        <p:spPr>
          <a:xfrm>
            <a:off x="6869999" y="5400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adj</a:t>
            </a:r>
          </a:p>
        </p:txBody>
      </p:sp>
      <p:sp>
        <p:nvSpPr>
          <p:cNvPr id="159" name="box159"/>
          <p:cNvSpPr>
            <a:spLocks noGrp="1"/>
          </p:cNvSpPr>
          <p:nvPr/>
        </p:nvSpPr>
        <p:spPr>
          <a:xfrm>
            <a:off x="7374000" y="5400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not able to happen</a:t>
            </a:r>
          </a:p>
        </p:txBody>
      </p:sp>
      <p:sp>
        <p:nvSpPr>
          <p:cNvPr id="160" name="box160"/>
          <p:cNvSpPr>
            <a:spLocks noGrp="1"/>
          </p:cNvSpPr>
          <p:nvPr/>
        </p:nvSpPr>
        <p:spPr>
          <a:xfrm>
            <a:off x="180000" y="8856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uncertain</a:t>
            </a:r>
          </a:p>
        </p:txBody>
      </p:sp>
      <p:sp>
        <p:nvSpPr>
          <p:cNvPr id="161" name="box161"/>
          <p:cNvSpPr>
            <a:spLocks noGrp="1"/>
          </p:cNvSpPr>
          <p:nvPr/>
        </p:nvSpPr>
        <p:spPr>
          <a:xfrm>
            <a:off x="1007999" y="8856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adj</a:t>
            </a:r>
          </a:p>
        </p:txBody>
      </p:sp>
      <p:sp>
        <p:nvSpPr>
          <p:cNvPr id="162" name="box162"/>
          <p:cNvSpPr>
            <a:spLocks noGrp="1"/>
          </p:cNvSpPr>
          <p:nvPr/>
        </p:nvSpPr>
        <p:spPr>
          <a:xfrm>
            <a:off x="1512000" y="8856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not sure; not definite</a:t>
            </a:r>
          </a:p>
        </p:txBody>
      </p:sp>
      <p:sp>
        <p:nvSpPr>
          <p:cNvPr id="163" name="box163"/>
          <p:cNvSpPr>
            <a:spLocks noGrp="1"/>
          </p:cNvSpPr>
          <p:nvPr/>
        </p:nvSpPr>
        <p:spPr>
          <a:xfrm>
            <a:off x="6042000" y="8856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definite</a:t>
            </a:r>
          </a:p>
        </p:txBody>
      </p:sp>
      <p:sp>
        <p:nvSpPr>
          <p:cNvPr id="164" name="box164"/>
          <p:cNvSpPr>
            <a:spLocks noGrp="1"/>
          </p:cNvSpPr>
          <p:nvPr/>
        </p:nvSpPr>
        <p:spPr>
          <a:xfrm>
            <a:off x="6869999" y="8856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adj</a:t>
            </a:r>
          </a:p>
        </p:txBody>
      </p:sp>
      <p:sp>
        <p:nvSpPr>
          <p:cNvPr id="165" name="box165"/>
          <p:cNvSpPr>
            <a:spLocks noGrp="1"/>
          </p:cNvSpPr>
          <p:nvPr/>
        </p:nvSpPr>
        <p:spPr>
          <a:xfrm>
            <a:off x="7374000" y="8856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certain; sure</a:t>
            </a:r>
          </a:p>
        </p:txBody>
      </p:sp>
      <p:sp>
        <p:nvSpPr>
          <p:cNvPr id="166" name="box166"/>
          <p:cNvSpPr>
            <a:spLocks noGrp="1"/>
          </p:cNvSpPr>
          <p:nvPr/>
        </p:nvSpPr>
        <p:spPr>
          <a:xfrm>
            <a:off x="180000" y="12312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likely</a:t>
            </a:r>
          </a:p>
        </p:txBody>
      </p:sp>
      <p:sp>
        <p:nvSpPr>
          <p:cNvPr id="167" name="box167"/>
          <p:cNvSpPr>
            <a:spLocks noGrp="1"/>
          </p:cNvSpPr>
          <p:nvPr/>
        </p:nvSpPr>
        <p:spPr>
          <a:xfrm>
            <a:off x="1007999" y="12312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adj</a:t>
            </a:r>
          </a:p>
        </p:txBody>
      </p:sp>
      <p:sp>
        <p:nvSpPr>
          <p:cNvPr id="168" name="box168"/>
          <p:cNvSpPr>
            <a:spLocks noGrp="1"/>
          </p:cNvSpPr>
          <p:nvPr/>
        </p:nvSpPr>
        <p:spPr>
          <a:xfrm>
            <a:off x="1512000" y="12312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probably going to happen</a:t>
            </a:r>
          </a:p>
        </p:txBody>
      </p:sp>
      <p:sp>
        <p:nvSpPr>
          <p:cNvPr id="169" name="box169"/>
          <p:cNvSpPr>
            <a:spLocks noGrp="1"/>
          </p:cNvSpPr>
          <p:nvPr/>
        </p:nvSpPr>
        <p:spPr>
          <a:xfrm>
            <a:off x="6042000" y="12312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unlikely</a:t>
            </a:r>
          </a:p>
        </p:txBody>
      </p:sp>
      <p:sp>
        <p:nvSpPr>
          <p:cNvPr id="170" name="box170"/>
          <p:cNvSpPr>
            <a:spLocks noGrp="1"/>
          </p:cNvSpPr>
          <p:nvPr/>
        </p:nvSpPr>
        <p:spPr>
          <a:xfrm>
            <a:off x="6869999" y="12312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adj</a:t>
            </a:r>
          </a:p>
        </p:txBody>
      </p:sp>
      <p:sp>
        <p:nvSpPr>
          <p:cNvPr id="171" name="box171"/>
          <p:cNvSpPr>
            <a:spLocks noGrp="1"/>
          </p:cNvSpPr>
          <p:nvPr/>
        </p:nvSpPr>
        <p:spPr>
          <a:xfrm>
            <a:off x="7374000" y="12312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probably not going to happen</a:t>
            </a:r>
          </a:p>
        </p:txBody>
      </p:sp>
      <p:sp>
        <p:nvSpPr>
          <p:cNvPr id="172" name="box172"/>
          <p:cNvSpPr>
            <a:spLocks noGrp="1"/>
          </p:cNvSpPr>
          <p:nvPr/>
        </p:nvSpPr>
        <p:spPr>
          <a:xfrm>
            <a:off x="180000" y="15768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chance</a:t>
            </a:r>
          </a:p>
        </p:txBody>
      </p:sp>
      <p:sp>
        <p:nvSpPr>
          <p:cNvPr id="173" name="box173"/>
          <p:cNvSpPr>
            <a:spLocks noGrp="1"/>
          </p:cNvSpPr>
          <p:nvPr/>
        </p:nvSpPr>
        <p:spPr>
          <a:xfrm>
            <a:off x="1007999" y="15768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74" name="box174"/>
          <p:cNvSpPr>
            <a:spLocks noGrp="1"/>
          </p:cNvSpPr>
          <p:nvPr/>
        </p:nvSpPr>
        <p:spPr>
          <a:xfrm>
            <a:off x="1512000" y="15768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possibility of something</a:t>
            </a:r>
          </a:p>
        </p:txBody>
      </p:sp>
      <p:sp>
        <p:nvSpPr>
          <p:cNvPr id="175" name="box175"/>
          <p:cNvSpPr>
            <a:spLocks noGrp="1"/>
          </p:cNvSpPr>
          <p:nvPr/>
        </p:nvSpPr>
        <p:spPr>
          <a:xfrm>
            <a:off x="6042000" y="15768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perhaps</a:t>
            </a:r>
          </a:p>
        </p:txBody>
      </p:sp>
      <p:sp>
        <p:nvSpPr>
          <p:cNvPr id="176" name="box176"/>
          <p:cNvSpPr>
            <a:spLocks noGrp="1"/>
          </p:cNvSpPr>
          <p:nvPr/>
        </p:nvSpPr>
        <p:spPr>
          <a:xfrm>
            <a:off x="6869999" y="15768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adv</a:t>
            </a:r>
          </a:p>
        </p:txBody>
      </p:sp>
      <p:sp>
        <p:nvSpPr>
          <p:cNvPr id="177" name="box177"/>
          <p:cNvSpPr>
            <a:spLocks noGrp="1"/>
          </p:cNvSpPr>
          <p:nvPr/>
        </p:nvSpPr>
        <p:spPr>
          <a:xfrm>
            <a:off x="7374000" y="15768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maybe; possibly</a:t>
            </a:r>
          </a:p>
        </p:txBody>
      </p:sp>
      <p:sp>
        <p:nvSpPr>
          <p:cNvPr id="178" name="box178"/>
          <p:cNvSpPr>
            <a:spLocks noGrp="1"/>
          </p:cNvSpPr>
          <p:nvPr/>
        </p:nvSpPr>
        <p:spPr>
          <a:xfrm>
            <a:off x="180000" y="19224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possibly</a:t>
            </a:r>
          </a:p>
        </p:txBody>
      </p:sp>
      <p:sp>
        <p:nvSpPr>
          <p:cNvPr id="179" name="box179"/>
          <p:cNvSpPr>
            <a:spLocks noGrp="1"/>
          </p:cNvSpPr>
          <p:nvPr/>
        </p:nvSpPr>
        <p:spPr>
          <a:xfrm>
            <a:off x="1007999" y="19224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adv</a:t>
            </a:r>
          </a:p>
        </p:txBody>
      </p:sp>
      <p:sp>
        <p:nvSpPr>
          <p:cNvPr id="180" name="box180"/>
          <p:cNvSpPr>
            <a:spLocks noGrp="1"/>
          </p:cNvSpPr>
          <p:nvPr/>
        </p:nvSpPr>
        <p:spPr>
          <a:xfrm>
            <a:off x="1512000" y="19224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maybe; it could happen</a:t>
            </a:r>
          </a:p>
        </p:txBody>
      </p:sp>
      <p:sp>
        <p:nvSpPr>
          <p:cNvPr id="181" name="box181"/>
          <p:cNvSpPr>
            <a:spLocks noGrp="1"/>
          </p:cNvSpPr>
          <p:nvPr/>
        </p:nvSpPr>
        <p:spPr>
          <a:xfrm>
            <a:off x="6042000" y="19224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probably</a:t>
            </a:r>
          </a:p>
        </p:txBody>
      </p:sp>
      <p:sp>
        <p:nvSpPr>
          <p:cNvPr id="182" name="box182"/>
          <p:cNvSpPr>
            <a:spLocks noGrp="1"/>
          </p:cNvSpPr>
          <p:nvPr/>
        </p:nvSpPr>
        <p:spPr>
          <a:xfrm>
            <a:off x="6869999" y="19224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adv</a:t>
            </a:r>
          </a:p>
        </p:txBody>
      </p:sp>
      <p:sp>
        <p:nvSpPr>
          <p:cNvPr id="183" name="box183"/>
          <p:cNvSpPr>
            <a:spLocks noGrp="1"/>
          </p:cNvSpPr>
          <p:nvPr/>
        </p:nvSpPr>
        <p:spPr>
          <a:xfrm>
            <a:off x="7374000" y="19224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very likely to happen</a:t>
            </a:r>
          </a:p>
        </p:txBody>
      </p:sp>
      <p:sp>
        <p:nvSpPr>
          <p:cNvPr id="184" name="tb184"/>
          <p:cNvSpPr txBox="1">
            <a:spLocks noGrp="1"/>
          </p:cNvSpPr>
          <p:nvPr/>
        </p:nvSpPr>
        <p:spPr>
          <a:xfrm>
            <a:off x="180000" y="6606001"/>
            <a:ext cx="11832000" cy="198000"/>
          </a:xfrm>
          <a:prstGeom prst="rect">
            <a:avLst/>
          </a:prstGeom>
          <a:noFill/>
        </p:spPr>
        <p:txBody>
          <a:bodyPr anchor="ctr" wrap="square" lIns="36000" rIns="36000" tIns="36000" bIns="36000"/>
          <a:lstStyle/>
          <a:p>
            <a:pPr algn="l" spcBef="0" spcAft="0">
              <a:spcPct val="100000"/>
            </a:pPr>
            <a:r>
              <a:rPr lang="en-GB" b="0" i="1" sz="1300" dirty="0">
                <a:solidFill>
                  <a:srgbClr val="2E75B6"/>
                </a:solidFill>
                <a:latin typeface="Calibri"/>
              </a:rPr>
              <a:t>📚  Full 30-word vocabulary bank in your workbook — Section 4.</a:t>
            </a:r>
          </a:p>
        </p:txBody>
      </p:sp>
    </p:spTree>
  </p:cSld>
  <p:clrMapOvr>
    <a:masterClr/>
  </p:clrMapOvr>
</p:sld>
</file>

<file path=ppt/slides/slide5.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201" name="box2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202" name="box2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203" name="tb2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GRAMMAR RULE</a:t>
            </a:r>
          </a:p>
        </p:txBody>
      </p:sp>
      <p:sp>
        <p:nvSpPr>
          <p:cNvPr id="204" name="box204"/>
          <p:cNvSpPr>
            <a:spLocks noGrp="1"/>
          </p:cNvSpPr>
          <p:nvPr/>
        </p:nvSpPr>
        <p:spPr>
          <a:xfrm>
            <a:off x="180000" y="522000"/>
            <a:ext cx="11832000" cy="396000"/>
          </a:xfrm>
          <a:prstGeom prst="roundRect">
            <a:avLst>
              <a:gd name="adj" fmla="val 10000"/>
            </a:avLst>
          </a:prstGeom>
          <a:solidFill>
            <a:srgbClr val="FFF2CC"/>
          </a:solidFill>
          <a:ln w="12700">
            <a:solidFill>
              <a:srgbClr val="BF8F00"/>
            </a:solidFill>
          </a:ln>
        </p:spPr>
        <p:txBody>
          <a:bodyPr anchor="ctr" wrap="square" lIns="144000" rIns="72000" tIns="54000" bIns="54000"/>
          <a:lstStyle/>
          <a:p>
            <a:pPr algn="l" spcBef="0" spcAft="0">
              <a:spcPct val="100000"/>
            </a:pPr>
            <a:r>
              <a:rPr lang="en-GB" b="1" sz="1700" dirty="0">
                <a:solidFill>
                  <a:srgbClr val="1F3864"/>
                </a:solidFill>
                <a:latin typeface="Calibri"/>
              </a:rPr>
              <a:t>📌  MIGHT / MAY + base form = it is POSSIBLE (not sure). Use when you are not certain about the future. Might not = it is possible it wont happen.</a:t>
            </a:r>
          </a:p>
        </p:txBody>
      </p:sp>
      <p:graphicFrame>
        <p:nvGraphicFramePr>
          <p:cNvPr id="205" name="tbl205"/>
          <p:cNvGraphicFramePr>
            <a:graphicFrameLocks noGrp="1"/>
          </p:cNvGraphicFramePr>
          <p:nvPr/>
        </p:nvGraphicFramePr>
        <p:xfrm>
          <a:off x="180000" y="990000"/>
          <a:ext cx="11832000" cy="5778000"/>
        </p:xfrm>
        <a:graphic>
          <a:graphicData uri="http://schemas.openxmlformats.org/drawingml/2006/table">
            <a:tbl>
              <a:tblPr firstRow="1" bandRow="1">
                <a:tableStyleId>{5C22544A-7EE6-4342-B048-85BDC9FD1C3A}</a:tableStyleId>
              </a:tblPr>
              <a:tblGrid>
                <a:gridCol w="3944000"/>
                <a:gridCol w="3944000"/>
                <a:gridCol w="3944000"/>
              </a:tblGrid>
              <a:tr h="1112400">
                <a:tc>
                  <a:txBody>
                    <a:bodyPr/>
                    <a:lstStyle/>
                    <a:p>
                      <a:pPr algn="l"/>
                      <a:r>
                        <a:rPr lang="en-GB" b="1" sz="1400" dirty="0">
                          <a:solidFill>
                            <a:srgbClr val="FFFFFF"/>
                          </a:solidFill>
                          <a:latin typeface="Calibri"/>
                        </a:rPr>
                        <a:t>Certainty Level</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Form</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Example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1112400">
                <a:tc>
                  <a:txBody>
                    <a:bodyPr/>
                    <a:lstStyle/>
                    <a:p>
                      <a:pPr algn="l"/>
                      <a:r>
                        <a:rPr lang="en-GB" b="1" sz="1400" dirty="0">
                          <a:solidFill>
                            <a:srgbClr val="1F3864"/>
                          </a:solidFill>
                          <a:latin typeface="Calibri"/>
                        </a:rPr>
                        <a:t>Sure (100%)</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will / going to</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Im playing tennis tomorrow.</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12400">
                <a:tc>
                  <a:txBody>
                    <a:bodyPr/>
                    <a:lstStyle/>
                    <a:p>
                      <a:pPr algn="l"/>
                      <a:r>
                        <a:rPr lang="en-GB" b="1" sz="1400" dirty="0">
                          <a:solidFill>
                            <a:srgbClr val="1F3864"/>
                          </a:solidFill>
                          <a:latin typeface="Calibri"/>
                        </a:rPr>
                        <a:t>Possible (50%)</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might / may</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I might play tennis tomorrow.</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1112400">
                <a:tc>
                  <a:txBody>
                    <a:bodyPr/>
                    <a:lstStyle/>
                    <a:p>
                      <a:pPr algn="l"/>
                      <a:r>
                        <a:rPr lang="en-GB" b="1" sz="1400" dirty="0">
                          <a:solidFill>
                            <a:srgbClr val="1F3864"/>
                          </a:solidFill>
                          <a:latin typeface="Calibri"/>
                        </a:rPr>
                        <a:t>Possible negative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might not / may not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might not go out tonight.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12400">
                <a:tc>
                  <a:txBody>
                    <a:bodyPr/>
                    <a:lstStyle/>
                    <a:p>
                      <a:pPr algn="l"/>
                      <a:r>
                        <a:rPr lang="en-GB" b="1" sz="1400" dirty="0">
                          <a:solidFill>
                            <a:srgbClr val="1F3864"/>
                          </a:solidFill>
                          <a:latin typeface="Calibri"/>
                        </a:rPr>
                        <a:t>Sure negative (0%)</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wont</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I wont be there. (certain)</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6.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251" name="box2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252" name="box25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253" name="tb2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SPELLING &amp; USAGE NOTES</a:t>
            </a:r>
          </a:p>
        </p:txBody>
      </p:sp>
      <p:sp>
        <p:nvSpPr>
          <p:cNvPr id="254" name="box254"/>
          <p:cNvSpPr>
            <a:spLocks noGrp="1"/>
          </p:cNvSpPr>
          <p:nvPr/>
        </p:nvSpPr>
        <p:spPr>
          <a:xfrm>
            <a:off x="180000" y="540000"/>
            <a:ext cx="11832000" cy="503999"/>
          </a:xfrm>
          <a:prstGeom prst="rect">
            <a:avLst/>
          </a:prstGeom>
          <a:solidFill>
            <a:srgbClr val="DCE6F1"/>
          </a:solidFill>
          <a:ln w="12700">
            <a:solidFill>
              <a:srgbClr val="1F3864"/>
            </a:solidFill>
          </a:ln>
        </p:spPr>
        <p:txBody>
          <a:bodyPr anchor="ctr" wrap="square" lIns="144000" rIns="72000" tIns="54000" bIns="54000"/>
          <a:lstStyle/>
          <a:p>
            <a:pPr algn="l" spcBef="0" spcAft="0">
              <a:spcPct val="100000"/>
            </a:pPr>
            <a:r>
              <a:rPr lang="en-GB" b="1" sz="1500" dirty="0">
                <a:solidFill>
                  <a:srgbClr val="1F3864"/>
                </a:solidFill>
                <a:latin typeface="Calibri"/>
              </a:rPr>
              <a:t>⚠️  Watch Out!  </a:t>
            </a:r>
            <a:r>
              <a:rPr lang="en-GB" b="0" sz="1400" dirty="0">
                <a:solidFill>
                  <a:srgbClr val="1F3864"/>
                </a:solidFill>
                <a:latin typeface="Calibri"/>
              </a:rPr>
              <a:t>Might and may have the SAME meaning for possibility. No difference. Never add -s: "He might come" (NOT "He mights come"). Never add to: "I might go" (NOT "I might to go").</a:t>
            </a:r>
          </a:p>
        </p:txBody>
      </p:sp>
      <p:sp>
        <p:nvSpPr>
          <p:cNvPr id="255" name="box255"/>
          <p:cNvSpPr>
            <a:spLocks noGrp="1"/>
          </p:cNvSpPr>
          <p:nvPr/>
        </p:nvSpPr>
        <p:spPr>
          <a:xfrm>
            <a:off x="180000" y="1169998"/>
            <a:ext cx="1260000" cy="216000"/>
          </a:xfrm>
          <a:prstGeom prst="roundRect">
            <a:avLst>
              <a:gd name="adj" fmla="val 10000"/>
            </a:avLst>
          </a:prstGeom>
          <a:solidFill>
            <a:srgbClr val="BF8F00"/>
          </a:solidFill>
          <a:ln w="0">
            <a:noFill/>
          </a:ln>
        </p:spPr>
        <p:txBody>
          <a:bodyPr anchor="ctr" wrap="square" lIns="72000" rIns="72000" tIns="54000" bIns="54000"/>
          <a:lstStyle/>
          <a:p>
            <a:pPr algn="ctr" spcBef="0" spcAft="0">
              <a:spcPct val="100000"/>
            </a:pPr>
            <a:r>
              <a:rPr lang="en-GB" b="1" sz="1400" dirty="0">
                <a:solidFill>
                  <a:srgbClr val="1F3864"/>
                </a:solidFill>
                <a:latin typeface="Calibri"/>
              </a:rPr>
              <a:t>Usage Examples</a:t>
            </a:r>
          </a:p>
        </p:txBody>
      </p:sp>
      <p:sp>
        <p:nvSpPr>
          <p:cNvPr id="256" name="tb256"/>
          <p:cNvSpPr txBox="1">
            <a:spLocks noGrp="1"/>
          </p:cNvSpPr>
          <p:nvPr/>
        </p:nvSpPr>
        <p:spPr>
          <a:xfrm>
            <a:off x="180000" y="1439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I might go to the cinema this evening. (= possible)</a:t>
            </a:r>
          </a:p>
        </p:txBody>
      </p:sp>
      <p:sp>
        <p:nvSpPr>
          <p:cNvPr id="257" name="tb257"/>
          <p:cNvSpPr txBox="1">
            <a:spLocks noGrp="1"/>
          </p:cNvSpPr>
          <p:nvPr/>
        </p:nvSpPr>
        <p:spPr>
          <a:xfrm>
            <a:off x="180000" y="1655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Take an umbrella. It might rain. (= possible)</a:t>
            </a:r>
          </a:p>
        </p:txBody>
      </p:sp>
      <p:sp>
        <p:nvSpPr>
          <p:cNvPr id="258" name="tb258"/>
          <p:cNvSpPr txBox="1">
            <a:spLocks noGrp="1"/>
          </p:cNvSpPr>
          <p:nvPr/>
        </p:nvSpPr>
        <p:spPr>
          <a:xfrm>
            <a:off x="180000" y="1871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She might not come to the party. (= possible she wont)</a:t>
            </a:r>
          </a:p>
        </p:txBody>
      </p:sp>
      <p:sp>
        <p:nvSpPr>
          <p:cNvPr id="259" name="tb259"/>
          <p:cNvSpPr txBox="1">
            <a:spLocks noGrp="1"/>
          </p:cNvSpPr>
          <p:nvPr/>
        </p:nvSpPr>
        <p:spPr>
          <a:xfrm>
            <a:off x="180000" y="2087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Are you going out? — I might. (short answer = maybe)</a:t>
            </a:r>
          </a:p>
        </p:txBody>
      </p:sp>
    </p:spTree>
  </p:cSld>
  <p:clrMapOvr>
    <a:masterClr/>
  </p:clrMapOvr>
</p:sld>
</file>

<file path=ppt/slides/slide7.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301" name="box3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302" name="box3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303" name="tb3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GUIDED PRACTICE</a:t>
            </a:r>
          </a:p>
        </p:txBody>
      </p:sp>
      <p:sp>
        <p:nvSpPr>
          <p:cNvPr id="304" name="tb30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Rewrite using might. Items 1-2 are done.</a:t>
            </a:r>
          </a:p>
        </p:txBody>
      </p:sp>
      <p:graphicFrame>
        <p:nvGraphicFramePr>
          <p:cNvPr id="305" name="tbl30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709920"/>
                <a:gridCol w="6152640"/>
                <a:gridCol w="4969440"/>
              </a:tblGrid>
              <a:tr h="11412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Original</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With might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1 ✅</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Its possible Ill be late.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might be late.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2 ✅</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Perhaps she wont come.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She might not come.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Its possible itll rain.</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Perhaps Ill go to the gym.</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8.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351" name="box3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352" name="box35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353" name="tb3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CONTROLLED PRACTICE</a:t>
            </a:r>
          </a:p>
        </p:txBody>
      </p:sp>
      <p:sp>
        <p:nvSpPr>
          <p:cNvPr id="354" name="tb35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Choose will, might, or wont based on certainty.</a:t>
            </a:r>
          </a:p>
        </p:txBody>
      </p:sp>
      <p:graphicFrame>
        <p:nvGraphicFramePr>
          <p:cNvPr id="355" name="tbl35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709920"/>
                <a:gridCol w="5561040"/>
                <a:gridCol w="5561040"/>
              </a:tblGrid>
              <a:tr h="9510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Situation</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Sentence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1</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Sure: Im playing tennis. (arranged)</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___ play tennis tomorrow.</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2</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Not sure: maybe cinema tonight.</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I ___ go to the cinema.</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Sure negative: not going.</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___ go out tonight.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Possible: she may phone later.</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She ___ phone this afternoon.</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5</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Certain: the meeting is at 9.</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The meeting ___ start at 9.</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9.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401" name="box4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402" name="box4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403" name="tb4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ERROR CORRECTION</a:t>
            </a:r>
          </a:p>
        </p:txBody>
      </p:sp>
      <p:sp>
        <p:nvSpPr>
          <p:cNvPr id="404" name="tb40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Find and correct the ONE mistake in each sentence.</a:t>
            </a:r>
          </a:p>
        </p:txBody>
      </p:sp>
      <p:graphicFrame>
        <p:nvGraphicFramePr>
          <p:cNvPr id="405" name="tbl40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591600"/>
                <a:gridCol w="5916000"/>
                <a:gridCol w="5324400"/>
              </a:tblGrid>
              <a:tr h="9510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Incorrect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Corrected</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1</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might to go out tonight.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2</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She mights come to the party.</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He might comes later.</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I dont might go. (negative)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5</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Will you come? I will might.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10.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451" name="box4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452" name="box452"/>
          <p:cNvSpPr>
            <a:spLocks noGrp="1"/>
          </p:cNvSpPr>
          <p:nvPr/>
        </p:nvSpPr>
        <p:spPr>
          <a:xfrm>
            <a:off x="0" y="396000"/>
            <a:ext cx="12192000" cy="64800"/>
          </a:xfrm>
          <a:prstGeom prst="rect">
            <a:avLst/>
          </a:prstGeom>
          <a:solidFill>
            <a:srgbClr val="548235"/>
          </a:solidFill>
          <a:ln w="0">
            <a:noFill/>
          </a:ln>
        </p:spPr>
        <p:txBody>
          <a:bodyPr anchor="ctr" wrap="square" lIns="72000" rIns="72000" tIns="54000" bIns="54000"/>
          <a:lstStyle/>
        </p:txBody>
      </p:sp>
      <p:sp>
        <p:nvSpPr>
          <p:cNvPr id="453" name="tb4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SPEAKING ACTIVITY</a:t>
            </a:r>
          </a:p>
        </p:txBody>
      </p:sp>
      <p:sp>
        <p:nvSpPr>
          <p:cNvPr id="454" name="box454"/>
          <p:cNvSpPr>
            <a:spLocks noGrp="1"/>
          </p:cNvSpPr>
          <p:nvPr/>
        </p:nvSpPr>
        <p:spPr>
          <a:xfrm>
            <a:off x="180000" y="522000"/>
            <a:ext cx="11832000" cy="360000"/>
          </a:xfrm>
          <a:prstGeom prst="roundRect">
            <a:avLst>
              <a:gd name="adj" fmla="val 12000"/>
            </a:avLst>
          </a:prstGeom>
          <a:solidFill>
            <a:srgbClr val="548235"/>
          </a:solidFill>
          <a:ln w="0">
            <a:noFill/>
          </a:ln>
        </p:spPr>
        <p:txBody>
          <a:bodyPr anchor="ctr" wrap="square" lIns="180000" rIns="72000" tIns="54000" bIns="54000"/>
          <a:lstStyle/>
          <a:p>
            <a:pPr algn="l" spcBef="0" spcAft="0">
              <a:spcPct val="100000"/>
            </a:pPr>
            <a:r>
              <a:rPr lang="en-GB" b="1" sz="2200" dirty="0">
                <a:solidFill>
                  <a:srgbClr val="FFFFFF"/>
                </a:solidFill>
                <a:latin typeface="Cambria"/>
              </a:rPr>
              <a:t>🗣️ Unsure Plans</a:t>
            </a:r>
          </a:p>
        </p:txBody>
      </p:sp>
      <p:sp>
        <p:nvSpPr>
          <p:cNvPr id="455" name="box455"/>
          <p:cNvSpPr>
            <a:spLocks noGrp="1"/>
          </p:cNvSpPr>
          <p:nvPr/>
        </p:nvSpPr>
        <p:spPr>
          <a:xfrm>
            <a:off x="11112000" y="954000"/>
            <a:ext cx="900000" cy="1260000"/>
          </a:xfrm>
          <a:prstGeom prst="roundRect">
            <a:avLst>
              <a:gd name="adj" fmla="val 20000"/>
            </a:avLst>
          </a:prstGeom>
          <a:solidFill>
            <a:srgbClr val="DCE6F1"/>
          </a:solidFill>
          <a:ln w="0">
            <a:noFill/>
          </a:ln>
        </p:spPr>
        <p:txBody>
          <a:bodyPr anchor="ctr" wrap="square" lIns="72000" rIns="72000" tIns="54000" bIns="54000"/>
          <a:lstStyle/>
          <a:p>
            <a:pPr algn="ctr" spcBef="0" spcAft="0">
              <a:spcPct val="100000"/>
            </a:pPr>
            <a:r>
              <a:rPr lang="en-GB" b="0" sz="6000" dirty="0">
                <a:solidFill>
                  <a:srgbClr val="2E75B6"/>
                </a:solidFill>
                <a:latin typeface="Calibri"/>
              </a:rPr>
              <a:t>💬</a:t>
            </a:r>
          </a:p>
        </p:txBody>
      </p:sp>
      <p:sp>
        <p:nvSpPr>
          <p:cNvPr id="456" name="box456"/>
          <p:cNvSpPr>
            <a:spLocks noGrp="1"/>
          </p:cNvSpPr>
          <p:nvPr/>
        </p:nvSpPr>
        <p:spPr>
          <a:xfrm>
            <a:off x="180000" y="9540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1</a:t>
            </a:r>
          </a:p>
        </p:txBody>
      </p:sp>
      <p:sp>
        <p:nvSpPr>
          <p:cNvPr id="457" name="tb457"/>
          <p:cNvSpPr txBox="1">
            <a:spLocks noGrp="1"/>
          </p:cNvSpPr>
          <p:nvPr/>
        </p:nvSpPr>
        <p:spPr>
          <a:xfrm>
            <a:off x="468000" y="9540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Ask your partner about their plans: Are you going out tonight?</a:t>
            </a:r>
          </a:p>
        </p:txBody>
      </p:sp>
      <p:sp>
        <p:nvSpPr>
          <p:cNvPr id="458" name="box458"/>
          <p:cNvSpPr>
            <a:spLocks noGrp="1"/>
          </p:cNvSpPr>
          <p:nvPr/>
        </p:nvSpPr>
        <p:spPr>
          <a:xfrm>
            <a:off x="180000" y="12708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2</a:t>
            </a:r>
          </a:p>
        </p:txBody>
      </p:sp>
      <p:sp>
        <p:nvSpPr>
          <p:cNvPr id="459" name="tb459"/>
          <p:cNvSpPr txBox="1">
            <a:spLocks noGrp="1"/>
          </p:cNvSpPr>
          <p:nvPr/>
        </p:nvSpPr>
        <p:spPr>
          <a:xfrm>
            <a:off x="468000" y="12708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Partner answers using might/might not: I might go to the cinema. I might not.</a:t>
            </a:r>
          </a:p>
        </p:txBody>
      </p:sp>
      <p:sp>
        <p:nvSpPr>
          <p:cNvPr id="460" name="box460"/>
          <p:cNvSpPr>
            <a:spLocks noGrp="1"/>
          </p:cNvSpPr>
          <p:nvPr/>
        </p:nvSpPr>
        <p:spPr>
          <a:xfrm>
            <a:off x="180000" y="15876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3</a:t>
            </a:r>
          </a:p>
        </p:txBody>
      </p:sp>
      <p:sp>
        <p:nvSpPr>
          <p:cNvPr id="461" name="tb461"/>
          <p:cNvSpPr txBox="1">
            <a:spLocks noGrp="1"/>
          </p:cNvSpPr>
          <p:nvPr/>
        </p:nvSpPr>
        <p:spPr>
          <a:xfrm>
            <a:off x="468000" y="15876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Ask 5 questions each about this week.</a:t>
            </a:r>
          </a:p>
        </p:txBody>
      </p:sp>
      <p:sp>
        <p:nvSpPr>
          <p:cNvPr id="462" name="box462"/>
          <p:cNvSpPr>
            <a:spLocks noGrp="1"/>
          </p:cNvSpPr>
          <p:nvPr/>
        </p:nvSpPr>
        <p:spPr>
          <a:xfrm>
            <a:off x="180000" y="19044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4</a:t>
            </a:r>
          </a:p>
        </p:txBody>
      </p:sp>
      <p:sp>
        <p:nvSpPr>
          <p:cNvPr id="463" name="tb463"/>
          <p:cNvSpPr txBox="1">
            <a:spLocks noGrp="1"/>
          </p:cNvSpPr>
          <p:nvPr/>
        </p:nvSpPr>
        <p:spPr>
          <a:xfrm>
            <a:off x="468000" y="19044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Report: Ali might go to the gym. He might not study tonight.</a:t>
            </a:r>
          </a:p>
        </p:txBody>
      </p:sp>
      <p:sp>
        <p:nvSpPr>
          <p:cNvPr id="464" name="box464"/>
          <p:cNvSpPr>
            <a:spLocks noGrp="1"/>
          </p:cNvSpPr>
          <p:nvPr/>
        </p:nvSpPr>
        <p:spPr>
          <a:xfrm>
            <a:off x="180000" y="6570000"/>
            <a:ext cx="1260000" cy="216000"/>
          </a:xfrm>
          <a:prstGeom prst="roundRect">
            <a:avLst>
              <a:gd name="adj" fmla="val 10000"/>
            </a:avLst>
          </a:prstGeom>
          <a:solidFill>
            <a:srgbClr val="1F3864"/>
          </a:solidFill>
          <a:ln w="0">
            <a:noFill/>
          </a:ln>
        </p:spPr>
        <p:txBody>
          <a:bodyPr anchor="ctr" wrap="square" lIns="72000" rIns="72000" tIns="54000" bIns="54000"/>
          <a:lstStyle/>
          <a:p>
            <a:pPr algn="ctr" spcBef="0" spcAft="0">
              <a:spcPct val="100000"/>
            </a:pPr>
            <a:r>
              <a:rPr lang="en-GB" b="1" sz="1300" dirty="0">
                <a:solidFill>
                  <a:srgbClr val="BF8F00"/>
                </a:solidFill>
                <a:latin typeface="Calibri"/>
              </a:rPr>
              <a:t>👥  Pair Work</a:t>
            </a:r>
          </a:p>
        </p:txBody>
      </p:sp>
    </p:spTree>
  </p:cSld>
  <p:clrMapOvr>
    <a:masterClr/>
  </p:clrMapOvr>
</p:sld>
</file>

<file path=ppt/slides/slide11.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01" name="box5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02" name="box502"/>
          <p:cNvSpPr>
            <a:spLocks noGrp="1"/>
          </p:cNvSpPr>
          <p:nvPr/>
        </p:nvSpPr>
        <p:spPr>
          <a:xfrm>
            <a:off x="0" y="396000"/>
            <a:ext cx="12192000" cy="64800"/>
          </a:xfrm>
          <a:prstGeom prst="rect">
            <a:avLst/>
          </a:prstGeom>
          <a:solidFill>
            <a:srgbClr val="548235"/>
          </a:solidFill>
          <a:ln w="0">
            <a:noFill/>
          </a:ln>
        </p:spPr>
        <p:txBody>
          <a:bodyPr anchor="ctr" wrap="square" lIns="72000" rIns="72000" tIns="54000" bIns="54000"/>
          <a:lstStyle/>
        </p:txBody>
      </p:sp>
      <p:sp>
        <p:nvSpPr>
          <p:cNvPr id="503" name="tb5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READING &amp; WRITING</a:t>
            </a:r>
          </a:p>
        </p:txBody>
      </p:sp>
      <p:sp>
        <p:nvSpPr>
          <p:cNvPr id="504" name="box504"/>
          <p:cNvSpPr>
            <a:spLocks noGrp="1"/>
          </p:cNvSpPr>
          <p:nvPr/>
        </p:nvSpPr>
        <p:spPr>
          <a:xfrm>
            <a:off x="180000" y="540000"/>
            <a:ext cx="900000" cy="198000"/>
          </a:xfrm>
          <a:prstGeom prst="roundRect">
            <a:avLst>
              <a:gd name="adj" fmla="val 10000"/>
            </a:avLst>
          </a:prstGeom>
          <a:solidFill>
            <a:srgbClr val="548235"/>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Reading</a:t>
            </a:r>
          </a:p>
        </p:txBody>
      </p:sp>
      <p:sp>
        <p:nvSpPr>
          <p:cNvPr id="505" name="box505"/>
          <p:cNvSpPr>
            <a:spLocks noGrp="1"/>
          </p:cNvSpPr>
          <p:nvPr/>
        </p:nvSpPr>
        <p:spPr>
          <a:xfrm>
            <a:off x="180000" y="792000"/>
            <a:ext cx="11832000" cy="612000"/>
          </a:xfrm>
          <a:prstGeom prst="rect">
            <a:avLst/>
          </a:prstGeom>
          <a:solidFill>
            <a:srgbClr val="F2F2F2"/>
          </a:solidFill>
          <a:ln w="12700">
            <a:solidFill>
              <a:srgbClr val="CCCCCC"/>
            </a:solidFill>
          </a:ln>
        </p:spPr>
        <p:txBody>
          <a:bodyPr anchor="t" wrap="square" lIns="108000" rIns="72000" tIns="72000" bIns="54000"/>
          <a:lstStyle/>
          <a:p>
            <a:pPr algn="l" spcBef="0" spcAft="0">
              <a:spcPct val="100000"/>
            </a:pPr>
            <a:r>
              <a:rPr lang="en-GB" b="0" i="1" sz="1300" dirty="0">
                <a:solidFill>
                  <a:srgbClr val="404040"/>
                </a:solidFill>
                <a:latin typeface="Calibri"/>
              </a:rPr>
              <a:t>Its Saturday morning. Sara doesnt have definite plans. She might go shopping or she might stay home and read. Her friend Tom might call her. If the weather is nice, they might go for a walk in the park. But it might rain, so they might not go out at all. Sara says: "I dont know what Ill do. It depends."</a:t>
            </a:r>
          </a:p>
        </p:txBody>
      </p:sp>
      <p:sp>
        <p:nvSpPr>
          <p:cNvPr id="506" name="box506"/>
          <p:cNvSpPr>
            <a:spLocks noGrp="1"/>
          </p:cNvSpPr>
          <p:nvPr/>
        </p:nvSpPr>
        <p:spPr>
          <a:xfrm>
            <a:off x="180000" y="1475999"/>
            <a:ext cx="900000" cy="198000"/>
          </a:xfrm>
          <a:prstGeom prst="roundRect">
            <a:avLst>
              <a:gd name="adj" fmla="val 10000"/>
            </a:avLst>
          </a:prstGeom>
          <a:solidFill>
            <a:srgbClr val="548235"/>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Writing</a:t>
            </a:r>
          </a:p>
        </p:txBody>
      </p:sp>
      <p:sp>
        <p:nvSpPr>
          <p:cNvPr id="507" name="tb507"/>
          <p:cNvSpPr txBox="1">
            <a:spLocks noGrp="1"/>
          </p:cNvSpPr>
          <p:nvPr/>
        </p:nvSpPr>
        <p:spPr>
          <a:xfrm>
            <a:off x="180000" y="1728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548235"/>
                </a:solidFill>
                <a:latin typeface="Calibri"/>
              </a:rPr>
              <a:t>Write 5 sentences about things that might happen this week.</a:t>
            </a:r>
          </a:p>
        </p:txBody>
      </p:sp>
      <p:sp>
        <p:nvSpPr>
          <p:cNvPr id="508" name="tb508"/>
          <p:cNvSpPr txBox="1">
            <a:spLocks noGrp="1"/>
          </p:cNvSpPr>
          <p:nvPr/>
        </p:nvSpPr>
        <p:spPr>
          <a:xfrm>
            <a:off x="180000" y="20159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Something you might do this evening.</a:t>
            </a:r>
          </a:p>
        </p:txBody>
      </p:sp>
      <p:sp>
        <p:nvSpPr>
          <p:cNvPr id="509" name="tb509"/>
          <p:cNvSpPr txBox="1">
            <a:spLocks noGrp="1"/>
          </p:cNvSpPr>
          <p:nvPr/>
        </p:nvSpPr>
        <p:spPr>
          <a:xfrm>
            <a:off x="180000" y="21527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Something that might happen with the weather.</a:t>
            </a:r>
          </a:p>
        </p:txBody>
      </p:sp>
      <p:sp>
        <p:nvSpPr>
          <p:cNvPr id="510" name="tb510"/>
          <p:cNvSpPr txBox="1">
            <a:spLocks noGrp="1"/>
          </p:cNvSpPr>
          <p:nvPr/>
        </p:nvSpPr>
        <p:spPr>
          <a:xfrm>
            <a:off x="180000" y="22895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Something a friend might do.</a:t>
            </a:r>
          </a:p>
        </p:txBody>
      </p:sp>
    </p:spTree>
  </p:cSld>
  <p:clrMapOvr>
    <a:masterClr/>
  </p:clrMapOvr>
</p:sld>
</file>

<file path=ppt/slides/slide12.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51" name="box5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52" name="box5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553" name="tb5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HOMEWORK</a:t>
            </a:r>
          </a:p>
        </p:txBody>
      </p:sp>
      <p:sp>
        <p:nvSpPr>
          <p:cNvPr id="554" name="box554"/>
          <p:cNvSpPr>
            <a:spLocks noGrp="1"/>
          </p:cNvSpPr>
          <p:nvPr/>
        </p:nvSpPr>
        <p:spPr>
          <a:xfrm>
            <a:off x="180000" y="540000"/>
            <a:ext cx="432000" cy="432000"/>
          </a:xfrm>
          <a:prstGeom prst="roundRect">
            <a:avLst>
              <a:gd name="adj" fmla="val 50000"/>
            </a:avLst>
          </a:prstGeom>
          <a:solidFill>
            <a:srgbClr val="BF8F00"/>
          </a:solidFill>
          <a:ln w="0">
            <a:noFill/>
          </a:ln>
        </p:spPr>
        <p:txBody>
          <a:bodyPr anchor="ctr" wrap="square" lIns="72000" rIns="72000" tIns="54000" bIns="54000"/>
          <a:lstStyle/>
          <a:p>
            <a:pPr algn="ctr" spcBef="0" spcAft="0">
              <a:spcPct val="100000"/>
            </a:pPr>
            <a:r>
              <a:rPr lang="en-GB" b="1" sz="2800" dirty="0">
                <a:solidFill>
                  <a:srgbClr val="1F3864"/>
                </a:solidFill>
                <a:latin typeface="Cambria"/>
              </a:rPr>
              <a:t>1</a:t>
            </a:r>
          </a:p>
        </p:txBody>
      </p:sp>
      <p:sp>
        <p:nvSpPr>
          <p:cNvPr id="555" name="box555"/>
          <p:cNvSpPr>
            <a:spLocks noGrp="1"/>
          </p:cNvSpPr>
          <p:nvPr/>
        </p:nvSpPr>
        <p:spPr>
          <a:xfrm>
            <a:off x="684000" y="540000"/>
            <a:ext cx="11328000" cy="432000"/>
          </a:xfrm>
          <a:prstGeom prst="rect">
            <a:avLst/>
          </a:prstGeom>
          <a:solidFill>
            <a:srgbClr val="DCE6F1"/>
          </a:solidFill>
          <a:ln w="12700">
            <a:solidFill>
              <a:srgbClr val="2E75B6"/>
            </a:solidFill>
          </a:ln>
        </p:spPr>
        <p:txBody>
          <a:bodyPr anchor="ctr" wrap="square" lIns="108000" rIns="72000" tIns="54000" bIns="54000"/>
          <a:lstStyle/>
          <a:p>
            <a:pPr algn="l" spcBef="0" spcAft="0">
              <a:spcPct val="100000"/>
            </a:pPr>
            <a:r>
              <a:rPr lang="en-GB" b="1" sz="1500" dirty="0">
                <a:solidFill>
                  <a:srgbClr val="1F3864"/>
                </a:solidFill>
                <a:latin typeface="Calibri"/>
              </a:rPr>
              <a:t>Production Task  </a:t>
            </a:r>
            <a:r>
              <a:rPr lang="en-GB" b="0" sz="1400" dirty="0">
                <a:solidFill>
                  <a:srgbClr val="404040"/>
                </a:solidFill>
                <a:latin typeface="Calibri"/>
              </a:rPr>
              <a:t>Write 8 sentences about your plans for this week. For 4 sentences use will/going to (sure plans). For 4 sentences use might (possible plans). Label each: SURE or POSSIBLE.</a:t>
            </a:r>
          </a:p>
        </p:txBody>
      </p:sp>
      <p:sp>
        <p:nvSpPr>
          <p:cNvPr id="556" name="box556"/>
          <p:cNvSpPr>
            <a:spLocks noGrp="1"/>
          </p:cNvSpPr>
          <p:nvPr/>
        </p:nvSpPr>
        <p:spPr>
          <a:xfrm>
            <a:off x="180000" y="1080000"/>
            <a:ext cx="432000" cy="432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2800" dirty="0">
                <a:solidFill>
                  <a:srgbClr val="FFFFFF"/>
                </a:solidFill>
                <a:latin typeface="Cambria"/>
              </a:rPr>
              <a:t>2</a:t>
            </a:r>
          </a:p>
        </p:txBody>
      </p:sp>
      <p:sp>
        <p:nvSpPr>
          <p:cNvPr id="557" name="box557"/>
          <p:cNvSpPr>
            <a:spLocks noGrp="1"/>
          </p:cNvSpPr>
          <p:nvPr/>
        </p:nvSpPr>
        <p:spPr>
          <a:xfrm>
            <a:off x="684000" y="1080000"/>
            <a:ext cx="11328000" cy="432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1" sz="1500" dirty="0">
                <a:solidFill>
                  <a:srgbClr val="1F3864"/>
                </a:solidFill>
                <a:latin typeface="Calibri"/>
              </a:rPr>
              <a:t>Vocabulary Consolidation  </a:t>
            </a:r>
            <a:r>
              <a:rPr lang="en-GB" b="0" sz="1400" dirty="0">
                <a:solidFill>
                  <a:srgbClr val="404040"/>
                </a:solidFill>
                <a:latin typeface="Calibri"/>
              </a:rPr>
              <a:t>Match each of the 30 vocabulary words from Section 4 to its definition.</a:t>
            </a:r>
          </a:p>
        </p:txBody>
      </p:sp>
      <p:sp>
        <p:nvSpPr>
          <p:cNvPr id="558" name="box558"/>
          <p:cNvSpPr>
            <a:spLocks noGrp="1"/>
          </p:cNvSpPr>
          <p:nvPr/>
        </p:nvSpPr>
        <p:spPr>
          <a:xfrm>
            <a:off x="180000" y="6498000"/>
            <a:ext cx="1440000" cy="216000"/>
          </a:xfrm>
          <a:prstGeom prst="roundRect">
            <a:avLst>
              <a:gd name="adj" fmla="val 10000"/>
            </a:avLst>
          </a:prstGeom>
          <a:solidFill>
            <a:srgbClr val="1F3864"/>
          </a:solidFill>
          <a:ln w="0">
            <a:noFill/>
          </a:ln>
        </p:spPr>
        <p:txBody>
          <a:bodyPr anchor="ctr" wrap="square" lIns="72000" rIns="72000" tIns="54000" bIns="54000"/>
          <a:lstStyle/>
          <a:p>
            <a:pPr algn="ctr" spcBef="0" spcAft="0">
              <a:spcPct val="100000"/>
            </a:pPr>
            <a:r>
              <a:rPr lang="en-GB" b="1" sz="1300" dirty="0">
                <a:solidFill>
                  <a:srgbClr val="BF8F00"/>
                </a:solidFill>
                <a:latin typeface="Calibri"/>
              </a:rPr>
              <a:t>📅  Due: next class</a:t>
            </a:r>
          </a:p>
        </p:txBody>
      </p:sp>
    </p:spTree>
  </p:cSld>
  <p:clrMapOvr>
    <a:masterClr/>
  </p:clrMapOvr>
</p:sld>
</file>

<file path=ppt/slides/slide13.xml><?xml version="1.0" encoding="utf-8"?>
<p:sld xmlns:p="http://schemas.openxmlformats.org/presentationml/2006/main" xmlns:a="http://schemas.openxmlformats.org/drawingml/2006/main" xmlns:r="http://schemas.openxmlformats.org/officeDocument/2006/relationships" xmlns:dc="http://purl.org/dc/elements/1.1/">
  <p:cSld>
    <p:bg>
      <p:bgPr>
        <a:solidFill>
          <a:srgbClr val="1F3864"/>
        </a:solidFill>
        <a:effectLst/>
      </p:bgPr>
    </p:bg>
    <p:spTree>
      <p:nvGrpSpPr>
        <p:cNvPr id="1" name="content"/>
        <p:cNvGrpSpPr/>
        <p:nvPr/>
      </p:nvGrpSpPr>
      <p:grpSpPr>
        <a:xfrm>
          <a:off x="0" y="0"/>
          <a:ext cx="12192000" cy="6858000"/>
          <a:chOff x="0" y="0"/>
          <a:chExt cx="12192000" cy="6858000"/>
        </a:xfrm>
      </p:grpSpPr>
      <p:sp>
        <p:nvSpPr>
          <p:cNvPr id="601" name="shape601"/>
          <p:cNvSpPr>
            <a:spLocks noGrp="1"/>
          </p:cNvSpPr>
          <p:nvPr/>
        </p:nvSpPr>
        <p:spPr>
          <a:xfrm>
            <a:off x="0" y="0"/>
            <a:ext cx="12192000" cy="6858000"/>
          </a:xfrm>
          <a:prstGeom prst="rect">
            <a:avLst/>
          </a:prstGeom>
          <a:gradFill rot="1">
            <a:gsLst>
              <a:gs pos="0">
                <a:srgbClr val="1F3864"/>
              </a:gs>
              <a:gs pos="100000">
                <a:srgbClr val="0D2245"/>
              </a:gs>
            </a:gsLst>
            <a:lin ang="5400000" scaled="0"/>
          </a:gradFill>
        </p:spPr>
        <p:txBody>
          <a:bodyPr/>
          <a:lstStyle/>
          <a:p/>
        </p:txBody>
      </p:sp>
      <p:sp>
        <p:nvSpPr>
          <p:cNvPr id="602" name="shape602"/>
          <p:cNvSpPr>
            <a:spLocks noGrp="1"/>
          </p:cNvSpPr>
          <p:nvPr/>
        </p:nvSpPr>
        <p:spPr>
          <a:xfrm>
            <a:off x="0" y="0"/>
            <a:ext cx="12192000" cy="108000"/>
          </a:xfrm>
          <a:prstGeom prst="rect">
            <a:avLst/>
          </a:prstGeom>
          <a:solidFill>
            <a:srgbClr val="BF8F00"/>
          </a:solidFill>
        </p:spPr>
        <p:txBody>
          <a:bodyPr/>
          <a:lstStyle/>
          <a:p/>
        </p:txBody>
      </p:sp>
      <p:sp>
        <p:nvSpPr>
          <p:cNvPr id="603" name="shape603"/>
          <p:cNvSpPr>
            <a:spLocks noGrp="1"/>
          </p:cNvSpPr>
          <p:nvPr/>
        </p:nvSpPr>
        <p:spPr>
          <a:xfrm>
            <a:off x="0" y="6750000"/>
            <a:ext cx="12192000" cy="108000"/>
          </a:xfrm>
          <a:prstGeom prst="rect">
            <a:avLst/>
          </a:prstGeom>
          <a:solidFill>
            <a:srgbClr val="BF8F00"/>
          </a:solidFill>
        </p:spPr>
        <p:txBody>
          <a:bodyPr/>
          <a:lstStyle/>
          <a:p/>
        </p:txBody>
      </p:sp>
      <p:sp>
        <p:nvSpPr>
          <p:cNvPr id="604" name="shape604"/>
          <p:cNvSpPr>
            <a:spLocks noGrp="1"/>
          </p:cNvSpPr>
          <p:nvPr/>
        </p:nvSpPr>
        <p:spPr>
          <a:xfrm>
            <a:off x="0" y="0"/>
            <a:ext cx="144000" cy="6858000"/>
          </a:xfrm>
          <a:prstGeom prst="rect">
            <a:avLst/>
          </a:prstGeom>
          <a:solidFill>
            <a:srgbClr val="BF8F00"/>
          </a:solidFill>
        </p:spPr>
        <p:txBody>
          <a:bodyPr/>
          <a:lstStyle/>
          <a:p/>
        </p:txBody>
      </p:sp>
      <p:sp>
        <p:nvSpPr>
          <p:cNvPr id="605" name="box605"/>
          <p:cNvSpPr>
            <a:spLocks noGrp="1"/>
          </p:cNvSpPr>
          <p:nvPr/>
        </p:nvSpPr>
        <p:spPr>
          <a:xfrm>
            <a:off x="432000" y="432000"/>
            <a:ext cx="1800000" cy="324000"/>
          </a:xfrm>
          <a:prstGeom prst="roundRect">
            <a:avLst>
              <a:gd name="adj" fmla="val 20000"/>
            </a:avLst>
          </a:prstGeom>
          <a:solidFill>
            <a:srgbClr val="BF8F00"/>
          </a:solidFill>
          <a:ln w="0">
            <a:noFill/>
          </a:ln>
        </p:spPr>
        <p:txBody>
          <a:bodyPr anchor="ctr" wrap="square" lIns="72000" rIns="72000" tIns="54000" bIns="54000"/>
          <a:lstStyle/>
          <a:p>
            <a:pPr algn="ctr" spcBef="0" spcAft="0">
              <a:spcPct val="100000"/>
            </a:pPr>
            <a:r>
              <a:rPr lang="en-GB" b="1" sz="1600" dirty="0">
                <a:solidFill>
                  <a:srgbClr val="1F3864"/>
                </a:solidFill>
                <a:latin typeface="Cambria"/>
              </a:rPr>
              <a:t>UNIT 30  ·  A2</a:t>
            </a:r>
          </a:p>
        </p:txBody>
      </p:sp>
      <p:sp>
        <p:nvSpPr>
          <p:cNvPr id="606" name="tb606"/>
          <p:cNvSpPr txBox="1">
            <a:spLocks noGrp="1"/>
          </p:cNvSpPr>
          <p:nvPr/>
        </p:nvSpPr>
        <p:spPr>
          <a:xfrm>
            <a:off x="432000" y="827999"/>
            <a:ext cx="11472000" cy="900000"/>
          </a:xfrm>
          <a:prstGeom prst="rect">
            <a:avLst/>
          </a:prstGeom>
          <a:noFill/>
        </p:spPr>
        <p:txBody>
          <a:bodyPr anchor="t" wrap="square" lIns="36000" rIns="36000" tIns="36000" bIns="36000"/>
          <a:lstStyle/>
          <a:p>
            <a:pPr algn="l" spcBef="0" spcAft="0">
              <a:spcPct val="100000"/>
            </a:pPr>
            <a:r>
              <a:rPr lang="en-GB" b="1" sz="3600" dirty="0">
                <a:solidFill>
                  <a:srgbClr val="FFFFFF"/>
                </a:solidFill>
                <a:latin typeface="Cambria"/>
              </a:rPr>
              <a:t>Might and May — Possibility</a:t>
            </a:r>
          </a:p>
        </p:txBody>
      </p:sp>
      <p:sp>
        <p:nvSpPr>
          <p:cNvPr id="607" name="tb607"/>
          <p:cNvSpPr txBox="1">
            <a:spLocks noGrp="1"/>
          </p:cNvSpPr>
          <p:nvPr/>
        </p:nvSpPr>
        <p:spPr>
          <a:xfrm>
            <a:off x="432000" y="1800000"/>
            <a:ext cx="11472000" cy="324000"/>
          </a:xfrm>
          <a:prstGeom prst="rect">
            <a:avLst/>
          </a:prstGeom>
          <a:noFill/>
        </p:spPr>
        <p:txBody>
          <a:bodyPr anchor="ctr" wrap="square" lIns="36000" rIns="36000" tIns="36000" bIns="36000"/>
          <a:lstStyle/>
          <a:p>
            <a:pPr algn="l" spcBef="0" spcAft="0">
              <a:spcPct val="100000"/>
            </a:pPr>
            <a:r>
              <a:rPr lang="en-GB" b="0" i="1" sz="1600" dirty="0">
                <a:solidFill>
                  <a:srgbClr val="BF8F00"/>
                </a:solidFill>
                <a:latin typeface="Calibri"/>
              </a:rPr>
              <a:t>✦  Grammar is not a rule — it is a tool. Use it!</a:t>
            </a:r>
          </a:p>
        </p:txBody>
      </p:sp>
      <p:sp>
        <p:nvSpPr>
          <p:cNvPr id="608" name="box608"/>
          <p:cNvSpPr>
            <a:spLocks noGrp="1"/>
          </p:cNvSpPr>
          <p:nvPr/>
        </p:nvSpPr>
        <p:spPr>
          <a:xfrm>
            <a:off x="10752000" y="6462000"/>
            <a:ext cx="1260000" cy="234000"/>
          </a:xfrm>
          <a:prstGeom prst="roundRect">
            <a:avLst>
              <a:gd name="adj" fmla="val 10000"/>
            </a:avLst>
          </a:prstGeom>
          <a:solidFill>
            <a:srgbClr val="2E75B6"/>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See you next class! 👋</a:t>
            </a:r>
          </a:p>
        </p:txBody>
      </p:sp>
    </p:spTree>
  </p:cSld>
  <p:clrMapOvr>
    <a:masterClr/>
  </p:clrMapOvr>
</p:sld>
</file>