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0"/>
  </p:sld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type="screen16x9"/>
  <p:notesSz cx="6858000" cy="12192000"/>
</p:presentation>
</file>

<file path=ppt/_rels/presentation.xml.rels><?xml version="1.0" encoding="UTF-8" standalone="yes"?>
<Relationships xmlns="http://schemas.openxmlformats.org/package/2006/relationships">
  <Relationship Id="rId0"
    Type="http://schemas.openxmlformats.org/officeDocument/2006/relationships/slideMaster"
    Target="slideMasters/slideMaster1.xml"/>
  <Relationship Id="rId1"
    Type="http://schemas.openxmlformats.org/officeDocument/2006/relationships/slide"
    Target="slides/slide1.xml"/>
  <Relationship Id="rId2"
    Type="http://schemas.openxmlformats.org/officeDocument/2006/relationships/slide"
    Target="slides/slide2.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 Id="rId10"
    Type="http://schemas.openxmlformats.org/officeDocument/2006/relationships/slide"
    Target="slides/slide10.xml"/>
  <Relationship Id="rId11"
    Type="http://schemas.openxmlformats.org/officeDocument/2006/relationships/slide"
    Target="slides/slide11.xml"/>
  <Relationship Id="rId12"
    Type="http://schemas.openxmlformats.org/officeDocument/2006/relationships/slide"
    Target="slides/slide12.xml"/>
  <Relationship Id="rId13"
    Type="http://schemas.openxmlformats.org/officeDocument/2006/relationships/slide"
    Target="slides/slide13.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a:xfrm>
          <a:off x="0" y="0"/>
          <a:ext cx="12192000" cy="6858000"/>
          <a:chOff x="0" y="0"/>
          <a:chExt cx="12192000" cy="6858000"/>
        </a:xfrm>
      </p:grpSpPr>
    </p:spTree>
  </p:cSld>
  <p:clrMapOvr>
    <a:masterClr/>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12192000" cy="6858000"/>
          <a:chOff x="0" y="0"/>
          <a:chExt cx="12192000" cy="6858000"/>
        </a:xfrm>
      </p:grpSpPr>
    </p:spTree>
  </p:cSld>
  <p:clrMap bg1="lt1" tx1="dk1" bg2="lt2" tx2="dk2" accent1="accent1" accent2="accent2" accent3="accent3" accent4="accent4" accent5="accent5" accent6="accent6" hlink="hlink" folHlink="folHlink"/>
  <p:sldLayoutIdLst>
    <p:sldLayoutId id="2147483649" r:id="rId1"/>
  </p:sldLayoutIdLst>
  <p:txStyles>
    <p:titleStyle>
      <a:lstStyle/>
    </p:titleStyle>
    <p:bodyStyle>
      <a:lstStyle/>
    </p:bodyStyle>
    <p:otherStyle>
      <a:lstStyle/>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11" name="shape1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12" name="shape12"/>
          <p:cNvSpPr>
            <a:spLocks noGrp="1"/>
          </p:cNvSpPr>
          <p:nvPr/>
        </p:nvSpPr>
        <p:spPr>
          <a:xfrm>
            <a:off x="0" y="0"/>
            <a:ext cx="144000" cy="6858000"/>
          </a:xfrm>
          <a:prstGeom prst="rect">
            <a:avLst/>
          </a:prstGeom>
          <a:solidFill>
            <a:srgbClr val="BF8F00"/>
          </a:solidFill>
        </p:spPr>
        <p:txBody>
          <a:bodyPr/>
          <a:lstStyle/>
          <a:p/>
        </p:txBody>
      </p:sp>
      <p:sp>
        <p:nvSpPr>
          <p:cNvPr id="13" name="shape13"/>
          <p:cNvSpPr>
            <a:spLocks noGrp="1"/>
          </p:cNvSpPr>
          <p:nvPr/>
        </p:nvSpPr>
        <p:spPr>
          <a:xfrm>
            <a:off x="0" y="0"/>
            <a:ext cx="12192000" cy="108000"/>
          </a:xfrm>
          <a:prstGeom prst="rect">
            <a:avLst/>
          </a:prstGeom>
          <a:solidFill>
            <a:srgbClr val="BF8F00"/>
          </a:solidFill>
        </p:spPr>
        <p:txBody>
          <a:bodyPr/>
          <a:lstStyle/>
          <a:p/>
        </p:txBody>
      </p:sp>
      <p:sp>
        <p:nvSpPr>
          <p:cNvPr id="14" name="box14"/>
          <p:cNvSpPr>
            <a:spLocks noGrp="1"/>
          </p:cNvSpPr>
          <p:nvPr/>
        </p:nvSpPr>
        <p:spPr>
          <a:xfrm>
            <a:off x="432000" y="468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26  ·  A2</a:t>
            </a:r>
          </a:p>
        </p:txBody>
      </p:sp>
      <p:sp>
        <p:nvSpPr>
          <p:cNvPr id="15" name="tb15"/>
          <p:cNvSpPr txBox="1">
            <a:spLocks noGrp="1"/>
          </p:cNvSpPr>
          <p:nvPr/>
        </p:nvSpPr>
        <p:spPr>
          <a:xfrm>
            <a:off x="432000" y="900000"/>
            <a:ext cx="11472000" cy="288000"/>
          </a:xfrm>
          <a:prstGeom prst="rect">
            <a:avLst/>
          </a:prstGeom>
          <a:noFill/>
        </p:spPr>
        <p:txBody>
          <a:bodyPr anchor="ctr" wrap="square" lIns="36000" rIns="36000" tIns="36000" bIns="36000"/>
          <a:lstStyle/>
          <a:p>
            <a:pPr algn="l" spcBef="0" spcAft="0">
              <a:spcPct val="100000"/>
            </a:pPr>
            <a:r>
              <a:rPr lang="en-GB" b="0" sz="1500" dirty="0">
                <a:solidFill>
                  <a:srgbClr val="BFC9D6"/>
                </a:solidFill>
                <a:latin typeface="Calibri"/>
              </a:rPr>
              <a:t>English Grammar in Action — Level 1</a:t>
            </a:r>
          </a:p>
        </p:txBody>
      </p:sp>
      <p:sp>
        <p:nvSpPr>
          <p:cNvPr id="16" name="tb16"/>
          <p:cNvSpPr txBox="1">
            <a:spLocks noGrp="1"/>
          </p:cNvSpPr>
          <p:nvPr/>
        </p:nvSpPr>
        <p:spPr>
          <a:xfrm>
            <a:off x="432000" y="1188000"/>
            <a:ext cx="11472000" cy="1080000"/>
          </a:xfrm>
          <a:prstGeom prst="rect">
            <a:avLst/>
          </a:prstGeom>
          <a:noFill/>
        </p:spPr>
        <p:txBody>
          <a:bodyPr anchor="t" wrap="square" lIns="36000" rIns="36000" tIns="36000" bIns="36000"/>
          <a:lstStyle/>
          <a:p>
            <a:pPr algn="l" spcBef="0" spcAft="0">
              <a:spcPct val="100000"/>
            </a:pPr>
            <a:r>
              <a:rPr lang="en-GB" b="1" sz="4000" dirty="0">
                <a:solidFill>
                  <a:srgbClr val="FFFFFF"/>
                </a:solidFill>
                <a:latin typeface="Cambria"/>
              </a:rPr>
              <a:t>Present Continuous for Future Arrangements</a:t>
            </a:r>
          </a:p>
        </p:txBody>
      </p:sp>
      <p:sp>
        <p:nvSpPr>
          <p:cNvPr id="17" name="tb17"/>
          <p:cNvSpPr txBox="1">
            <a:spLocks noGrp="1"/>
          </p:cNvSpPr>
          <p:nvPr/>
        </p:nvSpPr>
        <p:spPr>
          <a:xfrm>
            <a:off x="432000" y="2088000"/>
            <a:ext cx="11472000" cy="360000"/>
          </a:xfrm>
          <a:prstGeom prst="rect">
            <a:avLst/>
          </a:prstGeom>
          <a:noFill/>
        </p:spPr>
        <p:txBody>
          <a:bodyPr anchor="ctr" wrap="square" lIns="36000" rIns="36000" tIns="36000" bIns="36000"/>
          <a:lstStyle/>
          <a:p>
            <a:pPr algn="l" spcBef="0" spcAft="0">
              <a:spcPct val="100000"/>
            </a:pPr>
            <a:r>
              <a:rPr lang="en-GB" b="0" i="1" sz="1700" dirty="0">
                <a:solidFill>
                  <a:srgbClr val="DCE6F1"/>
                </a:solidFill>
                <a:latin typeface="Calibri"/>
              </a:rPr>
              <a:t>am/is/are + -ing for future plans and arrangements; present simple for timetables</a:t>
            </a:r>
          </a:p>
        </p:txBody>
      </p:sp>
      <p:sp>
        <p:nvSpPr>
          <p:cNvPr id="18" name="shape18"/>
          <p:cNvSpPr>
            <a:spLocks noGrp="1"/>
          </p:cNvSpPr>
          <p:nvPr/>
        </p:nvSpPr>
        <p:spPr>
          <a:xfrm>
            <a:off x="0" y="6768000"/>
            <a:ext cx="12192000" cy="90000"/>
          </a:xfrm>
          <a:prstGeom prst="rect">
            <a:avLst/>
          </a:prstGeom>
          <a:solidFill>
            <a:srgbClr val="BF8F00"/>
          </a:solidFill>
        </p:spPr>
        <p:txBody>
          <a:bodyPr/>
          <a:lstStyle/>
          <a:p/>
        </p:txBody>
      </p:sp>
      <p:sp>
        <p:nvSpPr>
          <p:cNvPr id="19" name="box19"/>
          <p:cNvSpPr>
            <a:spLocks noGrp="1"/>
          </p:cNvSpPr>
          <p:nvPr/>
        </p:nvSpPr>
        <p:spPr>
          <a:xfrm>
            <a:off x="11112000" y="6354001"/>
            <a:ext cx="936000" cy="360000"/>
          </a:xfrm>
          <a:prstGeom prst="roundRect">
            <a:avLst>
              <a:gd name="adj" fmla="val 2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CEFR  A2</a:t>
            </a:r>
          </a:p>
        </p:txBody>
      </p:sp>
    </p:spTree>
  </p:cSld>
  <p:clrMapOvr>
    <a:masterClr/>
  </p:clrMapOvr>
</p:sld>
</file>

<file path=ppt/slides/slide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1" name="box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2" name="box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3" name="tb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LEARNING OBJECTIVES</a:t>
            </a:r>
          </a:p>
        </p:txBody>
      </p:sp>
      <p:sp>
        <p:nvSpPr>
          <p:cNvPr id="54" name="box54"/>
          <p:cNvSpPr>
            <a:spLocks noGrp="1"/>
          </p:cNvSpPr>
          <p:nvPr/>
        </p:nvSpPr>
        <p:spPr>
          <a:xfrm>
            <a:off x="180000" y="5400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5" name="box55"/>
          <p:cNvSpPr>
            <a:spLocks noGrp="1"/>
          </p:cNvSpPr>
          <p:nvPr/>
        </p:nvSpPr>
        <p:spPr>
          <a:xfrm>
            <a:off x="558000" y="5400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Present Continuous to express fixed future plans and arrangements.</a:t>
            </a:r>
          </a:p>
        </p:txBody>
      </p:sp>
      <p:sp>
        <p:nvSpPr>
          <p:cNvPr id="56" name="box56"/>
          <p:cNvSpPr>
            <a:spLocks noGrp="1"/>
          </p:cNvSpPr>
          <p:nvPr/>
        </p:nvSpPr>
        <p:spPr>
          <a:xfrm>
            <a:off x="180000" y="9252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7" name="box57"/>
          <p:cNvSpPr>
            <a:spLocks noGrp="1"/>
          </p:cNvSpPr>
          <p:nvPr/>
        </p:nvSpPr>
        <p:spPr>
          <a:xfrm>
            <a:off x="558000" y="9252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Distinguish Present Continuous future from Present Continuous now (context).</a:t>
            </a:r>
          </a:p>
        </p:txBody>
      </p:sp>
      <p:sp>
        <p:nvSpPr>
          <p:cNvPr id="58" name="box58"/>
          <p:cNvSpPr>
            <a:spLocks noGrp="1"/>
          </p:cNvSpPr>
          <p:nvPr/>
        </p:nvSpPr>
        <p:spPr>
          <a:xfrm>
            <a:off x="180000" y="13104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9" name="box59"/>
          <p:cNvSpPr>
            <a:spLocks noGrp="1"/>
          </p:cNvSpPr>
          <p:nvPr/>
        </p:nvSpPr>
        <p:spPr>
          <a:xfrm>
            <a:off x="558000" y="13104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Present Simple for schedules, timetables, and programmes.</a:t>
            </a:r>
          </a:p>
        </p:txBody>
      </p:sp>
      <p:sp>
        <p:nvSpPr>
          <p:cNvPr id="60" name="box60"/>
          <p:cNvSpPr>
            <a:spLocks noGrp="1"/>
          </p:cNvSpPr>
          <p:nvPr/>
        </p:nvSpPr>
        <p:spPr>
          <a:xfrm>
            <a:off x="180000" y="16956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1" name="box61"/>
          <p:cNvSpPr>
            <a:spLocks noGrp="1"/>
          </p:cNvSpPr>
          <p:nvPr/>
        </p:nvSpPr>
        <p:spPr>
          <a:xfrm>
            <a:off x="558000" y="16956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Compare: I am doing (arrangement) vs the train leaves (timetable).</a:t>
            </a:r>
          </a:p>
        </p:txBody>
      </p:sp>
      <p:sp>
        <p:nvSpPr>
          <p:cNvPr id="62" name="box62"/>
          <p:cNvSpPr>
            <a:spLocks noGrp="1"/>
          </p:cNvSpPr>
          <p:nvPr/>
        </p:nvSpPr>
        <p:spPr>
          <a:xfrm>
            <a:off x="180000" y="20808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3" name="box63"/>
          <p:cNvSpPr>
            <a:spLocks noGrp="1"/>
          </p:cNvSpPr>
          <p:nvPr/>
        </p:nvSpPr>
        <p:spPr>
          <a:xfrm>
            <a:off x="558000" y="20808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Produce sentences about personal plans using Present Continuous for future.</a:t>
            </a:r>
          </a:p>
        </p:txBody>
      </p:sp>
    </p:spTree>
  </p:cSld>
  <p:clrMapOvr>
    <a:masterClr/>
  </p:clrMapOvr>
</p:sld>
</file>

<file path=ppt/slides/slide3.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01" name="box1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02" name="box1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103" name="tb1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WARM-UP ACTIVITY</a:t>
            </a:r>
          </a:p>
        </p:txBody>
      </p:sp>
      <p:sp>
        <p:nvSpPr>
          <p:cNvPr id="104" name="box104"/>
          <p:cNvSpPr>
            <a:spLocks noGrp="1"/>
          </p:cNvSpPr>
          <p:nvPr/>
        </p:nvSpPr>
        <p:spPr>
          <a:xfrm>
            <a:off x="180000" y="540000"/>
            <a:ext cx="11832000" cy="396000"/>
          </a:xfrm>
          <a:prstGeom prst="roundRect">
            <a:avLst>
              <a:gd name="adj" fmla="val 15000"/>
            </a:avLst>
          </a:prstGeom>
          <a:solidFill>
            <a:srgbClr val="BF8F00"/>
          </a:solidFill>
          <a:ln w="0">
            <a:noFill/>
          </a:ln>
        </p:spPr>
        <p:txBody>
          <a:bodyPr anchor="ctr" wrap="square" lIns="180000" rIns="72000" tIns="54000" bIns="54000"/>
          <a:lstStyle/>
          <a:p>
            <a:pPr algn="l" spcBef="0" spcAft="0">
              <a:spcPct val="100000"/>
            </a:pPr>
            <a:r>
              <a:rPr lang="en-GB" b="1" sz="2400" dirty="0">
                <a:solidFill>
                  <a:srgbClr val="1F3864"/>
                </a:solidFill>
                <a:latin typeface="Cambria"/>
              </a:rPr>
              <a:t>📅 Whats Your Plan?</a:t>
            </a:r>
          </a:p>
        </p:txBody>
      </p:sp>
      <p:sp>
        <p:nvSpPr>
          <p:cNvPr id="105" name="box105"/>
          <p:cNvSpPr>
            <a:spLocks noGrp="1"/>
          </p:cNvSpPr>
          <p:nvPr/>
        </p:nvSpPr>
        <p:spPr>
          <a:xfrm>
            <a:off x="11040000" y="540000"/>
            <a:ext cx="972000" cy="396000"/>
          </a:xfrm>
          <a:prstGeom prst="roundRect">
            <a:avLst>
              <a:gd name="adj" fmla="val 15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BF8F00"/>
                </a:solidFill>
                <a:latin typeface="Calibri"/>
              </a:rPr>
              <a:t>⏱  5 minutes</a:t>
            </a:r>
          </a:p>
        </p:txBody>
      </p:sp>
      <p:sp>
        <p:nvSpPr>
          <p:cNvPr id="106" name="box106"/>
          <p:cNvSpPr>
            <a:spLocks noGrp="1"/>
          </p:cNvSpPr>
          <p:nvPr/>
        </p:nvSpPr>
        <p:spPr>
          <a:xfrm>
            <a:off x="180000" y="1026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1</a:t>
            </a:r>
          </a:p>
        </p:txBody>
      </p:sp>
      <p:sp>
        <p:nvSpPr>
          <p:cNvPr id="107" name="tb107"/>
          <p:cNvSpPr txBox="1">
            <a:spLocks noGrp="1"/>
          </p:cNvSpPr>
          <p:nvPr/>
        </p:nvSpPr>
        <p:spPr>
          <a:xfrm>
            <a:off x="503999" y="1026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Teacher asks: What are you doing this evening? Tomorrow? Next weekend?</a:t>
            </a:r>
          </a:p>
        </p:txBody>
      </p:sp>
      <p:sp>
        <p:nvSpPr>
          <p:cNvPr id="108" name="box108"/>
          <p:cNvSpPr>
            <a:spLocks noGrp="1"/>
          </p:cNvSpPr>
          <p:nvPr/>
        </p:nvSpPr>
        <p:spPr>
          <a:xfrm>
            <a:off x="180000" y="1458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2</a:t>
            </a:r>
          </a:p>
        </p:txBody>
      </p:sp>
      <p:sp>
        <p:nvSpPr>
          <p:cNvPr id="109" name="tb109"/>
          <p:cNvSpPr txBox="1">
            <a:spLocks noGrp="1"/>
          </p:cNvSpPr>
          <p:nvPr/>
        </p:nvSpPr>
        <p:spPr>
          <a:xfrm>
            <a:off x="503999" y="1458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Students answer using Present Continuous: Im meeting a friend tonight.</a:t>
            </a:r>
          </a:p>
        </p:txBody>
      </p:sp>
      <p:sp>
        <p:nvSpPr>
          <p:cNvPr id="110" name="box110"/>
          <p:cNvSpPr>
            <a:spLocks noGrp="1"/>
          </p:cNvSpPr>
          <p:nvPr/>
        </p:nvSpPr>
        <p:spPr>
          <a:xfrm>
            <a:off x="180000" y="1890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3</a:t>
            </a:r>
          </a:p>
        </p:txBody>
      </p:sp>
      <p:sp>
        <p:nvSpPr>
          <p:cNvPr id="111" name="tb111"/>
          <p:cNvSpPr txBox="1">
            <a:spLocks noGrp="1"/>
          </p:cNvSpPr>
          <p:nvPr/>
        </p:nvSpPr>
        <p:spPr>
          <a:xfrm>
            <a:off x="503999" y="1890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Find someone with the same plan as you!</a:t>
            </a:r>
          </a:p>
        </p:txBody>
      </p:sp>
    </p:spTree>
  </p:cSld>
  <p:clrMapOvr>
    <a:masterClr/>
  </p:clrMapOvr>
</p:sld>
</file>

<file path=ppt/slides/slide4.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51" name="box1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52" name="box1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153" name="tb1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VOCABULARY PREVIEW</a:t>
            </a:r>
          </a:p>
        </p:txBody>
      </p:sp>
      <p:sp>
        <p:nvSpPr>
          <p:cNvPr id="154" name="box154"/>
          <p:cNvSpPr>
            <a:spLocks noGrp="1"/>
          </p:cNvSpPr>
          <p:nvPr/>
        </p:nvSpPr>
        <p:spPr>
          <a:xfrm>
            <a:off x="180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arrangement</a:t>
            </a:r>
          </a:p>
        </p:txBody>
      </p:sp>
      <p:sp>
        <p:nvSpPr>
          <p:cNvPr id="155" name="box155"/>
          <p:cNvSpPr>
            <a:spLocks noGrp="1"/>
          </p:cNvSpPr>
          <p:nvPr/>
        </p:nvSpPr>
        <p:spPr>
          <a:xfrm>
            <a:off x="1007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56" name="box156"/>
          <p:cNvSpPr>
            <a:spLocks noGrp="1"/>
          </p:cNvSpPr>
          <p:nvPr/>
        </p:nvSpPr>
        <p:spPr>
          <a:xfrm>
            <a:off x="1512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plan made with someone</a:t>
            </a:r>
          </a:p>
        </p:txBody>
      </p:sp>
      <p:sp>
        <p:nvSpPr>
          <p:cNvPr id="157" name="box157"/>
          <p:cNvSpPr>
            <a:spLocks noGrp="1"/>
          </p:cNvSpPr>
          <p:nvPr/>
        </p:nvSpPr>
        <p:spPr>
          <a:xfrm>
            <a:off x="6042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appointment</a:t>
            </a:r>
          </a:p>
        </p:txBody>
      </p:sp>
      <p:sp>
        <p:nvSpPr>
          <p:cNvPr id="158" name="box158"/>
          <p:cNvSpPr>
            <a:spLocks noGrp="1"/>
          </p:cNvSpPr>
          <p:nvPr/>
        </p:nvSpPr>
        <p:spPr>
          <a:xfrm>
            <a:off x="6869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59" name="box159"/>
          <p:cNvSpPr>
            <a:spLocks noGrp="1"/>
          </p:cNvSpPr>
          <p:nvPr/>
        </p:nvSpPr>
        <p:spPr>
          <a:xfrm>
            <a:off x="7374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fixed time to see someone</a:t>
            </a:r>
          </a:p>
        </p:txBody>
      </p:sp>
      <p:sp>
        <p:nvSpPr>
          <p:cNvPr id="160" name="box160"/>
          <p:cNvSpPr>
            <a:spLocks noGrp="1"/>
          </p:cNvSpPr>
          <p:nvPr/>
        </p:nvSpPr>
        <p:spPr>
          <a:xfrm>
            <a:off x="180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schedule</a:t>
            </a:r>
          </a:p>
        </p:txBody>
      </p:sp>
      <p:sp>
        <p:nvSpPr>
          <p:cNvPr id="161" name="box161"/>
          <p:cNvSpPr>
            <a:spLocks noGrp="1"/>
          </p:cNvSpPr>
          <p:nvPr/>
        </p:nvSpPr>
        <p:spPr>
          <a:xfrm>
            <a:off x="1007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2" name="box162"/>
          <p:cNvSpPr>
            <a:spLocks noGrp="1"/>
          </p:cNvSpPr>
          <p:nvPr/>
        </p:nvSpPr>
        <p:spPr>
          <a:xfrm>
            <a:off x="1512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plan of times for events</a:t>
            </a:r>
          </a:p>
        </p:txBody>
      </p:sp>
      <p:sp>
        <p:nvSpPr>
          <p:cNvPr id="163" name="box163"/>
          <p:cNvSpPr>
            <a:spLocks noGrp="1"/>
          </p:cNvSpPr>
          <p:nvPr/>
        </p:nvSpPr>
        <p:spPr>
          <a:xfrm>
            <a:off x="6042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timetable</a:t>
            </a:r>
          </a:p>
        </p:txBody>
      </p:sp>
      <p:sp>
        <p:nvSpPr>
          <p:cNvPr id="164" name="box164"/>
          <p:cNvSpPr>
            <a:spLocks noGrp="1"/>
          </p:cNvSpPr>
          <p:nvPr/>
        </p:nvSpPr>
        <p:spPr>
          <a:xfrm>
            <a:off x="6869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5" name="box165"/>
          <p:cNvSpPr>
            <a:spLocks noGrp="1"/>
          </p:cNvSpPr>
          <p:nvPr/>
        </p:nvSpPr>
        <p:spPr>
          <a:xfrm>
            <a:off x="7374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list of times for transport</a:t>
            </a:r>
          </a:p>
        </p:txBody>
      </p:sp>
      <p:sp>
        <p:nvSpPr>
          <p:cNvPr id="166" name="box166"/>
          <p:cNvSpPr>
            <a:spLocks noGrp="1"/>
          </p:cNvSpPr>
          <p:nvPr/>
        </p:nvSpPr>
        <p:spPr>
          <a:xfrm>
            <a:off x="180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diary</a:t>
            </a:r>
          </a:p>
        </p:txBody>
      </p:sp>
      <p:sp>
        <p:nvSpPr>
          <p:cNvPr id="167" name="box167"/>
          <p:cNvSpPr>
            <a:spLocks noGrp="1"/>
          </p:cNvSpPr>
          <p:nvPr/>
        </p:nvSpPr>
        <p:spPr>
          <a:xfrm>
            <a:off x="1007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8" name="box168"/>
          <p:cNvSpPr>
            <a:spLocks noGrp="1"/>
          </p:cNvSpPr>
          <p:nvPr/>
        </p:nvSpPr>
        <p:spPr>
          <a:xfrm>
            <a:off x="1512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book for recording plans</a:t>
            </a:r>
          </a:p>
        </p:txBody>
      </p:sp>
      <p:sp>
        <p:nvSpPr>
          <p:cNvPr id="169" name="box169"/>
          <p:cNvSpPr>
            <a:spLocks noGrp="1"/>
          </p:cNvSpPr>
          <p:nvPr/>
        </p:nvSpPr>
        <p:spPr>
          <a:xfrm>
            <a:off x="6042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invitation</a:t>
            </a:r>
          </a:p>
        </p:txBody>
      </p:sp>
      <p:sp>
        <p:nvSpPr>
          <p:cNvPr id="170" name="box170"/>
          <p:cNvSpPr>
            <a:spLocks noGrp="1"/>
          </p:cNvSpPr>
          <p:nvPr/>
        </p:nvSpPr>
        <p:spPr>
          <a:xfrm>
            <a:off x="6869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71" name="box171"/>
          <p:cNvSpPr>
            <a:spLocks noGrp="1"/>
          </p:cNvSpPr>
          <p:nvPr/>
        </p:nvSpPr>
        <p:spPr>
          <a:xfrm>
            <a:off x="7374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request to attend</a:t>
            </a:r>
          </a:p>
        </p:txBody>
      </p:sp>
      <p:sp>
        <p:nvSpPr>
          <p:cNvPr id="172" name="box172"/>
          <p:cNvSpPr>
            <a:spLocks noGrp="1"/>
          </p:cNvSpPr>
          <p:nvPr/>
        </p:nvSpPr>
        <p:spPr>
          <a:xfrm>
            <a:off x="180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concert</a:t>
            </a:r>
          </a:p>
        </p:txBody>
      </p:sp>
      <p:sp>
        <p:nvSpPr>
          <p:cNvPr id="173" name="box173"/>
          <p:cNvSpPr>
            <a:spLocks noGrp="1"/>
          </p:cNvSpPr>
          <p:nvPr/>
        </p:nvSpPr>
        <p:spPr>
          <a:xfrm>
            <a:off x="1007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74" name="box174"/>
          <p:cNvSpPr>
            <a:spLocks noGrp="1"/>
          </p:cNvSpPr>
          <p:nvPr/>
        </p:nvSpPr>
        <p:spPr>
          <a:xfrm>
            <a:off x="1512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musical performance</a:t>
            </a:r>
          </a:p>
        </p:txBody>
      </p:sp>
      <p:sp>
        <p:nvSpPr>
          <p:cNvPr id="175" name="box175"/>
          <p:cNvSpPr>
            <a:spLocks noGrp="1"/>
          </p:cNvSpPr>
          <p:nvPr/>
        </p:nvSpPr>
        <p:spPr>
          <a:xfrm>
            <a:off x="6042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exhibition</a:t>
            </a:r>
          </a:p>
        </p:txBody>
      </p:sp>
      <p:sp>
        <p:nvSpPr>
          <p:cNvPr id="176" name="box176"/>
          <p:cNvSpPr>
            <a:spLocks noGrp="1"/>
          </p:cNvSpPr>
          <p:nvPr/>
        </p:nvSpPr>
        <p:spPr>
          <a:xfrm>
            <a:off x="6869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77" name="box177"/>
          <p:cNvSpPr>
            <a:spLocks noGrp="1"/>
          </p:cNvSpPr>
          <p:nvPr/>
        </p:nvSpPr>
        <p:spPr>
          <a:xfrm>
            <a:off x="7374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public display of art etc.</a:t>
            </a:r>
          </a:p>
        </p:txBody>
      </p:sp>
      <p:sp>
        <p:nvSpPr>
          <p:cNvPr id="178" name="box178"/>
          <p:cNvSpPr>
            <a:spLocks noGrp="1"/>
          </p:cNvSpPr>
          <p:nvPr/>
        </p:nvSpPr>
        <p:spPr>
          <a:xfrm>
            <a:off x="180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conference</a:t>
            </a:r>
          </a:p>
        </p:txBody>
      </p:sp>
      <p:sp>
        <p:nvSpPr>
          <p:cNvPr id="179" name="box179"/>
          <p:cNvSpPr>
            <a:spLocks noGrp="1"/>
          </p:cNvSpPr>
          <p:nvPr/>
        </p:nvSpPr>
        <p:spPr>
          <a:xfrm>
            <a:off x="1007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80" name="box180"/>
          <p:cNvSpPr>
            <a:spLocks noGrp="1"/>
          </p:cNvSpPr>
          <p:nvPr/>
        </p:nvSpPr>
        <p:spPr>
          <a:xfrm>
            <a:off x="1512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large formal meeting</a:t>
            </a:r>
          </a:p>
        </p:txBody>
      </p:sp>
      <p:sp>
        <p:nvSpPr>
          <p:cNvPr id="181" name="box181"/>
          <p:cNvSpPr>
            <a:spLocks noGrp="1"/>
          </p:cNvSpPr>
          <p:nvPr/>
        </p:nvSpPr>
        <p:spPr>
          <a:xfrm>
            <a:off x="6042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flight</a:t>
            </a:r>
          </a:p>
        </p:txBody>
      </p:sp>
      <p:sp>
        <p:nvSpPr>
          <p:cNvPr id="182" name="box182"/>
          <p:cNvSpPr>
            <a:spLocks noGrp="1"/>
          </p:cNvSpPr>
          <p:nvPr/>
        </p:nvSpPr>
        <p:spPr>
          <a:xfrm>
            <a:off x="6869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83" name="box183"/>
          <p:cNvSpPr>
            <a:spLocks noGrp="1"/>
          </p:cNvSpPr>
          <p:nvPr/>
        </p:nvSpPr>
        <p:spPr>
          <a:xfrm>
            <a:off x="7374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journey by air</a:t>
            </a:r>
          </a:p>
        </p:txBody>
      </p:sp>
      <p:sp>
        <p:nvSpPr>
          <p:cNvPr id="184" name="tb184"/>
          <p:cNvSpPr txBox="1">
            <a:spLocks noGrp="1"/>
          </p:cNvSpPr>
          <p:nvPr/>
        </p:nvSpPr>
        <p:spPr>
          <a:xfrm>
            <a:off x="180000" y="6606001"/>
            <a:ext cx="11832000" cy="198000"/>
          </a:xfrm>
          <a:prstGeom prst="rect">
            <a:avLst/>
          </a:prstGeom>
          <a:noFill/>
        </p:spPr>
        <p:txBody>
          <a:bodyPr anchor="ctr" wrap="square" lIns="36000" rIns="36000" tIns="36000" bIns="36000"/>
          <a:lstStyle/>
          <a:p>
            <a:pPr algn="l" spcBef="0" spcAft="0">
              <a:spcPct val="100000"/>
            </a:pPr>
            <a:r>
              <a:rPr lang="en-GB" b="0" i="1" sz="1300" dirty="0">
                <a:solidFill>
                  <a:srgbClr val="2E75B6"/>
                </a:solidFill>
                <a:latin typeface="Calibri"/>
              </a:rPr>
              <a:t>📚  Full 30-word vocabulary bank in your workbook — Section 4.</a:t>
            </a:r>
          </a:p>
        </p:txBody>
      </p:sp>
    </p:spTree>
  </p:cSld>
  <p:clrMapOvr>
    <a:masterClr/>
  </p:clrMapOvr>
</p:sld>
</file>

<file path=ppt/slides/slide5.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01" name="box2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02" name="box2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03" name="tb2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GRAMMAR RULE</a:t>
            </a:r>
          </a:p>
        </p:txBody>
      </p:sp>
      <p:sp>
        <p:nvSpPr>
          <p:cNvPr id="204" name="box204"/>
          <p:cNvSpPr>
            <a:spLocks noGrp="1"/>
          </p:cNvSpPr>
          <p:nvPr/>
        </p:nvSpPr>
        <p:spPr>
          <a:xfrm>
            <a:off x="180000" y="522000"/>
            <a:ext cx="11832000" cy="396000"/>
          </a:xfrm>
          <a:prstGeom prst="roundRect">
            <a:avLst>
              <a:gd name="adj" fmla="val 10000"/>
            </a:avLst>
          </a:prstGeom>
          <a:solidFill>
            <a:srgbClr val="FFF2CC"/>
          </a:solidFill>
          <a:ln w="12700">
            <a:solidFill>
              <a:srgbClr val="BF8F00"/>
            </a:solidFill>
          </a:ln>
        </p:spPr>
        <p:txBody>
          <a:bodyPr anchor="ctr" wrap="square" lIns="144000" rIns="72000" tIns="54000" bIns="54000"/>
          <a:lstStyle/>
          <a:p>
            <a:pPr algn="l" spcBef="0" spcAft="0">
              <a:spcPct val="100000"/>
            </a:pPr>
            <a:r>
              <a:rPr lang="en-GB" b="1" sz="1700" dirty="0">
                <a:solidFill>
                  <a:srgbClr val="1F3864"/>
                </a:solidFill>
                <a:latin typeface="Calibri"/>
              </a:rPr>
              <a:t>📌  Present Continuous + future time = you have ARRANGED to do it (its in your diary, you have a ticket, you told someone). Present Simple for future = timetables and schedules.</a:t>
            </a:r>
          </a:p>
        </p:txBody>
      </p:sp>
      <p:graphicFrame>
        <p:nvGraphicFramePr>
          <p:cNvPr id="205" name="tbl205"/>
          <p:cNvGraphicFramePr>
            <a:graphicFrameLocks noGrp="1"/>
          </p:cNvGraphicFramePr>
          <p:nvPr/>
        </p:nvGraphicFramePr>
        <p:xfrm>
          <a:off x="180000" y="990000"/>
          <a:ext cx="11832000" cy="5778000"/>
        </p:xfrm>
        <a:graphic>
          <a:graphicData uri="http://schemas.openxmlformats.org/drawingml/2006/table">
            <a:tbl>
              <a:tblPr firstRow="1" bandRow="1">
                <a:tableStyleId>{5C22544A-7EE6-4342-B048-85BDC9FD1C3A}</a:tableStyleId>
              </a:tblPr>
              <a:tblGrid>
                <a:gridCol w="3944000"/>
                <a:gridCol w="3944000"/>
                <a:gridCol w="3944000"/>
              </a:tblGrid>
              <a:tr h="927000">
                <a:tc>
                  <a:txBody>
                    <a:bodyPr/>
                    <a:lstStyle/>
                    <a:p>
                      <a:pPr algn="l"/>
                      <a:r>
                        <a:rPr lang="en-GB" b="1" sz="1400" dirty="0">
                          <a:solidFill>
                            <a:srgbClr val="FFFFFF"/>
                          </a:solidFill>
                          <a:latin typeface="Calibri"/>
                        </a:rPr>
                        <a:t>Use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Structure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Example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Personal arrangement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am/is/are + -ing + future time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Im meeting John tomorrow.</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Question about plans</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Are you + -ing + future time?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Are you going out tonight?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Negative plan</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am/is/are + not + -ing</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She isnt coming to the party.</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Timetable/schedule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Present Simple + future time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The train leaves at 7.30.</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Programme/event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Present Simple + future time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The film starts at 8 oclock.</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6.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51" name="box2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52" name="box2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53" name="tb2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SPELLING &amp; USAGE NOTES</a:t>
            </a:r>
          </a:p>
        </p:txBody>
      </p:sp>
      <p:sp>
        <p:nvSpPr>
          <p:cNvPr id="254" name="box254"/>
          <p:cNvSpPr>
            <a:spLocks noGrp="1"/>
          </p:cNvSpPr>
          <p:nvPr/>
        </p:nvSpPr>
        <p:spPr>
          <a:xfrm>
            <a:off x="180000" y="540000"/>
            <a:ext cx="11832000" cy="503999"/>
          </a:xfrm>
          <a:prstGeom prst="rect">
            <a:avLst/>
          </a:prstGeom>
          <a:solidFill>
            <a:srgbClr val="DCE6F1"/>
          </a:solidFill>
          <a:ln w="12700">
            <a:solidFill>
              <a:srgbClr val="1F3864"/>
            </a:solidFill>
          </a:ln>
        </p:spPr>
        <p:txBody>
          <a:bodyPr anchor="ctr" wrap="square" lIns="144000" rIns="72000" tIns="54000" bIns="54000"/>
          <a:lstStyle/>
          <a:p>
            <a:pPr algn="l" spcBef="0" spcAft="0">
              <a:spcPct val="100000"/>
            </a:pPr>
            <a:r>
              <a:rPr lang="en-GB" b="1" sz="1500" dirty="0">
                <a:solidFill>
                  <a:srgbClr val="1F3864"/>
                </a:solidFill>
                <a:latin typeface="Calibri"/>
              </a:rPr>
              <a:t>⚠️  Watch Out!  </a:t>
            </a:r>
            <a:r>
              <a:rPr lang="en-GB" b="0" sz="1400" dirty="0">
                <a:solidFill>
                  <a:srgbClr val="1F3864"/>
                </a:solidFill>
                <a:latin typeface="Calibri"/>
              </a:rPr>
              <a:t>Do NOT use Present Simple for personal plans: "Im staying home tonight" (NOT "I stay home tonight"). Use Present Simple ONLY for official schedules: "The bus leaves at 9." (NOT "The bus is leaving at 9.")</a:t>
            </a:r>
          </a:p>
        </p:txBody>
      </p:sp>
      <p:sp>
        <p:nvSpPr>
          <p:cNvPr id="255" name="box255"/>
          <p:cNvSpPr>
            <a:spLocks noGrp="1"/>
          </p:cNvSpPr>
          <p:nvPr/>
        </p:nvSpPr>
        <p:spPr>
          <a:xfrm>
            <a:off x="180000" y="1169998"/>
            <a:ext cx="1260000" cy="216000"/>
          </a:xfrm>
          <a:prstGeom prst="roundRect">
            <a:avLst>
              <a:gd name="adj" fmla="val 10000"/>
            </a:avLst>
          </a:prstGeom>
          <a:solidFill>
            <a:srgbClr val="BF8F00"/>
          </a:solidFill>
          <a:ln w="0">
            <a:noFill/>
          </a:ln>
        </p:spPr>
        <p:txBody>
          <a:bodyPr anchor="ctr" wrap="square" lIns="72000" rIns="72000" tIns="54000" bIns="54000"/>
          <a:lstStyle/>
          <a:p>
            <a:pPr algn="ctr" spcBef="0" spcAft="0">
              <a:spcPct val="100000"/>
            </a:pPr>
            <a:r>
              <a:rPr lang="en-GB" b="1" sz="1400" dirty="0">
                <a:solidFill>
                  <a:srgbClr val="1F3864"/>
                </a:solidFill>
                <a:latin typeface="Calibri"/>
              </a:rPr>
              <a:t>Usage Examples</a:t>
            </a:r>
          </a:p>
        </p:txBody>
      </p:sp>
      <p:sp>
        <p:nvSpPr>
          <p:cNvPr id="256" name="tb256"/>
          <p:cNvSpPr txBox="1">
            <a:spLocks noGrp="1"/>
          </p:cNvSpPr>
          <p:nvPr/>
        </p:nvSpPr>
        <p:spPr>
          <a:xfrm>
            <a:off x="180000" y="1439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Im playing tennis tomorrow. (arranged with someone)</a:t>
            </a:r>
          </a:p>
        </p:txBody>
      </p:sp>
      <p:sp>
        <p:nvSpPr>
          <p:cNvPr id="257" name="tb257"/>
          <p:cNvSpPr txBox="1">
            <a:spLocks noGrp="1"/>
          </p:cNvSpPr>
          <p:nvPr/>
        </p:nvSpPr>
        <p:spPr>
          <a:xfrm>
            <a:off x="180000" y="1655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What time are you leaving? (asking about plans)</a:t>
            </a:r>
          </a:p>
        </p:txBody>
      </p:sp>
      <p:sp>
        <p:nvSpPr>
          <p:cNvPr id="258" name="tb258"/>
          <p:cNvSpPr txBox="1">
            <a:spLocks noGrp="1"/>
          </p:cNvSpPr>
          <p:nvPr/>
        </p:nvSpPr>
        <p:spPr>
          <a:xfrm>
            <a:off x="180000" y="1871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The concert starts at 7.30. (printed on the ticket)</a:t>
            </a:r>
          </a:p>
        </p:txBody>
      </p:sp>
      <p:sp>
        <p:nvSpPr>
          <p:cNvPr id="259" name="tb259"/>
          <p:cNvSpPr txBox="1">
            <a:spLocks noGrp="1"/>
          </p:cNvSpPr>
          <p:nvPr/>
        </p:nvSpPr>
        <p:spPr>
          <a:xfrm>
            <a:off x="180000" y="2087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Im not going out tonight. Im staying at home.</a:t>
            </a:r>
          </a:p>
        </p:txBody>
      </p:sp>
    </p:spTree>
  </p:cSld>
  <p:clrMapOvr>
    <a:masterClr/>
  </p:clrMapOvr>
</p:sld>
</file>

<file path=ppt/slides/slide7.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01" name="box3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02" name="box3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03" name="tb3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GUIDED PRACTICE</a:t>
            </a:r>
          </a:p>
        </p:txBody>
      </p:sp>
      <p:sp>
        <p:nvSpPr>
          <p:cNvPr id="304" name="tb3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Choose Present Continuous or Present Simple for future. Items 1-2 are done.</a:t>
            </a:r>
          </a:p>
        </p:txBody>
      </p:sp>
      <p:graphicFrame>
        <p:nvGraphicFramePr>
          <p:cNvPr id="305" name="tbl3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6152640"/>
                <a:gridCol w="4969440"/>
              </a:tblGrid>
              <a:tr h="11412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Situation</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1 ✅</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You arranged to meet John. (tomorrow)</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Im meeting John tomorrow.</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2 ✅</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The train schedule says 7.30.</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The train leaves at 7.30.</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You have a dinner plan tonight.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The film programme says 8pm.</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8.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51" name="box3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52" name="box3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53" name="tb3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CONTROLLED PRACTICE</a:t>
            </a:r>
          </a:p>
        </p:txBody>
      </p:sp>
      <p:sp>
        <p:nvSpPr>
          <p:cNvPr id="354" name="tb35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Put the verb in present continuous or present simple.</a:t>
            </a:r>
          </a:p>
        </p:txBody>
      </p:sp>
      <p:graphicFrame>
        <p:nvGraphicFramePr>
          <p:cNvPr id="355" name="tbl35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5561040"/>
                <a:gridCol w="556104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Answer</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 (you/go) out this evening?</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The concert ___ (start) at 7.30.</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We ___ (have) a party next weekend.</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What time ___ (the film/finish)?</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___ (not/work) next Monday.</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9.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01" name="box4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02" name="box4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403" name="tb4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ERROR CORRECTION</a:t>
            </a:r>
          </a:p>
        </p:txBody>
      </p:sp>
      <p:sp>
        <p:nvSpPr>
          <p:cNvPr id="404" name="tb4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Find and correct the ONE mistake in each sentence.</a:t>
            </a:r>
          </a:p>
        </p:txBody>
      </p:sp>
      <p:graphicFrame>
        <p:nvGraphicFramePr>
          <p:cNvPr id="405" name="tbl4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591600"/>
                <a:gridCol w="5916000"/>
                <a:gridCol w="532440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Incorrect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Corrected</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stay at home this evening.</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The train is leaving at 7.30. (timetable)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Do you go out tonight?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Ann doesnt come to the party next week.</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What time does your friend arriving?</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10.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51" name="box4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52" name="box45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453" name="tb4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SPEAKING ACTIVITY</a:t>
            </a:r>
          </a:p>
        </p:txBody>
      </p:sp>
      <p:sp>
        <p:nvSpPr>
          <p:cNvPr id="454" name="box454"/>
          <p:cNvSpPr>
            <a:spLocks noGrp="1"/>
          </p:cNvSpPr>
          <p:nvPr/>
        </p:nvSpPr>
        <p:spPr>
          <a:xfrm>
            <a:off x="180000" y="522000"/>
            <a:ext cx="11832000" cy="360000"/>
          </a:xfrm>
          <a:prstGeom prst="roundRect">
            <a:avLst>
              <a:gd name="adj" fmla="val 12000"/>
            </a:avLst>
          </a:prstGeom>
          <a:solidFill>
            <a:srgbClr val="548235"/>
          </a:solidFill>
          <a:ln w="0">
            <a:noFill/>
          </a:ln>
        </p:spPr>
        <p:txBody>
          <a:bodyPr anchor="ctr" wrap="square" lIns="180000" rIns="72000" tIns="54000" bIns="54000"/>
          <a:lstStyle/>
          <a:p>
            <a:pPr algn="l" spcBef="0" spcAft="0">
              <a:spcPct val="100000"/>
            </a:pPr>
            <a:r>
              <a:rPr lang="en-GB" b="1" sz="2200" dirty="0">
                <a:solidFill>
                  <a:srgbClr val="FFFFFF"/>
                </a:solidFill>
                <a:latin typeface="Cambria"/>
              </a:rPr>
              <a:t>🗣️ Weekend Plans</a:t>
            </a:r>
          </a:p>
        </p:txBody>
      </p:sp>
      <p:sp>
        <p:nvSpPr>
          <p:cNvPr id="455" name="box455"/>
          <p:cNvSpPr>
            <a:spLocks noGrp="1"/>
          </p:cNvSpPr>
          <p:nvPr/>
        </p:nvSpPr>
        <p:spPr>
          <a:xfrm>
            <a:off x="11112000" y="954000"/>
            <a:ext cx="900000" cy="1260000"/>
          </a:xfrm>
          <a:prstGeom prst="roundRect">
            <a:avLst>
              <a:gd name="adj" fmla="val 20000"/>
            </a:avLst>
          </a:prstGeom>
          <a:solidFill>
            <a:srgbClr val="DCE6F1"/>
          </a:solidFill>
          <a:ln w="0">
            <a:noFill/>
          </a:ln>
        </p:spPr>
        <p:txBody>
          <a:bodyPr anchor="ctr" wrap="square" lIns="72000" rIns="72000" tIns="54000" bIns="54000"/>
          <a:lstStyle/>
          <a:p>
            <a:pPr algn="ctr" spcBef="0" spcAft="0">
              <a:spcPct val="100000"/>
            </a:pPr>
            <a:r>
              <a:rPr lang="en-GB" b="0" sz="6000" dirty="0">
                <a:solidFill>
                  <a:srgbClr val="2E75B6"/>
                </a:solidFill>
                <a:latin typeface="Calibri"/>
              </a:rPr>
              <a:t>💬</a:t>
            </a:r>
          </a:p>
        </p:txBody>
      </p:sp>
      <p:sp>
        <p:nvSpPr>
          <p:cNvPr id="456" name="box456"/>
          <p:cNvSpPr>
            <a:spLocks noGrp="1"/>
          </p:cNvSpPr>
          <p:nvPr/>
        </p:nvSpPr>
        <p:spPr>
          <a:xfrm>
            <a:off x="180000" y="9540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1</a:t>
            </a:r>
          </a:p>
        </p:txBody>
      </p:sp>
      <p:sp>
        <p:nvSpPr>
          <p:cNvPr id="457" name="tb457"/>
          <p:cNvSpPr txBox="1">
            <a:spLocks noGrp="1"/>
          </p:cNvSpPr>
          <p:nvPr/>
        </p:nvSpPr>
        <p:spPr>
          <a:xfrm>
            <a:off x="468000" y="9540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Ask 4 classmates: What are you doing this weekend?</a:t>
            </a:r>
          </a:p>
        </p:txBody>
      </p:sp>
      <p:sp>
        <p:nvSpPr>
          <p:cNvPr id="458" name="box458"/>
          <p:cNvSpPr>
            <a:spLocks noGrp="1"/>
          </p:cNvSpPr>
          <p:nvPr/>
        </p:nvSpPr>
        <p:spPr>
          <a:xfrm>
            <a:off x="180000" y="12708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2</a:t>
            </a:r>
          </a:p>
        </p:txBody>
      </p:sp>
      <p:sp>
        <p:nvSpPr>
          <p:cNvPr id="459" name="tb459"/>
          <p:cNvSpPr txBox="1">
            <a:spLocks noGrp="1"/>
          </p:cNvSpPr>
          <p:nvPr/>
        </p:nvSpPr>
        <p:spPr>
          <a:xfrm>
            <a:off x="468000" y="12708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Write down their plans.</a:t>
            </a:r>
          </a:p>
        </p:txBody>
      </p:sp>
      <p:sp>
        <p:nvSpPr>
          <p:cNvPr id="460" name="box460"/>
          <p:cNvSpPr>
            <a:spLocks noGrp="1"/>
          </p:cNvSpPr>
          <p:nvPr/>
        </p:nvSpPr>
        <p:spPr>
          <a:xfrm>
            <a:off x="180000" y="15876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3</a:t>
            </a:r>
          </a:p>
        </p:txBody>
      </p:sp>
      <p:sp>
        <p:nvSpPr>
          <p:cNvPr id="461" name="tb461"/>
          <p:cNvSpPr txBox="1">
            <a:spLocks noGrp="1"/>
          </p:cNvSpPr>
          <p:nvPr/>
        </p:nvSpPr>
        <p:spPr>
          <a:xfrm>
            <a:off x="468000" y="15876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Report to the class: Maria is visiting her grandmother. Ali is playing football.</a:t>
            </a:r>
          </a:p>
        </p:txBody>
      </p:sp>
      <p:sp>
        <p:nvSpPr>
          <p:cNvPr id="462" name="box462"/>
          <p:cNvSpPr>
            <a:spLocks noGrp="1"/>
          </p:cNvSpPr>
          <p:nvPr/>
        </p:nvSpPr>
        <p:spPr>
          <a:xfrm>
            <a:off x="180000" y="19044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4</a:t>
            </a:r>
          </a:p>
        </p:txBody>
      </p:sp>
      <p:sp>
        <p:nvSpPr>
          <p:cNvPr id="463" name="tb463"/>
          <p:cNvSpPr txBox="1">
            <a:spLocks noGrp="1"/>
          </p:cNvSpPr>
          <p:nvPr/>
        </p:nvSpPr>
        <p:spPr>
          <a:xfrm>
            <a:off x="468000" y="19044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Find who has the most exciting plan!</a:t>
            </a:r>
          </a:p>
        </p:txBody>
      </p:sp>
      <p:sp>
        <p:nvSpPr>
          <p:cNvPr id="464" name="box464"/>
          <p:cNvSpPr>
            <a:spLocks noGrp="1"/>
          </p:cNvSpPr>
          <p:nvPr/>
        </p:nvSpPr>
        <p:spPr>
          <a:xfrm>
            <a:off x="180000" y="6570000"/>
            <a:ext cx="126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Pair Work</a:t>
            </a:r>
          </a:p>
        </p:txBody>
      </p:sp>
    </p:spTree>
  </p:cSld>
  <p:clrMapOvr>
    <a:masterClr/>
  </p:clrMapOvr>
</p:sld>
</file>

<file path=ppt/slides/slide11.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01" name="box5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02" name="box50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503" name="tb5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READING &amp; WRITING</a:t>
            </a:r>
          </a:p>
        </p:txBody>
      </p:sp>
      <p:sp>
        <p:nvSpPr>
          <p:cNvPr id="504" name="box504"/>
          <p:cNvSpPr>
            <a:spLocks noGrp="1"/>
          </p:cNvSpPr>
          <p:nvPr/>
        </p:nvSpPr>
        <p:spPr>
          <a:xfrm>
            <a:off x="180000" y="540000"/>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Reading</a:t>
            </a:r>
          </a:p>
        </p:txBody>
      </p:sp>
      <p:sp>
        <p:nvSpPr>
          <p:cNvPr id="505" name="box505"/>
          <p:cNvSpPr>
            <a:spLocks noGrp="1"/>
          </p:cNvSpPr>
          <p:nvPr/>
        </p:nvSpPr>
        <p:spPr>
          <a:xfrm>
            <a:off x="180000" y="792000"/>
            <a:ext cx="11832000" cy="612000"/>
          </a:xfrm>
          <a:prstGeom prst="rect">
            <a:avLst/>
          </a:prstGeom>
          <a:solidFill>
            <a:srgbClr val="F2F2F2"/>
          </a:solidFill>
          <a:ln w="12700">
            <a:solidFill>
              <a:srgbClr val="CCCCCC"/>
            </a:solidFill>
          </a:ln>
        </p:spPr>
        <p:txBody>
          <a:bodyPr anchor="t" wrap="square" lIns="108000" rIns="72000" tIns="72000" bIns="54000"/>
          <a:lstStyle/>
          <a:p>
            <a:pPr algn="l" spcBef="0" spcAft="0">
              <a:spcPct val="100000"/>
            </a:pPr>
            <a:r>
              <a:rPr lang="en-GB" b="0" i="1" sz="1300" dirty="0">
                <a:solidFill>
                  <a:srgbClr val="404040"/>
                </a:solidFill>
                <a:latin typeface="Calibri"/>
              </a:rPr>
              <a:t>Its Friday afternoon. Tom is busy this weekend. On Saturday morning, he is playing football with friends. In the afternoon, he is meeting his sister for coffee. On Sunday, he is having lunch with his parents. The train to his parents house leaves at 10.15. He isnt going out on Sunday evening because he has work on Monday.</a:t>
            </a:r>
          </a:p>
        </p:txBody>
      </p:sp>
      <p:sp>
        <p:nvSpPr>
          <p:cNvPr id="506" name="box506"/>
          <p:cNvSpPr>
            <a:spLocks noGrp="1"/>
          </p:cNvSpPr>
          <p:nvPr/>
        </p:nvSpPr>
        <p:spPr>
          <a:xfrm>
            <a:off x="180000" y="1475999"/>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Writing</a:t>
            </a:r>
          </a:p>
        </p:txBody>
      </p:sp>
      <p:sp>
        <p:nvSpPr>
          <p:cNvPr id="507" name="tb507"/>
          <p:cNvSpPr txBox="1">
            <a:spLocks noGrp="1"/>
          </p:cNvSpPr>
          <p:nvPr/>
        </p:nvSpPr>
        <p:spPr>
          <a:xfrm>
            <a:off x="180000" y="1728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548235"/>
                </a:solidFill>
                <a:latin typeface="Calibri"/>
              </a:rPr>
              <a:t>Write about your plans for the next 3 days using Present Continuous for future.</a:t>
            </a:r>
          </a:p>
        </p:txBody>
      </p:sp>
      <p:sp>
        <p:nvSpPr>
          <p:cNvPr id="508" name="tb508"/>
          <p:cNvSpPr txBox="1">
            <a:spLocks noGrp="1"/>
          </p:cNvSpPr>
          <p:nvPr/>
        </p:nvSpPr>
        <p:spPr>
          <a:xfrm>
            <a:off x="180000" y="20159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Tonight: Im...</a:t>
            </a:r>
          </a:p>
        </p:txBody>
      </p:sp>
      <p:sp>
        <p:nvSpPr>
          <p:cNvPr id="509" name="tb509"/>
          <p:cNvSpPr txBox="1">
            <a:spLocks noGrp="1"/>
          </p:cNvSpPr>
          <p:nvPr/>
        </p:nvSpPr>
        <p:spPr>
          <a:xfrm>
            <a:off x="180000" y="21527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Tomorrow morning: Im...</a:t>
            </a:r>
          </a:p>
        </p:txBody>
      </p:sp>
      <p:sp>
        <p:nvSpPr>
          <p:cNvPr id="510" name="tb510"/>
          <p:cNvSpPr txBox="1">
            <a:spLocks noGrp="1"/>
          </p:cNvSpPr>
          <p:nvPr/>
        </p:nvSpPr>
        <p:spPr>
          <a:xfrm>
            <a:off x="180000" y="22895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Tomorrow evening: Im...</a:t>
            </a:r>
          </a:p>
        </p:txBody>
      </p:sp>
    </p:spTree>
  </p:cSld>
  <p:clrMapOvr>
    <a:masterClr/>
  </p:clrMapOvr>
</p:sld>
</file>

<file path=ppt/slides/slide1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51" name="box5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52" name="box5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53" name="tb5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HOMEWORK</a:t>
            </a:r>
          </a:p>
        </p:txBody>
      </p:sp>
      <p:sp>
        <p:nvSpPr>
          <p:cNvPr id="554" name="box554"/>
          <p:cNvSpPr>
            <a:spLocks noGrp="1"/>
          </p:cNvSpPr>
          <p:nvPr/>
        </p:nvSpPr>
        <p:spPr>
          <a:xfrm>
            <a:off x="180000" y="540000"/>
            <a:ext cx="432000" cy="432000"/>
          </a:xfrm>
          <a:prstGeom prst="roundRect">
            <a:avLst>
              <a:gd name="adj" fmla="val 50000"/>
            </a:avLst>
          </a:prstGeom>
          <a:solidFill>
            <a:srgbClr val="BF8F00"/>
          </a:solidFill>
          <a:ln w="0">
            <a:noFill/>
          </a:ln>
        </p:spPr>
        <p:txBody>
          <a:bodyPr anchor="ctr" wrap="square" lIns="72000" rIns="72000" tIns="54000" bIns="54000"/>
          <a:lstStyle/>
          <a:p>
            <a:pPr algn="ctr" spcBef="0" spcAft="0">
              <a:spcPct val="100000"/>
            </a:pPr>
            <a:r>
              <a:rPr lang="en-GB" b="1" sz="2800" dirty="0">
                <a:solidFill>
                  <a:srgbClr val="1F3864"/>
                </a:solidFill>
                <a:latin typeface="Cambria"/>
              </a:rPr>
              <a:t>1</a:t>
            </a:r>
          </a:p>
        </p:txBody>
      </p:sp>
      <p:sp>
        <p:nvSpPr>
          <p:cNvPr id="555" name="box555"/>
          <p:cNvSpPr>
            <a:spLocks noGrp="1"/>
          </p:cNvSpPr>
          <p:nvPr/>
        </p:nvSpPr>
        <p:spPr>
          <a:xfrm>
            <a:off x="684000" y="540000"/>
            <a:ext cx="11328000" cy="432000"/>
          </a:xfrm>
          <a:prstGeom prst="rect">
            <a:avLst/>
          </a:prstGeom>
          <a:solidFill>
            <a:srgbClr val="DCE6F1"/>
          </a:solidFill>
          <a:ln w="12700">
            <a:solidFill>
              <a:srgbClr val="2E75B6"/>
            </a:solidFill>
          </a:ln>
        </p:spPr>
        <p:txBody>
          <a:bodyPr anchor="ctr" wrap="square" lIns="108000" rIns="72000" tIns="54000" bIns="54000"/>
          <a:lstStyle/>
          <a:p>
            <a:pPr algn="l" spcBef="0" spcAft="0">
              <a:spcPct val="100000"/>
            </a:pPr>
            <a:r>
              <a:rPr lang="en-GB" b="1" sz="1500" dirty="0">
                <a:solidFill>
                  <a:srgbClr val="1F3864"/>
                </a:solidFill>
                <a:latin typeface="Calibri"/>
              </a:rPr>
              <a:t>Production Task  </a:t>
            </a:r>
            <a:r>
              <a:rPr lang="en-GB" b="0" sz="1400" dirty="0">
                <a:solidFill>
                  <a:srgbClr val="404040"/>
                </a:solidFill>
                <a:latin typeface="Calibri"/>
              </a:rPr>
              <a:t>Write your plan for next week (Monday to Sunday). Use Present Continuous for personal arrangements and Present Simple for any timetable facts. Write at least 8 sentences.</a:t>
            </a:r>
          </a:p>
        </p:txBody>
      </p:sp>
      <p:sp>
        <p:nvSpPr>
          <p:cNvPr id="556" name="box556"/>
          <p:cNvSpPr>
            <a:spLocks noGrp="1"/>
          </p:cNvSpPr>
          <p:nvPr/>
        </p:nvSpPr>
        <p:spPr>
          <a:xfrm>
            <a:off x="180000" y="1080000"/>
            <a:ext cx="432000" cy="432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2800" dirty="0">
                <a:solidFill>
                  <a:srgbClr val="FFFFFF"/>
                </a:solidFill>
                <a:latin typeface="Cambria"/>
              </a:rPr>
              <a:t>2</a:t>
            </a:r>
          </a:p>
        </p:txBody>
      </p:sp>
      <p:sp>
        <p:nvSpPr>
          <p:cNvPr id="557" name="box557"/>
          <p:cNvSpPr>
            <a:spLocks noGrp="1"/>
          </p:cNvSpPr>
          <p:nvPr/>
        </p:nvSpPr>
        <p:spPr>
          <a:xfrm>
            <a:off x="684000" y="1080000"/>
            <a:ext cx="11328000" cy="432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1" sz="1500" dirty="0">
                <a:solidFill>
                  <a:srgbClr val="1F3864"/>
                </a:solidFill>
                <a:latin typeface="Calibri"/>
              </a:rPr>
              <a:t>Vocabulary Consolidation  </a:t>
            </a:r>
            <a:r>
              <a:rPr lang="en-GB" b="0" sz="1400" dirty="0">
                <a:solidFill>
                  <a:srgbClr val="404040"/>
                </a:solidFill>
                <a:latin typeface="Calibri"/>
              </a:rPr>
              <a:t>Match each of the 30 vocabulary words from Section 4 to its definition.</a:t>
            </a:r>
          </a:p>
        </p:txBody>
      </p:sp>
      <p:sp>
        <p:nvSpPr>
          <p:cNvPr id="558" name="box558"/>
          <p:cNvSpPr>
            <a:spLocks noGrp="1"/>
          </p:cNvSpPr>
          <p:nvPr/>
        </p:nvSpPr>
        <p:spPr>
          <a:xfrm>
            <a:off x="180000" y="6498000"/>
            <a:ext cx="144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Due: next class</a:t>
            </a:r>
          </a:p>
        </p:txBody>
      </p:sp>
    </p:spTree>
  </p:cSld>
  <p:clrMapOvr>
    <a:masterClr/>
  </p:clrMapOvr>
</p:sld>
</file>

<file path=ppt/slides/slide13.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601" name="shape60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602" name="shape602"/>
          <p:cNvSpPr>
            <a:spLocks noGrp="1"/>
          </p:cNvSpPr>
          <p:nvPr/>
        </p:nvSpPr>
        <p:spPr>
          <a:xfrm>
            <a:off x="0" y="0"/>
            <a:ext cx="12192000" cy="108000"/>
          </a:xfrm>
          <a:prstGeom prst="rect">
            <a:avLst/>
          </a:prstGeom>
          <a:solidFill>
            <a:srgbClr val="BF8F00"/>
          </a:solidFill>
        </p:spPr>
        <p:txBody>
          <a:bodyPr/>
          <a:lstStyle/>
          <a:p/>
        </p:txBody>
      </p:sp>
      <p:sp>
        <p:nvSpPr>
          <p:cNvPr id="603" name="shape603"/>
          <p:cNvSpPr>
            <a:spLocks noGrp="1"/>
          </p:cNvSpPr>
          <p:nvPr/>
        </p:nvSpPr>
        <p:spPr>
          <a:xfrm>
            <a:off x="0" y="6750000"/>
            <a:ext cx="12192000" cy="108000"/>
          </a:xfrm>
          <a:prstGeom prst="rect">
            <a:avLst/>
          </a:prstGeom>
          <a:solidFill>
            <a:srgbClr val="BF8F00"/>
          </a:solidFill>
        </p:spPr>
        <p:txBody>
          <a:bodyPr/>
          <a:lstStyle/>
          <a:p/>
        </p:txBody>
      </p:sp>
      <p:sp>
        <p:nvSpPr>
          <p:cNvPr id="604" name="shape604"/>
          <p:cNvSpPr>
            <a:spLocks noGrp="1"/>
          </p:cNvSpPr>
          <p:nvPr/>
        </p:nvSpPr>
        <p:spPr>
          <a:xfrm>
            <a:off x="0" y="0"/>
            <a:ext cx="144000" cy="6858000"/>
          </a:xfrm>
          <a:prstGeom prst="rect">
            <a:avLst/>
          </a:prstGeom>
          <a:solidFill>
            <a:srgbClr val="BF8F00"/>
          </a:solidFill>
        </p:spPr>
        <p:txBody>
          <a:bodyPr/>
          <a:lstStyle/>
          <a:p/>
        </p:txBody>
      </p:sp>
      <p:sp>
        <p:nvSpPr>
          <p:cNvPr id="605" name="box605"/>
          <p:cNvSpPr>
            <a:spLocks noGrp="1"/>
          </p:cNvSpPr>
          <p:nvPr/>
        </p:nvSpPr>
        <p:spPr>
          <a:xfrm>
            <a:off x="432000" y="432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26  ·  A2</a:t>
            </a:r>
          </a:p>
        </p:txBody>
      </p:sp>
      <p:sp>
        <p:nvSpPr>
          <p:cNvPr id="606" name="tb606"/>
          <p:cNvSpPr txBox="1">
            <a:spLocks noGrp="1"/>
          </p:cNvSpPr>
          <p:nvPr/>
        </p:nvSpPr>
        <p:spPr>
          <a:xfrm>
            <a:off x="432000" y="827999"/>
            <a:ext cx="11472000" cy="900000"/>
          </a:xfrm>
          <a:prstGeom prst="rect">
            <a:avLst/>
          </a:prstGeom>
          <a:noFill/>
        </p:spPr>
        <p:txBody>
          <a:bodyPr anchor="t" wrap="square" lIns="36000" rIns="36000" tIns="36000" bIns="36000"/>
          <a:lstStyle/>
          <a:p>
            <a:pPr algn="l" spcBef="0" spcAft="0">
              <a:spcPct val="100000"/>
            </a:pPr>
            <a:r>
              <a:rPr lang="en-GB" b="1" sz="3600" dirty="0">
                <a:solidFill>
                  <a:srgbClr val="FFFFFF"/>
                </a:solidFill>
                <a:latin typeface="Cambria"/>
              </a:rPr>
              <a:t>Present Continuous for Future Arrangements</a:t>
            </a:r>
          </a:p>
        </p:txBody>
      </p:sp>
      <p:sp>
        <p:nvSpPr>
          <p:cNvPr id="607" name="tb607"/>
          <p:cNvSpPr txBox="1">
            <a:spLocks noGrp="1"/>
          </p:cNvSpPr>
          <p:nvPr/>
        </p:nvSpPr>
        <p:spPr>
          <a:xfrm>
            <a:off x="432000" y="1800000"/>
            <a:ext cx="11472000" cy="324000"/>
          </a:xfrm>
          <a:prstGeom prst="rect">
            <a:avLst/>
          </a:prstGeom>
          <a:noFill/>
        </p:spPr>
        <p:txBody>
          <a:bodyPr anchor="ctr" wrap="square" lIns="36000" rIns="36000" tIns="36000" bIns="36000"/>
          <a:lstStyle/>
          <a:p>
            <a:pPr algn="l" spcBef="0" spcAft="0">
              <a:spcPct val="100000"/>
            </a:pPr>
            <a:r>
              <a:rPr lang="en-GB" b="0" i="1" sz="1600" dirty="0">
                <a:solidFill>
                  <a:srgbClr val="BF8F00"/>
                </a:solidFill>
                <a:latin typeface="Calibri"/>
              </a:rPr>
              <a:t>✦  Grammar is not a rule — it is a tool. Use it!</a:t>
            </a:r>
          </a:p>
        </p:txBody>
      </p:sp>
      <p:sp>
        <p:nvSpPr>
          <p:cNvPr id="608" name="box608"/>
          <p:cNvSpPr>
            <a:spLocks noGrp="1"/>
          </p:cNvSpPr>
          <p:nvPr/>
        </p:nvSpPr>
        <p:spPr>
          <a:xfrm>
            <a:off x="10752000" y="6462000"/>
            <a:ext cx="1260000" cy="234000"/>
          </a:xfrm>
          <a:prstGeom prst="roundRect">
            <a:avLst>
              <a:gd name="adj" fmla="val 10000"/>
            </a:avLst>
          </a:prstGeom>
          <a:solidFill>
            <a:srgbClr val="2E75B6"/>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See you next class! 👋</a:t>
            </a:r>
          </a:p>
        </p:txBody>
      </p:sp>
    </p:spTree>
  </p:cSld>
  <p:clrMapOvr>
    <a:masterClr/>
  </p:clrMapOvr>
</p:sld>
</file>