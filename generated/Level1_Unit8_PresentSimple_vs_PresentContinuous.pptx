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p="http://schemas.openxmlformats.org/presentationml/2006/main" xmlns:a="http://schemas.openxmlformats.org/drawingml/2006/main" xmlns:r="http://schemas.openxmlformats.org/officeDocument/2006/relationships" saveSubsetFonts="1">
  <p:sldMasterIdLst>
    <p:sldMasterId id="2147483648" r:id="rId0"/>
  </p:sld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Lst>
  <p:sldSz cx="12192000" cy="6858000" type="screen16x9"/>
  <p:notesSz cx="6858000" cy="12192000"/>
</p:presentation>
</file>

<file path=ppt/_rels/presentation.xml.rels><?xml version="1.0" encoding="UTF-8" standalone="yes"?>
<Relationships xmlns="http://schemas.openxmlformats.org/package/2006/relationships">
  <Relationship Id="rId0"
    Type="http://schemas.openxmlformats.org/officeDocument/2006/relationships/slideMaster"
    Target="slideMasters/slideMaster1.xml"/>
  <Relationship Id="rId1"
    Type="http://schemas.openxmlformats.org/officeDocument/2006/relationships/slide"
    Target="slides/slide1.xml"/>
  <Relationship Id="rId2"
    Type="http://schemas.openxmlformats.org/officeDocument/2006/relationships/slide"
    Target="slides/slide2.xml"/>
  <Relationship Id="rId3"
    Type="http://schemas.openxmlformats.org/officeDocument/2006/relationships/slide"
    Target="slides/slide3.xml"/>
  <Relationship Id="rId4"
    Type="http://schemas.openxmlformats.org/officeDocument/2006/relationships/slide"
    Target="slides/slide4.xml"/>
  <Relationship Id="rId5"
    Type="http://schemas.openxmlformats.org/officeDocument/2006/relationships/slide"
    Target="slides/slide5.xml"/>
  <Relationship Id="rId6"
    Type="http://schemas.openxmlformats.org/officeDocument/2006/relationships/slide"
    Target="slides/slide6.xml"/>
  <Relationship Id="rId7"
    Type="http://schemas.openxmlformats.org/officeDocument/2006/relationships/slide"
    Target="slides/slide7.xml"/>
  <Relationship Id="rId8"
    Type="http://schemas.openxmlformats.org/officeDocument/2006/relationships/slide"
    Target="slides/slide8.xml"/>
  <Relationship Id="rId9"
    Type="http://schemas.openxmlformats.org/officeDocument/2006/relationships/slide"
    Target="slides/slide9.xml"/>
  <Relationship Id="rId10"
    Type="http://schemas.openxmlformats.org/officeDocument/2006/relationships/slide"
    Target="slides/slide10.xml"/>
  <Relationship Id="rId11"
    Type="http://schemas.openxmlformats.org/officeDocument/2006/relationships/slide"
    Target="slides/slide11.xml"/>
  <Relationship Id="rId12"
    Type="http://schemas.openxmlformats.org/officeDocument/2006/relationships/slide"
    Target="slides/slide12.xml"/>
  <Relationship Id="rId13"
    Type="http://schemas.openxmlformats.org/officeDocument/2006/relationships/slide"
    Target="slides/slide13.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p="http://schemas.openxmlformats.org/presentationml/2006/main" xmlns:a="http://schemas.openxmlformats.org/drawingml/2006/main" xmlns:r="http://schemas.openxmlformats.org/officeDocument/2006/relationships" type="blank" preserve="1">
  <p:cSld name="Blank">
    <p:spTree>
      <p:nvGrpSpPr>
        <p:cNvPr id="1" name=""/>
        <p:cNvGrpSpPr/>
        <p:nvPr/>
      </p:nvGrpSpPr>
      <p:grpSpPr>
        <a:xfrm>
          <a:off x="0" y="0"/>
          <a:ext cx="12192000" cy="6858000"/>
          <a:chOff x="0" y="0"/>
          <a:chExt cx="12192000" cy="6858000"/>
        </a:xfrm>
      </p:grpSpPr>
    </p:spTree>
  </p:cSld>
  <p:clrMapOvr>
    <a:masterClr/>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Masters/slideMaster1.xml><?xml version="1.0" encoding="utf-8"?>
<p:sldMaster xmlns:p="http://schemas.openxmlformats.org/presentationml/2006/main" xmlns:a="http://schemas.openxmlformats.org/drawingml/2006/main" xmlns:r="http://schemas.openxmlformats.org/officeDocument/2006/relationships">
  <p:cSld>
    <p:spTree>
      <p:nvGrpSpPr>
        <p:cNvPr id="1" name=""/>
        <p:cNvGrpSpPr/>
        <p:nvPr/>
      </p:nvGrpSpPr>
      <p:grpSpPr>
        <a:xfrm>
          <a:off x="0" y="0"/>
          <a:ext cx="12192000" cy="6858000"/>
          <a:chOff x="0" y="0"/>
          <a:chExt cx="12192000" cy="6858000"/>
        </a:xfrm>
      </p:grpSpPr>
    </p:spTree>
  </p:cSld>
  <p:clrMap bg1="lt1" tx1="dk1" bg2="lt2" tx2="dk2" accent1="accent1" accent2="accent2" accent3="accent3" accent4="accent4" accent5="accent5" accent6="accent6" hlink="hlink" folHlink="folHlink"/>
  <p:sldLayoutIdLst>
    <p:sldLayoutId id="2147483649" r:id="rId1"/>
  </p:sldLayoutIdLst>
  <p:txStyles>
    <p:titleStyle>
      <a:lstStyle/>
    </p:titleStyle>
    <p:bodyStyle>
      <a:lstStyle/>
    </p:bodyStyle>
    <p:otherStyle>
      <a:lstStyle/>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p="http://schemas.openxmlformats.org/presentationml/2006/main" xmlns:a="http://schemas.openxmlformats.org/drawingml/2006/main" xmlns:r="http://schemas.openxmlformats.org/officeDocument/2006/relationships" xmlns:dc="http://purl.org/dc/elements/1.1/">
  <p:cSld>
    <p:bg>
      <p:bgPr>
        <a:solidFill>
          <a:srgbClr val="1F3864"/>
        </a:solidFill>
        <a:effectLst/>
      </p:bgPr>
    </p:bg>
    <p:spTree>
      <p:nvGrpSpPr>
        <p:cNvPr id="1" name="content"/>
        <p:cNvGrpSpPr/>
        <p:nvPr/>
      </p:nvGrpSpPr>
      <p:grpSpPr>
        <a:xfrm>
          <a:off x="0" y="0"/>
          <a:ext cx="12192000" cy="6858000"/>
          <a:chOff x="0" y="0"/>
          <a:chExt cx="12192000" cy="6858000"/>
        </a:xfrm>
      </p:grpSpPr>
      <p:sp>
        <p:nvSpPr>
          <p:cNvPr id="11" name="shape11"/>
          <p:cNvSpPr>
            <a:spLocks noGrp="1"/>
          </p:cNvSpPr>
          <p:nvPr/>
        </p:nvSpPr>
        <p:spPr>
          <a:xfrm>
            <a:off x="0" y="0"/>
            <a:ext cx="12192000" cy="6858000"/>
          </a:xfrm>
          <a:prstGeom prst="rect">
            <a:avLst/>
          </a:prstGeom>
          <a:gradFill rot="1">
            <a:gsLst>
              <a:gs pos="0">
                <a:srgbClr val="1F3864"/>
              </a:gs>
              <a:gs pos="100000">
                <a:srgbClr val="0D2245"/>
              </a:gs>
            </a:gsLst>
            <a:lin ang="5400000" scaled="0"/>
          </a:gradFill>
        </p:spPr>
        <p:txBody>
          <a:bodyPr/>
          <a:lstStyle/>
          <a:p/>
        </p:txBody>
      </p:sp>
      <p:sp>
        <p:nvSpPr>
          <p:cNvPr id="12" name="shape12"/>
          <p:cNvSpPr>
            <a:spLocks noGrp="1"/>
          </p:cNvSpPr>
          <p:nvPr/>
        </p:nvSpPr>
        <p:spPr>
          <a:xfrm>
            <a:off x="0" y="0"/>
            <a:ext cx="144000" cy="6858000"/>
          </a:xfrm>
          <a:prstGeom prst="rect">
            <a:avLst/>
          </a:prstGeom>
          <a:solidFill>
            <a:srgbClr val="BF8F00"/>
          </a:solidFill>
        </p:spPr>
        <p:txBody>
          <a:bodyPr/>
          <a:lstStyle/>
          <a:p/>
        </p:txBody>
      </p:sp>
      <p:sp>
        <p:nvSpPr>
          <p:cNvPr id="13" name="shape13"/>
          <p:cNvSpPr>
            <a:spLocks noGrp="1"/>
          </p:cNvSpPr>
          <p:nvPr/>
        </p:nvSpPr>
        <p:spPr>
          <a:xfrm>
            <a:off x="0" y="0"/>
            <a:ext cx="12192000" cy="108000"/>
          </a:xfrm>
          <a:prstGeom prst="rect">
            <a:avLst/>
          </a:prstGeom>
          <a:solidFill>
            <a:srgbClr val="BF8F00"/>
          </a:solidFill>
        </p:spPr>
        <p:txBody>
          <a:bodyPr/>
          <a:lstStyle/>
          <a:p/>
        </p:txBody>
      </p:sp>
      <p:sp>
        <p:nvSpPr>
          <p:cNvPr id="14" name="box14"/>
          <p:cNvSpPr>
            <a:spLocks noGrp="1"/>
          </p:cNvSpPr>
          <p:nvPr/>
        </p:nvSpPr>
        <p:spPr>
          <a:xfrm>
            <a:off x="432000" y="468000"/>
            <a:ext cx="1800000" cy="324000"/>
          </a:xfrm>
          <a:prstGeom prst="roundRect">
            <a:avLst>
              <a:gd name="adj" fmla="val 20000"/>
            </a:avLst>
          </a:prstGeom>
          <a:solidFill>
            <a:srgbClr val="BF8F00"/>
          </a:solidFill>
          <a:ln w="0">
            <a:noFill/>
          </a:ln>
        </p:spPr>
        <p:txBody>
          <a:bodyPr anchor="ctr" wrap="square" lIns="72000" rIns="72000" tIns="54000" bIns="54000"/>
          <a:lstStyle/>
          <a:p>
            <a:pPr algn="ctr" spcBef="0" spcAft="0">
              <a:spcPct val="100000"/>
            </a:pPr>
            <a:r>
              <a:rPr lang="en-GB" b="1" sz="1600" dirty="0">
                <a:solidFill>
                  <a:srgbClr val="1F3864"/>
                </a:solidFill>
                <a:latin typeface="Cambria"/>
              </a:rPr>
              <a:t>UNIT 8  ·  A1</a:t>
            </a:r>
          </a:p>
        </p:txBody>
      </p:sp>
      <p:sp>
        <p:nvSpPr>
          <p:cNvPr id="15" name="tb15"/>
          <p:cNvSpPr txBox="1">
            <a:spLocks noGrp="1"/>
          </p:cNvSpPr>
          <p:nvPr/>
        </p:nvSpPr>
        <p:spPr>
          <a:xfrm>
            <a:off x="432000" y="900000"/>
            <a:ext cx="11472000" cy="288000"/>
          </a:xfrm>
          <a:prstGeom prst="rect">
            <a:avLst/>
          </a:prstGeom>
          <a:noFill/>
        </p:spPr>
        <p:txBody>
          <a:bodyPr anchor="ctr" wrap="square" lIns="36000" rIns="36000" tIns="36000" bIns="36000"/>
          <a:lstStyle/>
          <a:p>
            <a:pPr algn="l" spcBef="0" spcAft="0">
              <a:spcPct val="100000"/>
            </a:pPr>
            <a:r>
              <a:rPr lang="en-GB" b="0" sz="1500" dirty="0">
                <a:solidFill>
                  <a:srgbClr val="BFC9D6"/>
                </a:solidFill>
                <a:latin typeface="Calibri"/>
              </a:rPr>
              <a:t>English Grammar in Action — Level 1</a:t>
            </a:r>
          </a:p>
        </p:txBody>
      </p:sp>
      <p:sp>
        <p:nvSpPr>
          <p:cNvPr id="16" name="tb16"/>
          <p:cNvSpPr txBox="1">
            <a:spLocks noGrp="1"/>
          </p:cNvSpPr>
          <p:nvPr/>
        </p:nvSpPr>
        <p:spPr>
          <a:xfrm>
            <a:off x="432000" y="1188000"/>
            <a:ext cx="11472000" cy="1080000"/>
          </a:xfrm>
          <a:prstGeom prst="rect">
            <a:avLst/>
          </a:prstGeom>
          <a:noFill/>
        </p:spPr>
        <p:txBody>
          <a:bodyPr anchor="t" wrap="square" lIns="36000" rIns="36000" tIns="36000" bIns="36000"/>
          <a:lstStyle/>
          <a:p>
            <a:pPr algn="l" spcBef="0" spcAft="0">
              <a:spcPct val="100000"/>
            </a:pPr>
            <a:r>
              <a:rPr lang="en-GB" b="1" sz="4000" dirty="0">
                <a:solidFill>
                  <a:srgbClr val="FFFFFF"/>
                </a:solidFill>
                <a:latin typeface="Cambria"/>
              </a:rPr>
              <a:t>Present Simple vs Present Continuous</a:t>
            </a:r>
          </a:p>
        </p:txBody>
      </p:sp>
      <p:sp>
        <p:nvSpPr>
          <p:cNvPr id="17" name="tb17"/>
          <p:cNvSpPr txBox="1">
            <a:spLocks noGrp="1"/>
          </p:cNvSpPr>
          <p:nvPr/>
        </p:nvSpPr>
        <p:spPr>
          <a:xfrm>
            <a:off x="432000" y="2088000"/>
            <a:ext cx="11472000" cy="360000"/>
          </a:xfrm>
          <a:prstGeom prst="rect">
            <a:avLst/>
          </a:prstGeom>
          <a:noFill/>
        </p:spPr>
        <p:txBody>
          <a:bodyPr anchor="ctr" wrap="square" lIns="36000" rIns="36000" tIns="36000" bIns="36000"/>
          <a:lstStyle/>
          <a:p>
            <a:pPr algn="l" spcBef="0" spcAft="0">
              <a:spcPct val="100000"/>
            </a:pPr>
            <a:r>
              <a:rPr lang="en-GB" b="0" i="1" sz="1700" dirty="0">
                <a:solidFill>
                  <a:srgbClr val="DCE6F1"/>
                </a:solidFill>
                <a:latin typeface="Calibri"/>
              </a:rPr>
              <a:t>I do (habits/general) vs I am doing (now); state verbs (like, want, know, understand, need, believe, remember, forget, depend, prefer, love, hate, mean) never use -ing</a:t>
            </a:r>
          </a:p>
        </p:txBody>
      </p:sp>
      <p:sp>
        <p:nvSpPr>
          <p:cNvPr id="18" name="shape18"/>
          <p:cNvSpPr>
            <a:spLocks noGrp="1"/>
          </p:cNvSpPr>
          <p:nvPr/>
        </p:nvSpPr>
        <p:spPr>
          <a:xfrm>
            <a:off x="0" y="6768000"/>
            <a:ext cx="12192000" cy="90000"/>
          </a:xfrm>
          <a:prstGeom prst="rect">
            <a:avLst/>
          </a:prstGeom>
          <a:solidFill>
            <a:srgbClr val="BF8F00"/>
          </a:solidFill>
        </p:spPr>
        <p:txBody>
          <a:bodyPr/>
          <a:lstStyle/>
          <a:p/>
        </p:txBody>
      </p:sp>
      <p:sp>
        <p:nvSpPr>
          <p:cNvPr id="19" name="box19"/>
          <p:cNvSpPr>
            <a:spLocks noGrp="1"/>
          </p:cNvSpPr>
          <p:nvPr/>
        </p:nvSpPr>
        <p:spPr>
          <a:xfrm>
            <a:off x="11112000" y="6354001"/>
            <a:ext cx="936000" cy="360000"/>
          </a:xfrm>
          <a:prstGeom prst="roundRect">
            <a:avLst>
              <a:gd name="adj" fmla="val 2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CEFR  A1</a:t>
            </a:r>
          </a:p>
        </p:txBody>
      </p:sp>
    </p:spTree>
  </p:cSld>
  <p:clrMapOvr>
    <a:masterClr/>
  </p:clrMapOvr>
</p:sld>
</file>

<file path=ppt/slides/slide2.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51" name="box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52" name="box52"/>
          <p:cNvSpPr>
            <a:spLocks noGrp="1"/>
          </p:cNvSpPr>
          <p:nvPr/>
        </p:nvSpPr>
        <p:spPr>
          <a:xfrm>
            <a:off x="0" y="396000"/>
            <a:ext cx="12192000" cy="64800"/>
          </a:xfrm>
          <a:prstGeom prst="rect">
            <a:avLst/>
          </a:prstGeom>
          <a:solidFill>
            <a:srgbClr val="2E75B6"/>
          </a:solidFill>
          <a:ln w="0">
            <a:noFill/>
          </a:ln>
        </p:spPr>
        <p:txBody>
          <a:bodyPr anchor="ctr" wrap="square" lIns="72000" rIns="72000" tIns="54000" bIns="54000"/>
          <a:lstStyle/>
        </p:txBody>
      </p:sp>
      <p:sp>
        <p:nvSpPr>
          <p:cNvPr id="53" name="tb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LEARNING OBJECTIVES</a:t>
            </a:r>
          </a:p>
        </p:txBody>
      </p:sp>
      <p:sp>
        <p:nvSpPr>
          <p:cNvPr id="54" name="box54"/>
          <p:cNvSpPr>
            <a:spLocks noGrp="1"/>
          </p:cNvSpPr>
          <p:nvPr/>
        </p:nvSpPr>
        <p:spPr>
          <a:xfrm>
            <a:off x="180000" y="5400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55" name="box55"/>
          <p:cNvSpPr>
            <a:spLocks noGrp="1"/>
          </p:cNvSpPr>
          <p:nvPr/>
        </p:nvSpPr>
        <p:spPr>
          <a:xfrm>
            <a:off x="558000" y="5400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Distinguish between Present Simple (habits/facts) and Present Continuous (happening now).</a:t>
            </a:r>
          </a:p>
        </p:txBody>
      </p:sp>
      <p:sp>
        <p:nvSpPr>
          <p:cNvPr id="56" name="box56"/>
          <p:cNvSpPr>
            <a:spLocks noGrp="1"/>
          </p:cNvSpPr>
          <p:nvPr/>
        </p:nvSpPr>
        <p:spPr>
          <a:xfrm>
            <a:off x="180000" y="9252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57" name="box57"/>
          <p:cNvSpPr>
            <a:spLocks noGrp="1"/>
          </p:cNvSpPr>
          <p:nvPr/>
        </p:nvSpPr>
        <p:spPr>
          <a:xfrm>
            <a:off x="558000" y="9252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Choose the correct tense based on time markers (every day vs right now).</a:t>
            </a:r>
          </a:p>
        </p:txBody>
      </p:sp>
      <p:sp>
        <p:nvSpPr>
          <p:cNvPr id="58" name="box58"/>
          <p:cNvSpPr>
            <a:spLocks noGrp="1"/>
          </p:cNvSpPr>
          <p:nvPr/>
        </p:nvSpPr>
        <p:spPr>
          <a:xfrm>
            <a:off x="180000" y="13104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59" name="box59"/>
          <p:cNvSpPr>
            <a:spLocks noGrp="1"/>
          </p:cNvSpPr>
          <p:nvPr/>
        </p:nvSpPr>
        <p:spPr>
          <a:xfrm>
            <a:off x="558000" y="13104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Identify state verbs that cannot be used in the continuous form.</a:t>
            </a:r>
          </a:p>
        </p:txBody>
      </p:sp>
      <p:sp>
        <p:nvSpPr>
          <p:cNvPr id="60" name="box60"/>
          <p:cNvSpPr>
            <a:spLocks noGrp="1"/>
          </p:cNvSpPr>
          <p:nvPr/>
        </p:nvSpPr>
        <p:spPr>
          <a:xfrm>
            <a:off x="180000" y="16956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61" name="box61"/>
          <p:cNvSpPr>
            <a:spLocks noGrp="1"/>
          </p:cNvSpPr>
          <p:nvPr/>
        </p:nvSpPr>
        <p:spPr>
          <a:xfrm>
            <a:off x="558000" y="16956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Produce sentences comparing what people generally do vs what they are doing now.</a:t>
            </a:r>
          </a:p>
        </p:txBody>
      </p:sp>
      <p:sp>
        <p:nvSpPr>
          <p:cNvPr id="62" name="box62"/>
          <p:cNvSpPr>
            <a:spLocks noGrp="1"/>
          </p:cNvSpPr>
          <p:nvPr/>
        </p:nvSpPr>
        <p:spPr>
          <a:xfrm>
            <a:off x="180000" y="20808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63" name="box63"/>
          <p:cNvSpPr>
            <a:spLocks noGrp="1"/>
          </p:cNvSpPr>
          <p:nvPr/>
        </p:nvSpPr>
        <p:spPr>
          <a:xfrm>
            <a:off x="558000" y="20808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Recognize signal words: always/usually/every vs now/at the moment/today.</a:t>
            </a:r>
          </a:p>
        </p:txBody>
      </p:sp>
    </p:spTree>
  </p:cSld>
  <p:clrMapOvr>
    <a:masterClr/>
  </p:clrMapOvr>
</p:sld>
</file>

<file path=ppt/slides/slide3.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101" name="box1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102" name="box10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103" name="tb1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WARM-UP ACTIVITY</a:t>
            </a:r>
          </a:p>
        </p:txBody>
      </p:sp>
      <p:sp>
        <p:nvSpPr>
          <p:cNvPr id="104" name="box104"/>
          <p:cNvSpPr>
            <a:spLocks noGrp="1"/>
          </p:cNvSpPr>
          <p:nvPr/>
        </p:nvSpPr>
        <p:spPr>
          <a:xfrm>
            <a:off x="180000" y="540000"/>
            <a:ext cx="11832000" cy="396000"/>
          </a:xfrm>
          <a:prstGeom prst="roundRect">
            <a:avLst>
              <a:gd name="adj" fmla="val 15000"/>
            </a:avLst>
          </a:prstGeom>
          <a:solidFill>
            <a:srgbClr val="BF8F00"/>
          </a:solidFill>
          <a:ln w="0">
            <a:noFill/>
          </a:ln>
        </p:spPr>
        <p:txBody>
          <a:bodyPr anchor="ctr" wrap="square" lIns="180000" rIns="72000" tIns="54000" bIns="54000"/>
          <a:lstStyle/>
          <a:p>
            <a:pPr algn="l" spcBef="0" spcAft="0">
              <a:spcPct val="100000"/>
            </a:pPr>
            <a:r>
              <a:rPr lang="en-GB" b="1" sz="2400" dirty="0">
                <a:solidFill>
                  <a:srgbClr val="1F3864"/>
                </a:solidFill>
                <a:latin typeface="Cambria"/>
              </a:rPr>
              <a:t>📸 What's Different?</a:t>
            </a:r>
          </a:p>
        </p:txBody>
      </p:sp>
      <p:sp>
        <p:nvSpPr>
          <p:cNvPr id="105" name="box105"/>
          <p:cNvSpPr>
            <a:spLocks noGrp="1"/>
          </p:cNvSpPr>
          <p:nvPr/>
        </p:nvSpPr>
        <p:spPr>
          <a:xfrm>
            <a:off x="11040000" y="540000"/>
            <a:ext cx="972000" cy="396000"/>
          </a:xfrm>
          <a:prstGeom prst="roundRect">
            <a:avLst>
              <a:gd name="adj" fmla="val 15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BF8F00"/>
                </a:solidFill>
                <a:latin typeface="Calibri"/>
              </a:rPr>
              <a:t>⏱  5 minutes</a:t>
            </a:r>
          </a:p>
        </p:txBody>
      </p:sp>
      <p:sp>
        <p:nvSpPr>
          <p:cNvPr id="106" name="box106"/>
          <p:cNvSpPr>
            <a:spLocks noGrp="1"/>
          </p:cNvSpPr>
          <p:nvPr/>
        </p:nvSpPr>
        <p:spPr>
          <a:xfrm>
            <a:off x="180000" y="1026000"/>
            <a:ext cx="251999" cy="324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600" dirty="0">
                <a:solidFill>
                  <a:srgbClr val="FFFFFF"/>
                </a:solidFill>
                <a:latin typeface="Calibri"/>
              </a:rPr>
              <a:t>1</a:t>
            </a:r>
          </a:p>
        </p:txBody>
      </p:sp>
      <p:sp>
        <p:nvSpPr>
          <p:cNvPr id="107" name="tb107"/>
          <p:cNvSpPr txBox="1">
            <a:spLocks noGrp="1"/>
          </p:cNvSpPr>
          <p:nvPr/>
        </p:nvSpPr>
        <p:spPr>
          <a:xfrm>
            <a:off x="503999" y="1026000"/>
            <a:ext cx="11508000" cy="324000"/>
          </a:xfrm>
          <a:prstGeom prst="rect">
            <a:avLst/>
          </a:prstGeom>
          <a:noFill/>
        </p:spPr>
        <p:txBody>
          <a:bodyPr anchor="ctr" wrap="square" lIns="36000" rIns="36000" tIns="36000" bIns="36000"/>
          <a:lstStyle/>
          <a:p>
            <a:pPr algn="l" spcBef="0" spcAft="0">
              <a:spcPct val="100000"/>
            </a:pPr>
            <a:r>
              <a:rPr lang="en-GB" b="0" sz="1500" dirty="0">
                <a:solidFill>
                  <a:srgbClr val="404040"/>
                </a:solidFill>
                <a:latin typeface="Calibri"/>
              </a:rPr>
              <a:t>Teacher shows two pictures: one of a routine (She walks to work) and one of a current action (She is running to work).</a:t>
            </a:r>
          </a:p>
        </p:txBody>
      </p:sp>
      <p:sp>
        <p:nvSpPr>
          <p:cNvPr id="108" name="box108"/>
          <p:cNvSpPr>
            <a:spLocks noGrp="1"/>
          </p:cNvSpPr>
          <p:nvPr/>
        </p:nvSpPr>
        <p:spPr>
          <a:xfrm>
            <a:off x="180000" y="1458000"/>
            <a:ext cx="251999" cy="324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600" dirty="0">
                <a:solidFill>
                  <a:srgbClr val="FFFFFF"/>
                </a:solidFill>
                <a:latin typeface="Calibri"/>
              </a:rPr>
              <a:t>2</a:t>
            </a:r>
          </a:p>
        </p:txBody>
      </p:sp>
      <p:sp>
        <p:nvSpPr>
          <p:cNvPr id="109" name="tb109"/>
          <p:cNvSpPr txBox="1">
            <a:spLocks noGrp="1"/>
          </p:cNvSpPr>
          <p:nvPr/>
        </p:nvSpPr>
        <p:spPr>
          <a:xfrm>
            <a:off x="503999" y="1458000"/>
            <a:ext cx="11508000" cy="324000"/>
          </a:xfrm>
          <a:prstGeom prst="rect">
            <a:avLst/>
          </a:prstGeom>
          <a:noFill/>
        </p:spPr>
        <p:txBody>
          <a:bodyPr anchor="ctr" wrap="square" lIns="36000" rIns="36000" tIns="36000" bIns="36000"/>
          <a:lstStyle/>
          <a:p>
            <a:pPr algn="l" spcBef="0" spcAft="0">
              <a:spcPct val="100000"/>
            </a:pPr>
            <a:r>
              <a:rPr lang="en-GB" b="0" sz="1500" dirty="0">
                <a:solidFill>
                  <a:srgbClr val="404040"/>
                </a:solidFill>
                <a:latin typeface="Calibri"/>
              </a:rPr>
              <a:t>Students describe the difference: 'She WALKS every day, but today she IS RUNNING.'</a:t>
            </a:r>
          </a:p>
        </p:txBody>
      </p:sp>
      <p:sp>
        <p:nvSpPr>
          <p:cNvPr id="110" name="box110"/>
          <p:cNvSpPr>
            <a:spLocks noGrp="1"/>
          </p:cNvSpPr>
          <p:nvPr/>
        </p:nvSpPr>
        <p:spPr>
          <a:xfrm>
            <a:off x="180000" y="1890000"/>
            <a:ext cx="251999" cy="324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600" dirty="0">
                <a:solidFill>
                  <a:srgbClr val="FFFFFF"/>
                </a:solidFill>
                <a:latin typeface="Calibri"/>
              </a:rPr>
              <a:t>3</a:t>
            </a:r>
          </a:p>
        </p:txBody>
      </p:sp>
      <p:sp>
        <p:nvSpPr>
          <p:cNvPr id="111" name="tb111"/>
          <p:cNvSpPr txBox="1">
            <a:spLocks noGrp="1"/>
          </p:cNvSpPr>
          <p:nvPr/>
        </p:nvSpPr>
        <p:spPr>
          <a:xfrm>
            <a:off x="503999" y="1890000"/>
            <a:ext cx="11508000" cy="324000"/>
          </a:xfrm>
          <a:prstGeom prst="rect">
            <a:avLst/>
          </a:prstGeom>
          <a:noFill/>
        </p:spPr>
        <p:txBody>
          <a:bodyPr anchor="ctr" wrap="square" lIns="36000" rIns="36000" tIns="36000" bIns="36000"/>
          <a:lstStyle/>
          <a:p>
            <a:pPr algn="l" spcBef="0" spcAft="0">
              <a:spcPct val="100000"/>
            </a:pPr>
            <a:r>
              <a:rPr lang="en-GB" b="0" sz="1500" dirty="0">
                <a:solidFill>
                  <a:srgbClr val="404040"/>
                </a:solidFill>
                <a:latin typeface="Calibri"/>
              </a:rPr>
              <a:t>Pairs make similar contrasts about themselves: 'I usually sit here, but today I am standing.'</a:t>
            </a:r>
          </a:p>
        </p:txBody>
      </p:sp>
    </p:spTree>
  </p:cSld>
  <p:clrMapOvr>
    <a:masterClr/>
  </p:clrMapOvr>
</p:sld>
</file>

<file path=ppt/slides/slide4.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151" name="box1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152" name="box152"/>
          <p:cNvSpPr>
            <a:spLocks noGrp="1"/>
          </p:cNvSpPr>
          <p:nvPr/>
        </p:nvSpPr>
        <p:spPr>
          <a:xfrm>
            <a:off x="0" y="396000"/>
            <a:ext cx="12192000" cy="64800"/>
          </a:xfrm>
          <a:prstGeom prst="rect">
            <a:avLst/>
          </a:prstGeom>
          <a:solidFill>
            <a:srgbClr val="2E75B6"/>
          </a:solidFill>
          <a:ln w="0">
            <a:noFill/>
          </a:ln>
        </p:spPr>
        <p:txBody>
          <a:bodyPr anchor="ctr" wrap="square" lIns="72000" rIns="72000" tIns="54000" bIns="54000"/>
          <a:lstStyle/>
        </p:txBody>
      </p:sp>
      <p:sp>
        <p:nvSpPr>
          <p:cNvPr id="153" name="tb1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VOCABULARY PREVIEW</a:t>
            </a:r>
          </a:p>
        </p:txBody>
      </p:sp>
      <p:sp>
        <p:nvSpPr>
          <p:cNvPr id="154" name="box154"/>
          <p:cNvSpPr>
            <a:spLocks noGrp="1"/>
          </p:cNvSpPr>
          <p:nvPr/>
        </p:nvSpPr>
        <p:spPr>
          <a:xfrm>
            <a:off x="180000" y="5400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routine</a:t>
            </a:r>
          </a:p>
        </p:txBody>
      </p:sp>
      <p:sp>
        <p:nvSpPr>
          <p:cNvPr id="155" name="box155"/>
          <p:cNvSpPr>
            <a:spLocks noGrp="1"/>
          </p:cNvSpPr>
          <p:nvPr/>
        </p:nvSpPr>
        <p:spPr>
          <a:xfrm>
            <a:off x="1007999" y="5400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56" name="box156"/>
          <p:cNvSpPr>
            <a:spLocks noGrp="1"/>
          </p:cNvSpPr>
          <p:nvPr/>
        </p:nvSpPr>
        <p:spPr>
          <a:xfrm>
            <a:off x="1512000" y="5400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 regular series of actions</a:t>
            </a:r>
          </a:p>
        </p:txBody>
      </p:sp>
      <p:sp>
        <p:nvSpPr>
          <p:cNvPr id="157" name="box157"/>
          <p:cNvSpPr>
            <a:spLocks noGrp="1"/>
          </p:cNvSpPr>
          <p:nvPr/>
        </p:nvSpPr>
        <p:spPr>
          <a:xfrm>
            <a:off x="6042000" y="5400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moment</a:t>
            </a:r>
          </a:p>
        </p:txBody>
      </p:sp>
      <p:sp>
        <p:nvSpPr>
          <p:cNvPr id="158" name="box158"/>
          <p:cNvSpPr>
            <a:spLocks noGrp="1"/>
          </p:cNvSpPr>
          <p:nvPr/>
        </p:nvSpPr>
        <p:spPr>
          <a:xfrm>
            <a:off x="6869999" y="5400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59" name="box159"/>
          <p:cNvSpPr>
            <a:spLocks noGrp="1"/>
          </p:cNvSpPr>
          <p:nvPr/>
        </p:nvSpPr>
        <p:spPr>
          <a:xfrm>
            <a:off x="7374000" y="5400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 very short period of time</a:t>
            </a:r>
          </a:p>
        </p:txBody>
      </p:sp>
      <p:sp>
        <p:nvSpPr>
          <p:cNvPr id="160" name="box160"/>
          <p:cNvSpPr>
            <a:spLocks noGrp="1"/>
          </p:cNvSpPr>
          <p:nvPr/>
        </p:nvSpPr>
        <p:spPr>
          <a:xfrm>
            <a:off x="180000" y="8856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difference</a:t>
            </a:r>
          </a:p>
        </p:txBody>
      </p:sp>
      <p:sp>
        <p:nvSpPr>
          <p:cNvPr id="161" name="box161"/>
          <p:cNvSpPr>
            <a:spLocks noGrp="1"/>
          </p:cNvSpPr>
          <p:nvPr/>
        </p:nvSpPr>
        <p:spPr>
          <a:xfrm>
            <a:off x="1007999" y="8856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62" name="box162"/>
          <p:cNvSpPr>
            <a:spLocks noGrp="1"/>
          </p:cNvSpPr>
          <p:nvPr/>
        </p:nvSpPr>
        <p:spPr>
          <a:xfrm>
            <a:off x="1512000" y="8856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 way things are not the same</a:t>
            </a:r>
          </a:p>
        </p:txBody>
      </p:sp>
      <p:sp>
        <p:nvSpPr>
          <p:cNvPr id="163" name="box163"/>
          <p:cNvSpPr>
            <a:spLocks noGrp="1"/>
          </p:cNvSpPr>
          <p:nvPr/>
        </p:nvSpPr>
        <p:spPr>
          <a:xfrm>
            <a:off x="6042000" y="8856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habit</a:t>
            </a:r>
          </a:p>
        </p:txBody>
      </p:sp>
      <p:sp>
        <p:nvSpPr>
          <p:cNvPr id="164" name="box164"/>
          <p:cNvSpPr>
            <a:spLocks noGrp="1"/>
          </p:cNvSpPr>
          <p:nvPr/>
        </p:nvSpPr>
        <p:spPr>
          <a:xfrm>
            <a:off x="6869999" y="8856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65" name="box165"/>
          <p:cNvSpPr>
            <a:spLocks noGrp="1"/>
          </p:cNvSpPr>
          <p:nvPr/>
        </p:nvSpPr>
        <p:spPr>
          <a:xfrm>
            <a:off x="7374000" y="8856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something you do regularly</a:t>
            </a:r>
          </a:p>
        </p:txBody>
      </p:sp>
      <p:sp>
        <p:nvSpPr>
          <p:cNvPr id="166" name="box166"/>
          <p:cNvSpPr>
            <a:spLocks noGrp="1"/>
          </p:cNvSpPr>
          <p:nvPr/>
        </p:nvSpPr>
        <p:spPr>
          <a:xfrm>
            <a:off x="180000" y="12312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action</a:t>
            </a:r>
          </a:p>
        </p:txBody>
      </p:sp>
      <p:sp>
        <p:nvSpPr>
          <p:cNvPr id="167" name="box167"/>
          <p:cNvSpPr>
            <a:spLocks noGrp="1"/>
          </p:cNvSpPr>
          <p:nvPr/>
        </p:nvSpPr>
        <p:spPr>
          <a:xfrm>
            <a:off x="1007999" y="12312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68" name="box168"/>
          <p:cNvSpPr>
            <a:spLocks noGrp="1"/>
          </p:cNvSpPr>
          <p:nvPr/>
        </p:nvSpPr>
        <p:spPr>
          <a:xfrm>
            <a:off x="1512000" y="12312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the process of doing something</a:t>
            </a:r>
          </a:p>
        </p:txBody>
      </p:sp>
      <p:sp>
        <p:nvSpPr>
          <p:cNvPr id="169" name="box169"/>
          <p:cNvSpPr>
            <a:spLocks noGrp="1"/>
          </p:cNvSpPr>
          <p:nvPr/>
        </p:nvSpPr>
        <p:spPr>
          <a:xfrm>
            <a:off x="6042000" y="12312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fact</a:t>
            </a:r>
          </a:p>
        </p:txBody>
      </p:sp>
      <p:sp>
        <p:nvSpPr>
          <p:cNvPr id="170" name="box170"/>
          <p:cNvSpPr>
            <a:spLocks noGrp="1"/>
          </p:cNvSpPr>
          <p:nvPr/>
        </p:nvSpPr>
        <p:spPr>
          <a:xfrm>
            <a:off x="6869999" y="12312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71" name="box171"/>
          <p:cNvSpPr>
            <a:spLocks noGrp="1"/>
          </p:cNvSpPr>
          <p:nvPr/>
        </p:nvSpPr>
        <p:spPr>
          <a:xfrm>
            <a:off x="7374000" y="12312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something known to be true</a:t>
            </a:r>
          </a:p>
        </p:txBody>
      </p:sp>
      <p:sp>
        <p:nvSpPr>
          <p:cNvPr id="172" name="box172"/>
          <p:cNvSpPr>
            <a:spLocks noGrp="1"/>
          </p:cNvSpPr>
          <p:nvPr/>
        </p:nvSpPr>
        <p:spPr>
          <a:xfrm>
            <a:off x="180000" y="15768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situation</a:t>
            </a:r>
          </a:p>
        </p:txBody>
      </p:sp>
      <p:sp>
        <p:nvSpPr>
          <p:cNvPr id="173" name="box173"/>
          <p:cNvSpPr>
            <a:spLocks noGrp="1"/>
          </p:cNvSpPr>
          <p:nvPr/>
        </p:nvSpPr>
        <p:spPr>
          <a:xfrm>
            <a:off x="1007999" y="15768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74" name="box174"/>
          <p:cNvSpPr>
            <a:spLocks noGrp="1"/>
          </p:cNvSpPr>
          <p:nvPr/>
        </p:nvSpPr>
        <p:spPr>
          <a:xfrm>
            <a:off x="1512000" y="15768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the conditions at a particular time</a:t>
            </a:r>
          </a:p>
        </p:txBody>
      </p:sp>
      <p:sp>
        <p:nvSpPr>
          <p:cNvPr id="175" name="box175"/>
          <p:cNvSpPr>
            <a:spLocks noGrp="1"/>
          </p:cNvSpPr>
          <p:nvPr/>
        </p:nvSpPr>
        <p:spPr>
          <a:xfrm>
            <a:off x="6042000" y="15768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example</a:t>
            </a:r>
          </a:p>
        </p:txBody>
      </p:sp>
      <p:sp>
        <p:nvSpPr>
          <p:cNvPr id="176" name="box176"/>
          <p:cNvSpPr>
            <a:spLocks noGrp="1"/>
          </p:cNvSpPr>
          <p:nvPr/>
        </p:nvSpPr>
        <p:spPr>
          <a:xfrm>
            <a:off x="6869999" y="15768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nou</a:t>
            </a:r>
          </a:p>
        </p:txBody>
      </p:sp>
      <p:sp>
        <p:nvSpPr>
          <p:cNvPr id="177" name="box177"/>
          <p:cNvSpPr>
            <a:spLocks noGrp="1"/>
          </p:cNvSpPr>
          <p:nvPr/>
        </p:nvSpPr>
        <p:spPr>
          <a:xfrm>
            <a:off x="7374000" y="15768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something used to explain</a:t>
            </a:r>
          </a:p>
        </p:txBody>
      </p:sp>
      <p:sp>
        <p:nvSpPr>
          <p:cNvPr id="178" name="box178"/>
          <p:cNvSpPr>
            <a:spLocks noGrp="1"/>
          </p:cNvSpPr>
          <p:nvPr/>
        </p:nvSpPr>
        <p:spPr>
          <a:xfrm>
            <a:off x="180000" y="19224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today</a:t>
            </a:r>
          </a:p>
        </p:txBody>
      </p:sp>
      <p:sp>
        <p:nvSpPr>
          <p:cNvPr id="179" name="box179"/>
          <p:cNvSpPr>
            <a:spLocks noGrp="1"/>
          </p:cNvSpPr>
          <p:nvPr/>
        </p:nvSpPr>
        <p:spPr>
          <a:xfrm>
            <a:off x="1007999" y="19224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adv</a:t>
            </a:r>
          </a:p>
        </p:txBody>
      </p:sp>
      <p:sp>
        <p:nvSpPr>
          <p:cNvPr id="180" name="box180"/>
          <p:cNvSpPr>
            <a:spLocks noGrp="1"/>
          </p:cNvSpPr>
          <p:nvPr/>
        </p:nvSpPr>
        <p:spPr>
          <a:xfrm>
            <a:off x="1512000" y="19224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on this present day</a:t>
            </a:r>
          </a:p>
        </p:txBody>
      </p:sp>
      <p:sp>
        <p:nvSpPr>
          <p:cNvPr id="181" name="box181"/>
          <p:cNvSpPr>
            <a:spLocks noGrp="1"/>
          </p:cNvSpPr>
          <p:nvPr/>
        </p:nvSpPr>
        <p:spPr>
          <a:xfrm>
            <a:off x="6042000" y="19224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right now</a:t>
            </a:r>
          </a:p>
        </p:txBody>
      </p:sp>
      <p:sp>
        <p:nvSpPr>
          <p:cNvPr id="182" name="box182"/>
          <p:cNvSpPr>
            <a:spLocks noGrp="1"/>
          </p:cNvSpPr>
          <p:nvPr/>
        </p:nvSpPr>
        <p:spPr>
          <a:xfrm>
            <a:off x="6869999" y="19224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adv</a:t>
            </a:r>
          </a:p>
        </p:txBody>
      </p:sp>
      <p:sp>
        <p:nvSpPr>
          <p:cNvPr id="183" name="box183"/>
          <p:cNvSpPr>
            <a:spLocks noGrp="1"/>
          </p:cNvSpPr>
          <p:nvPr/>
        </p:nvSpPr>
        <p:spPr>
          <a:xfrm>
            <a:off x="7374000" y="19224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at this exact moment</a:t>
            </a:r>
          </a:p>
        </p:txBody>
      </p:sp>
      <p:sp>
        <p:nvSpPr>
          <p:cNvPr id="184" name="tb184"/>
          <p:cNvSpPr txBox="1">
            <a:spLocks noGrp="1"/>
          </p:cNvSpPr>
          <p:nvPr/>
        </p:nvSpPr>
        <p:spPr>
          <a:xfrm>
            <a:off x="180000" y="6606001"/>
            <a:ext cx="11832000" cy="198000"/>
          </a:xfrm>
          <a:prstGeom prst="rect">
            <a:avLst/>
          </a:prstGeom>
          <a:noFill/>
        </p:spPr>
        <p:txBody>
          <a:bodyPr anchor="ctr" wrap="square" lIns="36000" rIns="36000" tIns="36000" bIns="36000"/>
          <a:lstStyle/>
          <a:p>
            <a:pPr algn="l" spcBef="0" spcAft="0">
              <a:spcPct val="100000"/>
            </a:pPr>
            <a:r>
              <a:rPr lang="en-GB" b="0" i="1" sz="1300" dirty="0">
                <a:solidFill>
                  <a:srgbClr val="2E75B6"/>
                </a:solidFill>
                <a:latin typeface="Calibri"/>
              </a:rPr>
              <a:t>📚  Full 30-word vocabulary bank in your workbook — Section 4.</a:t>
            </a:r>
          </a:p>
        </p:txBody>
      </p:sp>
    </p:spTree>
  </p:cSld>
  <p:clrMapOvr>
    <a:masterClr/>
  </p:clrMapOvr>
</p:sld>
</file>

<file path=ppt/slides/slide5.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201" name="box2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202" name="box20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203" name="tb2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GRAMMAR RULE</a:t>
            </a:r>
          </a:p>
        </p:txBody>
      </p:sp>
      <p:sp>
        <p:nvSpPr>
          <p:cNvPr id="204" name="box204"/>
          <p:cNvSpPr>
            <a:spLocks noGrp="1"/>
          </p:cNvSpPr>
          <p:nvPr/>
        </p:nvSpPr>
        <p:spPr>
          <a:xfrm>
            <a:off x="180000" y="522000"/>
            <a:ext cx="11832000" cy="396000"/>
          </a:xfrm>
          <a:prstGeom prst="roundRect">
            <a:avLst>
              <a:gd name="adj" fmla="val 10000"/>
            </a:avLst>
          </a:prstGeom>
          <a:solidFill>
            <a:srgbClr val="FFF2CC"/>
          </a:solidFill>
          <a:ln w="12700">
            <a:solidFill>
              <a:srgbClr val="BF8F00"/>
            </a:solidFill>
          </a:ln>
        </p:spPr>
        <p:txBody>
          <a:bodyPr anchor="ctr" wrap="square" lIns="144000" rIns="72000" tIns="54000" bIns="54000"/>
          <a:lstStyle/>
          <a:p>
            <a:pPr algn="l" spcBef="0" spcAft="0">
              <a:spcPct val="100000"/>
            </a:pPr>
            <a:r>
              <a:rPr lang="en-GB" b="1" sz="1700" dirty="0">
                <a:solidFill>
                  <a:srgbClr val="1F3864"/>
                </a:solidFill>
                <a:latin typeface="Calibri"/>
              </a:rPr>
              <a:t>📌  Use Present Simple for habits, routines, and general facts. Use Present Continuous for actions happening right now or temporary situations.</a:t>
            </a:r>
          </a:p>
        </p:txBody>
      </p:sp>
      <p:graphicFrame>
        <p:nvGraphicFramePr>
          <p:cNvPr id="205" name="tbl205"/>
          <p:cNvGraphicFramePr>
            <a:graphicFrameLocks noGrp="1"/>
          </p:cNvGraphicFramePr>
          <p:nvPr/>
        </p:nvGraphicFramePr>
        <p:xfrm>
          <a:off x="180000" y="990000"/>
          <a:ext cx="11832000" cy="5778000"/>
        </p:xfrm>
        <a:graphic>
          <a:graphicData uri="http://schemas.openxmlformats.org/drawingml/2006/table">
            <a:tbl>
              <a:tblPr firstRow="1" bandRow="1">
                <a:tableStyleId>{5C22544A-7EE6-4342-B048-85BDC9FD1C3A}</a:tableStyleId>
              </a:tblPr>
              <a:tblGrid>
                <a:gridCol w="2958000"/>
                <a:gridCol w="2958000"/>
                <a:gridCol w="2958000"/>
                <a:gridCol w="2958000"/>
              </a:tblGrid>
              <a:tr h="1390500">
                <a:tc>
                  <a:txBody>
                    <a:bodyPr/>
                    <a:lstStyle/>
                    <a:p>
                      <a:pPr algn="l"/>
                      <a:r>
                        <a:rPr lang="en-GB" b="1" sz="1400" dirty="0">
                          <a:solidFill>
                            <a:srgbClr val="FFFFFF"/>
                          </a:solidFill>
                          <a:latin typeface="Calibri"/>
                        </a:rPr>
                        <a:t>Tense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Use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Time Words</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Example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r>
              <a:tr h="1390500">
                <a:tc>
                  <a:txBody>
                    <a:bodyPr/>
                    <a:lstStyle/>
                    <a:p>
                      <a:pPr algn="l"/>
                      <a:r>
                        <a:rPr lang="en-GB" b="1" sz="1400" dirty="0">
                          <a:solidFill>
                            <a:srgbClr val="1F3864"/>
                          </a:solidFill>
                          <a:latin typeface="Calibri"/>
                        </a:rPr>
                        <a:t>Present Simple</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habits / routines / facts</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every day, always, usually, often, never</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She drinks coffee every morning.</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1390500">
                <a:tc>
                  <a:txBody>
                    <a:bodyPr/>
                    <a:lstStyle/>
                    <a:p>
                      <a:pPr algn="l"/>
                      <a:r>
                        <a:rPr lang="en-GB" b="1" sz="1400" dirty="0">
                          <a:solidFill>
                            <a:srgbClr val="1F3864"/>
                          </a:solidFill>
                          <a:latin typeface="Calibri"/>
                        </a:rPr>
                        <a:t>Present Continuous</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happening NOW / temporary</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now, right now, at the moment, today</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She is drinking tea right now.</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1390500">
                <a:tc>
                  <a:txBody>
                    <a:bodyPr/>
                    <a:lstStyle/>
                    <a:p>
                      <a:pPr algn="l"/>
                      <a:r>
                        <a:rPr lang="en-GB" b="1" sz="1400" dirty="0">
                          <a:solidFill>
                            <a:srgbClr val="1F3864"/>
                          </a:solidFill>
                          <a:latin typeface="Calibri"/>
                        </a:rPr>
                        <a:t>State verbs</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NEVER continuous</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always use Simple</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I know the answer. (NOT knowing)</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
  </p:clrMapOvr>
</p:sld>
</file>

<file path=ppt/slides/slide6.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251" name="box2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252" name="box25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253" name="tb2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SPELLING &amp; USAGE NOTES</a:t>
            </a:r>
          </a:p>
        </p:txBody>
      </p:sp>
      <p:sp>
        <p:nvSpPr>
          <p:cNvPr id="254" name="box254"/>
          <p:cNvSpPr>
            <a:spLocks noGrp="1"/>
          </p:cNvSpPr>
          <p:nvPr/>
        </p:nvSpPr>
        <p:spPr>
          <a:xfrm>
            <a:off x="180000" y="540000"/>
            <a:ext cx="11832000" cy="503999"/>
          </a:xfrm>
          <a:prstGeom prst="rect">
            <a:avLst/>
          </a:prstGeom>
          <a:solidFill>
            <a:srgbClr val="DCE6F1"/>
          </a:solidFill>
          <a:ln w="12700">
            <a:solidFill>
              <a:srgbClr val="1F3864"/>
            </a:solidFill>
          </a:ln>
        </p:spPr>
        <p:txBody>
          <a:bodyPr anchor="ctr" wrap="square" lIns="144000" rIns="72000" tIns="54000" bIns="54000"/>
          <a:lstStyle/>
          <a:p>
            <a:pPr algn="l" spcBef="0" spcAft="0">
              <a:spcPct val="100000"/>
            </a:pPr>
            <a:r>
              <a:rPr lang="en-GB" b="1" sz="1500" dirty="0">
                <a:solidFill>
                  <a:srgbClr val="1F3864"/>
                </a:solidFill>
                <a:latin typeface="Calibri"/>
              </a:rPr>
              <a:t>⚠️  Watch Out!  </a:t>
            </a:r>
            <a:r>
              <a:rPr lang="en-GB" b="0" sz="1400" dirty="0">
                <a:solidFill>
                  <a:srgbClr val="1F3864"/>
                </a:solidFill>
                <a:latin typeface="Calibri"/>
              </a:rPr>
              <a:t>State verbs (like, want, know, understand, need, believe, remember, forget, depend, prefer, love, hate, mean) NEVER use -ing. Say 'I like it' NOT 'I am liking it'.</a:t>
            </a:r>
          </a:p>
        </p:txBody>
      </p:sp>
      <p:sp>
        <p:nvSpPr>
          <p:cNvPr id="255" name="box255"/>
          <p:cNvSpPr>
            <a:spLocks noGrp="1"/>
          </p:cNvSpPr>
          <p:nvPr/>
        </p:nvSpPr>
        <p:spPr>
          <a:xfrm>
            <a:off x="180000" y="1169998"/>
            <a:ext cx="1260000" cy="216000"/>
          </a:xfrm>
          <a:prstGeom prst="roundRect">
            <a:avLst>
              <a:gd name="adj" fmla="val 10000"/>
            </a:avLst>
          </a:prstGeom>
          <a:solidFill>
            <a:srgbClr val="BF8F00"/>
          </a:solidFill>
          <a:ln w="0">
            <a:noFill/>
          </a:ln>
        </p:spPr>
        <p:txBody>
          <a:bodyPr anchor="ctr" wrap="square" lIns="72000" rIns="72000" tIns="54000" bIns="54000"/>
          <a:lstStyle/>
          <a:p>
            <a:pPr algn="ctr" spcBef="0" spcAft="0">
              <a:spcPct val="100000"/>
            </a:pPr>
            <a:r>
              <a:rPr lang="en-GB" b="1" sz="1400" dirty="0">
                <a:solidFill>
                  <a:srgbClr val="1F3864"/>
                </a:solidFill>
                <a:latin typeface="Calibri"/>
              </a:rPr>
              <a:t>Usage Examples</a:t>
            </a:r>
          </a:p>
        </p:txBody>
      </p:sp>
      <p:sp>
        <p:nvSpPr>
          <p:cNvPr id="256" name="tb256"/>
          <p:cNvSpPr txBox="1">
            <a:spLocks noGrp="1"/>
          </p:cNvSpPr>
          <p:nvPr/>
        </p:nvSpPr>
        <p:spPr>
          <a:xfrm>
            <a:off x="180000" y="1439998"/>
            <a:ext cx="11832000" cy="1980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  Habit vs now: I usually walk to work, but today I am taking the bus.</a:t>
            </a:r>
          </a:p>
        </p:txBody>
      </p:sp>
      <p:sp>
        <p:nvSpPr>
          <p:cNvPr id="257" name="tb257"/>
          <p:cNvSpPr txBox="1">
            <a:spLocks noGrp="1"/>
          </p:cNvSpPr>
          <p:nvPr/>
        </p:nvSpPr>
        <p:spPr>
          <a:xfrm>
            <a:off x="180000" y="1655998"/>
            <a:ext cx="11832000" cy="1980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  Fact vs temporary: She works in London. This week she is working in Paris.</a:t>
            </a:r>
          </a:p>
        </p:txBody>
      </p:sp>
      <p:sp>
        <p:nvSpPr>
          <p:cNvPr id="258" name="tb258"/>
          <p:cNvSpPr txBox="1">
            <a:spLocks noGrp="1"/>
          </p:cNvSpPr>
          <p:nvPr/>
        </p:nvSpPr>
        <p:spPr>
          <a:xfrm>
            <a:off x="180000" y="1871998"/>
            <a:ext cx="11832000" cy="1980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  State verb: I know the answer. (NOT I am knowing.)</a:t>
            </a:r>
          </a:p>
        </p:txBody>
      </p:sp>
      <p:sp>
        <p:nvSpPr>
          <p:cNvPr id="259" name="tb259"/>
          <p:cNvSpPr txBox="1">
            <a:spLocks noGrp="1"/>
          </p:cNvSpPr>
          <p:nvPr/>
        </p:nvSpPr>
        <p:spPr>
          <a:xfrm>
            <a:off x="180000" y="2087998"/>
            <a:ext cx="11832000" cy="1980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  State verb: She wants a coffee. (NOT She is wanting.)</a:t>
            </a:r>
          </a:p>
        </p:txBody>
      </p:sp>
    </p:spTree>
  </p:cSld>
  <p:clrMapOvr>
    <a:masterClr/>
  </p:clrMapOvr>
</p:sld>
</file>

<file path=ppt/slides/slide7.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301" name="box3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302" name="box30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303" name="tb3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GUIDED PRACTICE</a:t>
            </a:r>
          </a:p>
        </p:txBody>
      </p:sp>
      <p:sp>
        <p:nvSpPr>
          <p:cNvPr id="304" name="tb304"/>
          <p:cNvSpPr txBox="1">
            <a:spLocks noGrp="1"/>
          </p:cNvSpPr>
          <p:nvPr/>
        </p:nvSpPr>
        <p:spPr>
          <a:xfrm>
            <a:off x="180000" y="540000"/>
            <a:ext cx="11832000" cy="234000"/>
          </a:xfrm>
          <a:prstGeom prst="rect">
            <a:avLst/>
          </a:prstGeom>
          <a:noFill/>
        </p:spPr>
        <p:txBody>
          <a:bodyPr anchor="ctr" wrap="square" lIns="36000" rIns="36000" tIns="36000" bIns="36000"/>
          <a:lstStyle/>
          <a:p>
            <a:pPr algn="l" spcBef="0" spcAft="0">
              <a:spcPct val="100000"/>
            </a:pPr>
            <a:r>
              <a:rPr lang="en-GB" b="0" i="1" sz="1400" dirty="0">
                <a:solidFill>
                  <a:srgbClr val="BF8F00"/>
                </a:solidFill>
                <a:latin typeface="Calibri"/>
              </a:rPr>
              <a:t>Choose Present Simple or Present Continuous. Items 1-2 are completed for you.</a:t>
            </a:r>
          </a:p>
        </p:txBody>
      </p:sp>
      <p:graphicFrame>
        <p:nvGraphicFramePr>
          <p:cNvPr id="305" name="tbl305"/>
          <p:cNvGraphicFramePr>
            <a:graphicFrameLocks noGrp="1"/>
          </p:cNvGraphicFramePr>
          <p:nvPr/>
        </p:nvGraphicFramePr>
        <p:xfrm>
          <a:off x="180000" y="846000"/>
          <a:ext cx="11832000" cy="5922000"/>
        </p:xfrm>
        <a:graphic>
          <a:graphicData uri="http://schemas.openxmlformats.org/drawingml/2006/table">
            <a:tbl>
              <a:tblPr firstRow="1" bandRow="1">
                <a:tableStyleId>{5C22544A-7EE6-4342-B048-85BDC9FD1C3A}</a:tableStyleId>
              </a:tblPr>
              <a:tblGrid>
                <a:gridCol w="709920"/>
                <a:gridCol w="6152640"/>
                <a:gridCol w="4969440"/>
              </a:tblGrid>
              <a:tr h="1141200">
                <a:tc>
                  <a:txBody>
                    <a:bodyPr/>
                    <a:lstStyle/>
                    <a:p>
                      <a:pPr algn="l"/>
                      <a:r>
                        <a:rPr lang="en-GB" b="1" sz="1400" dirty="0">
                          <a:solidFill>
                            <a:srgbClr val="FFFFFF"/>
                          </a:solidFill>
                          <a:latin typeface="Calibri"/>
                        </a:rPr>
                        <a: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Prompt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Answer</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r>
              <a:tr h="1141200">
                <a:tc>
                  <a:txBody>
                    <a:bodyPr/>
                    <a:lstStyle/>
                    <a:p>
                      <a:pPr algn="l"/>
                      <a:r>
                        <a:rPr lang="en-GB" b="1" sz="1400" dirty="0">
                          <a:solidFill>
                            <a:srgbClr val="1F3864"/>
                          </a:solidFill>
                          <a:latin typeface="Calibri"/>
                        </a:rPr>
                        <a:t>1 ✅</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She ___ (drink) coffee every morning.</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She DRINKS coffee every morning. [habit]</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1141200">
                <a:tc>
                  <a:txBody>
                    <a:bodyPr/>
                    <a:lstStyle/>
                    <a:p>
                      <a:pPr algn="l"/>
                      <a:r>
                        <a:rPr lang="en-GB" b="1" sz="1400" dirty="0">
                          <a:solidFill>
                            <a:srgbClr val="1F3864"/>
                          </a:solidFill>
                          <a:latin typeface="Calibri"/>
                        </a:rPr>
                        <a:t>2 ✅</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Look! He ___ (run) in the park now.</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He IS RUNNING in the park now. [now]</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1141200">
                <a:tc>
                  <a:txBody>
                    <a:bodyPr/>
                    <a:lstStyle/>
                    <a:p>
                      <a:pPr algn="l"/>
                      <a:r>
                        <a:rPr lang="en-GB" b="1" sz="1400" dirty="0">
                          <a:solidFill>
                            <a:srgbClr val="1F3864"/>
                          </a:solidFill>
                          <a:latin typeface="Calibri"/>
                        </a:rPr>
                        <a:t>3</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I ___ (know) the answer. [state verb]</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1141200">
                <a:tc>
                  <a:txBody>
                    <a:bodyPr/>
                    <a:lstStyle/>
                    <a:p>
                      <a:pPr algn="l"/>
                      <a:r>
                        <a:rPr lang="en-GB" b="1" sz="1400" dirty="0">
                          <a:solidFill>
                            <a:srgbClr val="1F3864"/>
                          </a:solidFill>
                          <a:latin typeface="Calibri"/>
                        </a:rPr>
                        <a:t>4</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They ___ (watch) TV at the moment.</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
  </p:clrMapOvr>
</p:sld>
</file>

<file path=ppt/slides/slide8.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351" name="box3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352" name="box35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353" name="tb3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CONTROLLED PRACTICE</a:t>
            </a:r>
          </a:p>
        </p:txBody>
      </p:sp>
      <p:sp>
        <p:nvSpPr>
          <p:cNvPr id="354" name="tb354"/>
          <p:cNvSpPr txBox="1">
            <a:spLocks noGrp="1"/>
          </p:cNvSpPr>
          <p:nvPr/>
        </p:nvSpPr>
        <p:spPr>
          <a:xfrm>
            <a:off x="180000" y="540000"/>
            <a:ext cx="11832000" cy="234000"/>
          </a:xfrm>
          <a:prstGeom prst="rect">
            <a:avLst/>
          </a:prstGeom>
          <a:noFill/>
        </p:spPr>
        <p:txBody>
          <a:bodyPr anchor="ctr" wrap="square" lIns="36000" rIns="36000" tIns="36000" bIns="36000"/>
          <a:lstStyle/>
          <a:p>
            <a:pPr algn="l" spcBef="0" spcAft="0">
              <a:spcPct val="100000"/>
            </a:pPr>
            <a:r>
              <a:rPr lang="en-GB" b="0" i="1" sz="1400" dirty="0">
                <a:solidFill>
                  <a:srgbClr val="BF8F00"/>
                </a:solidFill>
                <a:latin typeface="Calibri"/>
              </a:rPr>
              <a:t>Complete with the correct tense: Present Simple or Present Continuous.</a:t>
            </a:r>
          </a:p>
        </p:txBody>
      </p:sp>
      <p:graphicFrame>
        <p:nvGraphicFramePr>
          <p:cNvPr id="355" name="tbl355"/>
          <p:cNvGraphicFramePr>
            <a:graphicFrameLocks noGrp="1"/>
          </p:cNvGraphicFramePr>
          <p:nvPr/>
        </p:nvGraphicFramePr>
        <p:xfrm>
          <a:off x="180000" y="846000"/>
          <a:ext cx="11832000" cy="5922000"/>
        </p:xfrm>
        <a:graphic>
          <a:graphicData uri="http://schemas.openxmlformats.org/drawingml/2006/table">
            <a:tbl>
              <a:tblPr firstRow="1" bandRow="1">
                <a:tableStyleId>{5C22544A-7EE6-4342-B048-85BDC9FD1C3A}</a:tableStyleId>
              </a:tblPr>
              <a:tblGrid>
                <a:gridCol w="709920"/>
                <a:gridCol w="5561040"/>
                <a:gridCol w="5561040"/>
              </a:tblGrid>
              <a:tr h="951000">
                <a:tc>
                  <a:txBody>
                    <a:bodyPr/>
                    <a:lstStyle/>
                    <a:p>
                      <a:pPr algn="l"/>
                      <a:r>
                        <a:rPr lang="en-GB" b="1" sz="1400" dirty="0">
                          <a:solidFill>
                            <a:srgbClr val="FFFFFF"/>
                          </a:solidFill>
                          <a:latin typeface="Calibri"/>
                        </a:rPr>
                        <a: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Sentence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Write your answer</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1</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She usually (walk) ___ but today she (take) ___ the bus.</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2</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I (not understand) ___ this word. [state]</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3</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He (read) ___ a book right now.</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4</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They (play) ___ tennis every Saturday.</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5</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Listen! Someone (sing) ___ outside.</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
  </p:clrMapOvr>
</p:sld>
</file>

<file path=ppt/slides/slide9.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401" name="box4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402" name="box40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403" name="tb4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ERROR CORRECTION</a:t>
            </a:r>
          </a:p>
        </p:txBody>
      </p:sp>
      <p:sp>
        <p:nvSpPr>
          <p:cNvPr id="404" name="tb404"/>
          <p:cNvSpPr txBox="1">
            <a:spLocks noGrp="1"/>
          </p:cNvSpPr>
          <p:nvPr/>
        </p:nvSpPr>
        <p:spPr>
          <a:xfrm>
            <a:off x="180000" y="540000"/>
            <a:ext cx="11832000" cy="234000"/>
          </a:xfrm>
          <a:prstGeom prst="rect">
            <a:avLst/>
          </a:prstGeom>
          <a:noFill/>
        </p:spPr>
        <p:txBody>
          <a:bodyPr anchor="ctr" wrap="square" lIns="36000" rIns="36000" tIns="36000" bIns="36000"/>
          <a:lstStyle/>
          <a:p>
            <a:pPr algn="l" spcBef="0" spcAft="0">
              <a:spcPct val="100000"/>
            </a:pPr>
            <a:r>
              <a:rPr lang="en-GB" b="0" i="1" sz="1400" dirty="0">
                <a:solidFill>
                  <a:srgbClr val="BF8F00"/>
                </a:solidFill>
                <a:latin typeface="Calibri"/>
              </a:rPr>
              <a:t>Find and correct the ONE mistake in each sentence.</a:t>
            </a:r>
          </a:p>
        </p:txBody>
      </p:sp>
      <p:graphicFrame>
        <p:nvGraphicFramePr>
          <p:cNvPr id="405" name="tbl405"/>
          <p:cNvGraphicFramePr>
            <a:graphicFrameLocks noGrp="1"/>
          </p:cNvGraphicFramePr>
          <p:nvPr/>
        </p:nvGraphicFramePr>
        <p:xfrm>
          <a:off x="180000" y="846000"/>
          <a:ext cx="11832000" cy="5922000"/>
        </p:xfrm>
        <a:graphic>
          <a:graphicData uri="http://schemas.openxmlformats.org/drawingml/2006/table">
            <a:tbl>
              <a:tblPr firstRow="1" bandRow="1">
                <a:tableStyleId>{5C22544A-7EE6-4342-B048-85BDC9FD1C3A}</a:tableStyleId>
              </a:tblPr>
              <a:tblGrid>
                <a:gridCol w="591600"/>
                <a:gridCol w="5916000"/>
                <a:gridCol w="5324400"/>
              </a:tblGrid>
              <a:tr h="951000">
                <a:tc>
                  <a:txBody>
                    <a:bodyPr/>
                    <a:lstStyle/>
                    <a:p>
                      <a:pPr algn="l"/>
                      <a:r>
                        <a:rPr lang="en-GB" b="1" sz="1400" dirty="0">
                          <a:solidFill>
                            <a:srgbClr val="FFFFFF"/>
                          </a:solidFill>
                          <a:latin typeface="Calibri"/>
                        </a:rPr>
                        <a: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Incorrect Sentence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Corrected Sentence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1</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I am knowing the answer.</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2</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She is wanting a coffee.</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3</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He drinks tea right now.</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4</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They are usually going to the gym.</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5</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I am believing you.</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
  </p:clrMapOvr>
</p:sld>
</file>

<file path=ppt/slides/slide10.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451" name="box4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452" name="box452"/>
          <p:cNvSpPr>
            <a:spLocks noGrp="1"/>
          </p:cNvSpPr>
          <p:nvPr/>
        </p:nvSpPr>
        <p:spPr>
          <a:xfrm>
            <a:off x="0" y="396000"/>
            <a:ext cx="12192000" cy="64800"/>
          </a:xfrm>
          <a:prstGeom prst="rect">
            <a:avLst/>
          </a:prstGeom>
          <a:solidFill>
            <a:srgbClr val="548235"/>
          </a:solidFill>
          <a:ln w="0">
            <a:noFill/>
          </a:ln>
        </p:spPr>
        <p:txBody>
          <a:bodyPr anchor="ctr" wrap="square" lIns="72000" rIns="72000" tIns="54000" bIns="54000"/>
          <a:lstStyle/>
        </p:txBody>
      </p:sp>
      <p:sp>
        <p:nvSpPr>
          <p:cNvPr id="453" name="tb4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SPEAKING ACTIVITY</a:t>
            </a:r>
          </a:p>
        </p:txBody>
      </p:sp>
      <p:sp>
        <p:nvSpPr>
          <p:cNvPr id="454" name="box454"/>
          <p:cNvSpPr>
            <a:spLocks noGrp="1"/>
          </p:cNvSpPr>
          <p:nvPr/>
        </p:nvSpPr>
        <p:spPr>
          <a:xfrm>
            <a:off x="180000" y="522000"/>
            <a:ext cx="11832000" cy="360000"/>
          </a:xfrm>
          <a:prstGeom prst="roundRect">
            <a:avLst>
              <a:gd name="adj" fmla="val 12000"/>
            </a:avLst>
          </a:prstGeom>
          <a:solidFill>
            <a:srgbClr val="548235"/>
          </a:solidFill>
          <a:ln w="0">
            <a:noFill/>
          </a:ln>
        </p:spPr>
        <p:txBody>
          <a:bodyPr anchor="ctr" wrap="square" lIns="180000" rIns="72000" tIns="54000" bIns="54000"/>
          <a:lstStyle/>
          <a:p>
            <a:pPr algn="l" spcBef="0" spcAft="0">
              <a:spcPct val="100000"/>
            </a:pPr>
            <a:r>
              <a:rPr lang="en-GB" b="1" sz="2200" dirty="0">
                <a:solidFill>
                  <a:srgbClr val="FFFFFF"/>
                </a:solidFill>
                <a:latin typeface="Cambria"/>
              </a:rPr>
              <a:t>💬 What I Do vs What I'm Doing</a:t>
            </a:r>
          </a:p>
        </p:txBody>
      </p:sp>
      <p:sp>
        <p:nvSpPr>
          <p:cNvPr id="455" name="box455"/>
          <p:cNvSpPr>
            <a:spLocks noGrp="1"/>
          </p:cNvSpPr>
          <p:nvPr/>
        </p:nvSpPr>
        <p:spPr>
          <a:xfrm>
            <a:off x="11112000" y="954000"/>
            <a:ext cx="900000" cy="1260000"/>
          </a:xfrm>
          <a:prstGeom prst="roundRect">
            <a:avLst>
              <a:gd name="adj" fmla="val 20000"/>
            </a:avLst>
          </a:prstGeom>
          <a:solidFill>
            <a:srgbClr val="DCE6F1"/>
          </a:solidFill>
          <a:ln w="0">
            <a:noFill/>
          </a:ln>
        </p:spPr>
        <p:txBody>
          <a:bodyPr anchor="ctr" wrap="square" lIns="72000" rIns="72000" tIns="54000" bIns="54000"/>
          <a:lstStyle/>
          <a:p>
            <a:pPr algn="ctr" spcBef="0" spcAft="0">
              <a:spcPct val="100000"/>
            </a:pPr>
            <a:r>
              <a:rPr lang="en-GB" b="0" sz="6000" dirty="0">
                <a:solidFill>
                  <a:srgbClr val="2E75B6"/>
                </a:solidFill>
                <a:latin typeface="Calibri"/>
              </a:rPr>
              <a:t>💬</a:t>
            </a:r>
          </a:p>
        </p:txBody>
      </p:sp>
      <p:sp>
        <p:nvSpPr>
          <p:cNvPr id="456" name="box456"/>
          <p:cNvSpPr>
            <a:spLocks noGrp="1"/>
          </p:cNvSpPr>
          <p:nvPr/>
        </p:nvSpPr>
        <p:spPr>
          <a:xfrm>
            <a:off x="180000" y="954000"/>
            <a:ext cx="234000" cy="2592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1</a:t>
            </a:r>
          </a:p>
        </p:txBody>
      </p:sp>
      <p:sp>
        <p:nvSpPr>
          <p:cNvPr id="457" name="tb457"/>
          <p:cNvSpPr txBox="1">
            <a:spLocks noGrp="1"/>
          </p:cNvSpPr>
          <p:nvPr/>
        </p:nvSpPr>
        <p:spPr>
          <a:xfrm>
            <a:off x="468000" y="954000"/>
            <a:ext cx="10464000" cy="2592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Make two lists: 5 things you USUALLY do + 5 things you are doing THIS WEEK differently.</a:t>
            </a:r>
          </a:p>
        </p:txBody>
      </p:sp>
      <p:sp>
        <p:nvSpPr>
          <p:cNvPr id="458" name="box458"/>
          <p:cNvSpPr>
            <a:spLocks noGrp="1"/>
          </p:cNvSpPr>
          <p:nvPr/>
        </p:nvSpPr>
        <p:spPr>
          <a:xfrm>
            <a:off x="180000" y="1270800"/>
            <a:ext cx="234000" cy="2592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2</a:t>
            </a:r>
          </a:p>
        </p:txBody>
      </p:sp>
      <p:sp>
        <p:nvSpPr>
          <p:cNvPr id="459" name="tb459"/>
          <p:cNvSpPr txBox="1">
            <a:spLocks noGrp="1"/>
          </p:cNvSpPr>
          <p:nvPr/>
        </p:nvSpPr>
        <p:spPr>
          <a:xfrm>
            <a:off x="468000" y="1270800"/>
            <a:ext cx="10464000" cy="2592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Tell your partner: 'I usually eat at home, but this week I am eating at a restaurant.'</a:t>
            </a:r>
          </a:p>
        </p:txBody>
      </p:sp>
      <p:sp>
        <p:nvSpPr>
          <p:cNvPr id="460" name="box460"/>
          <p:cNvSpPr>
            <a:spLocks noGrp="1"/>
          </p:cNvSpPr>
          <p:nvPr/>
        </p:nvSpPr>
        <p:spPr>
          <a:xfrm>
            <a:off x="180000" y="1587600"/>
            <a:ext cx="234000" cy="2592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3</a:t>
            </a:r>
          </a:p>
        </p:txBody>
      </p:sp>
      <p:sp>
        <p:nvSpPr>
          <p:cNvPr id="461" name="tb461"/>
          <p:cNvSpPr txBox="1">
            <a:spLocks noGrp="1"/>
          </p:cNvSpPr>
          <p:nvPr/>
        </p:nvSpPr>
        <p:spPr>
          <a:xfrm>
            <a:off x="468000" y="1587600"/>
            <a:ext cx="10464000" cy="2592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Your partner asks follow-up questions: 'Why are you eating at a restaurant?'</a:t>
            </a:r>
          </a:p>
        </p:txBody>
      </p:sp>
      <p:sp>
        <p:nvSpPr>
          <p:cNvPr id="462" name="box462"/>
          <p:cNvSpPr>
            <a:spLocks noGrp="1"/>
          </p:cNvSpPr>
          <p:nvPr/>
        </p:nvSpPr>
        <p:spPr>
          <a:xfrm>
            <a:off x="180000" y="1904400"/>
            <a:ext cx="234000" cy="2592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4</a:t>
            </a:r>
          </a:p>
        </p:txBody>
      </p:sp>
      <p:sp>
        <p:nvSpPr>
          <p:cNvPr id="463" name="tb463"/>
          <p:cNvSpPr txBox="1">
            <a:spLocks noGrp="1"/>
          </p:cNvSpPr>
          <p:nvPr/>
        </p:nvSpPr>
        <p:spPr>
          <a:xfrm>
            <a:off x="468000" y="1904400"/>
            <a:ext cx="10464000" cy="2592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Report to the class: 'Carlos usually walks, but this week he is taking the bus.'</a:t>
            </a:r>
          </a:p>
        </p:txBody>
      </p:sp>
      <p:sp>
        <p:nvSpPr>
          <p:cNvPr id="464" name="box464"/>
          <p:cNvSpPr>
            <a:spLocks noGrp="1"/>
          </p:cNvSpPr>
          <p:nvPr/>
        </p:nvSpPr>
        <p:spPr>
          <a:xfrm>
            <a:off x="180000" y="6570000"/>
            <a:ext cx="1260000" cy="216000"/>
          </a:xfrm>
          <a:prstGeom prst="roundRect">
            <a:avLst>
              <a:gd name="adj" fmla="val 10000"/>
            </a:avLst>
          </a:prstGeom>
          <a:solidFill>
            <a:srgbClr val="1F3864"/>
          </a:solidFill>
          <a:ln w="0">
            <a:noFill/>
          </a:ln>
        </p:spPr>
        <p:txBody>
          <a:bodyPr anchor="ctr" wrap="square" lIns="72000" rIns="72000" tIns="54000" bIns="54000"/>
          <a:lstStyle/>
          <a:p>
            <a:pPr algn="ctr" spcBef="0" spcAft="0">
              <a:spcPct val="100000"/>
            </a:pPr>
            <a:r>
              <a:rPr lang="en-GB" b="1" sz="1300" dirty="0">
                <a:solidFill>
                  <a:srgbClr val="BF8F00"/>
                </a:solidFill>
                <a:latin typeface="Calibri"/>
              </a:rPr>
              <a:t>👥  Pair Work</a:t>
            </a:r>
          </a:p>
        </p:txBody>
      </p:sp>
    </p:spTree>
  </p:cSld>
  <p:clrMapOvr>
    <a:masterClr/>
  </p:clrMapOvr>
</p:sld>
</file>

<file path=ppt/slides/slide11.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501" name="box5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502" name="box502"/>
          <p:cNvSpPr>
            <a:spLocks noGrp="1"/>
          </p:cNvSpPr>
          <p:nvPr/>
        </p:nvSpPr>
        <p:spPr>
          <a:xfrm>
            <a:off x="0" y="396000"/>
            <a:ext cx="12192000" cy="64800"/>
          </a:xfrm>
          <a:prstGeom prst="rect">
            <a:avLst/>
          </a:prstGeom>
          <a:solidFill>
            <a:srgbClr val="548235"/>
          </a:solidFill>
          <a:ln w="0">
            <a:noFill/>
          </a:ln>
        </p:spPr>
        <p:txBody>
          <a:bodyPr anchor="ctr" wrap="square" lIns="72000" rIns="72000" tIns="54000" bIns="54000"/>
          <a:lstStyle/>
        </p:txBody>
      </p:sp>
      <p:sp>
        <p:nvSpPr>
          <p:cNvPr id="503" name="tb5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READING &amp; WRITING</a:t>
            </a:r>
          </a:p>
        </p:txBody>
      </p:sp>
      <p:sp>
        <p:nvSpPr>
          <p:cNvPr id="504" name="box504"/>
          <p:cNvSpPr>
            <a:spLocks noGrp="1"/>
          </p:cNvSpPr>
          <p:nvPr/>
        </p:nvSpPr>
        <p:spPr>
          <a:xfrm>
            <a:off x="180000" y="540000"/>
            <a:ext cx="900000" cy="198000"/>
          </a:xfrm>
          <a:prstGeom prst="roundRect">
            <a:avLst>
              <a:gd name="adj" fmla="val 10000"/>
            </a:avLst>
          </a:prstGeom>
          <a:solidFill>
            <a:srgbClr val="548235"/>
          </a:solidFill>
          <a:ln w="0">
            <a:noFill/>
          </a:ln>
        </p:spPr>
        <p:txBody>
          <a:bodyPr anchor="ctr" wrap="square" lIns="72000" rIns="72000" tIns="54000" bIns="54000"/>
          <a:lstStyle/>
          <a:p>
            <a:pPr algn="ctr" spcBef="0" spcAft="0">
              <a:spcPct val="100000"/>
            </a:pPr>
            <a:r>
              <a:rPr lang="en-GB" b="1" sz="1300" dirty="0">
                <a:solidFill>
                  <a:srgbClr val="FFFFFF"/>
                </a:solidFill>
                <a:latin typeface="Calibri"/>
              </a:rPr>
              <a:t>Reading</a:t>
            </a:r>
          </a:p>
        </p:txBody>
      </p:sp>
      <p:sp>
        <p:nvSpPr>
          <p:cNvPr id="505" name="box505"/>
          <p:cNvSpPr>
            <a:spLocks noGrp="1"/>
          </p:cNvSpPr>
          <p:nvPr/>
        </p:nvSpPr>
        <p:spPr>
          <a:xfrm>
            <a:off x="180000" y="792000"/>
            <a:ext cx="11832000" cy="612000"/>
          </a:xfrm>
          <a:prstGeom prst="rect">
            <a:avLst/>
          </a:prstGeom>
          <a:solidFill>
            <a:srgbClr val="F2F2F2"/>
          </a:solidFill>
          <a:ln w="12700">
            <a:solidFill>
              <a:srgbClr val="CCCCCC"/>
            </a:solidFill>
          </a:ln>
        </p:spPr>
        <p:txBody>
          <a:bodyPr anchor="t" wrap="square" lIns="108000" rIns="72000" tIns="72000" bIns="54000"/>
          <a:lstStyle/>
          <a:p>
            <a:pPr algn="l" spcBef="0" spcAft="0">
              <a:spcPct val="100000"/>
            </a:pPr>
            <a:r>
              <a:rPr lang="en-GB" b="0" i="1" sz="1300" dirty="0">
                <a:solidFill>
                  <a:srgbClr val="404040"/>
                </a:solidFill>
                <a:latin typeface="Calibri"/>
              </a:rPr>
              <a:t>Marta lives in Madrid. She usually works in an office, but this month she is working from home. She normally takes the train, but now she doesn't need to travel. She likes the change because she has more time with her family. Right now she is sitting in her garden and drinking coffee.</a:t>
            </a:r>
          </a:p>
        </p:txBody>
      </p:sp>
      <p:sp>
        <p:nvSpPr>
          <p:cNvPr id="506" name="box506"/>
          <p:cNvSpPr>
            <a:spLocks noGrp="1"/>
          </p:cNvSpPr>
          <p:nvPr/>
        </p:nvSpPr>
        <p:spPr>
          <a:xfrm>
            <a:off x="180000" y="1475999"/>
            <a:ext cx="900000" cy="198000"/>
          </a:xfrm>
          <a:prstGeom prst="roundRect">
            <a:avLst>
              <a:gd name="adj" fmla="val 10000"/>
            </a:avLst>
          </a:prstGeom>
          <a:solidFill>
            <a:srgbClr val="548235"/>
          </a:solidFill>
          <a:ln w="0">
            <a:noFill/>
          </a:ln>
        </p:spPr>
        <p:txBody>
          <a:bodyPr anchor="ctr" wrap="square" lIns="72000" rIns="72000" tIns="54000" bIns="54000"/>
          <a:lstStyle/>
          <a:p>
            <a:pPr algn="ctr" spcBef="0" spcAft="0">
              <a:spcPct val="100000"/>
            </a:pPr>
            <a:r>
              <a:rPr lang="en-GB" b="1" sz="1300" dirty="0">
                <a:solidFill>
                  <a:srgbClr val="FFFFFF"/>
                </a:solidFill>
                <a:latin typeface="Calibri"/>
              </a:rPr>
              <a:t>Writing</a:t>
            </a:r>
          </a:p>
        </p:txBody>
      </p:sp>
      <p:sp>
        <p:nvSpPr>
          <p:cNvPr id="507" name="tb507"/>
          <p:cNvSpPr txBox="1">
            <a:spLocks noGrp="1"/>
          </p:cNvSpPr>
          <p:nvPr/>
        </p:nvSpPr>
        <p:spPr>
          <a:xfrm>
            <a:off x="180000" y="1728000"/>
            <a:ext cx="11832000" cy="234000"/>
          </a:xfrm>
          <a:prstGeom prst="rect">
            <a:avLst/>
          </a:prstGeom>
          <a:noFill/>
        </p:spPr>
        <p:txBody>
          <a:bodyPr anchor="ctr" wrap="square" lIns="36000" rIns="36000" tIns="36000" bIns="36000"/>
          <a:lstStyle/>
          <a:p>
            <a:pPr algn="l" spcBef="0" spcAft="0">
              <a:spcPct val="100000"/>
            </a:pPr>
            <a:r>
              <a:rPr lang="en-GB" b="0" i="1" sz="1400" dirty="0">
                <a:solidFill>
                  <a:srgbClr val="548235"/>
                </a:solidFill>
                <a:latin typeface="Calibri"/>
              </a:rPr>
              <a:t>Write sentences comparing your habits with what you are doing today.</a:t>
            </a:r>
          </a:p>
        </p:txBody>
      </p:sp>
      <p:sp>
        <p:nvSpPr>
          <p:cNvPr id="508" name="tb508"/>
          <p:cNvSpPr txBox="1">
            <a:spLocks noGrp="1"/>
          </p:cNvSpPr>
          <p:nvPr/>
        </p:nvSpPr>
        <p:spPr>
          <a:xfrm>
            <a:off x="180000" y="2015999"/>
            <a:ext cx="11832000" cy="125999"/>
          </a:xfrm>
          <a:prstGeom prst="rect">
            <a:avLst/>
          </a:prstGeom>
          <a:noFill/>
        </p:spPr>
        <p:txBody>
          <a:bodyPr anchor="ctr" wrap="square" lIns="36000" rIns="36000" tIns="36000" bIns="36000"/>
          <a:lstStyle/>
          <a:p>
            <a:pPr algn="l" spcBef="0" spcAft="0">
              <a:spcPct val="100000"/>
            </a:pPr>
            <a:r>
              <a:rPr lang="en-GB" b="0" sz="1300" dirty="0">
                <a:solidFill>
                  <a:srgbClr val="404040"/>
                </a:solidFill>
                <a:latin typeface="Calibri"/>
              </a:rPr>
              <a:t>• I usually ___ but today I am ___.</a:t>
            </a:r>
          </a:p>
        </p:txBody>
      </p:sp>
      <p:sp>
        <p:nvSpPr>
          <p:cNvPr id="509" name="tb509"/>
          <p:cNvSpPr txBox="1">
            <a:spLocks noGrp="1"/>
          </p:cNvSpPr>
          <p:nvPr/>
        </p:nvSpPr>
        <p:spPr>
          <a:xfrm>
            <a:off x="180000" y="2152799"/>
            <a:ext cx="11832000" cy="125999"/>
          </a:xfrm>
          <a:prstGeom prst="rect">
            <a:avLst/>
          </a:prstGeom>
          <a:noFill/>
        </p:spPr>
        <p:txBody>
          <a:bodyPr anchor="ctr" wrap="square" lIns="36000" rIns="36000" tIns="36000" bIns="36000"/>
          <a:lstStyle/>
          <a:p>
            <a:pPr algn="l" spcBef="0" spcAft="0">
              <a:spcPct val="100000"/>
            </a:pPr>
            <a:r>
              <a:rPr lang="en-GB" b="0" sz="1300" dirty="0">
                <a:solidFill>
                  <a:srgbClr val="404040"/>
                </a:solidFill>
                <a:latin typeface="Calibri"/>
              </a:rPr>
              <a:t>• My friend normally ___ but this week he/she is ___.</a:t>
            </a:r>
          </a:p>
        </p:txBody>
      </p:sp>
      <p:sp>
        <p:nvSpPr>
          <p:cNvPr id="510" name="tb510"/>
          <p:cNvSpPr txBox="1">
            <a:spLocks noGrp="1"/>
          </p:cNvSpPr>
          <p:nvPr/>
        </p:nvSpPr>
        <p:spPr>
          <a:xfrm>
            <a:off x="180000" y="2289599"/>
            <a:ext cx="11832000" cy="125999"/>
          </a:xfrm>
          <a:prstGeom prst="rect">
            <a:avLst/>
          </a:prstGeom>
          <a:noFill/>
        </p:spPr>
        <p:txBody>
          <a:bodyPr anchor="ctr" wrap="square" lIns="36000" rIns="36000" tIns="36000" bIns="36000"/>
          <a:lstStyle/>
          <a:p>
            <a:pPr algn="l" spcBef="0" spcAft="0">
              <a:spcPct val="100000"/>
            </a:pPr>
            <a:r>
              <a:rPr lang="en-GB" b="0" sz="1300" dirty="0">
                <a:solidFill>
                  <a:srgbClr val="404040"/>
                </a:solidFill>
                <a:latin typeface="Calibri"/>
              </a:rPr>
              <a:t>• I always ___ every day, but right now I am ___.</a:t>
            </a:r>
          </a:p>
        </p:txBody>
      </p:sp>
    </p:spTree>
  </p:cSld>
  <p:clrMapOvr>
    <a:masterClr/>
  </p:clrMapOvr>
</p:sld>
</file>

<file path=ppt/slides/slide12.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551" name="box5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552" name="box552"/>
          <p:cNvSpPr>
            <a:spLocks noGrp="1"/>
          </p:cNvSpPr>
          <p:nvPr/>
        </p:nvSpPr>
        <p:spPr>
          <a:xfrm>
            <a:off x="0" y="396000"/>
            <a:ext cx="12192000" cy="64800"/>
          </a:xfrm>
          <a:prstGeom prst="rect">
            <a:avLst/>
          </a:prstGeom>
          <a:solidFill>
            <a:srgbClr val="2E75B6"/>
          </a:solidFill>
          <a:ln w="0">
            <a:noFill/>
          </a:ln>
        </p:spPr>
        <p:txBody>
          <a:bodyPr anchor="ctr" wrap="square" lIns="72000" rIns="72000" tIns="54000" bIns="54000"/>
          <a:lstStyle/>
        </p:txBody>
      </p:sp>
      <p:sp>
        <p:nvSpPr>
          <p:cNvPr id="553" name="tb5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HOMEWORK</a:t>
            </a:r>
          </a:p>
        </p:txBody>
      </p:sp>
      <p:sp>
        <p:nvSpPr>
          <p:cNvPr id="554" name="box554"/>
          <p:cNvSpPr>
            <a:spLocks noGrp="1"/>
          </p:cNvSpPr>
          <p:nvPr/>
        </p:nvSpPr>
        <p:spPr>
          <a:xfrm>
            <a:off x="180000" y="540000"/>
            <a:ext cx="432000" cy="432000"/>
          </a:xfrm>
          <a:prstGeom prst="roundRect">
            <a:avLst>
              <a:gd name="adj" fmla="val 50000"/>
            </a:avLst>
          </a:prstGeom>
          <a:solidFill>
            <a:srgbClr val="BF8F00"/>
          </a:solidFill>
          <a:ln w="0">
            <a:noFill/>
          </a:ln>
        </p:spPr>
        <p:txBody>
          <a:bodyPr anchor="ctr" wrap="square" lIns="72000" rIns="72000" tIns="54000" bIns="54000"/>
          <a:lstStyle/>
          <a:p>
            <a:pPr algn="ctr" spcBef="0" spcAft="0">
              <a:spcPct val="100000"/>
            </a:pPr>
            <a:r>
              <a:rPr lang="en-GB" b="1" sz="2800" dirty="0">
                <a:solidFill>
                  <a:srgbClr val="1F3864"/>
                </a:solidFill>
                <a:latin typeface="Cambria"/>
              </a:rPr>
              <a:t>1</a:t>
            </a:r>
          </a:p>
        </p:txBody>
      </p:sp>
      <p:sp>
        <p:nvSpPr>
          <p:cNvPr id="555" name="box555"/>
          <p:cNvSpPr>
            <a:spLocks noGrp="1"/>
          </p:cNvSpPr>
          <p:nvPr/>
        </p:nvSpPr>
        <p:spPr>
          <a:xfrm>
            <a:off x="684000" y="540000"/>
            <a:ext cx="11328000" cy="432000"/>
          </a:xfrm>
          <a:prstGeom prst="rect">
            <a:avLst/>
          </a:prstGeom>
          <a:solidFill>
            <a:srgbClr val="DCE6F1"/>
          </a:solidFill>
          <a:ln w="12700">
            <a:solidFill>
              <a:srgbClr val="2E75B6"/>
            </a:solidFill>
          </a:ln>
        </p:spPr>
        <p:txBody>
          <a:bodyPr anchor="ctr" wrap="square" lIns="108000" rIns="72000" tIns="54000" bIns="54000"/>
          <a:lstStyle/>
          <a:p>
            <a:pPr algn="l" spcBef="0" spcAft="0">
              <a:spcPct val="100000"/>
            </a:pPr>
            <a:r>
              <a:rPr lang="en-GB" b="1" sz="1500" dirty="0">
                <a:solidFill>
                  <a:srgbClr val="1F3864"/>
                </a:solidFill>
                <a:latin typeface="Calibri"/>
              </a:rPr>
              <a:t>Production Task  </a:t>
            </a:r>
            <a:r>
              <a:rPr lang="en-GB" b="0" sz="1400" dirty="0">
                <a:solidFill>
                  <a:srgbClr val="404040"/>
                </a:solidFill>
                <a:latin typeface="Calibri"/>
              </a:rPr>
              <a:t>Write 8 sentences: 4 about your usual routine (Present Simple) and 4 about what is different today or this week (Present Continuous). Underline the verbs.</a:t>
            </a:r>
          </a:p>
        </p:txBody>
      </p:sp>
      <p:sp>
        <p:nvSpPr>
          <p:cNvPr id="556" name="box556"/>
          <p:cNvSpPr>
            <a:spLocks noGrp="1"/>
          </p:cNvSpPr>
          <p:nvPr/>
        </p:nvSpPr>
        <p:spPr>
          <a:xfrm>
            <a:off x="180000" y="1080000"/>
            <a:ext cx="432000" cy="432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2800" dirty="0">
                <a:solidFill>
                  <a:srgbClr val="FFFFFF"/>
                </a:solidFill>
                <a:latin typeface="Cambria"/>
              </a:rPr>
              <a:t>2</a:t>
            </a:r>
          </a:p>
        </p:txBody>
      </p:sp>
      <p:sp>
        <p:nvSpPr>
          <p:cNvPr id="557" name="box557"/>
          <p:cNvSpPr>
            <a:spLocks noGrp="1"/>
          </p:cNvSpPr>
          <p:nvPr/>
        </p:nvSpPr>
        <p:spPr>
          <a:xfrm>
            <a:off x="684000" y="1080000"/>
            <a:ext cx="11328000" cy="432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1" sz="1500" dirty="0">
                <a:solidFill>
                  <a:srgbClr val="1F3864"/>
                </a:solidFill>
                <a:latin typeface="Calibri"/>
              </a:rPr>
              <a:t>Vocabulary Consolidation  </a:t>
            </a:r>
            <a:r>
              <a:rPr lang="en-GB" b="0" sz="1400" dirty="0">
                <a:solidFill>
                  <a:srgbClr val="404040"/>
                </a:solidFill>
                <a:latin typeface="Calibri"/>
              </a:rPr>
              <a:t>Write the 13 state verbs from the lesson in your notebook. For each one, write a correct example sentence in Present Simple. Do NOT use -ing with any of them.</a:t>
            </a:r>
          </a:p>
        </p:txBody>
      </p:sp>
      <p:sp>
        <p:nvSpPr>
          <p:cNvPr id="558" name="box558"/>
          <p:cNvSpPr>
            <a:spLocks noGrp="1"/>
          </p:cNvSpPr>
          <p:nvPr/>
        </p:nvSpPr>
        <p:spPr>
          <a:xfrm>
            <a:off x="180000" y="6498000"/>
            <a:ext cx="1440000" cy="216000"/>
          </a:xfrm>
          <a:prstGeom prst="roundRect">
            <a:avLst>
              <a:gd name="adj" fmla="val 10000"/>
            </a:avLst>
          </a:prstGeom>
          <a:solidFill>
            <a:srgbClr val="1F3864"/>
          </a:solidFill>
          <a:ln w="0">
            <a:noFill/>
          </a:ln>
        </p:spPr>
        <p:txBody>
          <a:bodyPr anchor="ctr" wrap="square" lIns="72000" rIns="72000" tIns="54000" bIns="54000"/>
          <a:lstStyle/>
          <a:p>
            <a:pPr algn="ctr" spcBef="0" spcAft="0">
              <a:spcPct val="100000"/>
            </a:pPr>
            <a:r>
              <a:rPr lang="en-GB" b="1" sz="1300" dirty="0">
                <a:solidFill>
                  <a:srgbClr val="BF8F00"/>
                </a:solidFill>
                <a:latin typeface="Calibri"/>
              </a:rPr>
              <a:t>📅  Due: next class</a:t>
            </a:r>
          </a:p>
        </p:txBody>
      </p:sp>
    </p:spTree>
  </p:cSld>
  <p:clrMapOvr>
    <a:masterClr/>
  </p:clrMapOvr>
</p:sld>
</file>

<file path=ppt/slides/slide13.xml><?xml version="1.0" encoding="utf-8"?>
<p:sld xmlns:p="http://schemas.openxmlformats.org/presentationml/2006/main" xmlns:a="http://schemas.openxmlformats.org/drawingml/2006/main" xmlns:r="http://schemas.openxmlformats.org/officeDocument/2006/relationships" xmlns:dc="http://purl.org/dc/elements/1.1/">
  <p:cSld>
    <p:bg>
      <p:bgPr>
        <a:solidFill>
          <a:srgbClr val="1F3864"/>
        </a:solidFill>
        <a:effectLst/>
      </p:bgPr>
    </p:bg>
    <p:spTree>
      <p:nvGrpSpPr>
        <p:cNvPr id="1" name="content"/>
        <p:cNvGrpSpPr/>
        <p:nvPr/>
      </p:nvGrpSpPr>
      <p:grpSpPr>
        <a:xfrm>
          <a:off x="0" y="0"/>
          <a:ext cx="12192000" cy="6858000"/>
          <a:chOff x="0" y="0"/>
          <a:chExt cx="12192000" cy="6858000"/>
        </a:xfrm>
      </p:grpSpPr>
      <p:sp>
        <p:nvSpPr>
          <p:cNvPr id="601" name="shape601"/>
          <p:cNvSpPr>
            <a:spLocks noGrp="1"/>
          </p:cNvSpPr>
          <p:nvPr/>
        </p:nvSpPr>
        <p:spPr>
          <a:xfrm>
            <a:off x="0" y="0"/>
            <a:ext cx="12192000" cy="6858000"/>
          </a:xfrm>
          <a:prstGeom prst="rect">
            <a:avLst/>
          </a:prstGeom>
          <a:gradFill rot="1">
            <a:gsLst>
              <a:gs pos="0">
                <a:srgbClr val="1F3864"/>
              </a:gs>
              <a:gs pos="100000">
                <a:srgbClr val="0D2245"/>
              </a:gs>
            </a:gsLst>
            <a:lin ang="5400000" scaled="0"/>
          </a:gradFill>
        </p:spPr>
        <p:txBody>
          <a:bodyPr/>
          <a:lstStyle/>
          <a:p/>
        </p:txBody>
      </p:sp>
      <p:sp>
        <p:nvSpPr>
          <p:cNvPr id="602" name="shape602"/>
          <p:cNvSpPr>
            <a:spLocks noGrp="1"/>
          </p:cNvSpPr>
          <p:nvPr/>
        </p:nvSpPr>
        <p:spPr>
          <a:xfrm>
            <a:off x="0" y="0"/>
            <a:ext cx="12192000" cy="108000"/>
          </a:xfrm>
          <a:prstGeom prst="rect">
            <a:avLst/>
          </a:prstGeom>
          <a:solidFill>
            <a:srgbClr val="BF8F00"/>
          </a:solidFill>
        </p:spPr>
        <p:txBody>
          <a:bodyPr/>
          <a:lstStyle/>
          <a:p/>
        </p:txBody>
      </p:sp>
      <p:sp>
        <p:nvSpPr>
          <p:cNvPr id="603" name="shape603"/>
          <p:cNvSpPr>
            <a:spLocks noGrp="1"/>
          </p:cNvSpPr>
          <p:nvPr/>
        </p:nvSpPr>
        <p:spPr>
          <a:xfrm>
            <a:off x="0" y="6750000"/>
            <a:ext cx="12192000" cy="108000"/>
          </a:xfrm>
          <a:prstGeom prst="rect">
            <a:avLst/>
          </a:prstGeom>
          <a:solidFill>
            <a:srgbClr val="BF8F00"/>
          </a:solidFill>
        </p:spPr>
        <p:txBody>
          <a:bodyPr/>
          <a:lstStyle/>
          <a:p/>
        </p:txBody>
      </p:sp>
      <p:sp>
        <p:nvSpPr>
          <p:cNvPr id="604" name="shape604"/>
          <p:cNvSpPr>
            <a:spLocks noGrp="1"/>
          </p:cNvSpPr>
          <p:nvPr/>
        </p:nvSpPr>
        <p:spPr>
          <a:xfrm>
            <a:off x="0" y="0"/>
            <a:ext cx="144000" cy="6858000"/>
          </a:xfrm>
          <a:prstGeom prst="rect">
            <a:avLst/>
          </a:prstGeom>
          <a:solidFill>
            <a:srgbClr val="BF8F00"/>
          </a:solidFill>
        </p:spPr>
        <p:txBody>
          <a:bodyPr/>
          <a:lstStyle/>
          <a:p/>
        </p:txBody>
      </p:sp>
      <p:sp>
        <p:nvSpPr>
          <p:cNvPr id="605" name="box605"/>
          <p:cNvSpPr>
            <a:spLocks noGrp="1"/>
          </p:cNvSpPr>
          <p:nvPr/>
        </p:nvSpPr>
        <p:spPr>
          <a:xfrm>
            <a:off x="432000" y="432000"/>
            <a:ext cx="1800000" cy="324000"/>
          </a:xfrm>
          <a:prstGeom prst="roundRect">
            <a:avLst>
              <a:gd name="adj" fmla="val 20000"/>
            </a:avLst>
          </a:prstGeom>
          <a:solidFill>
            <a:srgbClr val="BF8F00"/>
          </a:solidFill>
          <a:ln w="0">
            <a:noFill/>
          </a:ln>
        </p:spPr>
        <p:txBody>
          <a:bodyPr anchor="ctr" wrap="square" lIns="72000" rIns="72000" tIns="54000" bIns="54000"/>
          <a:lstStyle/>
          <a:p>
            <a:pPr algn="ctr" spcBef="0" spcAft="0">
              <a:spcPct val="100000"/>
            </a:pPr>
            <a:r>
              <a:rPr lang="en-GB" b="1" sz="1600" dirty="0">
                <a:solidFill>
                  <a:srgbClr val="1F3864"/>
                </a:solidFill>
                <a:latin typeface="Cambria"/>
              </a:rPr>
              <a:t>UNIT 8  ·  A1</a:t>
            </a:r>
          </a:p>
        </p:txBody>
      </p:sp>
      <p:sp>
        <p:nvSpPr>
          <p:cNvPr id="606" name="tb606"/>
          <p:cNvSpPr txBox="1">
            <a:spLocks noGrp="1"/>
          </p:cNvSpPr>
          <p:nvPr/>
        </p:nvSpPr>
        <p:spPr>
          <a:xfrm>
            <a:off x="432000" y="827999"/>
            <a:ext cx="11472000" cy="900000"/>
          </a:xfrm>
          <a:prstGeom prst="rect">
            <a:avLst/>
          </a:prstGeom>
          <a:noFill/>
        </p:spPr>
        <p:txBody>
          <a:bodyPr anchor="t" wrap="square" lIns="36000" rIns="36000" tIns="36000" bIns="36000"/>
          <a:lstStyle/>
          <a:p>
            <a:pPr algn="l" spcBef="0" spcAft="0">
              <a:spcPct val="100000"/>
            </a:pPr>
            <a:r>
              <a:rPr lang="en-GB" b="1" sz="3600" dirty="0">
                <a:solidFill>
                  <a:srgbClr val="FFFFFF"/>
                </a:solidFill>
                <a:latin typeface="Cambria"/>
              </a:rPr>
              <a:t>Present Simple vs Present Continuous</a:t>
            </a:r>
          </a:p>
        </p:txBody>
      </p:sp>
      <p:sp>
        <p:nvSpPr>
          <p:cNvPr id="607" name="tb607"/>
          <p:cNvSpPr txBox="1">
            <a:spLocks noGrp="1"/>
          </p:cNvSpPr>
          <p:nvPr/>
        </p:nvSpPr>
        <p:spPr>
          <a:xfrm>
            <a:off x="432000" y="1800000"/>
            <a:ext cx="11472000" cy="324000"/>
          </a:xfrm>
          <a:prstGeom prst="rect">
            <a:avLst/>
          </a:prstGeom>
          <a:noFill/>
        </p:spPr>
        <p:txBody>
          <a:bodyPr anchor="ctr" wrap="square" lIns="36000" rIns="36000" tIns="36000" bIns="36000"/>
          <a:lstStyle/>
          <a:p>
            <a:pPr algn="l" spcBef="0" spcAft="0">
              <a:spcPct val="100000"/>
            </a:pPr>
            <a:r>
              <a:rPr lang="en-GB" b="0" i="1" sz="1600" dirty="0">
                <a:solidFill>
                  <a:srgbClr val="BF8F00"/>
                </a:solidFill>
                <a:latin typeface="Calibri"/>
              </a:rPr>
              <a:t>✦  Every great speaker was once a student. Keep going!</a:t>
            </a:r>
          </a:p>
        </p:txBody>
      </p:sp>
      <p:sp>
        <p:nvSpPr>
          <p:cNvPr id="608" name="box608"/>
          <p:cNvSpPr>
            <a:spLocks noGrp="1"/>
          </p:cNvSpPr>
          <p:nvPr/>
        </p:nvSpPr>
        <p:spPr>
          <a:xfrm>
            <a:off x="10752000" y="6462000"/>
            <a:ext cx="1260000" cy="234000"/>
          </a:xfrm>
          <a:prstGeom prst="roundRect">
            <a:avLst>
              <a:gd name="adj" fmla="val 10000"/>
            </a:avLst>
          </a:prstGeom>
          <a:solidFill>
            <a:srgbClr val="2E75B6"/>
          </a:solidFill>
          <a:ln w="0">
            <a:noFill/>
          </a:ln>
        </p:spPr>
        <p:txBody>
          <a:bodyPr anchor="ctr" wrap="square" lIns="72000" rIns="72000" tIns="54000" bIns="54000"/>
          <a:lstStyle/>
          <a:p>
            <a:pPr algn="ctr" spcBef="0" spcAft="0">
              <a:spcPct val="100000"/>
            </a:pPr>
            <a:r>
              <a:rPr lang="en-GB" b="1" sz="1300" dirty="0">
                <a:solidFill>
                  <a:srgbClr val="FFFFFF"/>
                </a:solidFill>
                <a:latin typeface="Calibri"/>
              </a:rPr>
              <a:t>See you next class! 👋</a:t>
            </a:r>
          </a:p>
        </p:txBody>
      </p:sp>
    </p:spTree>
  </p:cSld>
  <p:clrMapOvr>
    <a:masterClr/>
  </p:clrMapOvr>
</p:sld>
</file>