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0"/>
  </p:sld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type="screen16x9"/>
  <p:notesSz cx="6858000" cy="12192000"/>
</p:presentation>
</file>

<file path=ppt/_rels/presentation.xml.rels><?xml version="1.0" encoding="UTF-8" standalone="yes"?>
<Relationships xmlns="http://schemas.openxmlformats.org/package/2006/relationships">
  <Relationship Id="rId0"
    Type="http://schemas.openxmlformats.org/officeDocument/2006/relationships/slideMaster"
    Target="slideMasters/slideMaster1.xml"/>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a:xfrm>
          <a:off x="0" y="0"/>
          <a:ext cx="12192000" cy="6858000"/>
          <a:chOff x="0" y="0"/>
          <a:chExt cx="12192000" cy="6858000"/>
        </a:xfrm>
      </p:grpSpPr>
    </p:spTree>
  </p:cSld>
  <p:clrMapOvr>
    <a:masterClr/>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a:xfrm>
          <a:off x="0" y="0"/>
          <a:ext cx="12192000" cy="6858000"/>
          <a:chOff x="0" y="0"/>
          <a:chExt cx="12192000" cy="6858000"/>
        </a:xfrm>
      </p:grpSpPr>
    </p:spTree>
  </p:cSld>
  <p:clrMap bg1="lt1" tx1="dk1" bg2="lt2" tx2="dk2" accent1="accent1" accent2="accent2" accent3="accent3" accent4="accent4" accent5="accent5" accent6="accent6" hlink="hlink" folHlink="folHlink"/>
  <p:sldLayoutIdLst>
    <p:sldLayoutId id="2147483649" r:id="rId1"/>
  </p:sldLayoutIdLst>
  <p:txStyles>
    <p:titleStyle>
      <a:lstStyle/>
    </p:titleStyle>
    <p:bodyStyle>
      <a:lstStyle/>
    </p:bodyStyle>
    <p:otherStyle>
      <a:lst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11" name="shape1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12" name="shape12"/>
          <p:cNvSpPr>
            <a:spLocks noGrp="1"/>
          </p:cNvSpPr>
          <p:nvPr/>
        </p:nvSpPr>
        <p:spPr>
          <a:xfrm>
            <a:off x="0" y="0"/>
            <a:ext cx="144000" cy="6858000"/>
          </a:xfrm>
          <a:prstGeom prst="rect">
            <a:avLst/>
          </a:prstGeom>
          <a:solidFill>
            <a:srgbClr val="BF8F00"/>
          </a:solidFill>
        </p:spPr>
        <p:txBody>
          <a:bodyPr/>
          <a:lstStyle/>
          <a:p/>
        </p:txBody>
      </p:sp>
      <p:sp>
        <p:nvSpPr>
          <p:cNvPr id="13" name="shape13"/>
          <p:cNvSpPr>
            <a:spLocks noGrp="1"/>
          </p:cNvSpPr>
          <p:nvPr/>
        </p:nvSpPr>
        <p:spPr>
          <a:xfrm>
            <a:off x="0" y="0"/>
            <a:ext cx="12192000" cy="108000"/>
          </a:xfrm>
          <a:prstGeom prst="rect">
            <a:avLst/>
          </a:prstGeom>
          <a:solidFill>
            <a:srgbClr val="BF8F00"/>
          </a:solidFill>
        </p:spPr>
        <p:txBody>
          <a:bodyPr/>
          <a:lstStyle/>
          <a:p/>
        </p:txBody>
      </p:sp>
      <p:sp>
        <p:nvSpPr>
          <p:cNvPr id="14" name="box14"/>
          <p:cNvSpPr>
            <a:spLocks noGrp="1"/>
          </p:cNvSpPr>
          <p:nvPr/>
        </p:nvSpPr>
        <p:spPr>
          <a:xfrm>
            <a:off x="432000" y="468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18  ·  A2</a:t>
            </a:r>
          </a:p>
        </p:txBody>
      </p:sp>
      <p:sp>
        <p:nvSpPr>
          <p:cNvPr id="15" name="tb15"/>
          <p:cNvSpPr txBox="1">
            <a:spLocks noGrp="1"/>
          </p:cNvSpPr>
          <p:nvPr/>
        </p:nvSpPr>
        <p:spPr>
          <a:xfrm>
            <a:off x="432000" y="900000"/>
            <a:ext cx="11472000" cy="288000"/>
          </a:xfrm>
          <a:prstGeom prst="rect">
            <a:avLst/>
          </a:prstGeom>
          <a:noFill/>
        </p:spPr>
        <p:txBody>
          <a:bodyPr anchor="ctr" wrap="square" lIns="36000" rIns="36000" tIns="36000" bIns="36000"/>
          <a:lstStyle/>
          <a:p>
            <a:pPr algn="l" spcBef="0" spcAft="0">
              <a:spcPct val="100000"/>
            </a:pPr>
            <a:r>
              <a:rPr lang="en-GB" b="0" sz="1500" dirty="0">
                <a:solidFill>
                  <a:srgbClr val="BFC9D6"/>
                </a:solidFill>
                <a:latin typeface="Calibri"/>
              </a:rPr>
              <a:t>English Grammar in Action — Level 1</a:t>
            </a:r>
          </a:p>
        </p:txBody>
      </p:sp>
      <p:sp>
        <p:nvSpPr>
          <p:cNvPr id="16" name="tb16"/>
          <p:cNvSpPr txBox="1">
            <a:spLocks noGrp="1"/>
          </p:cNvSpPr>
          <p:nvPr/>
        </p:nvSpPr>
        <p:spPr>
          <a:xfrm>
            <a:off x="432000" y="1188000"/>
            <a:ext cx="11472000" cy="1080000"/>
          </a:xfrm>
          <a:prstGeom prst="rect">
            <a:avLst/>
          </a:prstGeom>
          <a:noFill/>
        </p:spPr>
        <p:txBody>
          <a:bodyPr anchor="t" wrap="square" lIns="36000" rIns="36000" tIns="36000" bIns="36000"/>
          <a:lstStyle/>
          <a:p>
            <a:pPr algn="l" spcBef="0" spcAft="0">
              <a:spcPct val="100000"/>
            </a:pPr>
            <a:r>
              <a:rPr lang="en-GB" b="1" sz="4000" dirty="0">
                <a:solidFill>
                  <a:srgbClr val="FFFFFF"/>
                </a:solidFill>
                <a:latin typeface="Cambria"/>
              </a:rPr>
              <a:t>Present Perfect — How long, for and since</a:t>
            </a:r>
          </a:p>
        </p:txBody>
      </p:sp>
      <p:sp>
        <p:nvSpPr>
          <p:cNvPr id="17" name="tb17"/>
          <p:cNvSpPr txBox="1">
            <a:spLocks noGrp="1"/>
          </p:cNvSpPr>
          <p:nvPr/>
        </p:nvSpPr>
        <p:spPr>
          <a:xfrm>
            <a:off x="432000" y="2088000"/>
            <a:ext cx="11472000" cy="360000"/>
          </a:xfrm>
          <a:prstGeom prst="rect">
            <a:avLst/>
          </a:prstGeom>
          <a:noFill/>
        </p:spPr>
        <p:txBody>
          <a:bodyPr anchor="ctr" wrap="square" lIns="36000" rIns="36000" tIns="36000" bIns="36000"/>
          <a:lstStyle/>
          <a:p>
            <a:pPr algn="l" spcBef="0" spcAft="0">
              <a:spcPct val="100000"/>
            </a:pPr>
            <a:r>
              <a:rPr lang="en-GB" b="0" i="1" sz="1700" dirty="0">
                <a:solidFill>
                  <a:srgbClr val="DCE6F1"/>
                </a:solidFill>
                <a:latin typeface="Calibri"/>
              </a:rPr>
              <a:t>How long have you...?; for + period of time; since + point in time</a:t>
            </a:r>
          </a:p>
        </p:txBody>
      </p:sp>
      <p:sp>
        <p:nvSpPr>
          <p:cNvPr id="18" name="shape18"/>
          <p:cNvSpPr>
            <a:spLocks noGrp="1"/>
          </p:cNvSpPr>
          <p:nvPr/>
        </p:nvSpPr>
        <p:spPr>
          <a:xfrm>
            <a:off x="0" y="6768000"/>
            <a:ext cx="12192000" cy="90000"/>
          </a:xfrm>
          <a:prstGeom prst="rect">
            <a:avLst/>
          </a:prstGeom>
          <a:solidFill>
            <a:srgbClr val="BF8F00"/>
          </a:solidFill>
        </p:spPr>
        <p:txBody>
          <a:bodyPr/>
          <a:lstStyle/>
          <a:p/>
        </p:txBody>
      </p:sp>
      <p:sp>
        <p:nvSpPr>
          <p:cNvPr id="19" name="box19"/>
          <p:cNvSpPr>
            <a:spLocks noGrp="1"/>
          </p:cNvSpPr>
          <p:nvPr/>
        </p:nvSpPr>
        <p:spPr>
          <a:xfrm>
            <a:off x="11112000" y="6354001"/>
            <a:ext cx="936000" cy="360000"/>
          </a:xfrm>
          <a:prstGeom prst="roundRect">
            <a:avLst>
              <a:gd name="adj" fmla="val 2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CEFR  A2</a:t>
            </a:r>
          </a:p>
        </p:txBody>
      </p:sp>
    </p:spTree>
  </p:cSld>
  <p:clrMapOvr>
    <a:masterClr/>
  </p:clrMapOvr>
</p:sld>
</file>

<file path=ppt/slides/slide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1" name="box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2" name="box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3" name="tb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LEARNING OBJECTIVES</a:t>
            </a:r>
          </a:p>
        </p:txBody>
      </p:sp>
      <p:sp>
        <p:nvSpPr>
          <p:cNvPr id="54" name="box54"/>
          <p:cNvSpPr>
            <a:spLocks noGrp="1"/>
          </p:cNvSpPr>
          <p:nvPr/>
        </p:nvSpPr>
        <p:spPr>
          <a:xfrm>
            <a:off x="180000" y="5400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5" name="box55"/>
          <p:cNvSpPr>
            <a:spLocks noGrp="1"/>
          </p:cNvSpPr>
          <p:nvPr/>
        </p:nvSpPr>
        <p:spPr>
          <a:xfrm>
            <a:off x="558000" y="5400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Ask How long...? questions with the Present Perfect.</a:t>
            </a:r>
          </a:p>
        </p:txBody>
      </p:sp>
      <p:sp>
        <p:nvSpPr>
          <p:cNvPr id="56" name="box56"/>
          <p:cNvSpPr>
            <a:spLocks noGrp="1"/>
          </p:cNvSpPr>
          <p:nvPr/>
        </p:nvSpPr>
        <p:spPr>
          <a:xfrm>
            <a:off x="180000" y="9252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7" name="box57"/>
          <p:cNvSpPr>
            <a:spLocks noGrp="1"/>
          </p:cNvSpPr>
          <p:nvPr/>
        </p:nvSpPr>
        <p:spPr>
          <a:xfrm>
            <a:off x="558000" y="9252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for + a period of time (for three years, for a long time).</a:t>
            </a:r>
          </a:p>
        </p:txBody>
      </p:sp>
      <p:sp>
        <p:nvSpPr>
          <p:cNvPr id="58" name="box58"/>
          <p:cNvSpPr>
            <a:spLocks noGrp="1"/>
          </p:cNvSpPr>
          <p:nvPr/>
        </p:nvSpPr>
        <p:spPr>
          <a:xfrm>
            <a:off x="180000" y="13104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59" name="box59"/>
          <p:cNvSpPr>
            <a:spLocks noGrp="1"/>
          </p:cNvSpPr>
          <p:nvPr/>
        </p:nvSpPr>
        <p:spPr>
          <a:xfrm>
            <a:off x="558000" y="13104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Use since + a starting point (since Monday, since 2019).</a:t>
            </a:r>
          </a:p>
        </p:txBody>
      </p:sp>
      <p:sp>
        <p:nvSpPr>
          <p:cNvPr id="60" name="box60"/>
          <p:cNvSpPr>
            <a:spLocks noGrp="1"/>
          </p:cNvSpPr>
          <p:nvPr/>
        </p:nvSpPr>
        <p:spPr>
          <a:xfrm>
            <a:off x="180000" y="16956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1" name="box61"/>
          <p:cNvSpPr>
            <a:spLocks noGrp="1"/>
          </p:cNvSpPr>
          <p:nvPr/>
        </p:nvSpPr>
        <p:spPr>
          <a:xfrm>
            <a:off x="558000" y="16956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Distinguish between for (duration) and since (start point).</a:t>
            </a:r>
          </a:p>
        </p:txBody>
      </p:sp>
      <p:sp>
        <p:nvSpPr>
          <p:cNvPr id="62" name="box62"/>
          <p:cNvSpPr>
            <a:spLocks noGrp="1"/>
          </p:cNvSpPr>
          <p:nvPr/>
        </p:nvSpPr>
        <p:spPr>
          <a:xfrm>
            <a:off x="180000" y="2080800"/>
            <a:ext cx="306000" cy="306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0" sz="1800" dirty="0">
                <a:solidFill>
                  <a:srgbClr val="FFFFFF"/>
                </a:solidFill>
                <a:latin typeface="Calibri"/>
              </a:rPr>
              <a:t>🗣️</a:t>
            </a:r>
          </a:p>
        </p:txBody>
      </p:sp>
      <p:sp>
        <p:nvSpPr>
          <p:cNvPr id="63" name="box63"/>
          <p:cNvSpPr>
            <a:spLocks noGrp="1"/>
          </p:cNvSpPr>
          <p:nvPr/>
        </p:nvSpPr>
        <p:spPr>
          <a:xfrm>
            <a:off x="558000" y="2080800"/>
            <a:ext cx="11616000" cy="306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0" sz="1500" dirty="0">
                <a:solidFill>
                  <a:srgbClr val="1F3864"/>
                </a:solidFill>
                <a:latin typeface="Calibri"/>
              </a:rPr>
              <a:t>Produce sentences about situations that started in the past and continue now.</a:t>
            </a:r>
          </a:p>
        </p:txBody>
      </p:sp>
    </p:spTree>
  </p:cSld>
  <p:clrMapOvr>
    <a:masterClr/>
  </p:clrMapOvr>
</p:sld>
</file>

<file path=ppt/slides/slide3.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01" name="box1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02" name="box1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103" name="tb1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WARM-UP ACTIVITY</a:t>
            </a:r>
          </a:p>
        </p:txBody>
      </p:sp>
      <p:sp>
        <p:nvSpPr>
          <p:cNvPr id="104" name="box104"/>
          <p:cNvSpPr>
            <a:spLocks noGrp="1"/>
          </p:cNvSpPr>
          <p:nvPr/>
        </p:nvSpPr>
        <p:spPr>
          <a:xfrm>
            <a:off x="180000" y="540000"/>
            <a:ext cx="11832000" cy="396000"/>
          </a:xfrm>
          <a:prstGeom prst="roundRect">
            <a:avLst>
              <a:gd name="adj" fmla="val 15000"/>
            </a:avLst>
          </a:prstGeom>
          <a:solidFill>
            <a:srgbClr val="BF8F00"/>
          </a:solidFill>
          <a:ln w="0">
            <a:noFill/>
          </a:ln>
        </p:spPr>
        <p:txBody>
          <a:bodyPr anchor="ctr" wrap="square" lIns="180000" rIns="72000" tIns="54000" bIns="54000"/>
          <a:lstStyle/>
          <a:p>
            <a:pPr algn="l" spcBef="0" spcAft="0">
              <a:spcPct val="100000"/>
            </a:pPr>
            <a:r>
              <a:rPr lang="en-GB" b="1" sz="2400" dirty="0">
                <a:solidFill>
                  <a:srgbClr val="1F3864"/>
                </a:solidFill>
                <a:latin typeface="Cambria"/>
              </a:rPr>
              <a:t>⏳ How Long?</a:t>
            </a:r>
          </a:p>
        </p:txBody>
      </p:sp>
      <p:sp>
        <p:nvSpPr>
          <p:cNvPr id="105" name="box105"/>
          <p:cNvSpPr>
            <a:spLocks noGrp="1"/>
          </p:cNvSpPr>
          <p:nvPr/>
        </p:nvSpPr>
        <p:spPr>
          <a:xfrm>
            <a:off x="11040000" y="540000"/>
            <a:ext cx="972000" cy="396000"/>
          </a:xfrm>
          <a:prstGeom prst="roundRect">
            <a:avLst>
              <a:gd name="adj" fmla="val 15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BF8F00"/>
                </a:solidFill>
                <a:latin typeface="Calibri"/>
              </a:rPr>
              <a:t>⏱  5 minutes</a:t>
            </a:r>
          </a:p>
        </p:txBody>
      </p:sp>
      <p:sp>
        <p:nvSpPr>
          <p:cNvPr id="106" name="box106"/>
          <p:cNvSpPr>
            <a:spLocks noGrp="1"/>
          </p:cNvSpPr>
          <p:nvPr/>
        </p:nvSpPr>
        <p:spPr>
          <a:xfrm>
            <a:off x="180000" y="1026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1</a:t>
            </a:r>
          </a:p>
        </p:txBody>
      </p:sp>
      <p:sp>
        <p:nvSpPr>
          <p:cNvPr id="107" name="tb107"/>
          <p:cNvSpPr txBox="1">
            <a:spLocks noGrp="1"/>
          </p:cNvSpPr>
          <p:nvPr/>
        </p:nvSpPr>
        <p:spPr>
          <a:xfrm>
            <a:off x="503999" y="1026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Teacher writes: I have lived in this city for 10 years / since 2014.</a:t>
            </a:r>
          </a:p>
        </p:txBody>
      </p:sp>
      <p:sp>
        <p:nvSpPr>
          <p:cNvPr id="108" name="box108"/>
          <p:cNvSpPr>
            <a:spLocks noGrp="1"/>
          </p:cNvSpPr>
          <p:nvPr/>
        </p:nvSpPr>
        <p:spPr>
          <a:xfrm>
            <a:off x="180000" y="1458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2</a:t>
            </a:r>
          </a:p>
        </p:txBody>
      </p:sp>
      <p:sp>
        <p:nvSpPr>
          <p:cNvPr id="109" name="tb109"/>
          <p:cNvSpPr txBox="1">
            <a:spLocks noGrp="1"/>
          </p:cNvSpPr>
          <p:nvPr/>
        </p:nvSpPr>
        <p:spPr>
          <a:xfrm>
            <a:off x="503999" y="1458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Students write 3 sentences about themselves: I have studied English for... / since...</a:t>
            </a:r>
          </a:p>
        </p:txBody>
      </p:sp>
      <p:sp>
        <p:nvSpPr>
          <p:cNvPr id="110" name="box110"/>
          <p:cNvSpPr>
            <a:spLocks noGrp="1"/>
          </p:cNvSpPr>
          <p:nvPr/>
        </p:nvSpPr>
        <p:spPr>
          <a:xfrm>
            <a:off x="180000" y="1890000"/>
            <a:ext cx="251999" cy="324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600" dirty="0">
                <a:solidFill>
                  <a:srgbClr val="FFFFFF"/>
                </a:solidFill>
                <a:latin typeface="Calibri"/>
              </a:rPr>
              <a:t>3</a:t>
            </a:r>
          </a:p>
        </p:txBody>
      </p:sp>
      <p:sp>
        <p:nvSpPr>
          <p:cNvPr id="111" name="tb111"/>
          <p:cNvSpPr txBox="1">
            <a:spLocks noGrp="1"/>
          </p:cNvSpPr>
          <p:nvPr/>
        </p:nvSpPr>
        <p:spPr>
          <a:xfrm>
            <a:off x="503999" y="1890000"/>
            <a:ext cx="11508000" cy="324000"/>
          </a:xfrm>
          <a:prstGeom prst="rect">
            <a:avLst/>
          </a:prstGeom>
          <a:noFill/>
        </p:spPr>
        <p:txBody>
          <a:bodyPr anchor="ctr" wrap="square" lIns="36000" rIns="36000" tIns="36000" bIns="36000"/>
          <a:lstStyle/>
          <a:p>
            <a:pPr algn="l" spcBef="0" spcAft="0">
              <a:spcPct val="100000"/>
            </a:pPr>
            <a:r>
              <a:rPr lang="en-GB" b="0" sz="1500" dirty="0">
                <a:solidFill>
                  <a:srgbClr val="404040"/>
                </a:solidFill>
                <a:latin typeface="Calibri"/>
              </a:rPr>
              <a:t>Partners compare: Who has studied English longer?</a:t>
            </a:r>
          </a:p>
        </p:txBody>
      </p:sp>
    </p:spTree>
  </p:cSld>
  <p:clrMapOvr>
    <a:masterClr/>
  </p:clrMapOvr>
</p:sld>
</file>

<file path=ppt/slides/slide4.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151" name="box1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152" name="box1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153" name="tb1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VOCABULARY PREVIEW</a:t>
            </a:r>
          </a:p>
        </p:txBody>
      </p:sp>
      <p:sp>
        <p:nvSpPr>
          <p:cNvPr id="154" name="box154"/>
          <p:cNvSpPr>
            <a:spLocks noGrp="1"/>
          </p:cNvSpPr>
          <p:nvPr/>
        </p:nvSpPr>
        <p:spPr>
          <a:xfrm>
            <a:off x="180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since</a:t>
            </a:r>
          </a:p>
        </p:txBody>
      </p:sp>
      <p:sp>
        <p:nvSpPr>
          <p:cNvPr id="155" name="box155"/>
          <p:cNvSpPr>
            <a:spLocks noGrp="1"/>
          </p:cNvSpPr>
          <p:nvPr/>
        </p:nvSpPr>
        <p:spPr>
          <a:xfrm>
            <a:off x="1007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pre</a:t>
            </a:r>
          </a:p>
        </p:txBody>
      </p:sp>
      <p:sp>
        <p:nvSpPr>
          <p:cNvPr id="156" name="box156"/>
          <p:cNvSpPr>
            <a:spLocks noGrp="1"/>
          </p:cNvSpPr>
          <p:nvPr/>
        </p:nvSpPr>
        <p:spPr>
          <a:xfrm>
            <a:off x="1512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from a point in time until now</a:t>
            </a:r>
          </a:p>
        </p:txBody>
      </p:sp>
      <p:sp>
        <p:nvSpPr>
          <p:cNvPr id="157" name="box157"/>
          <p:cNvSpPr>
            <a:spLocks noGrp="1"/>
          </p:cNvSpPr>
          <p:nvPr/>
        </p:nvSpPr>
        <p:spPr>
          <a:xfrm>
            <a:off x="6042000" y="5400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for</a:t>
            </a:r>
          </a:p>
        </p:txBody>
      </p:sp>
      <p:sp>
        <p:nvSpPr>
          <p:cNvPr id="158" name="box158"/>
          <p:cNvSpPr>
            <a:spLocks noGrp="1"/>
          </p:cNvSpPr>
          <p:nvPr/>
        </p:nvSpPr>
        <p:spPr>
          <a:xfrm>
            <a:off x="6869999" y="5400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pre</a:t>
            </a:r>
          </a:p>
        </p:txBody>
      </p:sp>
      <p:sp>
        <p:nvSpPr>
          <p:cNvPr id="159" name="box159"/>
          <p:cNvSpPr>
            <a:spLocks noGrp="1"/>
          </p:cNvSpPr>
          <p:nvPr/>
        </p:nvSpPr>
        <p:spPr>
          <a:xfrm>
            <a:off x="7374000" y="5400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during a period of time</a:t>
            </a:r>
          </a:p>
        </p:txBody>
      </p:sp>
      <p:sp>
        <p:nvSpPr>
          <p:cNvPr id="160" name="box160"/>
          <p:cNvSpPr>
            <a:spLocks noGrp="1"/>
          </p:cNvSpPr>
          <p:nvPr/>
        </p:nvSpPr>
        <p:spPr>
          <a:xfrm>
            <a:off x="180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period</a:t>
            </a:r>
          </a:p>
        </p:txBody>
      </p:sp>
      <p:sp>
        <p:nvSpPr>
          <p:cNvPr id="161" name="box161"/>
          <p:cNvSpPr>
            <a:spLocks noGrp="1"/>
          </p:cNvSpPr>
          <p:nvPr/>
        </p:nvSpPr>
        <p:spPr>
          <a:xfrm>
            <a:off x="1007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nou</a:t>
            </a:r>
          </a:p>
        </p:txBody>
      </p:sp>
      <p:sp>
        <p:nvSpPr>
          <p:cNvPr id="162" name="box162"/>
          <p:cNvSpPr>
            <a:spLocks noGrp="1"/>
          </p:cNvSpPr>
          <p:nvPr/>
        </p:nvSpPr>
        <p:spPr>
          <a:xfrm>
            <a:off x="1512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a length of time</a:t>
            </a:r>
          </a:p>
        </p:txBody>
      </p:sp>
      <p:sp>
        <p:nvSpPr>
          <p:cNvPr id="163" name="box163"/>
          <p:cNvSpPr>
            <a:spLocks noGrp="1"/>
          </p:cNvSpPr>
          <p:nvPr/>
        </p:nvSpPr>
        <p:spPr>
          <a:xfrm>
            <a:off x="6042000" y="8856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recently</a:t>
            </a:r>
          </a:p>
        </p:txBody>
      </p:sp>
      <p:sp>
        <p:nvSpPr>
          <p:cNvPr id="164" name="box164"/>
          <p:cNvSpPr>
            <a:spLocks noGrp="1"/>
          </p:cNvSpPr>
          <p:nvPr/>
        </p:nvSpPr>
        <p:spPr>
          <a:xfrm>
            <a:off x="6869999" y="8856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5" name="box165"/>
          <p:cNvSpPr>
            <a:spLocks noGrp="1"/>
          </p:cNvSpPr>
          <p:nvPr/>
        </p:nvSpPr>
        <p:spPr>
          <a:xfrm>
            <a:off x="7374000" y="8856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not long ago; lately</a:t>
            </a:r>
          </a:p>
        </p:txBody>
      </p:sp>
      <p:sp>
        <p:nvSpPr>
          <p:cNvPr id="166" name="box166"/>
          <p:cNvSpPr>
            <a:spLocks noGrp="1"/>
          </p:cNvSpPr>
          <p:nvPr/>
        </p:nvSpPr>
        <p:spPr>
          <a:xfrm>
            <a:off x="180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already</a:t>
            </a:r>
          </a:p>
        </p:txBody>
      </p:sp>
      <p:sp>
        <p:nvSpPr>
          <p:cNvPr id="167" name="box167"/>
          <p:cNvSpPr>
            <a:spLocks noGrp="1"/>
          </p:cNvSpPr>
          <p:nvPr/>
        </p:nvSpPr>
        <p:spPr>
          <a:xfrm>
            <a:off x="1007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68" name="box168"/>
          <p:cNvSpPr>
            <a:spLocks noGrp="1"/>
          </p:cNvSpPr>
          <p:nvPr/>
        </p:nvSpPr>
        <p:spPr>
          <a:xfrm>
            <a:off x="1512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before now or expected time</a:t>
            </a:r>
          </a:p>
        </p:txBody>
      </p:sp>
      <p:sp>
        <p:nvSpPr>
          <p:cNvPr id="169" name="box169"/>
          <p:cNvSpPr>
            <a:spLocks noGrp="1"/>
          </p:cNvSpPr>
          <p:nvPr/>
        </p:nvSpPr>
        <p:spPr>
          <a:xfrm>
            <a:off x="6042000" y="12312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still</a:t>
            </a:r>
          </a:p>
        </p:txBody>
      </p:sp>
      <p:sp>
        <p:nvSpPr>
          <p:cNvPr id="170" name="box170"/>
          <p:cNvSpPr>
            <a:spLocks noGrp="1"/>
          </p:cNvSpPr>
          <p:nvPr/>
        </p:nvSpPr>
        <p:spPr>
          <a:xfrm>
            <a:off x="6869999" y="12312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71" name="box171"/>
          <p:cNvSpPr>
            <a:spLocks noGrp="1"/>
          </p:cNvSpPr>
          <p:nvPr/>
        </p:nvSpPr>
        <p:spPr>
          <a:xfrm>
            <a:off x="7374000" y="12312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continuing until now</a:t>
            </a:r>
          </a:p>
        </p:txBody>
      </p:sp>
      <p:sp>
        <p:nvSpPr>
          <p:cNvPr id="172" name="box172"/>
          <p:cNvSpPr>
            <a:spLocks noGrp="1"/>
          </p:cNvSpPr>
          <p:nvPr/>
        </p:nvSpPr>
        <p:spPr>
          <a:xfrm>
            <a:off x="180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yet</a:t>
            </a:r>
          </a:p>
        </p:txBody>
      </p:sp>
      <p:sp>
        <p:nvSpPr>
          <p:cNvPr id="173" name="box173"/>
          <p:cNvSpPr>
            <a:spLocks noGrp="1"/>
          </p:cNvSpPr>
          <p:nvPr/>
        </p:nvSpPr>
        <p:spPr>
          <a:xfrm>
            <a:off x="1007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adv</a:t>
            </a:r>
          </a:p>
        </p:txBody>
      </p:sp>
      <p:sp>
        <p:nvSpPr>
          <p:cNvPr id="174" name="box174"/>
          <p:cNvSpPr>
            <a:spLocks noGrp="1"/>
          </p:cNvSpPr>
          <p:nvPr/>
        </p:nvSpPr>
        <p:spPr>
          <a:xfrm>
            <a:off x="1512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until now (negative/question)</a:t>
            </a:r>
          </a:p>
        </p:txBody>
      </p:sp>
      <p:sp>
        <p:nvSpPr>
          <p:cNvPr id="175" name="box175"/>
          <p:cNvSpPr>
            <a:spLocks noGrp="1"/>
          </p:cNvSpPr>
          <p:nvPr/>
        </p:nvSpPr>
        <p:spPr>
          <a:xfrm>
            <a:off x="6042000" y="15768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married</a:t>
            </a:r>
          </a:p>
        </p:txBody>
      </p:sp>
      <p:sp>
        <p:nvSpPr>
          <p:cNvPr id="176" name="box176"/>
          <p:cNvSpPr>
            <a:spLocks noGrp="1"/>
          </p:cNvSpPr>
          <p:nvPr/>
        </p:nvSpPr>
        <p:spPr>
          <a:xfrm>
            <a:off x="6869999" y="15768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77" name="box177"/>
          <p:cNvSpPr>
            <a:spLocks noGrp="1"/>
          </p:cNvSpPr>
          <p:nvPr/>
        </p:nvSpPr>
        <p:spPr>
          <a:xfrm>
            <a:off x="7374000" y="15768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having a husband or wife</a:t>
            </a:r>
          </a:p>
        </p:txBody>
      </p:sp>
      <p:sp>
        <p:nvSpPr>
          <p:cNvPr id="178" name="box178"/>
          <p:cNvSpPr>
            <a:spLocks noGrp="1"/>
          </p:cNvSpPr>
          <p:nvPr/>
        </p:nvSpPr>
        <p:spPr>
          <a:xfrm>
            <a:off x="180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independent</a:t>
            </a:r>
          </a:p>
        </p:txBody>
      </p:sp>
      <p:sp>
        <p:nvSpPr>
          <p:cNvPr id="179" name="box179"/>
          <p:cNvSpPr>
            <a:spLocks noGrp="1"/>
          </p:cNvSpPr>
          <p:nvPr/>
        </p:nvSpPr>
        <p:spPr>
          <a:xfrm>
            <a:off x="1007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80" name="box180"/>
          <p:cNvSpPr>
            <a:spLocks noGrp="1"/>
          </p:cNvSpPr>
          <p:nvPr/>
        </p:nvSpPr>
        <p:spPr>
          <a:xfrm>
            <a:off x="1512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free from outside control</a:t>
            </a:r>
          </a:p>
        </p:txBody>
      </p:sp>
      <p:sp>
        <p:nvSpPr>
          <p:cNvPr id="181" name="box181"/>
          <p:cNvSpPr>
            <a:spLocks noGrp="1"/>
          </p:cNvSpPr>
          <p:nvPr/>
        </p:nvSpPr>
        <p:spPr>
          <a:xfrm>
            <a:off x="6042000" y="1922400"/>
            <a:ext cx="792000" cy="280800"/>
          </a:xfrm>
          <a:prstGeom prst="roundRect">
            <a:avLst>
              <a:gd name="adj" fmla="val 12000"/>
            </a:avLst>
          </a:prstGeom>
          <a:solidFill>
            <a:srgbClr val="1F3864"/>
          </a:solidFill>
          <a:ln w="0">
            <a:noFill/>
          </a:ln>
        </p:spPr>
        <p:txBody>
          <a:bodyPr anchor="ctr" wrap="square" lIns="72000" rIns="72000" tIns="54000" bIns="54000"/>
          <a:lstStyle/>
          <a:p>
            <a:pPr algn="ctr" spcBef="0" spcAft="0">
              <a:spcPct val="100000"/>
            </a:pPr>
            <a:r>
              <a:rPr lang="en-GB" b="1" sz="1500" dirty="0">
                <a:solidFill>
                  <a:srgbClr val="FFFFFF"/>
                </a:solidFill>
                <a:latin typeface="Calibri"/>
              </a:rPr>
              <a:t>empty</a:t>
            </a:r>
          </a:p>
        </p:txBody>
      </p:sp>
      <p:sp>
        <p:nvSpPr>
          <p:cNvPr id="182" name="box182"/>
          <p:cNvSpPr>
            <a:spLocks noGrp="1"/>
          </p:cNvSpPr>
          <p:nvPr/>
        </p:nvSpPr>
        <p:spPr>
          <a:xfrm>
            <a:off x="6869999" y="1922400"/>
            <a:ext cx="468000" cy="280800"/>
          </a:xfrm>
          <a:prstGeom prst="roundRect">
            <a:avLst>
              <a:gd name="adj" fmla="val 12000"/>
            </a:avLst>
          </a:prstGeom>
          <a:solidFill>
            <a:srgbClr val="BF8F00"/>
          </a:solidFill>
          <a:ln w="0">
            <a:noFill/>
          </a:ln>
        </p:spPr>
        <p:txBody>
          <a:bodyPr anchor="ctr" wrap="square" lIns="72000" rIns="72000" tIns="54000" bIns="54000"/>
          <a:lstStyle/>
          <a:p>
            <a:pPr algn="ctr" spcBef="0" spcAft="0">
              <a:spcPct val="100000"/>
            </a:pPr>
            <a:r>
              <a:rPr lang="en-GB" b="1" sz="1200" dirty="0">
                <a:solidFill>
                  <a:srgbClr val="1F3864"/>
                </a:solidFill>
                <a:latin typeface="Calibri"/>
              </a:rPr>
              <a:t>adj</a:t>
            </a:r>
          </a:p>
        </p:txBody>
      </p:sp>
      <p:sp>
        <p:nvSpPr>
          <p:cNvPr id="183" name="box183"/>
          <p:cNvSpPr>
            <a:spLocks noGrp="1"/>
          </p:cNvSpPr>
          <p:nvPr/>
        </p:nvSpPr>
        <p:spPr>
          <a:xfrm>
            <a:off x="7374000" y="1922400"/>
            <a:ext cx="4350000" cy="280800"/>
          </a:xfrm>
          <a:prstGeom prst="rect">
            <a:avLst/>
          </a:prstGeom>
          <a:solidFill>
            <a:srgbClr val="F2F2F2"/>
          </a:solidFill>
          <a:ln w="12700">
            <a:solidFill>
              <a:srgbClr val="CCCCCC"/>
            </a:solidFill>
          </a:ln>
        </p:spPr>
        <p:txBody>
          <a:bodyPr anchor="ctr" wrap="square" lIns="72000" rIns="72000" tIns="54000" bIns="54000"/>
          <a:lstStyle/>
          <a:p>
            <a:pPr algn="l" spcBef="0" spcAft="0">
              <a:spcPct val="100000"/>
            </a:pPr>
            <a:r>
              <a:rPr lang="en-GB" b="0" sz="1300" dirty="0">
                <a:solidFill>
                  <a:srgbClr val="404040"/>
                </a:solidFill>
                <a:latin typeface="Calibri"/>
              </a:rPr>
              <a:t>containing nothing</a:t>
            </a:r>
          </a:p>
        </p:txBody>
      </p:sp>
      <p:sp>
        <p:nvSpPr>
          <p:cNvPr id="184" name="tb184"/>
          <p:cNvSpPr txBox="1">
            <a:spLocks noGrp="1"/>
          </p:cNvSpPr>
          <p:nvPr/>
        </p:nvSpPr>
        <p:spPr>
          <a:xfrm>
            <a:off x="180000" y="6606001"/>
            <a:ext cx="11832000" cy="198000"/>
          </a:xfrm>
          <a:prstGeom prst="rect">
            <a:avLst/>
          </a:prstGeom>
          <a:noFill/>
        </p:spPr>
        <p:txBody>
          <a:bodyPr anchor="ctr" wrap="square" lIns="36000" rIns="36000" tIns="36000" bIns="36000"/>
          <a:lstStyle/>
          <a:p>
            <a:pPr algn="l" spcBef="0" spcAft="0">
              <a:spcPct val="100000"/>
            </a:pPr>
            <a:r>
              <a:rPr lang="en-GB" b="0" i="1" sz="1300" dirty="0">
                <a:solidFill>
                  <a:srgbClr val="2E75B6"/>
                </a:solidFill>
                <a:latin typeface="Calibri"/>
              </a:rPr>
              <a:t>📚  Full 30-word vocabulary bank in your workbook — Section 4.</a:t>
            </a:r>
          </a:p>
        </p:txBody>
      </p:sp>
    </p:spTree>
  </p:cSld>
  <p:clrMapOvr>
    <a:masterClr/>
  </p:clrMapOvr>
</p:sld>
</file>

<file path=ppt/slides/slide5.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01" name="box2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02" name="box2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03" name="tb2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GRAMMAR RULE</a:t>
            </a:r>
          </a:p>
        </p:txBody>
      </p:sp>
      <p:sp>
        <p:nvSpPr>
          <p:cNvPr id="204" name="box204"/>
          <p:cNvSpPr>
            <a:spLocks noGrp="1"/>
          </p:cNvSpPr>
          <p:nvPr/>
        </p:nvSpPr>
        <p:spPr>
          <a:xfrm>
            <a:off x="180000" y="522000"/>
            <a:ext cx="11832000" cy="396000"/>
          </a:xfrm>
          <a:prstGeom prst="roundRect">
            <a:avLst>
              <a:gd name="adj" fmla="val 10000"/>
            </a:avLst>
          </a:prstGeom>
          <a:solidFill>
            <a:srgbClr val="FFF2CC"/>
          </a:solidFill>
          <a:ln w="12700">
            <a:solidFill>
              <a:srgbClr val="BF8F00"/>
            </a:solidFill>
          </a:ln>
        </p:spPr>
        <p:txBody>
          <a:bodyPr anchor="ctr" wrap="square" lIns="144000" rIns="72000" tIns="54000" bIns="54000"/>
          <a:lstStyle/>
          <a:p>
            <a:pPr algn="l" spcBef="0" spcAft="0">
              <a:spcPct val="100000"/>
            </a:pPr>
            <a:r>
              <a:rPr lang="en-GB" b="1" sz="1700" dirty="0">
                <a:solidFill>
                  <a:srgbClr val="1F3864"/>
                </a:solidFill>
                <a:latin typeface="Calibri"/>
              </a:rPr>
              <a:t>📌  Use How long + have/has + subject + past participle to ask about duration. Answer with for (period) or since (start).</a:t>
            </a:r>
          </a:p>
        </p:txBody>
      </p:sp>
      <p:graphicFrame>
        <p:nvGraphicFramePr>
          <p:cNvPr id="205" name="tbl205"/>
          <p:cNvGraphicFramePr>
            <a:graphicFrameLocks noGrp="1"/>
          </p:cNvGraphicFramePr>
          <p:nvPr/>
        </p:nvGraphicFramePr>
        <p:xfrm>
          <a:off x="180000" y="990000"/>
          <a:ext cx="11832000" cy="5778000"/>
        </p:xfrm>
        <a:graphic>
          <a:graphicData uri="http://schemas.openxmlformats.org/drawingml/2006/table">
            <a:tbl>
              <a:tblPr firstRow="1" bandRow="1">
                <a:tableStyleId>{5C22544A-7EE6-4342-B048-85BDC9FD1C3A}</a:tableStyleId>
              </a:tblPr>
              <a:tblGrid>
                <a:gridCol w="3944000"/>
                <a:gridCol w="3944000"/>
                <a:gridCol w="3944000"/>
              </a:tblGrid>
              <a:tr h="1112400">
                <a:tc>
                  <a:txBody>
                    <a:bodyPr/>
                    <a:lstStyle/>
                    <a:p>
                      <a:pPr algn="l"/>
                      <a:r>
                        <a:rPr lang="en-GB" b="1" sz="1400" dirty="0">
                          <a:solidFill>
                            <a:srgbClr val="FFFFFF"/>
                          </a:solidFill>
                          <a:latin typeface="Calibri"/>
                        </a:rPr>
                        <a:t>Question/Statement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for (period)</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since (start point)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How long have you lived here?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for five years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since 2019</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How long has she been ill?</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for three days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since Monday</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How long have they been married?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for a long time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since 1990</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12400">
                <a:tc>
                  <a:txBody>
                    <a:bodyPr/>
                    <a:lstStyle/>
                    <a:p>
                      <a:pPr algn="l"/>
                      <a:r>
                        <a:rPr lang="en-GB" b="1" sz="1400" dirty="0">
                          <a:solidFill>
                            <a:srgbClr val="1F3864"/>
                          </a:solidFill>
                          <a:latin typeface="Calibri"/>
                        </a:rPr>
                        <a:t>Ive known her...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for ten years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since childhood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6.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251" name="box2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252" name="box2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253" name="tb2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SPELLING &amp; USAGE NOTES</a:t>
            </a:r>
          </a:p>
        </p:txBody>
      </p:sp>
      <p:sp>
        <p:nvSpPr>
          <p:cNvPr id="254" name="box254"/>
          <p:cNvSpPr>
            <a:spLocks noGrp="1"/>
          </p:cNvSpPr>
          <p:nvPr/>
        </p:nvSpPr>
        <p:spPr>
          <a:xfrm>
            <a:off x="180000" y="540000"/>
            <a:ext cx="11832000" cy="503999"/>
          </a:xfrm>
          <a:prstGeom prst="rect">
            <a:avLst/>
          </a:prstGeom>
          <a:solidFill>
            <a:srgbClr val="DCE6F1"/>
          </a:solidFill>
          <a:ln w="12700">
            <a:solidFill>
              <a:srgbClr val="1F3864"/>
            </a:solidFill>
          </a:ln>
        </p:spPr>
        <p:txBody>
          <a:bodyPr anchor="ctr" wrap="square" lIns="144000" rIns="72000" tIns="54000" bIns="54000"/>
          <a:lstStyle/>
          <a:p>
            <a:pPr algn="l" spcBef="0" spcAft="0">
              <a:spcPct val="100000"/>
            </a:pPr>
            <a:r>
              <a:rPr lang="en-GB" b="1" sz="1500" dirty="0">
                <a:solidFill>
                  <a:srgbClr val="1F3864"/>
                </a:solidFill>
                <a:latin typeface="Calibri"/>
              </a:rPr>
              <a:t>⚠️  Watch Out!  </a:t>
            </a:r>
            <a:r>
              <a:rPr lang="en-GB" b="0" sz="1400" dirty="0">
                <a:solidFill>
                  <a:srgbClr val="1F3864"/>
                </a:solidFill>
                <a:latin typeface="Calibri"/>
              </a:rPr>
              <a:t>FOR + period: for two hours, for a week, for ten years, for a long time. SINCE + start: since Monday, since 2019, since I was young, since we met.</a:t>
            </a:r>
          </a:p>
        </p:txBody>
      </p:sp>
      <p:sp>
        <p:nvSpPr>
          <p:cNvPr id="255" name="box255"/>
          <p:cNvSpPr>
            <a:spLocks noGrp="1"/>
          </p:cNvSpPr>
          <p:nvPr/>
        </p:nvSpPr>
        <p:spPr>
          <a:xfrm>
            <a:off x="180000" y="1169998"/>
            <a:ext cx="1260000" cy="216000"/>
          </a:xfrm>
          <a:prstGeom prst="roundRect">
            <a:avLst>
              <a:gd name="adj" fmla="val 10000"/>
            </a:avLst>
          </a:prstGeom>
          <a:solidFill>
            <a:srgbClr val="BF8F00"/>
          </a:solidFill>
          <a:ln w="0">
            <a:noFill/>
          </a:ln>
        </p:spPr>
        <p:txBody>
          <a:bodyPr anchor="ctr" wrap="square" lIns="72000" rIns="72000" tIns="54000" bIns="54000"/>
          <a:lstStyle/>
          <a:p>
            <a:pPr algn="ctr" spcBef="0" spcAft="0">
              <a:spcPct val="100000"/>
            </a:pPr>
            <a:r>
              <a:rPr lang="en-GB" b="1" sz="1400" dirty="0">
                <a:solidFill>
                  <a:srgbClr val="1F3864"/>
                </a:solidFill>
                <a:latin typeface="Calibri"/>
              </a:rPr>
              <a:t>Usage Examples</a:t>
            </a:r>
          </a:p>
        </p:txBody>
      </p:sp>
      <p:sp>
        <p:nvSpPr>
          <p:cNvPr id="256" name="tb256"/>
          <p:cNvSpPr txBox="1">
            <a:spLocks noGrp="1"/>
          </p:cNvSpPr>
          <p:nvPr/>
        </p:nvSpPr>
        <p:spPr>
          <a:xfrm>
            <a:off x="180000" y="1439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How long have you been here? — For two hours.</a:t>
            </a:r>
          </a:p>
        </p:txBody>
      </p:sp>
      <p:sp>
        <p:nvSpPr>
          <p:cNvPr id="257" name="tb257"/>
          <p:cNvSpPr txBox="1">
            <a:spLocks noGrp="1"/>
          </p:cNvSpPr>
          <p:nvPr/>
        </p:nvSpPr>
        <p:spPr>
          <a:xfrm>
            <a:off x="180000" y="1655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She has lived in London since she was born.</a:t>
            </a:r>
          </a:p>
        </p:txBody>
      </p:sp>
      <p:sp>
        <p:nvSpPr>
          <p:cNvPr id="258" name="tb258"/>
          <p:cNvSpPr txBox="1">
            <a:spLocks noGrp="1"/>
          </p:cNvSpPr>
          <p:nvPr/>
        </p:nvSpPr>
        <p:spPr>
          <a:xfrm>
            <a:off x="180000" y="1871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Weve known each other for a long time.</a:t>
            </a:r>
          </a:p>
        </p:txBody>
      </p:sp>
      <p:sp>
        <p:nvSpPr>
          <p:cNvPr id="259" name="tb259"/>
          <p:cNvSpPr txBox="1">
            <a:spLocks noGrp="1"/>
          </p:cNvSpPr>
          <p:nvPr/>
        </p:nvSpPr>
        <p:spPr>
          <a:xfrm>
            <a:off x="180000" y="2087998"/>
            <a:ext cx="11832000" cy="1980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  He has been ill since last Wednesday.</a:t>
            </a:r>
          </a:p>
        </p:txBody>
      </p:sp>
    </p:spTree>
  </p:cSld>
  <p:clrMapOvr>
    <a:masterClr/>
  </p:clrMapOvr>
</p:sld>
</file>

<file path=ppt/slides/slide7.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01" name="box3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02" name="box3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03" name="tb3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GUIDED PRACTICE</a:t>
            </a:r>
          </a:p>
        </p:txBody>
      </p:sp>
      <p:sp>
        <p:nvSpPr>
          <p:cNvPr id="304" name="tb3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Complete with for or since. Items 1-2 are done.</a:t>
            </a:r>
          </a:p>
        </p:txBody>
      </p:sp>
      <p:graphicFrame>
        <p:nvGraphicFramePr>
          <p:cNvPr id="305" name="tbl3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6152640"/>
                <a:gridCol w="4969440"/>
              </a:tblGrid>
              <a:tr h="11412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Answer</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1 ✅</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has been here ___ Monday.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since</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2 ✅</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have waited ___ two hours.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for</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He has lived in London ___ 2015.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11412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We have been friends ___ many years.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8.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351" name="box3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352" name="box35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353" name="tb3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CONTROLLED PRACTICE</a:t>
            </a:r>
          </a:p>
        </p:txBody>
      </p:sp>
      <p:sp>
        <p:nvSpPr>
          <p:cNvPr id="354" name="tb35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Write How long questions.</a:t>
            </a:r>
          </a:p>
        </p:txBody>
      </p:sp>
      <p:graphicFrame>
        <p:nvGraphicFramePr>
          <p:cNvPr id="355" name="tbl35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709920"/>
                <a:gridCol w="5561040"/>
                <a:gridCol w="556104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Information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Write the question</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Jill is on holiday.</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How long 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I know Margaret.</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How long 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Diana is learning Italian.</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How long 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My brother lives in Canada.</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How long 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Tim and Sue are married.</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How long 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9.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01" name="box4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02" name="box402"/>
          <p:cNvSpPr>
            <a:spLocks noGrp="1"/>
          </p:cNvSpPr>
          <p:nvPr/>
        </p:nvSpPr>
        <p:spPr>
          <a:xfrm>
            <a:off x="0" y="396000"/>
            <a:ext cx="12192000" cy="64800"/>
          </a:xfrm>
          <a:prstGeom prst="rect">
            <a:avLst/>
          </a:prstGeom>
          <a:solidFill>
            <a:srgbClr val="BF8F00"/>
          </a:solidFill>
          <a:ln w="0">
            <a:noFill/>
          </a:ln>
        </p:spPr>
        <p:txBody>
          <a:bodyPr anchor="ctr" wrap="square" lIns="72000" rIns="72000" tIns="54000" bIns="54000"/>
          <a:lstStyle/>
        </p:txBody>
      </p:sp>
      <p:sp>
        <p:nvSpPr>
          <p:cNvPr id="403" name="tb4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ERROR CORRECTION</a:t>
            </a:r>
          </a:p>
        </p:txBody>
      </p:sp>
      <p:sp>
        <p:nvSpPr>
          <p:cNvPr id="404" name="tb404"/>
          <p:cNvSpPr txBox="1">
            <a:spLocks noGrp="1"/>
          </p:cNvSpPr>
          <p:nvPr/>
        </p:nvSpPr>
        <p:spPr>
          <a:xfrm>
            <a:off x="180000" y="540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BF8F00"/>
                </a:solidFill>
                <a:latin typeface="Calibri"/>
              </a:rPr>
              <a:t>Find and correct the ONE mistake in each sentence.</a:t>
            </a:r>
          </a:p>
        </p:txBody>
      </p:sp>
      <p:graphicFrame>
        <p:nvGraphicFramePr>
          <p:cNvPr id="405" name="tbl405"/>
          <p:cNvGraphicFramePr>
            <a:graphicFrameLocks noGrp="1"/>
          </p:cNvGraphicFramePr>
          <p:nvPr/>
        </p:nvGraphicFramePr>
        <p:xfrm>
          <a:off x="180000" y="846000"/>
          <a:ext cx="11832000" cy="5922000"/>
        </p:xfrm>
        <a:graphic>
          <a:graphicData uri="http://schemas.openxmlformats.org/drawingml/2006/table">
            <a:tbl>
              <a:tblPr firstRow="1" bandRow="1">
                <a:tableStyleId>{5C22544A-7EE6-4342-B048-85BDC9FD1C3A}</a:tableStyleId>
              </a:tblPr>
              <a:tblGrid>
                <a:gridCol w="591600"/>
                <a:gridCol w="5916000"/>
                <a:gridCol w="5324400"/>
              </a:tblGrid>
              <a:tr h="951000">
                <a:tc>
                  <a:txBody>
                    <a:bodyPr/>
                    <a:lstStyle/>
                    <a:p>
                      <a:pPr algn="l"/>
                      <a:r>
                        <a:rPr lang="en-GB" b="1" sz="1400" dirty="0">
                          <a:solidFill>
                            <a:srgbClr val="FFFFFF"/>
                          </a:solidFill>
                          <a:latin typeface="Calibri"/>
                        </a:rPr>
                        <a:t>#</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Incorrect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1" sz="1400" dirty="0">
                          <a:solidFill>
                            <a:srgbClr val="FFFFFF"/>
                          </a:solidFill>
                          <a:latin typeface="Calibri"/>
                        </a:rPr>
                        <a:t>Corrected Sentence</a:t>
                      </a:r>
                    </a:p>
                  </a:txBody>
                  <a:tcPr>
                    <a:solidFill>
                      <a:srgbClr val="1F3864"/>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1</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I know her since ten years.</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2</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How long are you married?</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3</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She lives here for 2015.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4</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He has been ill since three days.</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A1A1A"/>
                          </a:solidFill>
                          <a:latin typeface="Calibri"/>
                        </a:rPr>
                        <a:t>________________________</a:t>
                      </a:r>
                    </a:p>
                  </a:txBody>
                  <a:tcPr>
                    <a:solidFill>
                      <a:srgbClr val="FFFFFF"/>
                    </a:solidFill>
                    <a:lnL w="6350">
                      <a:solidFill>
                        <a:srgbClr val="FFFFFF"/>
                      </a:solidFill>
                    </a:lnL>
                    <a:lnR w="6350">
                      <a:solidFill>
                        <a:srgbClr val="FFFFFF"/>
                      </a:solidFill>
                    </a:lnR>
                    <a:lnT w="6350">
                      <a:solidFill>
                        <a:srgbClr val="FFFFFF"/>
                      </a:solidFill>
                    </a:lnT>
                    <a:lnB w="6350">
                      <a:solidFill>
                        <a:srgbClr val="FFFFFF"/>
                      </a:solidFill>
                    </a:lnB>
                  </a:tcPr>
                </a:tc>
              </a:tr>
              <a:tr h="951000">
                <a:tc>
                  <a:txBody>
                    <a:bodyPr/>
                    <a:lstStyle/>
                    <a:p>
                      <a:pPr algn="l"/>
                      <a:r>
                        <a:rPr lang="en-GB" b="1" sz="1400" dirty="0">
                          <a:solidFill>
                            <a:srgbClr val="1F3864"/>
                          </a:solidFill>
                          <a:latin typeface="Calibri"/>
                        </a:rPr>
                        <a:t>5</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How long do you have this car?</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c>
                  <a:txBody>
                    <a:bodyPr/>
                    <a:lstStyle/>
                    <a:p>
                      <a:pPr algn="l"/>
                      <a:r>
                        <a:rPr lang="en-GB" b="0" sz="1400" dirty="0">
                          <a:solidFill>
                            <a:srgbClr val="1F3864"/>
                          </a:solidFill>
                          <a:latin typeface="Calibri"/>
                        </a:rPr>
                        <a:t>________________________</a:t>
                      </a:r>
                    </a:p>
                  </a:txBody>
                  <a:tcPr>
                    <a:solidFill>
                      <a:srgbClr val="DCE6F1"/>
                    </a:solidFill>
                    <a:lnL w="6350">
                      <a:solidFill>
                        <a:srgbClr val="FFFFFF"/>
                      </a:solidFill>
                    </a:lnL>
                    <a:lnR w="6350">
                      <a:solidFill>
                        <a:srgbClr val="FFFFFF"/>
                      </a:solidFill>
                    </a:lnR>
                    <a:lnT w="6350">
                      <a:solidFill>
                        <a:srgbClr val="FFFFFF"/>
                      </a:solidFill>
                    </a:lnT>
                    <a:lnB w="6350">
                      <a:solidFill>
                        <a:srgbClr val="FFFFFF"/>
                      </a:solidFill>
                    </a:lnB>
                  </a:tcPr>
                </a:tc>
              </a:tr>
            </a:tbl>
          </a:graphicData>
        </a:graphic>
      </p:graphicFrame>
    </p:spTree>
  </p:cSld>
  <p:clrMapOvr>
    <a:masterClr/>
  </p:clrMapOvr>
</p:sld>
</file>

<file path=ppt/slides/slide10.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451" name="box4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452" name="box45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453" name="tb4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SPEAKING ACTIVITY</a:t>
            </a:r>
          </a:p>
        </p:txBody>
      </p:sp>
      <p:sp>
        <p:nvSpPr>
          <p:cNvPr id="454" name="box454"/>
          <p:cNvSpPr>
            <a:spLocks noGrp="1"/>
          </p:cNvSpPr>
          <p:nvPr/>
        </p:nvSpPr>
        <p:spPr>
          <a:xfrm>
            <a:off x="180000" y="522000"/>
            <a:ext cx="11832000" cy="360000"/>
          </a:xfrm>
          <a:prstGeom prst="roundRect">
            <a:avLst>
              <a:gd name="adj" fmla="val 12000"/>
            </a:avLst>
          </a:prstGeom>
          <a:solidFill>
            <a:srgbClr val="548235"/>
          </a:solidFill>
          <a:ln w="0">
            <a:noFill/>
          </a:ln>
        </p:spPr>
        <p:txBody>
          <a:bodyPr anchor="ctr" wrap="square" lIns="180000" rIns="72000" tIns="54000" bIns="54000"/>
          <a:lstStyle/>
          <a:p>
            <a:pPr algn="l" spcBef="0" spcAft="0">
              <a:spcPct val="100000"/>
            </a:pPr>
            <a:r>
              <a:rPr lang="en-GB" b="1" sz="2200" dirty="0">
                <a:solidFill>
                  <a:srgbClr val="FFFFFF"/>
                </a:solidFill>
                <a:latin typeface="Cambria"/>
              </a:rPr>
              <a:t>🗣️ How Long Interview</a:t>
            </a:r>
          </a:p>
        </p:txBody>
      </p:sp>
      <p:sp>
        <p:nvSpPr>
          <p:cNvPr id="455" name="box455"/>
          <p:cNvSpPr>
            <a:spLocks noGrp="1"/>
          </p:cNvSpPr>
          <p:nvPr/>
        </p:nvSpPr>
        <p:spPr>
          <a:xfrm>
            <a:off x="11112000" y="954000"/>
            <a:ext cx="900000" cy="1260000"/>
          </a:xfrm>
          <a:prstGeom prst="roundRect">
            <a:avLst>
              <a:gd name="adj" fmla="val 20000"/>
            </a:avLst>
          </a:prstGeom>
          <a:solidFill>
            <a:srgbClr val="DCE6F1"/>
          </a:solidFill>
          <a:ln w="0">
            <a:noFill/>
          </a:ln>
        </p:spPr>
        <p:txBody>
          <a:bodyPr anchor="ctr" wrap="square" lIns="72000" rIns="72000" tIns="54000" bIns="54000"/>
          <a:lstStyle/>
          <a:p>
            <a:pPr algn="ctr" spcBef="0" spcAft="0">
              <a:spcPct val="100000"/>
            </a:pPr>
            <a:r>
              <a:rPr lang="en-GB" b="0" sz="6000" dirty="0">
                <a:solidFill>
                  <a:srgbClr val="2E75B6"/>
                </a:solidFill>
                <a:latin typeface="Calibri"/>
              </a:rPr>
              <a:t>💬</a:t>
            </a:r>
          </a:p>
        </p:txBody>
      </p:sp>
      <p:sp>
        <p:nvSpPr>
          <p:cNvPr id="456" name="box456"/>
          <p:cNvSpPr>
            <a:spLocks noGrp="1"/>
          </p:cNvSpPr>
          <p:nvPr/>
        </p:nvSpPr>
        <p:spPr>
          <a:xfrm>
            <a:off x="180000" y="9540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1</a:t>
            </a:r>
          </a:p>
        </p:txBody>
      </p:sp>
      <p:sp>
        <p:nvSpPr>
          <p:cNvPr id="457" name="tb457"/>
          <p:cNvSpPr txBox="1">
            <a:spLocks noGrp="1"/>
          </p:cNvSpPr>
          <p:nvPr/>
        </p:nvSpPr>
        <p:spPr>
          <a:xfrm>
            <a:off x="468000" y="9540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Work in pairs. Ask your partner How long...? questions.</a:t>
            </a:r>
          </a:p>
        </p:txBody>
      </p:sp>
      <p:sp>
        <p:nvSpPr>
          <p:cNvPr id="458" name="box458"/>
          <p:cNvSpPr>
            <a:spLocks noGrp="1"/>
          </p:cNvSpPr>
          <p:nvPr/>
        </p:nvSpPr>
        <p:spPr>
          <a:xfrm>
            <a:off x="180000" y="12708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2</a:t>
            </a:r>
          </a:p>
        </p:txBody>
      </p:sp>
      <p:sp>
        <p:nvSpPr>
          <p:cNvPr id="459" name="tb459"/>
          <p:cNvSpPr txBox="1">
            <a:spLocks noGrp="1"/>
          </p:cNvSpPr>
          <p:nvPr/>
        </p:nvSpPr>
        <p:spPr>
          <a:xfrm>
            <a:off x="468000" y="12708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Topics: live in this city / know your best friend / study English / have your phone.</a:t>
            </a:r>
          </a:p>
        </p:txBody>
      </p:sp>
      <p:sp>
        <p:nvSpPr>
          <p:cNvPr id="460" name="box460"/>
          <p:cNvSpPr>
            <a:spLocks noGrp="1"/>
          </p:cNvSpPr>
          <p:nvPr/>
        </p:nvSpPr>
        <p:spPr>
          <a:xfrm>
            <a:off x="180000" y="15876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3</a:t>
            </a:r>
          </a:p>
        </p:txBody>
      </p:sp>
      <p:sp>
        <p:nvSpPr>
          <p:cNvPr id="461" name="tb461"/>
          <p:cNvSpPr txBox="1">
            <a:spLocks noGrp="1"/>
          </p:cNvSpPr>
          <p:nvPr/>
        </p:nvSpPr>
        <p:spPr>
          <a:xfrm>
            <a:off x="468000" y="15876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Your partner answers with for or since.</a:t>
            </a:r>
          </a:p>
        </p:txBody>
      </p:sp>
      <p:sp>
        <p:nvSpPr>
          <p:cNvPr id="462" name="box462"/>
          <p:cNvSpPr>
            <a:spLocks noGrp="1"/>
          </p:cNvSpPr>
          <p:nvPr/>
        </p:nvSpPr>
        <p:spPr>
          <a:xfrm>
            <a:off x="180000" y="1904400"/>
            <a:ext cx="234000" cy="2592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1400" dirty="0">
                <a:solidFill>
                  <a:srgbClr val="FFFFFF"/>
                </a:solidFill>
                <a:latin typeface="Calibri"/>
              </a:rPr>
              <a:t>4</a:t>
            </a:r>
          </a:p>
        </p:txBody>
      </p:sp>
      <p:sp>
        <p:nvSpPr>
          <p:cNvPr id="463" name="tb463"/>
          <p:cNvSpPr txBox="1">
            <a:spLocks noGrp="1"/>
          </p:cNvSpPr>
          <p:nvPr/>
        </p:nvSpPr>
        <p:spPr>
          <a:xfrm>
            <a:off x="468000" y="1904400"/>
            <a:ext cx="10464000" cy="259200"/>
          </a:xfrm>
          <a:prstGeom prst="rect">
            <a:avLst/>
          </a:prstGeom>
          <a:noFill/>
        </p:spPr>
        <p:txBody>
          <a:bodyPr anchor="ctr" wrap="square" lIns="36000" rIns="36000" tIns="36000" bIns="36000"/>
          <a:lstStyle/>
          <a:p>
            <a:pPr algn="l" spcBef="0" spcAft="0">
              <a:spcPct val="100000"/>
            </a:pPr>
            <a:r>
              <a:rPr lang="en-GB" b="0" sz="1400" dirty="0">
                <a:solidFill>
                  <a:srgbClr val="404040"/>
                </a:solidFill>
                <a:latin typeface="Calibri"/>
              </a:rPr>
              <a:t>Report: Maria has lived here for 15 years. She has studied English since 2020.</a:t>
            </a:r>
          </a:p>
        </p:txBody>
      </p:sp>
      <p:sp>
        <p:nvSpPr>
          <p:cNvPr id="464" name="box464"/>
          <p:cNvSpPr>
            <a:spLocks noGrp="1"/>
          </p:cNvSpPr>
          <p:nvPr/>
        </p:nvSpPr>
        <p:spPr>
          <a:xfrm>
            <a:off x="180000" y="6570000"/>
            <a:ext cx="126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Pair Work</a:t>
            </a:r>
          </a:p>
        </p:txBody>
      </p:sp>
    </p:spTree>
  </p:cSld>
  <p:clrMapOvr>
    <a:masterClr/>
  </p:clrMapOvr>
</p:sld>
</file>

<file path=ppt/slides/slide11.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01" name="box50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02" name="box502"/>
          <p:cNvSpPr>
            <a:spLocks noGrp="1"/>
          </p:cNvSpPr>
          <p:nvPr/>
        </p:nvSpPr>
        <p:spPr>
          <a:xfrm>
            <a:off x="0" y="396000"/>
            <a:ext cx="12192000" cy="64800"/>
          </a:xfrm>
          <a:prstGeom prst="rect">
            <a:avLst/>
          </a:prstGeom>
          <a:solidFill>
            <a:srgbClr val="548235"/>
          </a:solidFill>
          <a:ln w="0">
            <a:noFill/>
          </a:ln>
        </p:spPr>
        <p:txBody>
          <a:bodyPr anchor="ctr" wrap="square" lIns="72000" rIns="72000" tIns="54000" bIns="54000"/>
          <a:lstStyle/>
        </p:txBody>
      </p:sp>
      <p:sp>
        <p:nvSpPr>
          <p:cNvPr id="503" name="tb50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READING &amp; WRITING</a:t>
            </a:r>
          </a:p>
        </p:txBody>
      </p:sp>
      <p:sp>
        <p:nvSpPr>
          <p:cNvPr id="504" name="box504"/>
          <p:cNvSpPr>
            <a:spLocks noGrp="1"/>
          </p:cNvSpPr>
          <p:nvPr/>
        </p:nvSpPr>
        <p:spPr>
          <a:xfrm>
            <a:off x="180000" y="540000"/>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Reading</a:t>
            </a:r>
          </a:p>
        </p:txBody>
      </p:sp>
      <p:sp>
        <p:nvSpPr>
          <p:cNvPr id="505" name="box505"/>
          <p:cNvSpPr>
            <a:spLocks noGrp="1"/>
          </p:cNvSpPr>
          <p:nvPr/>
        </p:nvSpPr>
        <p:spPr>
          <a:xfrm>
            <a:off x="180000" y="792000"/>
            <a:ext cx="11832000" cy="612000"/>
          </a:xfrm>
          <a:prstGeom prst="rect">
            <a:avLst/>
          </a:prstGeom>
          <a:solidFill>
            <a:srgbClr val="F2F2F2"/>
          </a:solidFill>
          <a:ln w="12700">
            <a:solidFill>
              <a:srgbClr val="CCCCCC"/>
            </a:solidFill>
          </a:ln>
        </p:spPr>
        <p:txBody>
          <a:bodyPr anchor="t" wrap="square" lIns="108000" rIns="72000" tIns="72000" bIns="54000"/>
          <a:lstStyle/>
          <a:p>
            <a:pPr algn="l" spcBef="0" spcAft="0">
              <a:spcPct val="100000"/>
            </a:pPr>
            <a:r>
              <a:rPr lang="en-GB" b="0" i="1" sz="1300" dirty="0">
                <a:solidFill>
                  <a:srgbClr val="404040"/>
                </a:solidFill>
                <a:latin typeface="Calibri"/>
              </a:rPr>
              <a:t>David and Lisa have been married since 2010. They have lived in the same house for twelve years. David has worked at the hospital since he finished university. Lisa has been a teacher for nine years. They have known their neighbours since they moved in. They are a happy couple.</a:t>
            </a:r>
          </a:p>
        </p:txBody>
      </p:sp>
      <p:sp>
        <p:nvSpPr>
          <p:cNvPr id="506" name="box506"/>
          <p:cNvSpPr>
            <a:spLocks noGrp="1"/>
          </p:cNvSpPr>
          <p:nvPr/>
        </p:nvSpPr>
        <p:spPr>
          <a:xfrm>
            <a:off x="180000" y="1475999"/>
            <a:ext cx="900000" cy="198000"/>
          </a:xfrm>
          <a:prstGeom prst="roundRect">
            <a:avLst>
              <a:gd name="adj" fmla="val 10000"/>
            </a:avLst>
          </a:prstGeom>
          <a:solidFill>
            <a:srgbClr val="548235"/>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Writing</a:t>
            </a:r>
          </a:p>
        </p:txBody>
      </p:sp>
      <p:sp>
        <p:nvSpPr>
          <p:cNvPr id="507" name="tb507"/>
          <p:cNvSpPr txBox="1">
            <a:spLocks noGrp="1"/>
          </p:cNvSpPr>
          <p:nvPr/>
        </p:nvSpPr>
        <p:spPr>
          <a:xfrm>
            <a:off x="180000" y="1728000"/>
            <a:ext cx="11832000" cy="234000"/>
          </a:xfrm>
          <a:prstGeom prst="rect">
            <a:avLst/>
          </a:prstGeom>
          <a:noFill/>
        </p:spPr>
        <p:txBody>
          <a:bodyPr anchor="ctr" wrap="square" lIns="36000" rIns="36000" tIns="36000" bIns="36000"/>
          <a:lstStyle/>
          <a:p>
            <a:pPr algn="l" spcBef="0" spcAft="0">
              <a:spcPct val="100000"/>
            </a:pPr>
            <a:r>
              <a:rPr lang="en-GB" b="0" i="1" sz="1400" dirty="0">
                <a:solidFill>
                  <a:srgbClr val="548235"/>
                </a:solidFill>
                <a:latin typeface="Calibri"/>
              </a:rPr>
              <a:t>Write 5 sentences about yourself using for and since.</a:t>
            </a:r>
          </a:p>
        </p:txBody>
      </p:sp>
      <p:sp>
        <p:nvSpPr>
          <p:cNvPr id="508" name="tb508"/>
          <p:cNvSpPr txBox="1">
            <a:spLocks noGrp="1"/>
          </p:cNvSpPr>
          <p:nvPr/>
        </p:nvSpPr>
        <p:spPr>
          <a:xfrm>
            <a:off x="180000" y="20159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How long you have lived somewhere: I have lived in ___ for/since...</a:t>
            </a:r>
          </a:p>
        </p:txBody>
      </p:sp>
      <p:sp>
        <p:nvSpPr>
          <p:cNvPr id="509" name="tb509"/>
          <p:cNvSpPr txBox="1">
            <a:spLocks noGrp="1"/>
          </p:cNvSpPr>
          <p:nvPr/>
        </p:nvSpPr>
        <p:spPr>
          <a:xfrm>
            <a:off x="180000" y="21527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How long you have known someone: I have known ___ for/since...</a:t>
            </a:r>
          </a:p>
        </p:txBody>
      </p:sp>
      <p:sp>
        <p:nvSpPr>
          <p:cNvPr id="510" name="tb510"/>
          <p:cNvSpPr txBox="1">
            <a:spLocks noGrp="1"/>
          </p:cNvSpPr>
          <p:nvPr/>
        </p:nvSpPr>
        <p:spPr>
          <a:xfrm>
            <a:off x="180000" y="2289599"/>
            <a:ext cx="11832000" cy="125999"/>
          </a:xfrm>
          <a:prstGeom prst="rect">
            <a:avLst/>
          </a:prstGeom>
          <a:noFill/>
        </p:spPr>
        <p:txBody>
          <a:bodyPr anchor="ctr" wrap="square" lIns="36000" rIns="36000" tIns="36000" bIns="36000"/>
          <a:lstStyle/>
          <a:p>
            <a:pPr algn="l" spcBef="0" spcAft="0">
              <a:spcPct val="100000"/>
            </a:pPr>
            <a:r>
              <a:rPr lang="en-GB" b="0" sz="1300" dirty="0">
                <a:solidFill>
                  <a:srgbClr val="404040"/>
                </a:solidFill>
                <a:latin typeface="Calibri"/>
              </a:rPr>
              <a:t>• How long you have studied English: I have studied...</a:t>
            </a:r>
          </a:p>
        </p:txBody>
      </p:sp>
    </p:spTree>
  </p:cSld>
  <p:clrMapOvr>
    <a:masterClr/>
  </p:clrMapOvr>
</p:sld>
</file>

<file path=ppt/slides/slide12.xml><?xml version="1.0" encoding="utf-8"?>
<p:sld xmlns:p="http://schemas.openxmlformats.org/presentationml/2006/main" xmlns:a="http://schemas.openxmlformats.org/drawingml/2006/main" xmlns:r="http://schemas.openxmlformats.org/officeDocument/2006/relationships" xmlns:dc="http://purl.org/dc/elements/1.1/">
  <p:cSld>
    <p:spTree>
      <p:nvGrpSpPr>
        <p:cNvPr id="1" name="content"/>
        <p:cNvGrpSpPr/>
        <p:nvPr/>
      </p:nvGrpSpPr>
      <p:grpSpPr>
        <a:xfrm>
          <a:off x="0" y="0"/>
          <a:ext cx="12192000" cy="6858000"/>
          <a:chOff x="0" y="0"/>
          <a:chExt cx="12192000" cy="6858000"/>
        </a:xfrm>
      </p:grpSpPr>
      <p:sp>
        <p:nvSpPr>
          <p:cNvPr id="551" name="box551"/>
          <p:cNvSpPr>
            <a:spLocks noGrp="1"/>
          </p:cNvSpPr>
          <p:nvPr/>
        </p:nvSpPr>
        <p:spPr>
          <a:xfrm>
            <a:off x="0" y="0"/>
            <a:ext cx="12192000" cy="396000"/>
          </a:xfrm>
          <a:prstGeom prst="rect">
            <a:avLst/>
          </a:prstGeom>
          <a:solidFill>
            <a:srgbClr val="1F3864"/>
          </a:solidFill>
          <a:ln w="0">
            <a:noFill/>
          </a:ln>
        </p:spPr>
        <p:txBody>
          <a:bodyPr anchor="ctr" wrap="square" lIns="72000" rIns="72000" tIns="54000" bIns="54000"/>
          <a:lstStyle/>
        </p:txBody>
      </p:sp>
      <p:sp>
        <p:nvSpPr>
          <p:cNvPr id="552" name="box552"/>
          <p:cNvSpPr>
            <a:spLocks noGrp="1"/>
          </p:cNvSpPr>
          <p:nvPr/>
        </p:nvSpPr>
        <p:spPr>
          <a:xfrm>
            <a:off x="0" y="396000"/>
            <a:ext cx="12192000" cy="64800"/>
          </a:xfrm>
          <a:prstGeom prst="rect">
            <a:avLst/>
          </a:prstGeom>
          <a:solidFill>
            <a:srgbClr val="2E75B6"/>
          </a:solidFill>
          <a:ln w="0">
            <a:noFill/>
          </a:ln>
        </p:spPr>
        <p:txBody>
          <a:bodyPr anchor="ctr" wrap="square" lIns="72000" rIns="72000" tIns="54000" bIns="54000"/>
          <a:lstStyle/>
        </p:txBody>
      </p:sp>
      <p:sp>
        <p:nvSpPr>
          <p:cNvPr id="553" name="tb553"/>
          <p:cNvSpPr txBox="1">
            <a:spLocks noGrp="1"/>
          </p:cNvSpPr>
          <p:nvPr/>
        </p:nvSpPr>
        <p:spPr>
          <a:xfrm>
            <a:off x="180000" y="21600"/>
            <a:ext cx="11832000" cy="360000"/>
          </a:xfrm>
          <a:prstGeom prst="rect">
            <a:avLst/>
          </a:prstGeom>
          <a:noFill/>
        </p:spPr>
        <p:txBody>
          <a:bodyPr anchor="ctr" wrap="square" lIns="36000" rIns="36000" tIns="36000" bIns="36000"/>
          <a:lstStyle/>
          <a:p>
            <a:pPr algn="l" spcBef="0" spcAft="0">
              <a:spcPct val="100000"/>
            </a:pPr>
            <a:r>
              <a:rPr lang="en-GB" b="1" sz="2200" dirty="0">
                <a:solidFill>
                  <a:srgbClr val="BF8F00"/>
                </a:solidFill>
                <a:latin typeface="Cambria"/>
              </a:rPr>
              <a:t>🏠  </a:t>
            </a:r>
            <a:r>
              <a:rPr lang="en-GB" b="1" sz="2200" dirty="0">
                <a:solidFill>
                  <a:srgbClr val="FFFFFF"/>
                </a:solidFill>
                <a:latin typeface="Cambria"/>
              </a:rPr>
              <a:t>HOMEWORK</a:t>
            </a:r>
          </a:p>
        </p:txBody>
      </p:sp>
      <p:sp>
        <p:nvSpPr>
          <p:cNvPr id="554" name="box554"/>
          <p:cNvSpPr>
            <a:spLocks noGrp="1"/>
          </p:cNvSpPr>
          <p:nvPr/>
        </p:nvSpPr>
        <p:spPr>
          <a:xfrm>
            <a:off x="180000" y="540000"/>
            <a:ext cx="432000" cy="432000"/>
          </a:xfrm>
          <a:prstGeom prst="roundRect">
            <a:avLst>
              <a:gd name="adj" fmla="val 50000"/>
            </a:avLst>
          </a:prstGeom>
          <a:solidFill>
            <a:srgbClr val="BF8F00"/>
          </a:solidFill>
          <a:ln w="0">
            <a:noFill/>
          </a:ln>
        </p:spPr>
        <p:txBody>
          <a:bodyPr anchor="ctr" wrap="square" lIns="72000" rIns="72000" tIns="54000" bIns="54000"/>
          <a:lstStyle/>
          <a:p>
            <a:pPr algn="ctr" spcBef="0" spcAft="0">
              <a:spcPct val="100000"/>
            </a:pPr>
            <a:r>
              <a:rPr lang="en-GB" b="1" sz="2800" dirty="0">
                <a:solidFill>
                  <a:srgbClr val="1F3864"/>
                </a:solidFill>
                <a:latin typeface="Cambria"/>
              </a:rPr>
              <a:t>1</a:t>
            </a:r>
          </a:p>
        </p:txBody>
      </p:sp>
      <p:sp>
        <p:nvSpPr>
          <p:cNvPr id="555" name="box555"/>
          <p:cNvSpPr>
            <a:spLocks noGrp="1"/>
          </p:cNvSpPr>
          <p:nvPr/>
        </p:nvSpPr>
        <p:spPr>
          <a:xfrm>
            <a:off x="684000" y="540000"/>
            <a:ext cx="11328000" cy="432000"/>
          </a:xfrm>
          <a:prstGeom prst="rect">
            <a:avLst/>
          </a:prstGeom>
          <a:solidFill>
            <a:srgbClr val="DCE6F1"/>
          </a:solidFill>
          <a:ln w="12700">
            <a:solidFill>
              <a:srgbClr val="2E75B6"/>
            </a:solidFill>
          </a:ln>
        </p:spPr>
        <p:txBody>
          <a:bodyPr anchor="ctr" wrap="square" lIns="108000" rIns="72000" tIns="54000" bIns="54000"/>
          <a:lstStyle/>
          <a:p>
            <a:pPr algn="l" spcBef="0" spcAft="0">
              <a:spcPct val="100000"/>
            </a:pPr>
            <a:r>
              <a:rPr lang="en-GB" b="1" sz="1500" dirty="0">
                <a:solidFill>
                  <a:srgbClr val="1F3864"/>
                </a:solidFill>
                <a:latin typeface="Calibri"/>
              </a:rPr>
              <a:t>Production Task  </a:t>
            </a:r>
            <a:r>
              <a:rPr lang="en-GB" b="0" sz="1400" dirty="0">
                <a:solidFill>
                  <a:srgbClr val="404040"/>
                </a:solidFill>
                <a:latin typeface="Calibri"/>
              </a:rPr>
              <a:t>Write 8 sentences about your family using for and since. Example: My parents have been married for 25 years. My sister has lived in Tashkent since 2018.</a:t>
            </a:r>
          </a:p>
        </p:txBody>
      </p:sp>
      <p:sp>
        <p:nvSpPr>
          <p:cNvPr id="556" name="box556"/>
          <p:cNvSpPr>
            <a:spLocks noGrp="1"/>
          </p:cNvSpPr>
          <p:nvPr/>
        </p:nvSpPr>
        <p:spPr>
          <a:xfrm>
            <a:off x="180000" y="1080000"/>
            <a:ext cx="432000" cy="432000"/>
          </a:xfrm>
          <a:prstGeom prst="roundRect">
            <a:avLst>
              <a:gd name="adj" fmla="val 50000"/>
            </a:avLst>
          </a:prstGeom>
          <a:solidFill>
            <a:srgbClr val="2E75B6"/>
          </a:solidFill>
          <a:ln w="0">
            <a:noFill/>
          </a:ln>
        </p:spPr>
        <p:txBody>
          <a:bodyPr anchor="ctr" wrap="square" lIns="72000" rIns="72000" tIns="54000" bIns="54000"/>
          <a:lstStyle/>
          <a:p>
            <a:pPr algn="ctr" spcBef="0" spcAft="0">
              <a:spcPct val="100000"/>
            </a:pPr>
            <a:r>
              <a:rPr lang="en-GB" b="1" sz="2800" dirty="0">
                <a:solidFill>
                  <a:srgbClr val="FFFFFF"/>
                </a:solidFill>
                <a:latin typeface="Cambria"/>
              </a:rPr>
              <a:t>2</a:t>
            </a:r>
          </a:p>
        </p:txBody>
      </p:sp>
      <p:sp>
        <p:nvSpPr>
          <p:cNvPr id="557" name="box557"/>
          <p:cNvSpPr>
            <a:spLocks noGrp="1"/>
          </p:cNvSpPr>
          <p:nvPr/>
        </p:nvSpPr>
        <p:spPr>
          <a:xfrm>
            <a:off x="684000" y="1080000"/>
            <a:ext cx="11328000" cy="432000"/>
          </a:xfrm>
          <a:prstGeom prst="rect">
            <a:avLst/>
          </a:prstGeom>
          <a:solidFill>
            <a:srgbClr val="F2F2F2"/>
          </a:solidFill>
          <a:ln w="12700">
            <a:solidFill>
              <a:srgbClr val="CCCCCC"/>
            </a:solidFill>
          </a:ln>
        </p:spPr>
        <p:txBody>
          <a:bodyPr anchor="ctr" wrap="square" lIns="108000" rIns="72000" tIns="54000" bIns="54000"/>
          <a:lstStyle/>
          <a:p>
            <a:pPr algn="l" spcBef="0" spcAft="0">
              <a:spcPct val="100000"/>
            </a:pPr>
            <a:r>
              <a:rPr lang="en-GB" b="1" sz="1500" dirty="0">
                <a:solidFill>
                  <a:srgbClr val="1F3864"/>
                </a:solidFill>
                <a:latin typeface="Calibri"/>
              </a:rPr>
              <a:t>Vocabulary Consolidation  </a:t>
            </a:r>
            <a:r>
              <a:rPr lang="en-GB" b="0" sz="1400" dirty="0">
                <a:solidFill>
                  <a:srgbClr val="404040"/>
                </a:solidFill>
                <a:latin typeface="Calibri"/>
              </a:rPr>
              <a:t>Match each of the 30 vocabulary words from Section 4 to its definition.</a:t>
            </a:r>
          </a:p>
        </p:txBody>
      </p:sp>
      <p:sp>
        <p:nvSpPr>
          <p:cNvPr id="558" name="box558"/>
          <p:cNvSpPr>
            <a:spLocks noGrp="1"/>
          </p:cNvSpPr>
          <p:nvPr/>
        </p:nvSpPr>
        <p:spPr>
          <a:xfrm>
            <a:off x="180000" y="6498000"/>
            <a:ext cx="1440000" cy="216000"/>
          </a:xfrm>
          <a:prstGeom prst="roundRect">
            <a:avLst>
              <a:gd name="adj" fmla="val 10000"/>
            </a:avLst>
          </a:prstGeom>
          <a:solidFill>
            <a:srgbClr val="1F3864"/>
          </a:solidFill>
          <a:ln w="0">
            <a:noFill/>
          </a:ln>
        </p:spPr>
        <p:txBody>
          <a:bodyPr anchor="ctr" wrap="square" lIns="72000" rIns="72000" tIns="54000" bIns="54000"/>
          <a:lstStyle/>
          <a:p>
            <a:pPr algn="ctr" spcBef="0" spcAft="0">
              <a:spcPct val="100000"/>
            </a:pPr>
            <a:r>
              <a:rPr lang="en-GB" b="1" sz="1300" dirty="0">
                <a:solidFill>
                  <a:srgbClr val="BF8F00"/>
                </a:solidFill>
                <a:latin typeface="Calibri"/>
              </a:rPr>
              <a:t>📅  Due: next class</a:t>
            </a:r>
          </a:p>
        </p:txBody>
      </p:sp>
    </p:spTree>
  </p:cSld>
  <p:clrMapOvr>
    <a:masterClr/>
  </p:clrMapOvr>
</p:sld>
</file>

<file path=ppt/slides/slide13.xml><?xml version="1.0" encoding="utf-8"?>
<p:sld xmlns:p="http://schemas.openxmlformats.org/presentationml/2006/main" xmlns:a="http://schemas.openxmlformats.org/drawingml/2006/main" xmlns:r="http://schemas.openxmlformats.org/officeDocument/2006/relationships" xmlns:dc="http://purl.org/dc/elements/1.1/">
  <p:cSld>
    <p:bg>
      <p:bgPr>
        <a:solidFill>
          <a:srgbClr val="1F3864"/>
        </a:solidFill>
        <a:effectLst/>
      </p:bgPr>
    </p:bg>
    <p:spTree>
      <p:nvGrpSpPr>
        <p:cNvPr id="1" name="content"/>
        <p:cNvGrpSpPr/>
        <p:nvPr/>
      </p:nvGrpSpPr>
      <p:grpSpPr>
        <a:xfrm>
          <a:off x="0" y="0"/>
          <a:ext cx="12192000" cy="6858000"/>
          <a:chOff x="0" y="0"/>
          <a:chExt cx="12192000" cy="6858000"/>
        </a:xfrm>
      </p:grpSpPr>
      <p:sp>
        <p:nvSpPr>
          <p:cNvPr id="601" name="shape601"/>
          <p:cNvSpPr>
            <a:spLocks noGrp="1"/>
          </p:cNvSpPr>
          <p:nvPr/>
        </p:nvSpPr>
        <p:spPr>
          <a:xfrm>
            <a:off x="0" y="0"/>
            <a:ext cx="12192000" cy="6858000"/>
          </a:xfrm>
          <a:prstGeom prst="rect">
            <a:avLst/>
          </a:prstGeom>
          <a:gradFill rot="1">
            <a:gsLst>
              <a:gs pos="0">
                <a:srgbClr val="1F3864"/>
              </a:gs>
              <a:gs pos="100000">
                <a:srgbClr val="0D2245"/>
              </a:gs>
            </a:gsLst>
            <a:lin ang="5400000" scaled="0"/>
          </a:gradFill>
        </p:spPr>
        <p:txBody>
          <a:bodyPr/>
          <a:lstStyle/>
          <a:p/>
        </p:txBody>
      </p:sp>
      <p:sp>
        <p:nvSpPr>
          <p:cNvPr id="602" name="shape602"/>
          <p:cNvSpPr>
            <a:spLocks noGrp="1"/>
          </p:cNvSpPr>
          <p:nvPr/>
        </p:nvSpPr>
        <p:spPr>
          <a:xfrm>
            <a:off x="0" y="0"/>
            <a:ext cx="12192000" cy="108000"/>
          </a:xfrm>
          <a:prstGeom prst="rect">
            <a:avLst/>
          </a:prstGeom>
          <a:solidFill>
            <a:srgbClr val="BF8F00"/>
          </a:solidFill>
        </p:spPr>
        <p:txBody>
          <a:bodyPr/>
          <a:lstStyle/>
          <a:p/>
        </p:txBody>
      </p:sp>
      <p:sp>
        <p:nvSpPr>
          <p:cNvPr id="603" name="shape603"/>
          <p:cNvSpPr>
            <a:spLocks noGrp="1"/>
          </p:cNvSpPr>
          <p:nvPr/>
        </p:nvSpPr>
        <p:spPr>
          <a:xfrm>
            <a:off x="0" y="6750000"/>
            <a:ext cx="12192000" cy="108000"/>
          </a:xfrm>
          <a:prstGeom prst="rect">
            <a:avLst/>
          </a:prstGeom>
          <a:solidFill>
            <a:srgbClr val="BF8F00"/>
          </a:solidFill>
        </p:spPr>
        <p:txBody>
          <a:bodyPr/>
          <a:lstStyle/>
          <a:p/>
        </p:txBody>
      </p:sp>
      <p:sp>
        <p:nvSpPr>
          <p:cNvPr id="604" name="shape604"/>
          <p:cNvSpPr>
            <a:spLocks noGrp="1"/>
          </p:cNvSpPr>
          <p:nvPr/>
        </p:nvSpPr>
        <p:spPr>
          <a:xfrm>
            <a:off x="0" y="0"/>
            <a:ext cx="144000" cy="6858000"/>
          </a:xfrm>
          <a:prstGeom prst="rect">
            <a:avLst/>
          </a:prstGeom>
          <a:solidFill>
            <a:srgbClr val="BF8F00"/>
          </a:solidFill>
        </p:spPr>
        <p:txBody>
          <a:bodyPr/>
          <a:lstStyle/>
          <a:p/>
        </p:txBody>
      </p:sp>
      <p:sp>
        <p:nvSpPr>
          <p:cNvPr id="605" name="box605"/>
          <p:cNvSpPr>
            <a:spLocks noGrp="1"/>
          </p:cNvSpPr>
          <p:nvPr/>
        </p:nvSpPr>
        <p:spPr>
          <a:xfrm>
            <a:off x="432000" y="432000"/>
            <a:ext cx="1800000" cy="324000"/>
          </a:xfrm>
          <a:prstGeom prst="roundRect">
            <a:avLst>
              <a:gd name="adj" fmla="val 20000"/>
            </a:avLst>
          </a:prstGeom>
          <a:solidFill>
            <a:srgbClr val="BF8F00"/>
          </a:solidFill>
          <a:ln w="0">
            <a:noFill/>
          </a:ln>
        </p:spPr>
        <p:txBody>
          <a:bodyPr anchor="ctr" wrap="square" lIns="72000" rIns="72000" tIns="54000" bIns="54000"/>
          <a:lstStyle/>
          <a:p>
            <a:pPr algn="ctr" spcBef="0" spcAft="0">
              <a:spcPct val="100000"/>
            </a:pPr>
            <a:r>
              <a:rPr lang="en-GB" b="1" sz="1600" dirty="0">
                <a:solidFill>
                  <a:srgbClr val="1F3864"/>
                </a:solidFill>
                <a:latin typeface="Cambria"/>
              </a:rPr>
              <a:t>UNIT 18  ·  A2</a:t>
            </a:r>
          </a:p>
        </p:txBody>
      </p:sp>
      <p:sp>
        <p:nvSpPr>
          <p:cNvPr id="606" name="tb606"/>
          <p:cNvSpPr txBox="1">
            <a:spLocks noGrp="1"/>
          </p:cNvSpPr>
          <p:nvPr/>
        </p:nvSpPr>
        <p:spPr>
          <a:xfrm>
            <a:off x="432000" y="827999"/>
            <a:ext cx="11472000" cy="900000"/>
          </a:xfrm>
          <a:prstGeom prst="rect">
            <a:avLst/>
          </a:prstGeom>
          <a:noFill/>
        </p:spPr>
        <p:txBody>
          <a:bodyPr anchor="t" wrap="square" lIns="36000" rIns="36000" tIns="36000" bIns="36000"/>
          <a:lstStyle/>
          <a:p>
            <a:pPr algn="l" spcBef="0" spcAft="0">
              <a:spcPct val="100000"/>
            </a:pPr>
            <a:r>
              <a:rPr lang="en-GB" b="1" sz="3600" dirty="0">
                <a:solidFill>
                  <a:srgbClr val="FFFFFF"/>
                </a:solidFill>
                <a:latin typeface="Cambria"/>
              </a:rPr>
              <a:t>Present Perfect — How long, for and since</a:t>
            </a:r>
          </a:p>
        </p:txBody>
      </p:sp>
      <p:sp>
        <p:nvSpPr>
          <p:cNvPr id="607" name="tb607"/>
          <p:cNvSpPr txBox="1">
            <a:spLocks noGrp="1"/>
          </p:cNvSpPr>
          <p:nvPr/>
        </p:nvSpPr>
        <p:spPr>
          <a:xfrm>
            <a:off x="432000" y="1800000"/>
            <a:ext cx="11472000" cy="324000"/>
          </a:xfrm>
          <a:prstGeom prst="rect">
            <a:avLst/>
          </a:prstGeom>
          <a:noFill/>
        </p:spPr>
        <p:txBody>
          <a:bodyPr anchor="ctr" wrap="square" lIns="36000" rIns="36000" tIns="36000" bIns="36000"/>
          <a:lstStyle/>
          <a:p>
            <a:pPr algn="l" spcBef="0" spcAft="0">
              <a:spcPct val="100000"/>
            </a:pPr>
            <a:r>
              <a:rPr lang="en-GB" b="0" i="1" sz="1600" dirty="0">
                <a:solidFill>
                  <a:srgbClr val="BF8F00"/>
                </a:solidFill>
                <a:latin typeface="Calibri"/>
              </a:rPr>
              <a:t>✦  Grammar is not a rule — it is a tool. Use it!</a:t>
            </a:r>
          </a:p>
        </p:txBody>
      </p:sp>
      <p:sp>
        <p:nvSpPr>
          <p:cNvPr id="608" name="box608"/>
          <p:cNvSpPr>
            <a:spLocks noGrp="1"/>
          </p:cNvSpPr>
          <p:nvPr/>
        </p:nvSpPr>
        <p:spPr>
          <a:xfrm>
            <a:off x="10752000" y="6462000"/>
            <a:ext cx="1260000" cy="234000"/>
          </a:xfrm>
          <a:prstGeom prst="roundRect">
            <a:avLst>
              <a:gd name="adj" fmla="val 10000"/>
            </a:avLst>
          </a:prstGeom>
          <a:solidFill>
            <a:srgbClr val="2E75B6"/>
          </a:solidFill>
          <a:ln w="0">
            <a:noFill/>
          </a:ln>
        </p:spPr>
        <p:txBody>
          <a:bodyPr anchor="ctr" wrap="square" lIns="72000" rIns="72000" tIns="54000" bIns="54000"/>
          <a:lstStyle/>
          <a:p>
            <a:pPr algn="ctr" spcBef="0" spcAft="0">
              <a:spcPct val="100000"/>
            </a:pPr>
            <a:r>
              <a:rPr lang="en-GB" b="1" sz="1300" dirty="0">
                <a:solidFill>
                  <a:srgbClr val="FFFFFF"/>
                </a:solidFill>
                <a:latin typeface="Calibri"/>
              </a:rPr>
              <a:t>See you next class! 👋</a:t>
            </a:r>
          </a:p>
        </p:txBody>
      </p:sp>
    </p:spTree>
  </p:cSld>
  <p:clrMapOvr>
    <a:masterClr/>
  </p:clrMapOvr>
</p:sld>
</file>