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
    Type="http://schemas.openxmlformats.org/officeDocument/2006/relationships/officeDocument"
    Target="ppt/presentation.xml"/>
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saveSubsetFonts="1">
  <p:sldMasterIdLst>
    <p:sldMasterId id="2147483648" r:id="rId0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 type="screen16x9"/>
  <p:notesSz cx="6858000" cy="12192000"/>
</p:presentation>
</file>

<file path=ppt/_rels/presentation.xml.rels><?xml version="1.0" encoding="UTF-8" standalone="yes"?>
<Relationships xmlns="http://schemas.openxmlformats.org/package/2006/relationships">
  <Relationship Id="rId0"
    Type="http://schemas.openxmlformats.org/officeDocument/2006/relationships/slideMaster"
    Target="slideMasters/slideMaster1.xml"/>
  <Relationship Id="rId1"
    Type="http://schemas.openxmlformats.org/officeDocument/2006/relationships/slide"
    Target="slides/slide1.xml"/>
  <Relationship Id="rId2"
    Type="http://schemas.openxmlformats.org/officeDocument/2006/relationships/slide"
    Target="slides/slide2.xml"/>
  <Relationship Id="rId3"
    Type="http://schemas.openxmlformats.org/officeDocument/2006/relationships/slide"
    Target="slides/slide3.xml"/>
  <Relationship Id="rId4"
    Type="http://schemas.openxmlformats.org/officeDocument/2006/relationships/slide"
    Target="slides/slide4.xml"/>
  <Relationship Id="rId5"
    Type="http://schemas.openxmlformats.org/officeDocument/2006/relationships/slide"
    Target="slides/slide5.xml"/>
  <Relationship Id="rId6"
    Type="http://schemas.openxmlformats.org/officeDocument/2006/relationships/slide"
    Target="slides/slide6.xml"/>
  <Relationship Id="rId7"
    Type="http://schemas.openxmlformats.org/officeDocument/2006/relationships/slide"
    Target="slides/slide7.xml"/>
  <Relationship Id="rId8"
    Type="http://schemas.openxmlformats.org/officeDocument/2006/relationships/slide"
    Target="slides/slide8.xml"/>
  <Relationship Id="rId9"
    Type="http://schemas.openxmlformats.org/officeDocument/2006/relationships/slide"
    Target="slides/slide9.xml"/>
  <Relationship Id="rId10"
    Type="http://schemas.openxmlformats.org/officeDocument/2006/relationships/slide"
    Target="slides/slide10.xml"/>
  <Relationship Id="rId11"
    Type="http://schemas.openxmlformats.org/officeDocument/2006/relationships/slide"
    Target="slides/slide11.xml"/>
  <Relationship Id="rId12"
    Type="http://schemas.openxmlformats.org/officeDocument/2006/relationships/slide"
    Target="slides/slide12.xml"/>
  <Relationship Id="rId13"
    Type="http://schemas.openxmlformats.org/officeDocument/2006/relationships/slide"
    Target="slides/slide13.xml"/>
</Relationships>
</file>

<file path=ppt/slideLayouts/_rels/slideLayout1.xml.rels><?xml version="1.0" encoding="UTF-8" standalone="yes"?>
<Relationships xmlns="http://schemas.openxmlformats.org/package/2006/relationships">
  <Relationship Id="rId1"
    Type="http://schemas.openxmlformats.org/officeDocument/2006/relationships/slideMaster"
    Target="../slideMasters/slideMaster1.xml"/>
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 name="Blank"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</p:spTree>
  </p:cSld>
  <p:clrMapOvr>
    <a:masterClr/>
  </p:clrMapOvr>
</p:sldLayout>
</file>

<file path=ppt/slideMasters/_rels/slideMaster1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stStyle/>
    </p:titleStyle>
    <p:bodyStyle>
      <a:lstStyle/>
    </p:bodyStyle>
    <p:otherStyle>
      <a:lstStyle/>
    </p:otherStyle>
  </p:txStyles>
</p:sldMaster>
</file>

<file path=ppt/slides/_rels/slide1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8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9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10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11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12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13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bg>
      <p:bgPr>
        <a:solidFill>
          <a:srgbClr val="1F3864"/>
        </a:solidFill>
        <a:effectLst/>
      </p:bgPr>
    </p:bg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11" name="shape1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="1">
            <a:gsLst>
              <a:gs pos="0">
                <a:srgbClr val="1F3864"/>
              </a:gs>
              <a:gs pos="100000">
                <a:srgbClr val="0D2245"/>
              </a:gs>
            </a:gsLst>
            <a:lin ang="5400000" scaled="0"/>
          </a:gradFill>
        </p:spPr>
        <p:txBody>
          <a:bodyPr/>
          <a:lstStyle/>
          <a:p/>
        </p:txBody>
      </p:sp>
      <p:sp>
        <p:nvSpPr>
          <p:cNvPr id="12" name="shape12"/>
          <p:cNvSpPr>
            <a:spLocks noGrp="1"/>
          </p:cNvSpPr>
          <p:nvPr/>
        </p:nvSpPr>
        <p:spPr>
          <a:xfrm>
            <a:off x="0" y="0"/>
            <a:ext cx="144000" cy="6858000"/>
          </a:xfrm>
          <a:prstGeom prst="rect">
            <a:avLst/>
          </a:prstGeom>
          <a:solidFill>
            <a:srgbClr val="BF8F00"/>
          </a:solidFill>
        </p:spPr>
        <p:txBody>
          <a:bodyPr/>
          <a:lstStyle/>
          <a:p/>
        </p:txBody>
      </p:sp>
      <p:sp>
        <p:nvSpPr>
          <p:cNvPr id="13" name="shape13"/>
          <p:cNvSpPr>
            <a:spLocks noGrp="1"/>
          </p:cNvSpPr>
          <p:nvPr/>
        </p:nvSpPr>
        <p:spPr>
          <a:xfrm>
            <a:off x="0" y="0"/>
            <a:ext cx="12192000" cy="108000"/>
          </a:xfrm>
          <a:prstGeom prst="rect">
            <a:avLst/>
          </a:prstGeom>
          <a:solidFill>
            <a:srgbClr val="BF8F00"/>
          </a:solidFill>
        </p:spPr>
        <p:txBody>
          <a:bodyPr/>
          <a:lstStyle/>
          <a:p/>
        </p:txBody>
      </p:sp>
      <p:sp>
        <p:nvSpPr>
          <p:cNvPr id="14" name="box14"/>
          <p:cNvSpPr>
            <a:spLocks noGrp="1"/>
          </p:cNvSpPr>
          <p:nvPr/>
        </p:nvSpPr>
        <p:spPr>
          <a:xfrm>
            <a:off x="432000" y="468000"/>
            <a:ext cx="1800000" cy="324000"/>
          </a:xfrm>
          <a:prstGeom prst="roundRect">
            <a:avLst>
              <a:gd name="adj" fmla="val 20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600" dirty="0">
                <a:solidFill>
                  <a:srgbClr val="1F3864"/>
                </a:solidFill>
                <a:latin typeface="Cambria"/>
              </a:rPr>
              <a:t>UNIT 20  ·  A2</a:t>
            </a:r>
          </a:p>
        </p:txBody>
      </p:sp>
      <p:sp>
        <p:nvSpPr>
          <p:cNvPr id="15" name="tb15"/>
          <p:cNvSpPr txBox="1">
            <a:spLocks noGrp="1"/>
          </p:cNvSpPr>
          <p:nvPr/>
        </p:nvSpPr>
        <p:spPr>
          <a:xfrm>
            <a:off x="432000" y="900000"/>
            <a:ext cx="11472000" cy="28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BFC9D6"/>
                </a:solidFill>
                <a:latin typeface="Calibri"/>
              </a:rPr>
              <a:t>English Grammar in Action — Level 1</a:t>
            </a:r>
          </a:p>
        </p:txBody>
      </p:sp>
      <p:sp>
        <p:nvSpPr>
          <p:cNvPr id="16" name="tb16"/>
          <p:cNvSpPr txBox="1">
            <a:spLocks noGrp="1"/>
          </p:cNvSpPr>
          <p:nvPr/>
        </p:nvSpPr>
        <p:spPr>
          <a:xfrm>
            <a:off x="432000" y="1188000"/>
            <a:ext cx="11472000" cy="1080000"/>
          </a:xfrm>
          <a:prstGeom prst="rect">
            <a:avLst/>
          </a:prstGeom>
          <a:noFill/>
        </p:spPr>
        <p:txBody>
          <a:bodyPr anchor="t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4000" dirty="0">
                <a:solidFill>
                  <a:srgbClr val="FFFFFF"/>
                </a:solidFill>
                <a:latin typeface="Cambria"/>
              </a:rPr>
              <a:t>Present Perfect vs Past Simple</a:t>
            </a:r>
          </a:p>
        </p:txBody>
      </p:sp>
      <p:sp>
        <p:nvSpPr>
          <p:cNvPr id="17" name="tb17"/>
          <p:cNvSpPr txBox="1">
            <a:spLocks noGrp="1"/>
          </p:cNvSpPr>
          <p:nvPr/>
        </p:nvSpPr>
        <p:spPr>
          <a:xfrm>
            <a:off x="432000" y="2088000"/>
            <a:ext cx="1147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700" dirty="0">
                <a:solidFill>
                  <a:srgbClr val="DCE6F1"/>
                </a:solidFill>
                <a:latin typeface="Calibri"/>
              </a:rPr>
              <a:t>Present Perfect (result now) vs Past Simple (finished time); time markers</a:t>
            </a:r>
          </a:p>
        </p:txBody>
      </p:sp>
      <p:sp>
        <p:nvSpPr>
          <p:cNvPr id="18" name="shape18"/>
          <p:cNvSpPr>
            <a:spLocks noGrp="1"/>
          </p:cNvSpPr>
          <p:nvPr/>
        </p:nvSpPr>
        <p:spPr>
          <a:xfrm>
            <a:off x="0" y="6768000"/>
            <a:ext cx="12192000" cy="90000"/>
          </a:xfrm>
          <a:prstGeom prst="rect">
            <a:avLst/>
          </a:prstGeom>
          <a:solidFill>
            <a:srgbClr val="BF8F00"/>
          </a:solidFill>
        </p:spPr>
        <p:txBody>
          <a:bodyPr/>
          <a:lstStyle/>
          <a:p/>
        </p:txBody>
      </p:sp>
      <p:sp>
        <p:nvSpPr>
          <p:cNvPr id="19" name="box19"/>
          <p:cNvSpPr>
            <a:spLocks noGrp="1"/>
          </p:cNvSpPr>
          <p:nvPr/>
        </p:nvSpPr>
        <p:spPr>
          <a:xfrm>
            <a:off x="11112000" y="6354001"/>
            <a:ext cx="936000" cy="360000"/>
          </a:xfrm>
          <a:prstGeom prst="roundRect">
            <a:avLst>
              <a:gd name="adj" fmla="val 2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400" dirty="0">
                <a:solidFill>
                  <a:srgbClr val="FFFFFF"/>
                </a:solidFill>
                <a:latin typeface="Calibri"/>
              </a:rPr>
              <a:t>CEFR  A2</a:t>
            </a:r>
          </a:p>
        </p:txBody>
      </p:sp>
    </p:spTree>
  </p:cSld>
  <p:clrMapOvr>
    <a:masterClr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51" name="box5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52" name="box5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53" name="tb5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🎯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LEARNING OBJECTIVES</a:t>
            </a:r>
          </a:p>
        </p:txBody>
      </p:sp>
      <p:sp>
        <p:nvSpPr>
          <p:cNvPr id="54" name="box54"/>
          <p:cNvSpPr>
            <a:spLocks noGrp="1"/>
          </p:cNvSpPr>
          <p:nvPr/>
        </p:nvSpPr>
        <p:spPr>
          <a:xfrm>
            <a:off x="180000" y="540000"/>
            <a:ext cx="306000" cy="306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0" sz="1800" dirty="0">
                <a:solidFill>
                  <a:srgbClr val="FFFFFF"/>
                </a:solidFill>
                <a:latin typeface="Calibri"/>
              </a:rPr>
              <a:t>📌</a:t>
            </a:r>
          </a:p>
        </p:txBody>
      </p:sp>
      <p:sp>
        <p:nvSpPr>
          <p:cNvPr id="55" name="box55"/>
          <p:cNvSpPr>
            <a:spLocks noGrp="1"/>
          </p:cNvSpPr>
          <p:nvPr/>
        </p:nvSpPr>
        <p:spPr>
          <a:xfrm>
            <a:off x="558000" y="540000"/>
            <a:ext cx="11616000" cy="306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1F3864"/>
                </a:solidFill>
                <a:latin typeface="Calibri"/>
              </a:rPr>
              <a:t>Choose Present Perfect for actions with a result or relevance now.</a:t>
            </a:r>
          </a:p>
        </p:txBody>
      </p:sp>
      <p:sp>
        <p:nvSpPr>
          <p:cNvPr id="56" name="box56"/>
          <p:cNvSpPr>
            <a:spLocks noGrp="1"/>
          </p:cNvSpPr>
          <p:nvPr/>
        </p:nvSpPr>
        <p:spPr>
          <a:xfrm>
            <a:off x="180000" y="925200"/>
            <a:ext cx="306000" cy="306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0" sz="1800" dirty="0">
                <a:solidFill>
                  <a:srgbClr val="FFFFFF"/>
                </a:solidFill>
                <a:latin typeface="Calibri"/>
              </a:rPr>
              <a:t>✏️</a:t>
            </a:r>
          </a:p>
        </p:txBody>
      </p:sp>
      <p:sp>
        <p:nvSpPr>
          <p:cNvPr id="57" name="box57"/>
          <p:cNvSpPr>
            <a:spLocks noGrp="1"/>
          </p:cNvSpPr>
          <p:nvPr/>
        </p:nvSpPr>
        <p:spPr>
          <a:xfrm>
            <a:off x="558000" y="925200"/>
            <a:ext cx="11616000" cy="306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1F3864"/>
                </a:solidFill>
                <a:latin typeface="Calibri"/>
              </a:rPr>
              <a:t>Choose Past Simple for completed actions at a specific finished time.</a:t>
            </a:r>
          </a:p>
        </p:txBody>
      </p:sp>
      <p:sp>
        <p:nvSpPr>
          <p:cNvPr id="58" name="box58"/>
          <p:cNvSpPr>
            <a:spLocks noGrp="1"/>
          </p:cNvSpPr>
          <p:nvPr/>
        </p:nvSpPr>
        <p:spPr>
          <a:xfrm>
            <a:off x="180000" y="1310400"/>
            <a:ext cx="306000" cy="306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0" sz="1800" dirty="0">
                <a:solidFill>
                  <a:srgbClr val="FFFFFF"/>
                </a:solidFill>
                <a:latin typeface="Calibri"/>
              </a:rPr>
              <a:t>🔍</a:t>
            </a:r>
          </a:p>
        </p:txBody>
      </p:sp>
      <p:sp>
        <p:nvSpPr>
          <p:cNvPr id="59" name="box59"/>
          <p:cNvSpPr>
            <a:spLocks noGrp="1"/>
          </p:cNvSpPr>
          <p:nvPr/>
        </p:nvSpPr>
        <p:spPr>
          <a:xfrm>
            <a:off x="558000" y="1310400"/>
            <a:ext cx="11616000" cy="306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1F3864"/>
                </a:solidFill>
                <a:latin typeface="Calibri"/>
              </a:rPr>
              <a:t>Identify time markers: yesterday/last week/ago = Past Simple; just/already/yet/ever = Present Perfect.</a:t>
            </a:r>
          </a:p>
        </p:txBody>
      </p:sp>
      <p:sp>
        <p:nvSpPr>
          <p:cNvPr id="60" name="box60"/>
          <p:cNvSpPr>
            <a:spLocks noGrp="1"/>
          </p:cNvSpPr>
          <p:nvPr/>
        </p:nvSpPr>
        <p:spPr>
          <a:xfrm>
            <a:off x="180000" y="1695600"/>
            <a:ext cx="306000" cy="306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0" sz="1800" dirty="0">
                <a:solidFill>
                  <a:srgbClr val="FFFFFF"/>
                </a:solidFill>
                <a:latin typeface="Calibri"/>
              </a:rPr>
              <a:t>💡</a:t>
            </a:r>
          </a:p>
        </p:txBody>
      </p:sp>
      <p:sp>
        <p:nvSpPr>
          <p:cNvPr id="61" name="box61"/>
          <p:cNvSpPr>
            <a:spLocks noGrp="1"/>
          </p:cNvSpPr>
          <p:nvPr/>
        </p:nvSpPr>
        <p:spPr>
          <a:xfrm>
            <a:off x="558000" y="1695600"/>
            <a:ext cx="11616000" cy="306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1F3864"/>
                </a:solidFill>
                <a:latin typeface="Calibri"/>
              </a:rPr>
              <a:t>Avoid common errors: never use Present Perfect with finished time words.</a:t>
            </a:r>
          </a:p>
        </p:txBody>
      </p:sp>
      <p:sp>
        <p:nvSpPr>
          <p:cNvPr id="62" name="box62"/>
          <p:cNvSpPr>
            <a:spLocks noGrp="1"/>
          </p:cNvSpPr>
          <p:nvPr/>
        </p:nvSpPr>
        <p:spPr>
          <a:xfrm>
            <a:off x="180000" y="2080800"/>
            <a:ext cx="306000" cy="306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0" sz="1800" dirty="0">
                <a:solidFill>
                  <a:srgbClr val="FFFFFF"/>
                </a:solidFill>
                <a:latin typeface="Calibri"/>
              </a:rPr>
              <a:t>🗣️</a:t>
            </a:r>
          </a:p>
        </p:txBody>
      </p:sp>
      <p:sp>
        <p:nvSpPr>
          <p:cNvPr id="63" name="box63"/>
          <p:cNvSpPr>
            <a:spLocks noGrp="1"/>
          </p:cNvSpPr>
          <p:nvPr/>
        </p:nvSpPr>
        <p:spPr>
          <a:xfrm>
            <a:off x="558000" y="2080800"/>
            <a:ext cx="11616000" cy="306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1F3864"/>
                </a:solidFill>
                <a:latin typeface="Calibri"/>
              </a:rPr>
              <a:t>Produce pairs of sentences showing the contrast between the two tenses.</a:t>
            </a:r>
          </a:p>
        </p:txBody>
      </p:sp>
    </p:spTree>
  </p:cSld>
  <p:clrMapOvr>
    <a:masterClr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101" name="box10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102" name="box10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103" name="tb10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⚡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WARM-UP ACTIVITY</a:t>
            </a:r>
          </a:p>
        </p:txBody>
      </p:sp>
      <p:sp>
        <p:nvSpPr>
          <p:cNvPr id="104" name="box104"/>
          <p:cNvSpPr>
            <a:spLocks noGrp="1"/>
          </p:cNvSpPr>
          <p:nvPr/>
        </p:nvSpPr>
        <p:spPr>
          <a:xfrm>
            <a:off x="180000" y="540000"/>
            <a:ext cx="11832000" cy="396000"/>
          </a:xfrm>
          <a:prstGeom prst="roundRect">
            <a:avLst>
              <a:gd name="adj" fmla="val 15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180000" rIns="72000" tIns="54000" bIns="54000"/>
          <a:lstStyle/>
          <a:p>
            <a:pPr algn="l" spcBef="0" spcAft="0">
              <a:spcPct val="100000"/>
            </a:pPr>
            <a:r>
              <a:rPr lang="en-GB" b="1" sz="2400" dirty="0">
                <a:solidFill>
                  <a:srgbClr val="1F3864"/>
                </a:solidFill>
                <a:latin typeface="Cambria"/>
              </a:rPr>
              <a:t>⚖️ Which Tense?</a:t>
            </a:r>
          </a:p>
        </p:txBody>
      </p:sp>
      <p:sp>
        <p:nvSpPr>
          <p:cNvPr id="105" name="box105"/>
          <p:cNvSpPr>
            <a:spLocks noGrp="1"/>
          </p:cNvSpPr>
          <p:nvPr/>
        </p:nvSpPr>
        <p:spPr>
          <a:xfrm>
            <a:off x="11040000" y="540000"/>
            <a:ext cx="972000" cy="396000"/>
          </a:xfrm>
          <a:prstGeom prst="roundRect">
            <a:avLst>
              <a:gd name="adj" fmla="val 15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BF8F00"/>
                </a:solidFill>
                <a:latin typeface="Calibri"/>
              </a:rPr>
              <a:t>⏱  5 minutes</a:t>
            </a:r>
          </a:p>
        </p:txBody>
      </p:sp>
      <p:sp>
        <p:nvSpPr>
          <p:cNvPr id="106" name="box106"/>
          <p:cNvSpPr>
            <a:spLocks noGrp="1"/>
          </p:cNvSpPr>
          <p:nvPr/>
        </p:nvSpPr>
        <p:spPr>
          <a:xfrm>
            <a:off x="180000" y="1026000"/>
            <a:ext cx="251999" cy="324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600" dirty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7" name="tb107"/>
          <p:cNvSpPr txBox="1">
            <a:spLocks noGrp="1"/>
          </p:cNvSpPr>
          <p:nvPr/>
        </p:nvSpPr>
        <p:spPr>
          <a:xfrm>
            <a:off x="503999" y="1026000"/>
            <a:ext cx="11508000" cy="32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404040"/>
                </a:solidFill>
                <a:latin typeface="Calibri"/>
              </a:rPr>
              <a:t>Teacher says a sentence beginning. Students shout PAST or PERFECT.</a:t>
            </a:r>
          </a:p>
        </p:txBody>
      </p:sp>
      <p:sp>
        <p:nvSpPr>
          <p:cNvPr id="108" name="box108"/>
          <p:cNvSpPr>
            <a:spLocks noGrp="1"/>
          </p:cNvSpPr>
          <p:nvPr/>
        </p:nvSpPr>
        <p:spPr>
          <a:xfrm>
            <a:off x="180000" y="1458000"/>
            <a:ext cx="251999" cy="324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600" dirty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9" name="tb109"/>
          <p:cNvSpPr txBox="1">
            <a:spLocks noGrp="1"/>
          </p:cNvSpPr>
          <p:nvPr/>
        </p:nvSpPr>
        <p:spPr>
          <a:xfrm>
            <a:off x="503999" y="1458000"/>
            <a:ext cx="11508000" cy="32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404040"/>
                </a:solidFill>
                <a:latin typeface="Calibri"/>
              </a:rPr>
              <a:t>Examples: "Yesterday I..." (PAST) / "I have never..." (PERFECT) / "Last week..." (PAST).</a:t>
            </a:r>
          </a:p>
        </p:txBody>
      </p:sp>
      <p:sp>
        <p:nvSpPr>
          <p:cNvPr id="110" name="box110"/>
          <p:cNvSpPr>
            <a:spLocks noGrp="1"/>
          </p:cNvSpPr>
          <p:nvPr/>
        </p:nvSpPr>
        <p:spPr>
          <a:xfrm>
            <a:off x="180000" y="1890000"/>
            <a:ext cx="251999" cy="324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600" dirty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1" name="tb111"/>
          <p:cNvSpPr txBox="1">
            <a:spLocks noGrp="1"/>
          </p:cNvSpPr>
          <p:nvPr/>
        </p:nvSpPr>
        <p:spPr>
          <a:xfrm>
            <a:off x="503999" y="1890000"/>
            <a:ext cx="11508000" cy="32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404040"/>
                </a:solidFill>
                <a:latin typeface="Calibri"/>
              </a:rPr>
              <a:t>Students create their own examples for a partner to judge.</a:t>
            </a:r>
          </a:p>
        </p:txBody>
      </p:sp>
    </p:spTree>
  </p:cSld>
  <p:clrMapOvr>
    <a:masterClr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151" name="box15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152" name="box15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153" name="tb15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📖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VOCABULARY PREVIEW</a:t>
            </a:r>
          </a:p>
        </p:txBody>
      </p:sp>
      <p:sp>
        <p:nvSpPr>
          <p:cNvPr id="154" name="box154"/>
          <p:cNvSpPr>
            <a:spLocks noGrp="1"/>
          </p:cNvSpPr>
          <p:nvPr/>
        </p:nvSpPr>
        <p:spPr>
          <a:xfrm>
            <a:off x="180000" y="5400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result</a:t>
            </a:r>
          </a:p>
        </p:txBody>
      </p:sp>
      <p:sp>
        <p:nvSpPr>
          <p:cNvPr id="155" name="box155"/>
          <p:cNvSpPr>
            <a:spLocks noGrp="1"/>
          </p:cNvSpPr>
          <p:nvPr/>
        </p:nvSpPr>
        <p:spPr>
          <a:xfrm>
            <a:off x="1007999" y="5400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nou</a:t>
            </a:r>
          </a:p>
        </p:txBody>
      </p:sp>
      <p:sp>
        <p:nvSpPr>
          <p:cNvPr id="156" name="box156"/>
          <p:cNvSpPr>
            <a:spLocks noGrp="1"/>
          </p:cNvSpPr>
          <p:nvPr/>
        </p:nvSpPr>
        <p:spPr>
          <a:xfrm>
            <a:off x="1512000" y="5400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what happens because of something</a:t>
            </a:r>
          </a:p>
        </p:txBody>
      </p:sp>
      <p:sp>
        <p:nvSpPr>
          <p:cNvPr id="157" name="box157"/>
          <p:cNvSpPr>
            <a:spLocks noGrp="1"/>
          </p:cNvSpPr>
          <p:nvPr/>
        </p:nvSpPr>
        <p:spPr>
          <a:xfrm>
            <a:off x="6042000" y="5400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connection</a:t>
            </a:r>
          </a:p>
        </p:txBody>
      </p:sp>
      <p:sp>
        <p:nvSpPr>
          <p:cNvPr id="158" name="box158"/>
          <p:cNvSpPr>
            <a:spLocks noGrp="1"/>
          </p:cNvSpPr>
          <p:nvPr/>
        </p:nvSpPr>
        <p:spPr>
          <a:xfrm>
            <a:off x="6869999" y="5400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nou</a:t>
            </a:r>
          </a:p>
        </p:txBody>
      </p:sp>
      <p:sp>
        <p:nvSpPr>
          <p:cNvPr id="159" name="box159"/>
          <p:cNvSpPr>
            <a:spLocks noGrp="1"/>
          </p:cNvSpPr>
          <p:nvPr/>
        </p:nvSpPr>
        <p:spPr>
          <a:xfrm>
            <a:off x="7374000" y="5400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a link between two things</a:t>
            </a:r>
          </a:p>
        </p:txBody>
      </p:sp>
      <p:sp>
        <p:nvSpPr>
          <p:cNvPr id="160" name="box160"/>
          <p:cNvSpPr>
            <a:spLocks noGrp="1"/>
          </p:cNvSpPr>
          <p:nvPr/>
        </p:nvSpPr>
        <p:spPr>
          <a:xfrm>
            <a:off x="180000" y="8856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specific</a:t>
            </a:r>
          </a:p>
        </p:txBody>
      </p:sp>
      <p:sp>
        <p:nvSpPr>
          <p:cNvPr id="161" name="box161"/>
          <p:cNvSpPr>
            <a:spLocks noGrp="1"/>
          </p:cNvSpPr>
          <p:nvPr/>
        </p:nvSpPr>
        <p:spPr>
          <a:xfrm>
            <a:off x="1007999" y="8856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adj</a:t>
            </a:r>
          </a:p>
        </p:txBody>
      </p:sp>
      <p:sp>
        <p:nvSpPr>
          <p:cNvPr id="162" name="box162"/>
          <p:cNvSpPr>
            <a:spLocks noGrp="1"/>
          </p:cNvSpPr>
          <p:nvPr/>
        </p:nvSpPr>
        <p:spPr>
          <a:xfrm>
            <a:off x="1512000" y="8856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clearly defined; exact</a:t>
            </a:r>
          </a:p>
        </p:txBody>
      </p:sp>
      <p:sp>
        <p:nvSpPr>
          <p:cNvPr id="163" name="box163"/>
          <p:cNvSpPr>
            <a:spLocks noGrp="1"/>
          </p:cNvSpPr>
          <p:nvPr/>
        </p:nvSpPr>
        <p:spPr>
          <a:xfrm>
            <a:off x="6042000" y="8856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relevant</a:t>
            </a:r>
          </a:p>
        </p:txBody>
      </p:sp>
      <p:sp>
        <p:nvSpPr>
          <p:cNvPr id="164" name="box164"/>
          <p:cNvSpPr>
            <a:spLocks noGrp="1"/>
          </p:cNvSpPr>
          <p:nvPr/>
        </p:nvSpPr>
        <p:spPr>
          <a:xfrm>
            <a:off x="6869999" y="8856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adj</a:t>
            </a:r>
          </a:p>
        </p:txBody>
      </p:sp>
      <p:sp>
        <p:nvSpPr>
          <p:cNvPr id="165" name="box165"/>
          <p:cNvSpPr>
            <a:spLocks noGrp="1"/>
          </p:cNvSpPr>
          <p:nvPr/>
        </p:nvSpPr>
        <p:spPr>
          <a:xfrm>
            <a:off x="7374000" y="8856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connected to the present topic</a:t>
            </a:r>
          </a:p>
        </p:txBody>
      </p:sp>
      <p:sp>
        <p:nvSpPr>
          <p:cNvPr id="166" name="box166"/>
          <p:cNvSpPr>
            <a:spLocks noGrp="1"/>
          </p:cNvSpPr>
          <p:nvPr/>
        </p:nvSpPr>
        <p:spPr>
          <a:xfrm>
            <a:off x="180000" y="12312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complete</a:t>
            </a:r>
          </a:p>
        </p:txBody>
      </p:sp>
      <p:sp>
        <p:nvSpPr>
          <p:cNvPr id="167" name="box167"/>
          <p:cNvSpPr>
            <a:spLocks noGrp="1"/>
          </p:cNvSpPr>
          <p:nvPr/>
        </p:nvSpPr>
        <p:spPr>
          <a:xfrm>
            <a:off x="1007999" y="12312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adj</a:t>
            </a:r>
          </a:p>
        </p:txBody>
      </p:sp>
      <p:sp>
        <p:nvSpPr>
          <p:cNvPr id="168" name="box168"/>
          <p:cNvSpPr>
            <a:spLocks noGrp="1"/>
          </p:cNvSpPr>
          <p:nvPr/>
        </p:nvSpPr>
        <p:spPr>
          <a:xfrm>
            <a:off x="1512000" y="12312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finished; done fully</a:t>
            </a:r>
          </a:p>
        </p:txBody>
      </p:sp>
      <p:sp>
        <p:nvSpPr>
          <p:cNvPr id="169" name="box169"/>
          <p:cNvSpPr>
            <a:spLocks noGrp="1"/>
          </p:cNvSpPr>
          <p:nvPr/>
        </p:nvSpPr>
        <p:spPr>
          <a:xfrm>
            <a:off x="6042000" y="12312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recently</a:t>
            </a:r>
          </a:p>
        </p:txBody>
      </p:sp>
      <p:sp>
        <p:nvSpPr>
          <p:cNvPr id="170" name="box170"/>
          <p:cNvSpPr>
            <a:spLocks noGrp="1"/>
          </p:cNvSpPr>
          <p:nvPr/>
        </p:nvSpPr>
        <p:spPr>
          <a:xfrm>
            <a:off x="6869999" y="12312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adv</a:t>
            </a:r>
          </a:p>
        </p:txBody>
      </p:sp>
      <p:sp>
        <p:nvSpPr>
          <p:cNvPr id="171" name="box171"/>
          <p:cNvSpPr>
            <a:spLocks noGrp="1"/>
          </p:cNvSpPr>
          <p:nvPr/>
        </p:nvSpPr>
        <p:spPr>
          <a:xfrm>
            <a:off x="7374000" y="12312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not long ago</a:t>
            </a:r>
          </a:p>
        </p:txBody>
      </p:sp>
      <p:sp>
        <p:nvSpPr>
          <p:cNvPr id="172" name="box172"/>
          <p:cNvSpPr>
            <a:spLocks noGrp="1"/>
          </p:cNvSpPr>
          <p:nvPr/>
        </p:nvSpPr>
        <p:spPr>
          <a:xfrm>
            <a:off x="180000" y="15768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lately</a:t>
            </a:r>
          </a:p>
        </p:txBody>
      </p:sp>
      <p:sp>
        <p:nvSpPr>
          <p:cNvPr id="173" name="box173"/>
          <p:cNvSpPr>
            <a:spLocks noGrp="1"/>
          </p:cNvSpPr>
          <p:nvPr/>
        </p:nvSpPr>
        <p:spPr>
          <a:xfrm>
            <a:off x="1007999" y="15768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adv</a:t>
            </a:r>
          </a:p>
        </p:txBody>
      </p:sp>
      <p:sp>
        <p:nvSpPr>
          <p:cNvPr id="174" name="box174"/>
          <p:cNvSpPr>
            <a:spLocks noGrp="1"/>
          </p:cNvSpPr>
          <p:nvPr/>
        </p:nvSpPr>
        <p:spPr>
          <a:xfrm>
            <a:off x="1512000" y="15768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in the recent past</a:t>
            </a:r>
          </a:p>
        </p:txBody>
      </p:sp>
      <p:sp>
        <p:nvSpPr>
          <p:cNvPr id="175" name="box175"/>
          <p:cNvSpPr>
            <a:spLocks noGrp="1"/>
          </p:cNvSpPr>
          <p:nvPr/>
        </p:nvSpPr>
        <p:spPr>
          <a:xfrm>
            <a:off x="6042000" y="15768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so far</a:t>
            </a:r>
          </a:p>
        </p:txBody>
      </p:sp>
      <p:sp>
        <p:nvSpPr>
          <p:cNvPr id="176" name="box176"/>
          <p:cNvSpPr>
            <a:spLocks noGrp="1"/>
          </p:cNvSpPr>
          <p:nvPr/>
        </p:nvSpPr>
        <p:spPr>
          <a:xfrm>
            <a:off x="6869999" y="15768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adv</a:t>
            </a:r>
          </a:p>
        </p:txBody>
      </p:sp>
      <p:sp>
        <p:nvSpPr>
          <p:cNvPr id="177" name="box177"/>
          <p:cNvSpPr>
            <a:spLocks noGrp="1"/>
          </p:cNvSpPr>
          <p:nvPr/>
        </p:nvSpPr>
        <p:spPr>
          <a:xfrm>
            <a:off x="7374000" y="15768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until now</a:t>
            </a:r>
          </a:p>
        </p:txBody>
      </p:sp>
      <p:sp>
        <p:nvSpPr>
          <p:cNvPr id="178" name="box178"/>
          <p:cNvSpPr>
            <a:spLocks noGrp="1"/>
          </p:cNvSpPr>
          <p:nvPr/>
        </p:nvSpPr>
        <p:spPr>
          <a:xfrm>
            <a:off x="180000" y="19224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this week</a:t>
            </a:r>
          </a:p>
        </p:txBody>
      </p:sp>
      <p:sp>
        <p:nvSpPr>
          <p:cNvPr id="179" name="box179"/>
          <p:cNvSpPr>
            <a:spLocks noGrp="1"/>
          </p:cNvSpPr>
          <p:nvPr/>
        </p:nvSpPr>
        <p:spPr>
          <a:xfrm>
            <a:off x="1007999" y="19224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nou</a:t>
            </a:r>
          </a:p>
        </p:txBody>
      </p:sp>
      <p:sp>
        <p:nvSpPr>
          <p:cNvPr id="180" name="box180"/>
          <p:cNvSpPr>
            <a:spLocks noGrp="1"/>
          </p:cNvSpPr>
          <p:nvPr/>
        </p:nvSpPr>
        <p:spPr>
          <a:xfrm>
            <a:off x="1512000" y="19224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the current week</a:t>
            </a:r>
          </a:p>
        </p:txBody>
      </p:sp>
      <p:sp>
        <p:nvSpPr>
          <p:cNvPr id="181" name="box181"/>
          <p:cNvSpPr>
            <a:spLocks noGrp="1"/>
          </p:cNvSpPr>
          <p:nvPr/>
        </p:nvSpPr>
        <p:spPr>
          <a:xfrm>
            <a:off x="6042000" y="19224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last night</a:t>
            </a:r>
          </a:p>
        </p:txBody>
      </p:sp>
      <p:sp>
        <p:nvSpPr>
          <p:cNvPr id="182" name="box182"/>
          <p:cNvSpPr>
            <a:spLocks noGrp="1"/>
          </p:cNvSpPr>
          <p:nvPr/>
        </p:nvSpPr>
        <p:spPr>
          <a:xfrm>
            <a:off x="6869999" y="19224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nou</a:t>
            </a:r>
          </a:p>
        </p:txBody>
      </p:sp>
      <p:sp>
        <p:nvSpPr>
          <p:cNvPr id="183" name="box183"/>
          <p:cNvSpPr>
            <a:spLocks noGrp="1"/>
          </p:cNvSpPr>
          <p:nvPr/>
        </p:nvSpPr>
        <p:spPr>
          <a:xfrm>
            <a:off x="7374000" y="19224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the previous night</a:t>
            </a:r>
          </a:p>
        </p:txBody>
      </p:sp>
      <p:sp>
        <p:nvSpPr>
          <p:cNvPr id="184" name="tb184"/>
          <p:cNvSpPr txBox="1">
            <a:spLocks noGrp="1"/>
          </p:cNvSpPr>
          <p:nvPr/>
        </p:nvSpPr>
        <p:spPr>
          <a:xfrm>
            <a:off x="180000" y="6606001"/>
            <a:ext cx="11832000" cy="19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300" dirty="0">
                <a:solidFill>
                  <a:srgbClr val="2E75B6"/>
                </a:solidFill>
                <a:latin typeface="Calibri"/>
              </a:rPr>
              <a:t>📚  Full 30-word vocabulary bank in your workbook — Section 4.</a:t>
            </a:r>
          </a:p>
        </p:txBody>
      </p:sp>
    </p:spTree>
  </p:cSld>
  <p:clrMapOvr>
    <a:masterClr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01" name="box20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202" name="box20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203" name="tb20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📐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GRAMMAR RULE</a:t>
            </a:r>
          </a:p>
        </p:txBody>
      </p:sp>
      <p:sp>
        <p:nvSpPr>
          <p:cNvPr id="204" name="box204"/>
          <p:cNvSpPr>
            <a:spLocks noGrp="1"/>
          </p:cNvSpPr>
          <p:nvPr/>
        </p:nvSpPr>
        <p:spPr>
          <a:xfrm>
            <a:off x="180000" y="522000"/>
            <a:ext cx="11832000" cy="396000"/>
          </a:xfrm>
          <a:prstGeom prst="roundRect">
            <a:avLst>
              <a:gd name="adj" fmla="val 10000"/>
            </a:avLst>
          </a:prstGeom>
          <a:solidFill>
            <a:srgbClr val="FFF2CC"/>
          </a:solidFill>
          <a:ln w="12700">
            <a:solidFill>
              <a:srgbClr val="BF8F00"/>
            </a:solidFill>
          </a:ln>
        </p:spPr>
        <p:txBody>
          <a:bodyPr anchor="ctr" wrap="square" lIns="144000" rIns="72000" tIns="54000" bIns="54000"/>
          <a:lstStyle/>
          <a:p>
            <a:pPr algn="l" spcBef="0" spcAft="0">
              <a:spcPct val="100000"/>
            </a:pPr>
            <a:r>
              <a:rPr lang="en-GB" b="1" sz="1700" dirty="0">
                <a:solidFill>
                  <a:srgbClr val="1F3864"/>
                </a:solidFill>
                <a:latin typeface="Calibri"/>
              </a:rPr>
              <a:t>📌  Present Perfect = result/relevance NOW (no specific time). Past Simple = completed action at a FINISHED time (yesterday, last week, ago, in 2010).</a:t>
            </a:r>
          </a:p>
        </p:txBody>
      </p:sp>
      <p:graphicFrame>
        <p:nvGraphicFramePr>
          <p:cNvPr id="205" name="tbl205"/>
          <p:cNvGraphicFramePr>
            <a:graphicFrameLocks noGrp="1"/>
          </p:cNvGraphicFramePr>
          <p:nvPr/>
        </p:nvGraphicFramePr>
        <p:xfrm>
          <a:off x="180000" y="990000"/>
          <a:ext cx="11832000" cy="577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16000"/>
                <a:gridCol w="5916000"/>
              </a:tblGrid>
              <a:tr h="927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Present Perfect (now)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Past Simple (finished time)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27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Ive lost my key. (= I cant find it NOW)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I lost my key yesterday.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27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She has gone home. (= she isnt here NOW)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She went home ten minutes ago.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27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Have you ever been to Spain?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Did you go to Spain last year?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27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Ive written three emails today.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I wrote three emails yesterday.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27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He hasnt arrived yet.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He didnt arrive on time yesterday.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51" name="box25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252" name="box25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253" name="tb25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✏️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SPELLING &amp; USAGE NOTES</a:t>
            </a:r>
          </a:p>
        </p:txBody>
      </p:sp>
      <p:sp>
        <p:nvSpPr>
          <p:cNvPr id="254" name="box254"/>
          <p:cNvSpPr>
            <a:spLocks noGrp="1"/>
          </p:cNvSpPr>
          <p:nvPr/>
        </p:nvSpPr>
        <p:spPr>
          <a:xfrm>
            <a:off x="180000" y="540000"/>
            <a:ext cx="11832000" cy="503999"/>
          </a:xfrm>
          <a:prstGeom prst="rect">
            <a:avLst/>
          </a:prstGeom>
          <a:solidFill>
            <a:srgbClr val="DCE6F1"/>
          </a:solidFill>
          <a:ln w="12700">
            <a:solidFill>
              <a:srgbClr val="1F3864"/>
            </a:solidFill>
          </a:ln>
        </p:spPr>
        <p:txBody>
          <a:bodyPr anchor="ctr" wrap="square" lIns="144000" rIns="72000" tIns="54000" bIns="54000"/>
          <a:lstStyle/>
          <a:p>
            <a:pPr algn="l" spcBef="0" spcAft="0">
              <a:spcPct val="100000"/>
            </a:pPr>
            <a:r>
              <a:rPr lang="en-GB" b="1" sz="1500" dirty="0">
                <a:solidFill>
                  <a:srgbClr val="1F3864"/>
                </a:solidFill>
                <a:latin typeface="Calibri"/>
              </a:rPr>
              <a:t>⚠️  Watch Out!  </a:t>
            </a:r>
            <a:r>
              <a:rPr lang="en-GB" b="0" sz="1400" dirty="0">
                <a:solidFill>
                  <a:srgbClr val="1F3864"/>
                </a:solidFill>
                <a:latin typeface="Calibri"/>
              </a:rPr>
              <a:t>NEVER use Present Perfect with: yesterday, last week, ago, in 2005, when, what time. These ALWAYS need Past Simple.</a:t>
            </a:r>
          </a:p>
        </p:txBody>
      </p:sp>
      <p:sp>
        <p:nvSpPr>
          <p:cNvPr id="255" name="box255"/>
          <p:cNvSpPr>
            <a:spLocks noGrp="1"/>
          </p:cNvSpPr>
          <p:nvPr/>
        </p:nvSpPr>
        <p:spPr>
          <a:xfrm>
            <a:off x="180000" y="1169998"/>
            <a:ext cx="1260000" cy="216000"/>
          </a:xfrm>
          <a:prstGeom prst="roundRect">
            <a:avLst>
              <a:gd name="adj" fmla="val 10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400" dirty="0">
                <a:solidFill>
                  <a:srgbClr val="1F3864"/>
                </a:solidFill>
                <a:latin typeface="Calibri"/>
              </a:rPr>
              <a:t>Usage Examples</a:t>
            </a:r>
          </a:p>
        </p:txBody>
      </p:sp>
      <p:sp>
        <p:nvSpPr>
          <p:cNvPr id="256" name="tb256"/>
          <p:cNvSpPr txBox="1">
            <a:spLocks noGrp="1"/>
          </p:cNvSpPr>
          <p:nvPr/>
        </p:nvSpPr>
        <p:spPr>
          <a:xfrm>
            <a:off x="180000" y="1439998"/>
            <a:ext cx="11832000" cy="19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▶  Ive lost my key. (I dont know where it is now.)</a:t>
            </a:r>
          </a:p>
        </p:txBody>
      </p:sp>
      <p:sp>
        <p:nvSpPr>
          <p:cNvPr id="257" name="tb257"/>
          <p:cNvSpPr txBox="1">
            <a:spLocks noGrp="1"/>
          </p:cNvSpPr>
          <p:nvPr/>
        </p:nvSpPr>
        <p:spPr>
          <a:xfrm>
            <a:off x="180000" y="1655998"/>
            <a:ext cx="11832000" cy="19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▶  I lost my key yesterday. (specific time = Past Simple)</a:t>
            </a:r>
          </a:p>
        </p:txBody>
      </p:sp>
      <p:sp>
        <p:nvSpPr>
          <p:cNvPr id="258" name="tb258"/>
          <p:cNvSpPr txBox="1">
            <a:spLocks noGrp="1"/>
          </p:cNvSpPr>
          <p:nvPr/>
        </p:nvSpPr>
        <p:spPr>
          <a:xfrm>
            <a:off x="180000" y="1871998"/>
            <a:ext cx="11832000" cy="19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▶  Have you seen Ann? (Is she here? = now)</a:t>
            </a:r>
          </a:p>
        </p:txBody>
      </p:sp>
      <p:sp>
        <p:nvSpPr>
          <p:cNvPr id="259" name="tb259"/>
          <p:cNvSpPr txBox="1">
            <a:spLocks noGrp="1"/>
          </p:cNvSpPr>
          <p:nvPr/>
        </p:nvSpPr>
        <p:spPr>
          <a:xfrm>
            <a:off x="180000" y="2087998"/>
            <a:ext cx="11832000" cy="19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▶  Did you see Ann on Saturday? (finished time = past)</a:t>
            </a:r>
          </a:p>
        </p:txBody>
      </p:sp>
    </p:spTree>
  </p:cSld>
  <p:clrMapOvr>
    <a:masterClr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301" name="box30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302" name="box30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303" name="tb30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✍️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GUIDED PRACTICE</a:t>
            </a:r>
          </a:p>
        </p:txBody>
      </p:sp>
      <p:sp>
        <p:nvSpPr>
          <p:cNvPr id="304" name="tb304"/>
          <p:cNvSpPr txBox="1">
            <a:spLocks noGrp="1"/>
          </p:cNvSpPr>
          <p:nvPr/>
        </p:nvSpPr>
        <p:spPr>
          <a:xfrm>
            <a:off x="180000" y="540000"/>
            <a:ext cx="11832000" cy="23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400" dirty="0">
                <a:solidFill>
                  <a:srgbClr val="BF8F00"/>
                </a:solidFill>
                <a:latin typeface="Calibri"/>
              </a:rPr>
              <a:t>Choose Present Perfect or Past Simple. Items 1-2 are done.</a:t>
            </a:r>
          </a:p>
        </p:txBody>
      </p:sp>
      <p:graphicFrame>
        <p:nvGraphicFramePr>
          <p:cNvPr id="305" name="tbl305"/>
          <p:cNvGraphicFramePr>
            <a:graphicFrameLocks noGrp="1"/>
          </p:cNvGraphicFramePr>
          <p:nvPr/>
        </p:nvGraphicFramePr>
        <p:xfrm>
          <a:off x="180000" y="846000"/>
          <a:ext cx="11832000" cy="592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9920"/>
                <a:gridCol w="6152640"/>
                <a:gridCol w="4969440"/>
              </a:tblGrid>
              <a:tr h="11412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Sentence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Answer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11412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1 ✅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I ___ (lose) my key. I cant find it.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have lost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11412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2 ✅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I ___ (lose) my key yesterday.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lost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11412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She ___ (go) home ten minutes ago.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11412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She ___ (go) home. She isnt here.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351" name="box35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352" name="box35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353" name="tb35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📝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CONTROLLED PRACTICE</a:t>
            </a:r>
          </a:p>
        </p:txBody>
      </p:sp>
      <p:sp>
        <p:nvSpPr>
          <p:cNvPr id="354" name="tb354"/>
          <p:cNvSpPr txBox="1">
            <a:spLocks noGrp="1"/>
          </p:cNvSpPr>
          <p:nvPr/>
        </p:nvSpPr>
        <p:spPr>
          <a:xfrm>
            <a:off x="180000" y="540000"/>
            <a:ext cx="11832000" cy="23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400" dirty="0">
                <a:solidFill>
                  <a:srgbClr val="BF8F00"/>
                </a:solidFill>
                <a:latin typeface="Calibri"/>
              </a:rPr>
              <a:t>Correct the verb tense if wrong. Write RIGHT if correct.</a:t>
            </a:r>
          </a:p>
        </p:txBody>
      </p:sp>
      <p:graphicFrame>
        <p:nvGraphicFramePr>
          <p:cNvPr id="355" name="tbl355"/>
          <p:cNvGraphicFramePr>
            <a:graphicFrameLocks noGrp="1"/>
          </p:cNvGraphicFramePr>
          <p:nvPr/>
        </p:nvGraphicFramePr>
        <p:xfrm>
          <a:off x="180000" y="846000"/>
          <a:ext cx="11832000" cy="592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9920"/>
                <a:gridCol w="5561040"/>
                <a:gridCol w="5561040"/>
              </a:tblGrid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Sentence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Correction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Ive lost my key. I cant find it.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Have you seen Ann yesterday?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Ive finished my work at 2 oclock.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Im ready now. Ive finished my work.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She has gone to Paris last week.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401" name="box40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402" name="box40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403" name="tb40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🔎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ERROR CORRECTION</a:t>
            </a:r>
          </a:p>
        </p:txBody>
      </p:sp>
      <p:sp>
        <p:nvSpPr>
          <p:cNvPr id="404" name="tb404"/>
          <p:cNvSpPr txBox="1">
            <a:spLocks noGrp="1"/>
          </p:cNvSpPr>
          <p:nvPr/>
        </p:nvSpPr>
        <p:spPr>
          <a:xfrm>
            <a:off x="180000" y="540000"/>
            <a:ext cx="11832000" cy="23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400" dirty="0">
                <a:solidFill>
                  <a:srgbClr val="BF8F00"/>
                </a:solidFill>
                <a:latin typeface="Calibri"/>
              </a:rPr>
              <a:t>Find and correct the ONE mistake in each sentence.</a:t>
            </a:r>
          </a:p>
        </p:txBody>
      </p:sp>
      <p:graphicFrame>
        <p:nvGraphicFramePr>
          <p:cNvPr id="405" name="tbl405"/>
          <p:cNvGraphicFramePr>
            <a:graphicFrameLocks noGrp="1"/>
          </p:cNvGraphicFramePr>
          <p:nvPr/>
        </p:nvGraphicFramePr>
        <p:xfrm>
          <a:off x="180000" y="846000"/>
          <a:ext cx="11832000" cy="592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1600"/>
                <a:gridCol w="5916000"/>
                <a:gridCol w="5324400"/>
              </a:tblGrid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Incorrect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Corrected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I have seen her yesterday.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He went home. He isnt here now. (wrong tense)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Did you ever visited London?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She has arrived ten minutes ago.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We have lived there in 2010.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451" name="box45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452" name="box45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548235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453" name="tb45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🗣️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SPEAKING ACTIVITY</a:t>
            </a:r>
          </a:p>
        </p:txBody>
      </p:sp>
      <p:sp>
        <p:nvSpPr>
          <p:cNvPr id="454" name="box454"/>
          <p:cNvSpPr>
            <a:spLocks noGrp="1"/>
          </p:cNvSpPr>
          <p:nvPr/>
        </p:nvSpPr>
        <p:spPr>
          <a:xfrm>
            <a:off x="180000" y="522000"/>
            <a:ext cx="11832000" cy="360000"/>
          </a:xfrm>
          <a:prstGeom prst="roundRect">
            <a:avLst>
              <a:gd name="adj" fmla="val 12000"/>
            </a:avLst>
          </a:prstGeom>
          <a:solidFill>
            <a:srgbClr val="548235"/>
          </a:solidFill>
          <a:ln w="0">
            <a:noFill/>
          </a:ln>
        </p:spPr>
        <p:txBody>
          <a:bodyPr anchor="ctr" wrap="square" lIns="180000" rIns="72000" tIns="54000" bIns="54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FFFFFF"/>
                </a:solidFill>
                <a:latin typeface="Cambria"/>
              </a:rPr>
              <a:t>🗣️ News Reporter</a:t>
            </a:r>
          </a:p>
        </p:txBody>
      </p:sp>
      <p:sp>
        <p:nvSpPr>
          <p:cNvPr id="455" name="box455"/>
          <p:cNvSpPr>
            <a:spLocks noGrp="1"/>
          </p:cNvSpPr>
          <p:nvPr/>
        </p:nvSpPr>
        <p:spPr>
          <a:xfrm>
            <a:off x="11112000" y="954000"/>
            <a:ext cx="900000" cy="1260000"/>
          </a:xfrm>
          <a:prstGeom prst="roundRect">
            <a:avLst>
              <a:gd name="adj" fmla="val 20000"/>
            </a:avLst>
          </a:prstGeom>
          <a:solidFill>
            <a:srgbClr val="DCE6F1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0" sz="6000" dirty="0">
                <a:solidFill>
                  <a:srgbClr val="2E75B6"/>
                </a:solidFill>
                <a:latin typeface="Calibri"/>
              </a:rPr>
              <a:t>💬</a:t>
            </a:r>
          </a:p>
        </p:txBody>
      </p:sp>
      <p:sp>
        <p:nvSpPr>
          <p:cNvPr id="456" name="box456"/>
          <p:cNvSpPr>
            <a:spLocks noGrp="1"/>
          </p:cNvSpPr>
          <p:nvPr/>
        </p:nvSpPr>
        <p:spPr>
          <a:xfrm>
            <a:off x="180000" y="954000"/>
            <a:ext cx="234000" cy="2592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400" dirty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457" name="tb457"/>
          <p:cNvSpPr txBox="1">
            <a:spLocks noGrp="1"/>
          </p:cNvSpPr>
          <p:nvPr/>
        </p:nvSpPr>
        <p:spPr>
          <a:xfrm>
            <a:off x="468000" y="954000"/>
            <a:ext cx="10464000" cy="2592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Student A is a reporter. Student B is a celebrity.</a:t>
            </a:r>
          </a:p>
        </p:txBody>
      </p:sp>
      <p:sp>
        <p:nvSpPr>
          <p:cNvPr id="458" name="box458"/>
          <p:cNvSpPr>
            <a:spLocks noGrp="1"/>
          </p:cNvSpPr>
          <p:nvPr/>
        </p:nvSpPr>
        <p:spPr>
          <a:xfrm>
            <a:off x="180000" y="1270800"/>
            <a:ext cx="234000" cy="2592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400" dirty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459" name="tb459"/>
          <p:cNvSpPr txBox="1">
            <a:spLocks noGrp="1"/>
          </p:cNvSpPr>
          <p:nvPr/>
        </p:nvSpPr>
        <p:spPr>
          <a:xfrm>
            <a:off x="468000" y="1270800"/>
            <a:ext cx="10464000" cy="2592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Reporter asks: Have you ever...? What did you do last...? When did you...?</a:t>
            </a:r>
          </a:p>
        </p:txBody>
      </p:sp>
      <p:sp>
        <p:nvSpPr>
          <p:cNvPr id="460" name="box460"/>
          <p:cNvSpPr>
            <a:spLocks noGrp="1"/>
          </p:cNvSpPr>
          <p:nvPr/>
        </p:nvSpPr>
        <p:spPr>
          <a:xfrm>
            <a:off x="180000" y="1587600"/>
            <a:ext cx="234000" cy="2592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400" dirty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61" name="tb461"/>
          <p:cNvSpPr txBox="1">
            <a:spLocks noGrp="1"/>
          </p:cNvSpPr>
          <p:nvPr/>
        </p:nvSpPr>
        <p:spPr>
          <a:xfrm>
            <a:off x="468000" y="1587600"/>
            <a:ext cx="10464000" cy="2592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Celebrity answers using Present Perfect or Past Simple correctly.</a:t>
            </a:r>
          </a:p>
        </p:txBody>
      </p:sp>
      <p:sp>
        <p:nvSpPr>
          <p:cNvPr id="462" name="box462"/>
          <p:cNvSpPr>
            <a:spLocks noGrp="1"/>
          </p:cNvSpPr>
          <p:nvPr/>
        </p:nvSpPr>
        <p:spPr>
          <a:xfrm>
            <a:off x="180000" y="1904400"/>
            <a:ext cx="234000" cy="2592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400" dirty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63" name="tb463"/>
          <p:cNvSpPr txBox="1">
            <a:spLocks noGrp="1"/>
          </p:cNvSpPr>
          <p:nvPr/>
        </p:nvSpPr>
        <p:spPr>
          <a:xfrm>
            <a:off x="468000" y="1904400"/>
            <a:ext cx="10464000" cy="2592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Swap roles. The best interview wins.</a:t>
            </a:r>
          </a:p>
        </p:txBody>
      </p:sp>
      <p:sp>
        <p:nvSpPr>
          <p:cNvPr id="464" name="box464"/>
          <p:cNvSpPr>
            <a:spLocks noGrp="1"/>
          </p:cNvSpPr>
          <p:nvPr/>
        </p:nvSpPr>
        <p:spPr>
          <a:xfrm>
            <a:off x="180000" y="6570000"/>
            <a:ext cx="1260000" cy="216000"/>
          </a:xfrm>
          <a:prstGeom prst="roundRect">
            <a:avLst>
              <a:gd name="adj" fmla="val 10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300" dirty="0">
                <a:solidFill>
                  <a:srgbClr val="BF8F00"/>
                </a:solidFill>
                <a:latin typeface="Calibri"/>
              </a:rPr>
              <a:t>👥  Pair Work</a:t>
            </a:r>
          </a:p>
        </p:txBody>
      </p:sp>
    </p:spTree>
  </p:cSld>
  <p:clrMapOvr>
    <a:masterClr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501" name="box50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502" name="box50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548235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503" name="tb50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📄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READING &amp; WRITING</a:t>
            </a:r>
          </a:p>
        </p:txBody>
      </p:sp>
      <p:sp>
        <p:nvSpPr>
          <p:cNvPr id="504" name="box504"/>
          <p:cNvSpPr>
            <a:spLocks noGrp="1"/>
          </p:cNvSpPr>
          <p:nvPr/>
        </p:nvSpPr>
        <p:spPr>
          <a:xfrm>
            <a:off x="180000" y="540000"/>
            <a:ext cx="900000" cy="198000"/>
          </a:xfrm>
          <a:prstGeom prst="roundRect">
            <a:avLst>
              <a:gd name="adj" fmla="val 10000"/>
            </a:avLst>
          </a:prstGeom>
          <a:solidFill>
            <a:srgbClr val="548235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300" dirty="0">
                <a:solidFill>
                  <a:srgbClr val="FFFFFF"/>
                </a:solidFill>
                <a:latin typeface="Calibri"/>
              </a:rPr>
              <a:t>Reading</a:t>
            </a:r>
          </a:p>
        </p:txBody>
      </p:sp>
      <p:sp>
        <p:nvSpPr>
          <p:cNvPr id="505" name="box505"/>
          <p:cNvSpPr>
            <a:spLocks noGrp="1"/>
          </p:cNvSpPr>
          <p:nvPr/>
        </p:nvSpPr>
        <p:spPr>
          <a:xfrm>
            <a:off x="180000" y="792000"/>
            <a:ext cx="11832000" cy="612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t" wrap="square" lIns="108000" rIns="72000" tIns="72000" bIns="54000"/>
          <a:lstStyle/>
          <a:p>
            <a:pPr algn="l" spcBef="0" spcAft="0">
              <a:spcPct val="100000"/>
            </a:pPr>
            <a:r>
              <a:rPr lang="en-GB" b="0" i="1" sz="1300" dirty="0">
                <a:solidFill>
                  <a:srgbClr val="404040"/>
                </a:solidFill>
                <a:latin typeface="Calibri"/>
              </a:rPr>
              <a:t>Lisa is a writer. She has written three novels so far. Her first book came out in 2018. It became very popular. She has sold over 50,000 copies this year. Last month, she won a literary prize. She hasnt started her fourth novel yet, but she has already chosen the topic.</a:t>
            </a:r>
          </a:p>
        </p:txBody>
      </p:sp>
      <p:sp>
        <p:nvSpPr>
          <p:cNvPr id="506" name="box506"/>
          <p:cNvSpPr>
            <a:spLocks noGrp="1"/>
          </p:cNvSpPr>
          <p:nvPr/>
        </p:nvSpPr>
        <p:spPr>
          <a:xfrm>
            <a:off x="180000" y="1475999"/>
            <a:ext cx="900000" cy="198000"/>
          </a:xfrm>
          <a:prstGeom prst="roundRect">
            <a:avLst>
              <a:gd name="adj" fmla="val 10000"/>
            </a:avLst>
          </a:prstGeom>
          <a:solidFill>
            <a:srgbClr val="548235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300" dirty="0">
                <a:solidFill>
                  <a:srgbClr val="FFFFFF"/>
                </a:solidFill>
                <a:latin typeface="Calibri"/>
              </a:rPr>
              <a:t>Writing</a:t>
            </a:r>
          </a:p>
        </p:txBody>
      </p:sp>
      <p:sp>
        <p:nvSpPr>
          <p:cNvPr id="507" name="tb507"/>
          <p:cNvSpPr txBox="1">
            <a:spLocks noGrp="1"/>
          </p:cNvSpPr>
          <p:nvPr/>
        </p:nvSpPr>
        <p:spPr>
          <a:xfrm>
            <a:off x="180000" y="1728000"/>
            <a:ext cx="11832000" cy="23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400" dirty="0">
                <a:solidFill>
                  <a:srgbClr val="548235"/>
                </a:solidFill>
                <a:latin typeface="Calibri"/>
              </a:rPr>
              <a:t>Write pairs of sentences — one Present Perfect, one Past Simple.</a:t>
            </a:r>
          </a:p>
        </p:txBody>
      </p:sp>
      <p:sp>
        <p:nvSpPr>
          <p:cNvPr id="508" name="tb508"/>
          <p:cNvSpPr txBox="1">
            <a:spLocks noGrp="1"/>
          </p:cNvSpPr>
          <p:nvPr/>
        </p:nvSpPr>
        <p:spPr>
          <a:xfrm>
            <a:off x="180000" y="2015999"/>
            <a:ext cx="11832000" cy="125999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• Something you have done today vs something you did yesterday.</a:t>
            </a:r>
          </a:p>
        </p:txBody>
      </p:sp>
      <p:sp>
        <p:nvSpPr>
          <p:cNvPr id="509" name="tb509"/>
          <p:cNvSpPr txBox="1">
            <a:spLocks noGrp="1"/>
          </p:cNvSpPr>
          <p:nvPr/>
        </p:nvSpPr>
        <p:spPr>
          <a:xfrm>
            <a:off x="180000" y="2152799"/>
            <a:ext cx="11832000" cy="125999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• Something you have never done vs something you did once.</a:t>
            </a:r>
          </a:p>
        </p:txBody>
      </p:sp>
      <p:sp>
        <p:nvSpPr>
          <p:cNvPr id="510" name="tb510"/>
          <p:cNvSpPr txBox="1">
            <a:spLocks noGrp="1"/>
          </p:cNvSpPr>
          <p:nvPr/>
        </p:nvSpPr>
        <p:spPr>
          <a:xfrm>
            <a:off x="180000" y="2289599"/>
            <a:ext cx="11832000" cy="125999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• Use: have lost / lost — have seen / saw — have been / went.</a:t>
            </a:r>
          </a:p>
        </p:txBody>
      </p:sp>
    </p:spTree>
  </p:cSld>
  <p:clrMapOvr>
    <a:masterClr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551" name="box55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552" name="box55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553" name="tb55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🏠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HOMEWORK</a:t>
            </a:r>
          </a:p>
        </p:txBody>
      </p:sp>
      <p:sp>
        <p:nvSpPr>
          <p:cNvPr id="554" name="box554"/>
          <p:cNvSpPr>
            <a:spLocks noGrp="1"/>
          </p:cNvSpPr>
          <p:nvPr/>
        </p:nvSpPr>
        <p:spPr>
          <a:xfrm>
            <a:off x="180000" y="540000"/>
            <a:ext cx="432000" cy="432000"/>
          </a:xfrm>
          <a:prstGeom prst="roundRect">
            <a:avLst>
              <a:gd name="adj" fmla="val 50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2800" dirty="0">
                <a:solidFill>
                  <a:srgbClr val="1F3864"/>
                </a:solidFill>
                <a:latin typeface="Cambria"/>
              </a:rPr>
              <a:t>1</a:t>
            </a:r>
          </a:p>
        </p:txBody>
      </p:sp>
      <p:sp>
        <p:nvSpPr>
          <p:cNvPr id="555" name="box555"/>
          <p:cNvSpPr>
            <a:spLocks noGrp="1"/>
          </p:cNvSpPr>
          <p:nvPr/>
        </p:nvSpPr>
        <p:spPr>
          <a:xfrm>
            <a:off x="684000" y="540000"/>
            <a:ext cx="11328000" cy="432000"/>
          </a:xfrm>
          <a:prstGeom prst="rect">
            <a:avLst/>
          </a:prstGeom>
          <a:solidFill>
            <a:srgbClr val="DCE6F1"/>
          </a:solidFill>
          <a:ln w="12700">
            <a:solidFill>
              <a:srgbClr val="2E75B6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1" sz="1500" dirty="0">
                <a:solidFill>
                  <a:srgbClr val="1F3864"/>
                </a:solidFill>
                <a:latin typeface="Calibri"/>
              </a:rPr>
              <a:t>Production Task  </a:t>
            </a:r>
            <a:r>
              <a:rPr lang="en-GB" b="0" sz="1400" dirty="0">
                <a:solidFill>
                  <a:srgbClr val="404040"/>
                </a:solidFill>
                <a:latin typeface="Calibri"/>
              </a:rPr>
              <a:t>Write 10 sentences — 5 in Present Perfect and 5 in Past Simple. Each pair should be about the same topic but different times.</a:t>
            </a:r>
          </a:p>
        </p:txBody>
      </p:sp>
      <p:sp>
        <p:nvSpPr>
          <p:cNvPr id="556" name="box556"/>
          <p:cNvSpPr>
            <a:spLocks noGrp="1"/>
          </p:cNvSpPr>
          <p:nvPr/>
        </p:nvSpPr>
        <p:spPr>
          <a:xfrm>
            <a:off x="180000" y="1080000"/>
            <a:ext cx="432000" cy="432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2800" dirty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557" name="box557"/>
          <p:cNvSpPr>
            <a:spLocks noGrp="1"/>
          </p:cNvSpPr>
          <p:nvPr/>
        </p:nvSpPr>
        <p:spPr>
          <a:xfrm>
            <a:off x="684000" y="1080000"/>
            <a:ext cx="11328000" cy="432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1" sz="1500" dirty="0">
                <a:solidFill>
                  <a:srgbClr val="1F3864"/>
                </a:solidFill>
                <a:latin typeface="Calibri"/>
              </a:rPr>
              <a:t>Vocabulary Consolidation  </a:t>
            </a:r>
            <a:r>
              <a:rPr lang="en-GB" b="0" sz="1400" dirty="0">
                <a:solidFill>
                  <a:srgbClr val="404040"/>
                </a:solidFill>
                <a:latin typeface="Calibri"/>
              </a:rPr>
              <a:t>Match each of the 30 vocabulary words from Section 4 to its definition.</a:t>
            </a:r>
          </a:p>
        </p:txBody>
      </p:sp>
      <p:sp>
        <p:nvSpPr>
          <p:cNvPr id="558" name="box558"/>
          <p:cNvSpPr>
            <a:spLocks noGrp="1"/>
          </p:cNvSpPr>
          <p:nvPr/>
        </p:nvSpPr>
        <p:spPr>
          <a:xfrm>
            <a:off x="180000" y="6498000"/>
            <a:ext cx="1440000" cy="216000"/>
          </a:xfrm>
          <a:prstGeom prst="roundRect">
            <a:avLst>
              <a:gd name="adj" fmla="val 10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300" dirty="0">
                <a:solidFill>
                  <a:srgbClr val="BF8F00"/>
                </a:solidFill>
                <a:latin typeface="Calibri"/>
              </a:rPr>
              <a:t>📅  Due: next class</a:t>
            </a:r>
          </a:p>
        </p:txBody>
      </p:sp>
    </p:spTree>
  </p:cSld>
  <p:clrMapOvr>
    <a:masterClr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bg>
      <p:bgPr>
        <a:solidFill>
          <a:srgbClr val="1F3864"/>
        </a:solidFill>
        <a:effectLst/>
      </p:bgPr>
    </p:bg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601" name="shape60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="1">
            <a:gsLst>
              <a:gs pos="0">
                <a:srgbClr val="1F3864"/>
              </a:gs>
              <a:gs pos="100000">
                <a:srgbClr val="0D2245"/>
              </a:gs>
            </a:gsLst>
            <a:lin ang="5400000" scaled="0"/>
          </a:gradFill>
        </p:spPr>
        <p:txBody>
          <a:bodyPr/>
          <a:lstStyle/>
          <a:p/>
        </p:txBody>
      </p:sp>
      <p:sp>
        <p:nvSpPr>
          <p:cNvPr id="602" name="shape602"/>
          <p:cNvSpPr>
            <a:spLocks noGrp="1"/>
          </p:cNvSpPr>
          <p:nvPr/>
        </p:nvSpPr>
        <p:spPr>
          <a:xfrm>
            <a:off x="0" y="0"/>
            <a:ext cx="12192000" cy="108000"/>
          </a:xfrm>
          <a:prstGeom prst="rect">
            <a:avLst/>
          </a:prstGeom>
          <a:solidFill>
            <a:srgbClr val="BF8F00"/>
          </a:solidFill>
        </p:spPr>
        <p:txBody>
          <a:bodyPr/>
          <a:lstStyle/>
          <a:p/>
        </p:txBody>
      </p:sp>
      <p:sp>
        <p:nvSpPr>
          <p:cNvPr id="603" name="shape603"/>
          <p:cNvSpPr>
            <a:spLocks noGrp="1"/>
          </p:cNvSpPr>
          <p:nvPr/>
        </p:nvSpPr>
        <p:spPr>
          <a:xfrm>
            <a:off x="0" y="6750000"/>
            <a:ext cx="12192000" cy="108000"/>
          </a:xfrm>
          <a:prstGeom prst="rect">
            <a:avLst/>
          </a:prstGeom>
          <a:solidFill>
            <a:srgbClr val="BF8F00"/>
          </a:solidFill>
        </p:spPr>
        <p:txBody>
          <a:bodyPr/>
          <a:lstStyle/>
          <a:p/>
        </p:txBody>
      </p:sp>
      <p:sp>
        <p:nvSpPr>
          <p:cNvPr id="604" name="shape604"/>
          <p:cNvSpPr>
            <a:spLocks noGrp="1"/>
          </p:cNvSpPr>
          <p:nvPr/>
        </p:nvSpPr>
        <p:spPr>
          <a:xfrm>
            <a:off x="0" y="0"/>
            <a:ext cx="144000" cy="6858000"/>
          </a:xfrm>
          <a:prstGeom prst="rect">
            <a:avLst/>
          </a:prstGeom>
          <a:solidFill>
            <a:srgbClr val="BF8F00"/>
          </a:solidFill>
        </p:spPr>
        <p:txBody>
          <a:bodyPr/>
          <a:lstStyle/>
          <a:p/>
        </p:txBody>
      </p:sp>
      <p:sp>
        <p:nvSpPr>
          <p:cNvPr id="605" name="box605"/>
          <p:cNvSpPr>
            <a:spLocks noGrp="1"/>
          </p:cNvSpPr>
          <p:nvPr/>
        </p:nvSpPr>
        <p:spPr>
          <a:xfrm>
            <a:off x="432000" y="432000"/>
            <a:ext cx="1800000" cy="324000"/>
          </a:xfrm>
          <a:prstGeom prst="roundRect">
            <a:avLst>
              <a:gd name="adj" fmla="val 20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600" dirty="0">
                <a:solidFill>
                  <a:srgbClr val="1F3864"/>
                </a:solidFill>
                <a:latin typeface="Cambria"/>
              </a:rPr>
              <a:t>UNIT 20  ·  A2</a:t>
            </a:r>
          </a:p>
        </p:txBody>
      </p:sp>
      <p:sp>
        <p:nvSpPr>
          <p:cNvPr id="606" name="tb606"/>
          <p:cNvSpPr txBox="1">
            <a:spLocks noGrp="1"/>
          </p:cNvSpPr>
          <p:nvPr/>
        </p:nvSpPr>
        <p:spPr>
          <a:xfrm>
            <a:off x="432000" y="827999"/>
            <a:ext cx="11472000" cy="900000"/>
          </a:xfrm>
          <a:prstGeom prst="rect">
            <a:avLst/>
          </a:prstGeom>
          <a:noFill/>
        </p:spPr>
        <p:txBody>
          <a:bodyPr anchor="t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3600" dirty="0">
                <a:solidFill>
                  <a:srgbClr val="FFFFFF"/>
                </a:solidFill>
                <a:latin typeface="Cambria"/>
              </a:rPr>
              <a:t>Present Perfect vs Past Simple</a:t>
            </a:r>
          </a:p>
        </p:txBody>
      </p:sp>
      <p:sp>
        <p:nvSpPr>
          <p:cNvPr id="607" name="tb607"/>
          <p:cNvSpPr txBox="1">
            <a:spLocks noGrp="1"/>
          </p:cNvSpPr>
          <p:nvPr/>
        </p:nvSpPr>
        <p:spPr>
          <a:xfrm>
            <a:off x="432000" y="1800000"/>
            <a:ext cx="11472000" cy="32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600" dirty="0">
                <a:solidFill>
                  <a:srgbClr val="BF8F00"/>
                </a:solidFill>
                <a:latin typeface="Calibri"/>
              </a:rPr>
              <a:t>✦  Every great speaker was once a student. Keep going!</a:t>
            </a:r>
          </a:p>
        </p:txBody>
      </p:sp>
      <p:sp>
        <p:nvSpPr>
          <p:cNvPr id="608" name="box608"/>
          <p:cNvSpPr>
            <a:spLocks noGrp="1"/>
          </p:cNvSpPr>
          <p:nvPr/>
        </p:nvSpPr>
        <p:spPr>
          <a:xfrm>
            <a:off x="10752000" y="6462000"/>
            <a:ext cx="1260000" cy="234000"/>
          </a:xfrm>
          <a:prstGeom prst="roundRect">
            <a:avLst>
              <a:gd name="adj" fmla="val 1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300" dirty="0">
                <a:solidFill>
                  <a:srgbClr val="FFFFFF"/>
                </a:solidFill>
                <a:latin typeface="Calibri"/>
              </a:rPr>
              <a:t>See you next class! 👋</a:t>
            </a:r>
          </a:p>
        </p:txBody>
      </p:sp>
    </p:spTree>
  </p:cSld>
  <p:clrMapOvr>
    <a:masterClr/>
  </p:clrMapOvr>
</p:sld>
</file>