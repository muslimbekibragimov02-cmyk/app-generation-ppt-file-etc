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0"/>
  </p:sld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type="screen16x9"/>
  <p:notesSz cx="6858000" cy="12192000"/>
</p:presentation>
</file>

<file path=ppt/_rels/presentation.xml.rels><?xml version="1.0" encoding="UTF-8" standalone="yes"?>
<Relationships xmlns="http://schemas.openxmlformats.org/package/2006/relationships">
  <Relationship Id="rId0"
    Type="http://schemas.openxmlformats.org/officeDocument/2006/relationships/slideMaster"
    Target="slideMasters/slideMaster1.xml"/>
  <Relationship Id="rId1"
    Type="http://schemas.openxmlformats.org/officeDocument/2006/relationships/slide"
    Target="slides/slide1.xml"/>
  <Relationship Id="rId2"
    Type="http://schemas.openxmlformats.org/officeDocument/2006/relationships/slide"
    Target="slides/slide2.xml"/>
  <Relationship Id="rId3"
    Type="http://schemas.openxmlformats.org/officeDocument/2006/relationships/slide"
    Target="slides/slide3.xml"/>
  <Relationship Id="rId4"
    Type="http://schemas.openxmlformats.org/officeDocument/2006/relationships/slide"
    Target="slides/slide4.xml"/>
  <Relationship Id="rId5"
    Type="http://schemas.openxmlformats.org/officeDocument/2006/relationships/slide"
    Target="slides/slide5.xml"/>
  <Relationship Id="rId6"
    Type="http://schemas.openxmlformats.org/officeDocument/2006/relationships/slide"
    Target="slides/slide6.xml"/>
  <Relationship Id="rId7"
    Type="http://schemas.openxmlformats.org/officeDocument/2006/relationships/slide"
    Target="slides/slide7.xml"/>
  <Relationship Id="rId8"
    Type="http://schemas.openxmlformats.org/officeDocument/2006/relationships/slide"
    Target="slides/slide8.xml"/>
  <Relationship Id="rId9"
    Type="http://schemas.openxmlformats.org/officeDocument/2006/relationships/slide"
    Target="slides/slide9.xml"/>
  <Relationship Id="rId10"
    Type="http://schemas.openxmlformats.org/officeDocument/2006/relationships/slide"
    Target="slides/slide10.xml"/>
  <Relationship Id="rId11"
    Type="http://schemas.openxmlformats.org/officeDocument/2006/relationships/slide"
    Target="slides/slide11.xml"/>
  <Relationship Id="rId12"
    Type="http://schemas.openxmlformats.org/officeDocument/2006/relationships/slide"
    Target="slides/slide12.xml"/>
  <Relationship Id="rId13"
    Type="http://schemas.openxmlformats.org/officeDocument/2006/relationships/slide"
    Target="slides/slide13.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p="http://schemas.openxmlformats.org/presentationml/2006/main" xmlns:a="http://schemas.openxmlformats.org/drawingml/2006/main" xmlns:r="http://schemas.openxmlformats.org/officeDocument/2006/relationships" type="blank" preserve="1">
  <p:cSld name="Blank">
    <p:spTree>
      <p:nvGrpSpPr>
        <p:cNvPr id="1" name=""/>
        <p:cNvGrpSpPr/>
        <p:nvPr/>
      </p:nvGrpSpPr>
      <p:grpSpPr>
        <a:xfrm>
          <a:off x="0" y="0"/>
          <a:ext cx="12192000" cy="6858000"/>
          <a:chOff x="0" y="0"/>
          <a:chExt cx="12192000" cy="6858000"/>
        </a:xfrm>
      </p:grpSpPr>
    </p:spTree>
  </p:cSld>
  <p:clrMapOvr>
    <a:masterClr/>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Masters/slideMaster1.xml><?xml version="1.0" encoding="utf-8"?>
<p:sldMaster xmlns:p="http://schemas.openxmlformats.org/presentationml/2006/main" xmlns:a="http://schemas.openxmlformats.org/drawingml/2006/main" xmlns:r="http://schemas.openxmlformats.org/officeDocument/2006/relationships">
  <p:cSld>
    <p:spTree>
      <p:nvGrpSpPr>
        <p:cNvPr id="1" name=""/>
        <p:cNvGrpSpPr/>
        <p:nvPr/>
      </p:nvGrpSpPr>
      <p:grpSpPr>
        <a:xfrm>
          <a:off x="0" y="0"/>
          <a:ext cx="12192000" cy="6858000"/>
          <a:chOff x="0" y="0"/>
          <a:chExt cx="12192000" cy="6858000"/>
        </a:xfrm>
      </p:grpSpPr>
    </p:spTree>
  </p:cSld>
  <p:clrMap bg1="lt1" tx1="dk1" bg2="lt2" tx2="dk2" accent1="accent1" accent2="accent2" accent3="accent3" accent4="accent4" accent5="accent5" accent6="accent6" hlink="hlink" folHlink="folHlink"/>
  <p:sldLayoutIdLst>
    <p:sldLayoutId id="2147483649" r:id="rId1"/>
  </p:sldLayoutIdLst>
  <p:txStyles>
    <p:titleStyle>
      <a:lstStyle/>
    </p:titleStyle>
    <p:bodyStyle>
      <a:lstStyle/>
    </p:bodyStyle>
    <p:otherStyle>
      <a:lstStyle/>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p="http://schemas.openxmlformats.org/presentationml/2006/main" xmlns:a="http://schemas.openxmlformats.org/drawingml/2006/main" xmlns:r="http://schemas.openxmlformats.org/officeDocument/2006/relationships" xmlns:dc="http://purl.org/dc/elements/1.1/">
  <p:cSld>
    <p:bg>
      <p:bgPr>
        <a:solidFill>
          <a:srgbClr val="1F3864"/>
        </a:solidFill>
        <a:effectLst/>
      </p:bgPr>
    </p:bg>
    <p:spTree>
      <p:nvGrpSpPr>
        <p:cNvPr id="1" name="content"/>
        <p:cNvGrpSpPr/>
        <p:nvPr/>
      </p:nvGrpSpPr>
      <p:grpSpPr>
        <a:xfrm>
          <a:off x="0" y="0"/>
          <a:ext cx="12192000" cy="6858000"/>
          <a:chOff x="0" y="0"/>
          <a:chExt cx="12192000" cy="6858000"/>
        </a:xfrm>
      </p:grpSpPr>
      <p:sp>
        <p:nvSpPr>
          <p:cNvPr id="11" name="shape11"/>
          <p:cNvSpPr>
            <a:spLocks noGrp="1"/>
          </p:cNvSpPr>
          <p:nvPr/>
        </p:nvSpPr>
        <p:spPr>
          <a:xfrm>
            <a:off x="0" y="0"/>
            <a:ext cx="12192000" cy="6858000"/>
          </a:xfrm>
          <a:prstGeom prst="rect">
            <a:avLst/>
          </a:prstGeom>
          <a:gradFill rot="1">
            <a:gsLst>
              <a:gs pos="0">
                <a:srgbClr val="1F3864"/>
              </a:gs>
              <a:gs pos="100000">
                <a:srgbClr val="0D2245"/>
              </a:gs>
            </a:gsLst>
            <a:lin ang="5400000" scaled="0"/>
          </a:gradFill>
        </p:spPr>
        <p:txBody>
          <a:bodyPr/>
          <a:lstStyle/>
          <a:p/>
        </p:txBody>
      </p:sp>
      <p:sp>
        <p:nvSpPr>
          <p:cNvPr id="12" name="shape12"/>
          <p:cNvSpPr>
            <a:spLocks noGrp="1"/>
          </p:cNvSpPr>
          <p:nvPr/>
        </p:nvSpPr>
        <p:spPr>
          <a:xfrm>
            <a:off x="0" y="0"/>
            <a:ext cx="144000" cy="6858000"/>
          </a:xfrm>
          <a:prstGeom prst="rect">
            <a:avLst/>
          </a:prstGeom>
          <a:solidFill>
            <a:srgbClr val="BF8F00"/>
          </a:solidFill>
        </p:spPr>
        <p:txBody>
          <a:bodyPr/>
          <a:lstStyle/>
          <a:p/>
        </p:txBody>
      </p:sp>
      <p:sp>
        <p:nvSpPr>
          <p:cNvPr id="13" name="shape13"/>
          <p:cNvSpPr>
            <a:spLocks noGrp="1"/>
          </p:cNvSpPr>
          <p:nvPr/>
        </p:nvSpPr>
        <p:spPr>
          <a:xfrm>
            <a:off x="0" y="0"/>
            <a:ext cx="12192000" cy="108000"/>
          </a:xfrm>
          <a:prstGeom prst="rect">
            <a:avLst/>
          </a:prstGeom>
          <a:solidFill>
            <a:srgbClr val="BF8F00"/>
          </a:solidFill>
        </p:spPr>
        <p:txBody>
          <a:bodyPr/>
          <a:lstStyle/>
          <a:p/>
        </p:txBody>
      </p:sp>
      <p:sp>
        <p:nvSpPr>
          <p:cNvPr id="14" name="box14"/>
          <p:cNvSpPr>
            <a:spLocks noGrp="1"/>
          </p:cNvSpPr>
          <p:nvPr/>
        </p:nvSpPr>
        <p:spPr>
          <a:xfrm>
            <a:off x="432000" y="468000"/>
            <a:ext cx="1800000" cy="324000"/>
          </a:xfrm>
          <a:prstGeom prst="roundRect">
            <a:avLst>
              <a:gd name="adj" fmla="val 20000"/>
            </a:avLst>
          </a:prstGeom>
          <a:solidFill>
            <a:srgbClr val="BF8F00"/>
          </a:solidFill>
          <a:ln w="0">
            <a:noFill/>
          </a:ln>
        </p:spPr>
        <p:txBody>
          <a:bodyPr anchor="ctr" wrap="square" lIns="72000" rIns="72000" tIns="54000" bIns="54000"/>
          <a:lstStyle/>
          <a:p>
            <a:pPr algn="ctr" spcBef="0" spcAft="0">
              <a:spcPct val="100000"/>
            </a:pPr>
            <a:r>
              <a:rPr lang="en-GB" b="1" sz="1600" dirty="0">
                <a:solidFill>
                  <a:srgbClr val="1F3864"/>
                </a:solidFill>
                <a:latin typeface="Cambria"/>
              </a:rPr>
              <a:t>UNIT 6  ·  A1</a:t>
            </a:r>
          </a:p>
        </p:txBody>
      </p:sp>
      <p:sp>
        <p:nvSpPr>
          <p:cNvPr id="15" name="tb15"/>
          <p:cNvSpPr txBox="1">
            <a:spLocks noGrp="1"/>
          </p:cNvSpPr>
          <p:nvPr/>
        </p:nvSpPr>
        <p:spPr>
          <a:xfrm>
            <a:off x="432000" y="900000"/>
            <a:ext cx="11472000" cy="288000"/>
          </a:xfrm>
          <a:prstGeom prst="rect">
            <a:avLst/>
          </a:prstGeom>
          <a:noFill/>
        </p:spPr>
        <p:txBody>
          <a:bodyPr anchor="ctr" wrap="square" lIns="36000" rIns="36000" tIns="36000" bIns="36000"/>
          <a:lstStyle/>
          <a:p>
            <a:pPr algn="l" spcBef="0" spcAft="0">
              <a:spcPct val="100000"/>
            </a:pPr>
            <a:r>
              <a:rPr lang="en-GB" b="0" sz="1500" dirty="0">
                <a:solidFill>
                  <a:srgbClr val="BFC9D6"/>
                </a:solidFill>
                <a:latin typeface="Calibri"/>
              </a:rPr>
              <a:t>English Grammar in Action — Level 1</a:t>
            </a:r>
          </a:p>
        </p:txBody>
      </p:sp>
      <p:sp>
        <p:nvSpPr>
          <p:cNvPr id="16" name="tb16"/>
          <p:cNvSpPr txBox="1">
            <a:spLocks noGrp="1"/>
          </p:cNvSpPr>
          <p:nvPr/>
        </p:nvSpPr>
        <p:spPr>
          <a:xfrm>
            <a:off x="432000" y="1188000"/>
            <a:ext cx="11472000" cy="1080000"/>
          </a:xfrm>
          <a:prstGeom prst="rect">
            <a:avLst/>
          </a:prstGeom>
          <a:noFill/>
        </p:spPr>
        <p:txBody>
          <a:bodyPr anchor="t" wrap="square" lIns="36000" rIns="36000" tIns="36000" bIns="36000"/>
          <a:lstStyle/>
          <a:p>
            <a:pPr algn="l" spcBef="0" spcAft="0">
              <a:spcPct val="100000"/>
            </a:pPr>
            <a:r>
              <a:rPr lang="en-GB" b="1" sz="4000" dirty="0">
                <a:solidFill>
                  <a:srgbClr val="FFFFFF"/>
                </a:solidFill>
                <a:latin typeface="Cambria"/>
              </a:rPr>
              <a:t>Present Simple — Negative</a:t>
            </a:r>
          </a:p>
        </p:txBody>
      </p:sp>
      <p:sp>
        <p:nvSpPr>
          <p:cNvPr id="17" name="tb17"/>
          <p:cNvSpPr txBox="1">
            <a:spLocks noGrp="1"/>
          </p:cNvSpPr>
          <p:nvPr/>
        </p:nvSpPr>
        <p:spPr>
          <a:xfrm>
            <a:off x="432000" y="2088000"/>
            <a:ext cx="11472000" cy="360000"/>
          </a:xfrm>
          <a:prstGeom prst="rect">
            <a:avLst/>
          </a:prstGeom>
          <a:noFill/>
        </p:spPr>
        <p:txBody>
          <a:bodyPr anchor="ctr" wrap="square" lIns="36000" rIns="36000" tIns="36000" bIns="36000"/>
          <a:lstStyle/>
          <a:p>
            <a:pPr algn="l" spcBef="0" spcAft="0">
              <a:spcPct val="100000"/>
            </a:pPr>
            <a:r>
              <a:rPr lang="en-GB" b="0" i="1" sz="1700" dirty="0">
                <a:solidFill>
                  <a:srgbClr val="DCE6F1"/>
                </a:solidFill>
                <a:latin typeface="Calibri"/>
              </a:rPr>
              <a:t>don't / doesn't + base form; I/you/we/they vs he/she/it</a:t>
            </a:r>
          </a:p>
        </p:txBody>
      </p:sp>
      <p:sp>
        <p:nvSpPr>
          <p:cNvPr id="18" name="shape18"/>
          <p:cNvSpPr>
            <a:spLocks noGrp="1"/>
          </p:cNvSpPr>
          <p:nvPr/>
        </p:nvSpPr>
        <p:spPr>
          <a:xfrm>
            <a:off x="0" y="6768000"/>
            <a:ext cx="12192000" cy="90000"/>
          </a:xfrm>
          <a:prstGeom prst="rect">
            <a:avLst/>
          </a:prstGeom>
          <a:solidFill>
            <a:srgbClr val="BF8F00"/>
          </a:solidFill>
        </p:spPr>
        <p:txBody>
          <a:bodyPr/>
          <a:lstStyle/>
          <a:p/>
        </p:txBody>
      </p:sp>
      <p:sp>
        <p:nvSpPr>
          <p:cNvPr id="19" name="box19"/>
          <p:cNvSpPr>
            <a:spLocks noGrp="1"/>
          </p:cNvSpPr>
          <p:nvPr/>
        </p:nvSpPr>
        <p:spPr>
          <a:xfrm>
            <a:off x="11112000" y="6354001"/>
            <a:ext cx="936000" cy="360000"/>
          </a:xfrm>
          <a:prstGeom prst="roundRect">
            <a:avLst>
              <a:gd name="adj" fmla="val 2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CEFR  A1</a:t>
            </a:r>
          </a:p>
        </p:txBody>
      </p:sp>
    </p:spTree>
  </p:cSld>
  <p:clrMapOvr>
    <a:masterClr/>
  </p:clrMapOvr>
</p:sld>
</file>

<file path=ppt/slides/slide2.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1" name="box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2" name="box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53" name="tb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LEARNING OBJECTIVES</a:t>
            </a:r>
          </a:p>
        </p:txBody>
      </p:sp>
      <p:sp>
        <p:nvSpPr>
          <p:cNvPr id="54" name="box54"/>
          <p:cNvSpPr>
            <a:spLocks noGrp="1"/>
          </p:cNvSpPr>
          <p:nvPr/>
        </p:nvSpPr>
        <p:spPr>
          <a:xfrm>
            <a:off x="180000" y="5400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5" name="box55"/>
          <p:cNvSpPr>
            <a:spLocks noGrp="1"/>
          </p:cNvSpPr>
          <p:nvPr/>
        </p:nvSpPr>
        <p:spPr>
          <a:xfrm>
            <a:off x="558000" y="5400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Form negative present simple sentences using don't + base verb.</a:t>
            </a:r>
          </a:p>
        </p:txBody>
      </p:sp>
      <p:sp>
        <p:nvSpPr>
          <p:cNvPr id="56" name="box56"/>
          <p:cNvSpPr>
            <a:spLocks noGrp="1"/>
          </p:cNvSpPr>
          <p:nvPr/>
        </p:nvSpPr>
        <p:spPr>
          <a:xfrm>
            <a:off x="180000" y="9252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7" name="box57"/>
          <p:cNvSpPr>
            <a:spLocks noGrp="1"/>
          </p:cNvSpPr>
          <p:nvPr/>
        </p:nvSpPr>
        <p:spPr>
          <a:xfrm>
            <a:off x="558000" y="9252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Form negative present simple sentences using doesn't + base verb.</a:t>
            </a:r>
          </a:p>
        </p:txBody>
      </p:sp>
      <p:sp>
        <p:nvSpPr>
          <p:cNvPr id="58" name="box58"/>
          <p:cNvSpPr>
            <a:spLocks noGrp="1"/>
          </p:cNvSpPr>
          <p:nvPr/>
        </p:nvSpPr>
        <p:spPr>
          <a:xfrm>
            <a:off x="180000" y="13104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9" name="box59"/>
          <p:cNvSpPr>
            <a:spLocks noGrp="1"/>
          </p:cNvSpPr>
          <p:nvPr/>
        </p:nvSpPr>
        <p:spPr>
          <a:xfrm>
            <a:off x="558000" y="13104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Remember that the main verb stays in the base form after doesn't.</a:t>
            </a:r>
          </a:p>
        </p:txBody>
      </p:sp>
      <p:sp>
        <p:nvSpPr>
          <p:cNvPr id="60" name="box60"/>
          <p:cNvSpPr>
            <a:spLocks noGrp="1"/>
          </p:cNvSpPr>
          <p:nvPr/>
        </p:nvSpPr>
        <p:spPr>
          <a:xfrm>
            <a:off x="180000" y="16956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61" name="box61"/>
          <p:cNvSpPr>
            <a:spLocks noGrp="1"/>
          </p:cNvSpPr>
          <p:nvPr/>
        </p:nvSpPr>
        <p:spPr>
          <a:xfrm>
            <a:off x="558000" y="16956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Contrast affirmative and negative forms in the same context.</a:t>
            </a:r>
          </a:p>
        </p:txBody>
      </p:sp>
      <p:sp>
        <p:nvSpPr>
          <p:cNvPr id="62" name="box62"/>
          <p:cNvSpPr>
            <a:spLocks noGrp="1"/>
          </p:cNvSpPr>
          <p:nvPr/>
        </p:nvSpPr>
        <p:spPr>
          <a:xfrm>
            <a:off x="180000" y="20808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63" name="box63"/>
          <p:cNvSpPr>
            <a:spLocks noGrp="1"/>
          </p:cNvSpPr>
          <p:nvPr/>
        </p:nvSpPr>
        <p:spPr>
          <a:xfrm>
            <a:off x="558000" y="20808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Produce negative sentences about habits and preferences.</a:t>
            </a:r>
          </a:p>
        </p:txBody>
      </p:sp>
    </p:spTree>
  </p:cSld>
  <p:clrMapOvr>
    <a:masterClr/>
  </p:clrMapOvr>
</p:sld>
</file>

<file path=ppt/slides/slide3.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101" name="box1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102" name="box1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103" name="tb1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WARM-UP ACTIVITY</a:t>
            </a:r>
          </a:p>
        </p:txBody>
      </p:sp>
      <p:sp>
        <p:nvSpPr>
          <p:cNvPr id="104" name="box104"/>
          <p:cNvSpPr>
            <a:spLocks noGrp="1"/>
          </p:cNvSpPr>
          <p:nvPr/>
        </p:nvSpPr>
        <p:spPr>
          <a:xfrm>
            <a:off x="180000" y="540000"/>
            <a:ext cx="11832000" cy="396000"/>
          </a:xfrm>
          <a:prstGeom prst="roundRect">
            <a:avLst>
              <a:gd name="adj" fmla="val 15000"/>
            </a:avLst>
          </a:prstGeom>
          <a:solidFill>
            <a:srgbClr val="BF8F00"/>
          </a:solidFill>
          <a:ln w="0">
            <a:noFill/>
          </a:ln>
        </p:spPr>
        <p:txBody>
          <a:bodyPr anchor="ctr" wrap="square" lIns="180000" rIns="72000" tIns="54000" bIns="54000"/>
          <a:lstStyle/>
          <a:p>
            <a:pPr algn="l" spcBef="0" spcAft="0">
              <a:spcPct val="100000"/>
            </a:pPr>
            <a:r>
              <a:rPr lang="en-GB" b="1" sz="2400" dirty="0">
                <a:solidFill>
                  <a:srgbClr val="1F3864"/>
                </a:solidFill>
                <a:latin typeface="Cambria"/>
              </a:rPr>
              <a:t>🚫 Things I Don't Do</a:t>
            </a:r>
          </a:p>
        </p:txBody>
      </p:sp>
      <p:sp>
        <p:nvSpPr>
          <p:cNvPr id="105" name="box105"/>
          <p:cNvSpPr>
            <a:spLocks noGrp="1"/>
          </p:cNvSpPr>
          <p:nvPr/>
        </p:nvSpPr>
        <p:spPr>
          <a:xfrm>
            <a:off x="11040000" y="540000"/>
            <a:ext cx="972000" cy="396000"/>
          </a:xfrm>
          <a:prstGeom prst="roundRect">
            <a:avLst>
              <a:gd name="adj" fmla="val 15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BF8F00"/>
                </a:solidFill>
                <a:latin typeface="Calibri"/>
              </a:rPr>
              <a:t>⏱  5 minutes</a:t>
            </a:r>
          </a:p>
        </p:txBody>
      </p:sp>
      <p:sp>
        <p:nvSpPr>
          <p:cNvPr id="106" name="box106"/>
          <p:cNvSpPr>
            <a:spLocks noGrp="1"/>
          </p:cNvSpPr>
          <p:nvPr/>
        </p:nvSpPr>
        <p:spPr>
          <a:xfrm>
            <a:off x="180000" y="1026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1</a:t>
            </a:r>
          </a:p>
        </p:txBody>
      </p:sp>
      <p:sp>
        <p:nvSpPr>
          <p:cNvPr id="107" name="tb107"/>
          <p:cNvSpPr txBox="1">
            <a:spLocks noGrp="1"/>
          </p:cNvSpPr>
          <p:nvPr/>
        </p:nvSpPr>
        <p:spPr>
          <a:xfrm>
            <a:off x="503999" y="1026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Write three things you DON'T do in the morning (e.g., 'I don't eat breakfast.').</a:t>
            </a:r>
          </a:p>
        </p:txBody>
      </p:sp>
      <p:sp>
        <p:nvSpPr>
          <p:cNvPr id="108" name="box108"/>
          <p:cNvSpPr>
            <a:spLocks noGrp="1"/>
          </p:cNvSpPr>
          <p:nvPr/>
        </p:nvSpPr>
        <p:spPr>
          <a:xfrm>
            <a:off x="180000" y="1458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2</a:t>
            </a:r>
          </a:p>
        </p:txBody>
      </p:sp>
      <p:sp>
        <p:nvSpPr>
          <p:cNvPr id="109" name="tb109"/>
          <p:cNvSpPr txBox="1">
            <a:spLocks noGrp="1"/>
          </p:cNvSpPr>
          <p:nvPr/>
        </p:nvSpPr>
        <p:spPr>
          <a:xfrm>
            <a:off x="503999" y="1458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Share with a partner. Find one thing you both don't do.</a:t>
            </a:r>
          </a:p>
        </p:txBody>
      </p:sp>
      <p:sp>
        <p:nvSpPr>
          <p:cNvPr id="110" name="box110"/>
          <p:cNvSpPr>
            <a:spLocks noGrp="1"/>
          </p:cNvSpPr>
          <p:nvPr/>
        </p:nvSpPr>
        <p:spPr>
          <a:xfrm>
            <a:off x="180000" y="1890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3</a:t>
            </a:r>
          </a:p>
        </p:txBody>
      </p:sp>
      <p:sp>
        <p:nvSpPr>
          <p:cNvPr id="111" name="tb111"/>
          <p:cNvSpPr txBox="1">
            <a:spLocks noGrp="1"/>
          </p:cNvSpPr>
          <p:nvPr/>
        </p:nvSpPr>
        <p:spPr>
          <a:xfrm>
            <a:off x="503999" y="1890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Report to the class: 'We don't watch TV in the morning.'</a:t>
            </a:r>
          </a:p>
        </p:txBody>
      </p:sp>
    </p:spTree>
  </p:cSld>
  <p:clrMapOvr>
    <a:masterClr/>
  </p:clrMapOvr>
</p:sld>
</file>

<file path=ppt/slides/slide4.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151" name="box1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152" name="box1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153" name="tb1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VOCABULARY PREVIEW</a:t>
            </a:r>
          </a:p>
        </p:txBody>
      </p:sp>
      <p:sp>
        <p:nvSpPr>
          <p:cNvPr id="154" name="box154"/>
          <p:cNvSpPr>
            <a:spLocks noGrp="1"/>
          </p:cNvSpPr>
          <p:nvPr/>
        </p:nvSpPr>
        <p:spPr>
          <a:xfrm>
            <a:off x="180000" y="5400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like</a:t>
            </a:r>
          </a:p>
        </p:txBody>
      </p:sp>
      <p:sp>
        <p:nvSpPr>
          <p:cNvPr id="155" name="box155"/>
          <p:cNvSpPr>
            <a:spLocks noGrp="1"/>
          </p:cNvSpPr>
          <p:nvPr/>
        </p:nvSpPr>
        <p:spPr>
          <a:xfrm>
            <a:off x="1007999" y="5400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ver</a:t>
            </a:r>
          </a:p>
        </p:txBody>
      </p:sp>
      <p:sp>
        <p:nvSpPr>
          <p:cNvPr id="156" name="box156"/>
          <p:cNvSpPr>
            <a:spLocks noGrp="1"/>
          </p:cNvSpPr>
          <p:nvPr/>
        </p:nvSpPr>
        <p:spPr>
          <a:xfrm>
            <a:off x="1512000" y="5400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to enjoy; to find pleasant</a:t>
            </a:r>
          </a:p>
        </p:txBody>
      </p:sp>
      <p:sp>
        <p:nvSpPr>
          <p:cNvPr id="157" name="box157"/>
          <p:cNvSpPr>
            <a:spLocks noGrp="1"/>
          </p:cNvSpPr>
          <p:nvPr/>
        </p:nvSpPr>
        <p:spPr>
          <a:xfrm>
            <a:off x="6042000" y="5400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want</a:t>
            </a:r>
          </a:p>
        </p:txBody>
      </p:sp>
      <p:sp>
        <p:nvSpPr>
          <p:cNvPr id="158" name="box158"/>
          <p:cNvSpPr>
            <a:spLocks noGrp="1"/>
          </p:cNvSpPr>
          <p:nvPr/>
        </p:nvSpPr>
        <p:spPr>
          <a:xfrm>
            <a:off x="6869999" y="5400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ver</a:t>
            </a:r>
          </a:p>
        </p:txBody>
      </p:sp>
      <p:sp>
        <p:nvSpPr>
          <p:cNvPr id="159" name="box159"/>
          <p:cNvSpPr>
            <a:spLocks noGrp="1"/>
          </p:cNvSpPr>
          <p:nvPr/>
        </p:nvSpPr>
        <p:spPr>
          <a:xfrm>
            <a:off x="7374000" y="5400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to wish to have or do</a:t>
            </a:r>
          </a:p>
        </p:txBody>
      </p:sp>
      <p:sp>
        <p:nvSpPr>
          <p:cNvPr id="160" name="box160"/>
          <p:cNvSpPr>
            <a:spLocks noGrp="1"/>
          </p:cNvSpPr>
          <p:nvPr/>
        </p:nvSpPr>
        <p:spPr>
          <a:xfrm>
            <a:off x="180000" y="8856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need</a:t>
            </a:r>
          </a:p>
        </p:txBody>
      </p:sp>
      <p:sp>
        <p:nvSpPr>
          <p:cNvPr id="161" name="box161"/>
          <p:cNvSpPr>
            <a:spLocks noGrp="1"/>
          </p:cNvSpPr>
          <p:nvPr/>
        </p:nvSpPr>
        <p:spPr>
          <a:xfrm>
            <a:off x="1007999" y="8856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ver</a:t>
            </a:r>
          </a:p>
        </p:txBody>
      </p:sp>
      <p:sp>
        <p:nvSpPr>
          <p:cNvPr id="162" name="box162"/>
          <p:cNvSpPr>
            <a:spLocks noGrp="1"/>
          </p:cNvSpPr>
          <p:nvPr/>
        </p:nvSpPr>
        <p:spPr>
          <a:xfrm>
            <a:off x="1512000" y="8856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to require something</a:t>
            </a:r>
          </a:p>
        </p:txBody>
      </p:sp>
      <p:sp>
        <p:nvSpPr>
          <p:cNvPr id="163" name="box163"/>
          <p:cNvSpPr>
            <a:spLocks noGrp="1"/>
          </p:cNvSpPr>
          <p:nvPr/>
        </p:nvSpPr>
        <p:spPr>
          <a:xfrm>
            <a:off x="6042000" y="8856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know</a:t>
            </a:r>
          </a:p>
        </p:txBody>
      </p:sp>
      <p:sp>
        <p:nvSpPr>
          <p:cNvPr id="164" name="box164"/>
          <p:cNvSpPr>
            <a:spLocks noGrp="1"/>
          </p:cNvSpPr>
          <p:nvPr/>
        </p:nvSpPr>
        <p:spPr>
          <a:xfrm>
            <a:off x="6869999" y="8856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ver</a:t>
            </a:r>
          </a:p>
        </p:txBody>
      </p:sp>
      <p:sp>
        <p:nvSpPr>
          <p:cNvPr id="165" name="box165"/>
          <p:cNvSpPr>
            <a:spLocks noGrp="1"/>
          </p:cNvSpPr>
          <p:nvPr/>
        </p:nvSpPr>
        <p:spPr>
          <a:xfrm>
            <a:off x="7374000" y="8856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to have information about</a:t>
            </a:r>
          </a:p>
        </p:txBody>
      </p:sp>
      <p:sp>
        <p:nvSpPr>
          <p:cNvPr id="166" name="box166"/>
          <p:cNvSpPr>
            <a:spLocks noGrp="1"/>
          </p:cNvSpPr>
          <p:nvPr/>
        </p:nvSpPr>
        <p:spPr>
          <a:xfrm>
            <a:off x="180000" y="12312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understand</a:t>
            </a:r>
          </a:p>
        </p:txBody>
      </p:sp>
      <p:sp>
        <p:nvSpPr>
          <p:cNvPr id="167" name="box167"/>
          <p:cNvSpPr>
            <a:spLocks noGrp="1"/>
          </p:cNvSpPr>
          <p:nvPr/>
        </p:nvSpPr>
        <p:spPr>
          <a:xfrm>
            <a:off x="1007999" y="12312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ver</a:t>
            </a:r>
          </a:p>
        </p:txBody>
      </p:sp>
      <p:sp>
        <p:nvSpPr>
          <p:cNvPr id="168" name="box168"/>
          <p:cNvSpPr>
            <a:spLocks noGrp="1"/>
          </p:cNvSpPr>
          <p:nvPr/>
        </p:nvSpPr>
        <p:spPr>
          <a:xfrm>
            <a:off x="1512000" y="12312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to comprehend the meaning</a:t>
            </a:r>
          </a:p>
        </p:txBody>
      </p:sp>
      <p:sp>
        <p:nvSpPr>
          <p:cNvPr id="169" name="box169"/>
          <p:cNvSpPr>
            <a:spLocks noGrp="1"/>
          </p:cNvSpPr>
          <p:nvPr/>
        </p:nvSpPr>
        <p:spPr>
          <a:xfrm>
            <a:off x="6042000" y="12312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remember</a:t>
            </a:r>
          </a:p>
        </p:txBody>
      </p:sp>
      <p:sp>
        <p:nvSpPr>
          <p:cNvPr id="170" name="box170"/>
          <p:cNvSpPr>
            <a:spLocks noGrp="1"/>
          </p:cNvSpPr>
          <p:nvPr/>
        </p:nvSpPr>
        <p:spPr>
          <a:xfrm>
            <a:off x="6869999" y="12312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ver</a:t>
            </a:r>
          </a:p>
        </p:txBody>
      </p:sp>
      <p:sp>
        <p:nvSpPr>
          <p:cNvPr id="171" name="box171"/>
          <p:cNvSpPr>
            <a:spLocks noGrp="1"/>
          </p:cNvSpPr>
          <p:nvPr/>
        </p:nvSpPr>
        <p:spPr>
          <a:xfrm>
            <a:off x="7374000" y="12312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to keep in mind</a:t>
            </a:r>
          </a:p>
        </p:txBody>
      </p:sp>
      <p:sp>
        <p:nvSpPr>
          <p:cNvPr id="172" name="box172"/>
          <p:cNvSpPr>
            <a:spLocks noGrp="1"/>
          </p:cNvSpPr>
          <p:nvPr/>
        </p:nvSpPr>
        <p:spPr>
          <a:xfrm>
            <a:off x="180000" y="15768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forget</a:t>
            </a:r>
          </a:p>
        </p:txBody>
      </p:sp>
      <p:sp>
        <p:nvSpPr>
          <p:cNvPr id="173" name="box173"/>
          <p:cNvSpPr>
            <a:spLocks noGrp="1"/>
          </p:cNvSpPr>
          <p:nvPr/>
        </p:nvSpPr>
        <p:spPr>
          <a:xfrm>
            <a:off x="1007999" y="15768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ver</a:t>
            </a:r>
          </a:p>
        </p:txBody>
      </p:sp>
      <p:sp>
        <p:nvSpPr>
          <p:cNvPr id="174" name="box174"/>
          <p:cNvSpPr>
            <a:spLocks noGrp="1"/>
          </p:cNvSpPr>
          <p:nvPr/>
        </p:nvSpPr>
        <p:spPr>
          <a:xfrm>
            <a:off x="1512000" y="15768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to fail to remember</a:t>
            </a:r>
          </a:p>
        </p:txBody>
      </p:sp>
      <p:sp>
        <p:nvSpPr>
          <p:cNvPr id="175" name="box175"/>
          <p:cNvSpPr>
            <a:spLocks noGrp="1"/>
          </p:cNvSpPr>
          <p:nvPr/>
        </p:nvSpPr>
        <p:spPr>
          <a:xfrm>
            <a:off x="6042000" y="15768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believe</a:t>
            </a:r>
          </a:p>
        </p:txBody>
      </p:sp>
      <p:sp>
        <p:nvSpPr>
          <p:cNvPr id="176" name="box176"/>
          <p:cNvSpPr>
            <a:spLocks noGrp="1"/>
          </p:cNvSpPr>
          <p:nvPr/>
        </p:nvSpPr>
        <p:spPr>
          <a:xfrm>
            <a:off x="6869999" y="15768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ver</a:t>
            </a:r>
          </a:p>
        </p:txBody>
      </p:sp>
      <p:sp>
        <p:nvSpPr>
          <p:cNvPr id="177" name="box177"/>
          <p:cNvSpPr>
            <a:spLocks noGrp="1"/>
          </p:cNvSpPr>
          <p:nvPr/>
        </p:nvSpPr>
        <p:spPr>
          <a:xfrm>
            <a:off x="7374000" y="15768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to accept as true</a:t>
            </a:r>
          </a:p>
        </p:txBody>
      </p:sp>
      <p:sp>
        <p:nvSpPr>
          <p:cNvPr id="178" name="box178"/>
          <p:cNvSpPr>
            <a:spLocks noGrp="1"/>
          </p:cNvSpPr>
          <p:nvPr/>
        </p:nvSpPr>
        <p:spPr>
          <a:xfrm>
            <a:off x="180000" y="19224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agree</a:t>
            </a:r>
          </a:p>
        </p:txBody>
      </p:sp>
      <p:sp>
        <p:nvSpPr>
          <p:cNvPr id="179" name="box179"/>
          <p:cNvSpPr>
            <a:spLocks noGrp="1"/>
          </p:cNvSpPr>
          <p:nvPr/>
        </p:nvSpPr>
        <p:spPr>
          <a:xfrm>
            <a:off x="1007999" y="19224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ver</a:t>
            </a:r>
          </a:p>
        </p:txBody>
      </p:sp>
      <p:sp>
        <p:nvSpPr>
          <p:cNvPr id="180" name="box180"/>
          <p:cNvSpPr>
            <a:spLocks noGrp="1"/>
          </p:cNvSpPr>
          <p:nvPr/>
        </p:nvSpPr>
        <p:spPr>
          <a:xfrm>
            <a:off x="1512000" y="19224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to have the same opinion</a:t>
            </a:r>
          </a:p>
        </p:txBody>
      </p:sp>
      <p:sp>
        <p:nvSpPr>
          <p:cNvPr id="181" name="box181"/>
          <p:cNvSpPr>
            <a:spLocks noGrp="1"/>
          </p:cNvSpPr>
          <p:nvPr/>
        </p:nvSpPr>
        <p:spPr>
          <a:xfrm>
            <a:off x="6042000" y="19224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hate</a:t>
            </a:r>
          </a:p>
        </p:txBody>
      </p:sp>
      <p:sp>
        <p:nvSpPr>
          <p:cNvPr id="182" name="box182"/>
          <p:cNvSpPr>
            <a:spLocks noGrp="1"/>
          </p:cNvSpPr>
          <p:nvPr/>
        </p:nvSpPr>
        <p:spPr>
          <a:xfrm>
            <a:off x="6869999" y="19224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ver</a:t>
            </a:r>
          </a:p>
        </p:txBody>
      </p:sp>
      <p:sp>
        <p:nvSpPr>
          <p:cNvPr id="183" name="box183"/>
          <p:cNvSpPr>
            <a:spLocks noGrp="1"/>
          </p:cNvSpPr>
          <p:nvPr/>
        </p:nvSpPr>
        <p:spPr>
          <a:xfrm>
            <a:off x="7374000" y="19224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to dislike very strongly</a:t>
            </a:r>
          </a:p>
        </p:txBody>
      </p:sp>
      <p:sp>
        <p:nvSpPr>
          <p:cNvPr id="184" name="tb184"/>
          <p:cNvSpPr txBox="1">
            <a:spLocks noGrp="1"/>
          </p:cNvSpPr>
          <p:nvPr/>
        </p:nvSpPr>
        <p:spPr>
          <a:xfrm>
            <a:off x="180000" y="6606001"/>
            <a:ext cx="11832000" cy="198000"/>
          </a:xfrm>
          <a:prstGeom prst="rect">
            <a:avLst/>
          </a:prstGeom>
          <a:noFill/>
        </p:spPr>
        <p:txBody>
          <a:bodyPr anchor="ctr" wrap="square" lIns="36000" rIns="36000" tIns="36000" bIns="36000"/>
          <a:lstStyle/>
          <a:p>
            <a:pPr algn="l" spcBef="0" spcAft="0">
              <a:spcPct val="100000"/>
            </a:pPr>
            <a:r>
              <a:rPr lang="en-GB" b="0" i="1" sz="1300" dirty="0">
                <a:solidFill>
                  <a:srgbClr val="2E75B6"/>
                </a:solidFill>
                <a:latin typeface="Calibri"/>
              </a:rPr>
              <a:t>📚  Full 30-word vocabulary bank in your workbook — Section 4.</a:t>
            </a:r>
          </a:p>
        </p:txBody>
      </p:sp>
    </p:spTree>
  </p:cSld>
  <p:clrMapOvr>
    <a:masterClr/>
  </p:clrMapOvr>
</p:sld>
</file>

<file path=ppt/slides/slide5.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201" name="box2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202" name="box2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203" name="tb2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GRAMMAR RULE</a:t>
            </a:r>
          </a:p>
        </p:txBody>
      </p:sp>
      <p:sp>
        <p:nvSpPr>
          <p:cNvPr id="204" name="box204"/>
          <p:cNvSpPr>
            <a:spLocks noGrp="1"/>
          </p:cNvSpPr>
          <p:nvPr/>
        </p:nvSpPr>
        <p:spPr>
          <a:xfrm>
            <a:off x="180000" y="522000"/>
            <a:ext cx="11832000" cy="396000"/>
          </a:xfrm>
          <a:prstGeom prst="roundRect">
            <a:avLst>
              <a:gd name="adj" fmla="val 10000"/>
            </a:avLst>
          </a:prstGeom>
          <a:solidFill>
            <a:srgbClr val="FFF2CC"/>
          </a:solidFill>
          <a:ln w="12700">
            <a:solidFill>
              <a:srgbClr val="BF8F00"/>
            </a:solidFill>
          </a:ln>
        </p:spPr>
        <p:txBody>
          <a:bodyPr anchor="ctr" wrap="square" lIns="144000" rIns="72000" tIns="54000" bIns="54000"/>
          <a:lstStyle/>
          <a:p>
            <a:pPr algn="l" spcBef="0" spcAft="0">
              <a:spcPct val="100000"/>
            </a:pPr>
            <a:r>
              <a:rPr lang="en-GB" b="1" sz="1700" dirty="0">
                <a:solidFill>
                  <a:srgbClr val="1F3864"/>
                </a:solidFill>
                <a:latin typeface="Calibri"/>
              </a:rPr>
              <a:t>📌  To make a negative in present simple, use do not (don't) or does not (doesn't) + base verb. The main verb has NO -s.</a:t>
            </a:r>
          </a:p>
        </p:txBody>
      </p:sp>
      <p:graphicFrame>
        <p:nvGraphicFramePr>
          <p:cNvPr id="205" name="tbl205"/>
          <p:cNvGraphicFramePr>
            <a:graphicFrameLocks noGrp="1"/>
          </p:cNvGraphicFramePr>
          <p:nvPr/>
        </p:nvGraphicFramePr>
        <p:xfrm>
          <a:off x="180000" y="990000"/>
          <a:ext cx="11832000" cy="5778000"/>
        </p:xfrm>
        <a:graphic>
          <a:graphicData uri="http://schemas.openxmlformats.org/drawingml/2006/table">
            <a:tbl>
              <a:tblPr firstRow="1" bandRow="1">
                <a:tableStyleId>{5C22544A-7EE6-4342-B048-85BDC9FD1C3A}</a:tableStyleId>
              </a:tblPr>
              <a:tblGrid>
                <a:gridCol w="2958000"/>
                <a:gridCol w="2958000"/>
                <a:gridCol w="2958000"/>
                <a:gridCol w="2958000"/>
              </a:tblGrid>
              <a:tr h="1854000">
                <a:tc>
                  <a:txBody>
                    <a:bodyPr/>
                    <a:lstStyle/>
                    <a:p>
                      <a:pPr algn="l"/>
                      <a:r>
                        <a:rPr lang="en-GB" b="1" sz="1400" dirty="0">
                          <a:solidFill>
                            <a:srgbClr val="FFFFFF"/>
                          </a:solidFill>
                          <a:latin typeface="Calibri"/>
                        </a:rPr>
                        <a:t>Subject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Negative (full)</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Negative (contraction)</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Example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1854000">
                <a:tc>
                  <a:txBody>
                    <a:bodyPr/>
                    <a:lstStyle/>
                    <a:p>
                      <a:pPr algn="l"/>
                      <a:r>
                        <a:rPr lang="en-GB" b="1" sz="1400" dirty="0">
                          <a:solidFill>
                            <a:srgbClr val="1F3864"/>
                          </a:solidFill>
                          <a:latin typeface="Calibri"/>
                        </a:rPr>
                        <a:t>I / You / We / They</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do not + base verb</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don't + base verb</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don't like coffee.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854000">
                <a:tc>
                  <a:txBody>
                    <a:bodyPr/>
                    <a:lstStyle/>
                    <a:p>
                      <a:pPr algn="l"/>
                      <a:r>
                        <a:rPr lang="en-GB" b="1" sz="1400" dirty="0">
                          <a:solidFill>
                            <a:srgbClr val="1F3864"/>
                          </a:solidFill>
                          <a:latin typeface="Calibri"/>
                        </a:rPr>
                        <a:t>He / She / It</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does not + base verb</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doesn't + base verb</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She doesn't like tea.</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6.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251" name="box2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252" name="box25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253" name="tb2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SPELLING &amp; USAGE NOTES</a:t>
            </a:r>
          </a:p>
        </p:txBody>
      </p:sp>
      <p:sp>
        <p:nvSpPr>
          <p:cNvPr id="254" name="box254"/>
          <p:cNvSpPr>
            <a:spLocks noGrp="1"/>
          </p:cNvSpPr>
          <p:nvPr/>
        </p:nvSpPr>
        <p:spPr>
          <a:xfrm>
            <a:off x="180000" y="540000"/>
            <a:ext cx="11832000" cy="503999"/>
          </a:xfrm>
          <a:prstGeom prst="rect">
            <a:avLst/>
          </a:prstGeom>
          <a:solidFill>
            <a:srgbClr val="DCE6F1"/>
          </a:solidFill>
          <a:ln w="12700">
            <a:solidFill>
              <a:srgbClr val="1F3864"/>
            </a:solidFill>
          </a:ln>
        </p:spPr>
        <p:txBody>
          <a:bodyPr anchor="ctr" wrap="square" lIns="144000" rIns="72000" tIns="54000" bIns="54000"/>
          <a:lstStyle/>
          <a:p>
            <a:pPr algn="l" spcBef="0" spcAft="0">
              <a:spcPct val="100000"/>
            </a:pPr>
            <a:r>
              <a:rPr lang="en-GB" b="1" sz="1500" dirty="0">
                <a:solidFill>
                  <a:srgbClr val="1F3864"/>
                </a:solidFill>
                <a:latin typeface="Calibri"/>
              </a:rPr>
              <a:t>⚠️  Watch Out!  </a:t>
            </a:r>
            <a:r>
              <a:rPr lang="en-GB" b="0" sz="1400" dirty="0">
                <a:solidFill>
                  <a:srgbClr val="1F3864"/>
                </a:solidFill>
                <a:latin typeface="Calibri"/>
              </a:rPr>
              <a:t>After doesn't, the verb is ALWAYS in the base form. She doesn't LIKES is WRONG. She doesn't LIKE is correct.</a:t>
            </a:r>
          </a:p>
        </p:txBody>
      </p:sp>
      <p:sp>
        <p:nvSpPr>
          <p:cNvPr id="255" name="box255"/>
          <p:cNvSpPr>
            <a:spLocks noGrp="1"/>
          </p:cNvSpPr>
          <p:nvPr/>
        </p:nvSpPr>
        <p:spPr>
          <a:xfrm>
            <a:off x="180000" y="1169998"/>
            <a:ext cx="1260000" cy="216000"/>
          </a:xfrm>
          <a:prstGeom prst="roundRect">
            <a:avLst>
              <a:gd name="adj" fmla="val 10000"/>
            </a:avLst>
          </a:prstGeom>
          <a:solidFill>
            <a:srgbClr val="BF8F00"/>
          </a:solidFill>
          <a:ln w="0">
            <a:noFill/>
          </a:ln>
        </p:spPr>
        <p:txBody>
          <a:bodyPr anchor="ctr" wrap="square" lIns="72000" rIns="72000" tIns="54000" bIns="54000"/>
          <a:lstStyle/>
          <a:p>
            <a:pPr algn="ctr" spcBef="0" spcAft="0">
              <a:spcPct val="100000"/>
            </a:pPr>
            <a:r>
              <a:rPr lang="en-GB" b="1" sz="1400" dirty="0">
                <a:solidFill>
                  <a:srgbClr val="1F3864"/>
                </a:solidFill>
                <a:latin typeface="Calibri"/>
              </a:rPr>
              <a:t>Usage Examples</a:t>
            </a:r>
          </a:p>
        </p:txBody>
      </p:sp>
      <p:sp>
        <p:nvSpPr>
          <p:cNvPr id="256" name="tb256"/>
          <p:cNvSpPr txBox="1">
            <a:spLocks noGrp="1"/>
          </p:cNvSpPr>
          <p:nvPr/>
        </p:nvSpPr>
        <p:spPr>
          <a:xfrm>
            <a:off x="180000" y="1439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Habits: I don't eat breakfast. He doesn't drink coffee.</a:t>
            </a:r>
          </a:p>
        </p:txBody>
      </p:sp>
      <p:sp>
        <p:nvSpPr>
          <p:cNvPr id="257" name="tb257"/>
          <p:cNvSpPr txBox="1">
            <a:spLocks noGrp="1"/>
          </p:cNvSpPr>
          <p:nvPr/>
        </p:nvSpPr>
        <p:spPr>
          <a:xfrm>
            <a:off x="180000" y="1655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Preferences: She doesn't like sport. We don't prefer tea.</a:t>
            </a:r>
          </a:p>
        </p:txBody>
      </p:sp>
      <p:sp>
        <p:nvSpPr>
          <p:cNvPr id="258" name="tb258"/>
          <p:cNvSpPr txBox="1">
            <a:spLocks noGrp="1"/>
          </p:cNvSpPr>
          <p:nvPr/>
        </p:nvSpPr>
        <p:spPr>
          <a:xfrm>
            <a:off x="180000" y="1871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Facts: Penguins don't fly. A cat doesn't swim.</a:t>
            </a:r>
          </a:p>
        </p:txBody>
      </p:sp>
      <p:sp>
        <p:nvSpPr>
          <p:cNvPr id="259" name="tb259"/>
          <p:cNvSpPr txBox="1">
            <a:spLocks noGrp="1"/>
          </p:cNvSpPr>
          <p:nvPr/>
        </p:nvSpPr>
        <p:spPr>
          <a:xfrm>
            <a:off x="180000" y="2087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Routines: They don't work on Sundays. He doesn't drive to work.</a:t>
            </a:r>
          </a:p>
        </p:txBody>
      </p:sp>
    </p:spTree>
  </p:cSld>
  <p:clrMapOvr>
    <a:masterClr/>
  </p:clrMapOvr>
</p:sld>
</file>

<file path=ppt/slides/slide7.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301" name="box3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302" name="box3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303" name="tb3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GUIDED PRACTICE</a:t>
            </a:r>
          </a:p>
        </p:txBody>
      </p:sp>
      <p:sp>
        <p:nvSpPr>
          <p:cNvPr id="304" name="tb30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Make negative sentences using don't or doesn't. Items 1-2 are done for you.</a:t>
            </a:r>
          </a:p>
        </p:txBody>
      </p:sp>
      <p:graphicFrame>
        <p:nvGraphicFramePr>
          <p:cNvPr id="305" name="tbl30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709920"/>
                <a:gridCol w="6152640"/>
                <a:gridCol w="4969440"/>
              </a:tblGrid>
              <a:tr h="11412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Prompt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Answer</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1 ✅</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 like / mornings</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don't like mornings.</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2 ✅</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She / drink / coffee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She doesn't drink coffee.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He / eat / meat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We / live / in London</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8.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351" name="box3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352" name="box35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353" name="tb3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CONTROLLED PRACTICE</a:t>
            </a:r>
          </a:p>
        </p:txBody>
      </p:sp>
      <p:sp>
        <p:nvSpPr>
          <p:cNvPr id="354" name="tb35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Rewrite each affirmative sentence as a negative sentence.</a:t>
            </a:r>
          </a:p>
        </p:txBody>
      </p:sp>
      <p:graphicFrame>
        <p:nvGraphicFramePr>
          <p:cNvPr id="355" name="tbl35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709920"/>
                <a:gridCol w="5561040"/>
                <a:gridCol w="5561040"/>
              </a:tblGrid>
              <a:tr h="9510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Affirmative sentence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Write your answer</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1</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She likes football.</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2</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I eat meat.</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They live in Paris.</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He smokes.</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5</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We travel a lot.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9.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401" name="box4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402" name="box4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403" name="tb4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ERROR CORRECTION</a:t>
            </a:r>
          </a:p>
        </p:txBody>
      </p:sp>
      <p:sp>
        <p:nvSpPr>
          <p:cNvPr id="404" name="tb40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Find and correct the ONE mistake in each sentence.</a:t>
            </a:r>
          </a:p>
        </p:txBody>
      </p:sp>
      <p:graphicFrame>
        <p:nvGraphicFramePr>
          <p:cNvPr id="405" name="tbl40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591600"/>
                <a:gridCol w="5916000"/>
                <a:gridCol w="5324400"/>
              </a:tblGrid>
              <a:tr h="9510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Incorrect Sentence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Corrected Sentence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1</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She don't like coffee.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2</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He doesn't likes football.</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They doesn't eat meat.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I doesn't want to go.</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5</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We not live in London.</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10.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451" name="box4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452" name="box452"/>
          <p:cNvSpPr>
            <a:spLocks noGrp="1"/>
          </p:cNvSpPr>
          <p:nvPr/>
        </p:nvSpPr>
        <p:spPr>
          <a:xfrm>
            <a:off x="0" y="396000"/>
            <a:ext cx="12192000" cy="64800"/>
          </a:xfrm>
          <a:prstGeom prst="rect">
            <a:avLst/>
          </a:prstGeom>
          <a:solidFill>
            <a:srgbClr val="548235"/>
          </a:solidFill>
          <a:ln w="0">
            <a:noFill/>
          </a:ln>
        </p:spPr>
        <p:txBody>
          <a:bodyPr anchor="ctr" wrap="square" lIns="72000" rIns="72000" tIns="54000" bIns="54000"/>
          <a:lstStyle/>
        </p:txBody>
      </p:sp>
      <p:sp>
        <p:nvSpPr>
          <p:cNvPr id="453" name="tb4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SPEAKING ACTIVITY</a:t>
            </a:r>
          </a:p>
        </p:txBody>
      </p:sp>
      <p:sp>
        <p:nvSpPr>
          <p:cNvPr id="454" name="box454"/>
          <p:cNvSpPr>
            <a:spLocks noGrp="1"/>
          </p:cNvSpPr>
          <p:nvPr/>
        </p:nvSpPr>
        <p:spPr>
          <a:xfrm>
            <a:off x="180000" y="522000"/>
            <a:ext cx="11832000" cy="360000"/>
          </a:xfrm>
          <a:prstGeom prst="roundRect">
            <a:avLst>
              <a:gd name="adj" fmla="val 12000"/>
            </a:avLst>
          </a:prstGeom>
          <a:solidFill>
            <a:srgbClr val="548235"/>
          </a:solidFill>
          <a:ln w="0">
            <a:noFill/>
          </a:ln>
        </p:spPr>
        <p:txBody>
          <a:bodyPr anchor="ctr" wrap="square" lIns="180000" rIns="72000" tIns="54000" bIns="54000"/>
          <a:lstStyle/>
          <a:p>
            <a:pPr algn="l" spcBef="0" spcAft="0">
              <a:spcPct val="100000"/>
            </a:pPr>
            <a:r>
              <a:rPr lang="en-GB" b="1" sz="2200" dirty="0">
                <a:solidFill>
                  <a:srgbClr val="FFFFFF"/>
                </a:solidFill>
                <a:latin typeface="Cambria"/>
              </a:rPr>
              <a:t>💬 Find the Difference</a:t>
            </a:r>
          </a:p>
        </p:txBody>
      </p:sp>
      <p:sp>
        <p:nvSpPr>
          <p:cNvPr id="455" name="box455"/>
          <p:cNvSpPr>
            <a:spLocks noGrp="1"/>
          </p:cNvSpPr>
          <p:nvPr/>
        </p:nvSpPr>
        <p:spPr>
          <a:xfrm>
            <a:off x="11112000" y="954000"/>
            <a:ext cx="900000" cy="1260000"/>
          </a:xfrm>
          <a:prstGeom prst="roundRect">
            <a:avLst>
              <a:gd name="adj" fmla="val 20000"/>
            </a:avLst>
          </a:prstGeom>
          <a:solidFill>
            <a:srgbClr val="DCE6F1"/>
          </a:solidFill>
          <a:ln w="0">
            <a:noFill/>
          </a:ln>
        </p:spPr>
        <p:txBody>
          <a:bodyPr anchor="ctr" wrap="square" lIns="72000" rIns="72000" tIns="54000" bIns="54000"/>
          <a:lstStyle/>
          <a:p>
            <a:pPr algn="ctr" spcBef="0" spcAft="0">
              <a:spcPct val="100000"/>
            </a:pPr>
            <a:r>
              <a:rPr lang="en-GB" b="0" sz="6000" dirty="0">
                <a:solidFill>
                  <a:srgbClr val="2E75B6"/>
                </a:solidFill>
                <a:latin typeface="Calibri"/>
              </a:rPr>
              <a:t>💬</a:t>
            </a:r>
          </a:p>
        </p:txBody>
      </p:sp>
      <p:sp>
        <p:nvSpPr>
          <p:cNvPr id="456" name="box456"/>
          <p:cNvSpPr>
            <a:spLocks noGrp="1"/>
          </p:cNvSpPr>
          <p:nvPr/>
        </p:nvSpPr>
        <p:spPr>
          <a:xfrm>
            <a:off x="180000" y="9540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1</a:t>
            </a:r>
          </a:p>
        </p:txBody>
      </p:sp>
      <p:sp>
        <p:nvSpPr>
          <p:cNvPr id="457" name="tb457"/>
          <p:cNvSpPr txBox="1">
            <a:spLocks noGrp="1"/>
          </p:cNvSpPr>
          <p:nvPr/>
        </p:nvSpPr>
        <p:spPr>
          <a:xfrm>
            <a:off x="468000" y="9540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Work in pairs. Tell your partner 4 things you do every day.</a:t>
            </a:r>
          </a:p>
        </p:txBody>
      </p:sp>
      <p:sp>
        <p:nvSpPr>
          <p:cNvPr id="458" name="box458"/>
          <p:cNvSpPr>
            <a:spLocks noGrp="1"/>
          </p:cNvSpPr>
          <p:nvPr/>
        </p:nvSpPr>
        <p:spPr>
          <a:xfrm>
            <a:off x="180000" y="12708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2</a:t>
            </a:r>
          </a:p>
        </p:txBody>
      </p:sp>
      <p:sp>
        <p:nvSpPr>
          <p:cNvPr id="459" name="tb459"/>
          <p:cNvSpPr txBox="1">
            <a:spLocks noGrp="1"/>
          </p:cNvSpPr>
          <p:nvPr/>
        </p:nvSpPr>
        <p:spPr>
          <a:xfrm>
            <a:off x="468000" y="12708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Your partner says what they DON'T do: 'I don't get up early.'</a:t>
            </a:r>
          </a:p>
        </p:txBody>
      </p:sp>
      <p:sp>
        <p:nvSpPr>
          <p:cNvPr id="460" name="box460"/>
          <p:cNvSpPr>
            <a:spLocks noGrp="1"/>
          </p:cNvSpPr>
          <p:nvPr/>
        </p:nvSpPr>
        <p:spPr>
          <a:xfrm>
            <a:off x="180000" y="15876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3</a:t>
            </a:r>
          </a:p>
        </p:txBody>
      </p:sp>
      <p:sp>
        <p:nvSpPr>
          <p:cNvPr id="461" name="tb461"/>
          <p:cNvSpPr txBox="1">
            <a:spLocks noGrp="1"/>
          </p:cNvSpPr>
          <p:nvPr/>
        </p:nvSpPr>
        <p:spPr>
          <a:xfrm>
            <a:off x="468000" y="15876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Find 3 differences between you.</a:t>
            </a:r>
          </a:p>
        </p:txBody>
      </p:sp>
      <p:sp>
        <p:nvSpPr>
          <p:cNvPr id="462" name="box462"/>
          <p:cNvSpPr>
            <a:spLocks noGrp="1"/>
          </p:cNvSpPr>
          <p:nvPr/>
        </p:nvSpPr>
        <p:spPr>
          <a:xfrm>
            <a:off x="180000" y="19044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4</a:t>
            </a:r>
          </a:p>
        </p:txBody>
      </p:sp>
      <p:sp>
        <p:nvSpPr>
          <p:cNvPr id="463" name="tb463"/>
          <p:cNvSpPr txBox="1">
            <a:spLocks noGrp="1"/>
          </p:cNvSpPr>
          <p:nvPr/>
        </p:nvSpPr>
        <p:spPr>
          <a:xfrm>
            <a:off x="468000" y="19044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Report to the class: 'I eat breakfast, but Maria doesn't eat breakfast.'</a:t>
            </a:r>
          </a:p>
        </p:txBody>
      </p:sp>
      <p:sp>
        <p:nvSpPr>
          <p:cNvPr id="464" name="box464"/>
          <p:cNvSpPr>
            <a:spLocks noGrp="1"/>
          </p:cNvSpPr>
          <p:nvPr/>
        </p:nvSpPr>
        <p:spPr>
          <a:xfrm>
            <a:off x="180000" y="6570000"/>
            <a:ext cx="1260000" cy="216000"/>
          </a:xfrm>
          <a:prstGeom prst="roundRect">
            <a:avLst>
              <a:gd name="adj" fmla="val 10000"/>
            </a:avLst>
          </a:prstGeom>
          <a:solidFill>
            <a:srgbClr val="1F3864"/>
          </a:solidFill>
          <a:ln w="0">
            <a:noFill/>
          </a:ln>
        </p:spPr>
        <p:txBody>
          <a:bodyPr anchor="ctr" wrap="square" lIns="72000" rIns="72000" tIns="54000" bIns="54000"/>
          <a:lstStyle/>
          <a:p>
            <a:pPr algn="ctr" spcBef="0" spcAft="0">
              <a:spcPct val="100000"/>
            </a:pPr>
            <a:r>
              <a:rPr lang="en-GB" b="1" sz="1300" dirty="0">
                <a:solidFill>
                  <a:srgbClr val="BF8F00"/>
                </a:solidFill>
                <a:latin typeface="Calibri"/>
              </a:rPr>
              <a:t>👥  Pair Work</a:t>
            </a:r>
          </a:p>
        </p:txBody>
      </p:sp>
    </p:spTree>
  </p:cSld>
  <p:clrMapOvr>
    <a:masterClr/>
  </p:clrMapOvr>
</p:sld>
</file>

<file path=ppt/slides/slide11.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01" name="box5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02" name="box502"/>
          <p:cNvSpPr>
            <a:spLocks noGrp="1"/>
          </p:cNvSpPr>
          <p:nvPr/>
        </p:nvSpPr>
        <p:spPr>
          <a:xfrm>
            <a:off x="0" y="396000"/>
            <a:ext cx="12192000" cy="64800"/>
          </a:xfrm>
          <a:prstGeom prst="rect">
            <a:avLst/>
          </a:prstGeom>
          <a:solidFill>
            <a:srgbClr val="548235"/>
          </a:solidFill>
          <a:ln w="0">
            <a:noFill/>
          </a:ln>
        </p:spPr>
        <p:txBody>
          <a:bodyPr anchor="ctr" wrap="square" lIns="72000" rIns="72000" tIns="54000" bIns="54000"/>
          <a:lstStyle/>
        </p:txBody>
      </p:sp>
      <p:sp>
        <p:nvSpPr>
          <p:cNvPr id="503" name="tb5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READING &amp; WRITING</a:t>
            </a:r>
          </a:p>
        </p:txBody>
      </p:sp>
      <p:sp>
        <p:nvSpPr>
          <p:cNvPr id="504" name="box504"/>
          <p:cNvSpPr>
            <a:spLocks noGrp="1"/>
          </p:cNvSpPr>
          <p:nvPr/>
        </p:nvSpPr>
        <p:spPr>
          <a:xfrm>
            <a:off x="180000" y="540000"/>
            <a:ext cx="900000" cy="198000"/>
          </a:xfrm>
          <a:prstGeom prst="roundRect">
            <a:avLst>
              <a:gd name="adj" fmla="val 10000"/>
            </a:avLst>
          </a:prstGeom>
          <a:solidFill>
            <a:srgbClr val="548235"/>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Reading</a:t>
            </a:r>
          </a:p>
        </p:txBody>
      </p:sp>
      <p:sp>
        <p:nvSpPr>
          <p:cNvPr id="505" name="box505"/>
          <p:cNvSpPr>
            <a:spLocks noGrp="1"/>
          </p:cNvSpPr>
          <p:nvPr/>
        </p:nvSpPr>
        <p:spPr>
          <a:xfrm>
            <a:off x="180000" y="792000"/>
            <a:ext cx="11832000" cy="612000"/>
          </a:xfrm>
          <a:prstGeom prst="rect">
            <a:avLst/>
          </a:prstGeom>
          <a:solidFill>
            <a:srgbClr val="F2F2F2"/>
          </a:solidFill>
          <a:ln w="12700">
            <a:solidFill>
              <a:srgbClr val="CCCCCC"/>
            </a:solidFill>
          </a:ln>
        </p:spPr>
        <p:txBody>
          <a:bodyPr anchor="t" wrap="square" lIns="108000" rIns="72000" tIns="72000" bIns="54000"/>
          <a:lstStyle/>
          <a:p>
            <a:pPr algn="l" spcBef="0" spcAft="0">
              <a:spcPct val="100000"/>
            </a:pPr>
            <a:r>
              <a:rPr lang="en-GB" b="0" i="1" sz="1300" dirty="0">
                <a:solidFill>
                  <a:srgbClr val="404040"/>
                </a:solidFill>
                <a:latin typeface="Calibri"/>
              </a:rPr>
              <a:t>Lisa is a vegetarian. She doesn't eat meat or fish. She doesn't drink milk either. She eats a lot of vegetables and fruit. Her husband, Mark, likes meat but he doesn't cook it at home. They don't argue about food. They both enjoy cooking together. On weekends, they don't eat at home. They go to their favourite restaurant.</a:t>
            </a:r>
          </a:p>
        </p:txBody>
      </p:sp>
      <p:sp>
        <p:nvSpPr>
          <p:cNvPr id="506" name="box506"/>
          <p:cNvSpPr>
            <a:spLocks noGrp="1"/>
          </p:cNvSpPr>
          <p:nvPr/>
        </p:nvSpPr>
        <p:spPr>
          <a:xfrm>
            <a:off x="180000" y="1475999"/>
            <a:ext cx="900000" cy="198000"/>
          </a:xfrm>
          <a:prstGeom prst="roundRect">
            <a:avLst>
              <a:gd name="adj" fmla="val 10000"/>
            </a:avLst>
          </a:prstGeom>
          <a:solidFill>
            <a:srgbClr val="548235"/>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Writing</a:t>
            </a:r>
          </a:p>
        </p:txBody>
      </p:sp>
      <p:sp>
        <p:nvSpPr>
          <p:cNvPr id="507" name="tb507"/>
          <p:cNvSpPr txBox="1">
            <a:spLocks noGrp="1"/>
          </p:cNvSpPr>
          <p:nvPr/>
        </p:nvSpPr>
        <p:spPr>
          <a:xfrm>
            <a:off x="180000" y="1728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548235"/>
                </a:solidFill>
                <a:latin typeface="Calibri"/>
              </a:rPr>
              <a:t>Write 6 negative sentences about yourself or people you know.</a:t>
            </a:r>
          </a:p>
        </p:txBody>
      </p:sp>
      <p:sp>
        <p:nvSpPr>
          <p:cNvPr id="508" name="tb508"/>
          <p:cNvSpPr txBox="1">
            <a:spLocks noGrp="1"/>
          </p:cNvSpPr>
          <p:nvPr/>
        </p:nvSpPr>
        <p:spPr>
          <a:xfrm>
            <a:off x="180000" y="20159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Something you don't eat: I don't eat ___.</a:t>
            </a:r>
          </a:p>
        </p:txBody>
      </p:sp>
      <p:sp>
        <p:nvSpPr>
          <p:cNvPr id="509" name="tb509"/>
          <p:cNvSpPr txBox="1">
            <a:spLocks noGrp="1"/>
          </p:cNvSpPr>
          <p:nvPr/>
        </p:nvSpPr>
        <p:spPr>
          <a:xfrm>
            <a:off x="180000" y="21527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Something you don't do in the morning: I don't ___.</a:t>
            </a:r>
          </a:p>
        </p:txBody>
      </p:sp>
      <p:sp>
        <p:nvSpPr>
          <p:cNvPr id="510" name="tb510"/>
          <p:cNvSpPr txBox="1">
            <a:spLocks noGrp="1"/>
          </p:cNvSpPr>
          <p:nvPr/>
        </p:nvSpPr>
        <p:spPr>
          <a:xfrm>
            <a:off x="180000" y="22895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Something your friend doesn't like: My friend doesn't like ___.</a:t>
            </a:r>
          </a:p>
        </p:txBody>
      </p:sp>
    </p:spTree>
  </p:cSld>
  <p:clrMapOvr>
    <a:masterClr/>
  </p:clrMapOvr>
</p:sld>
</file>

<file path=ppt/slides/slide12.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51" name="box5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52" name="box5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553" name="tb5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HOMEWORK</a:t>
            </a:r>
          </a:p>
        </p:txBody>
      </p:sp>
      <p:sp>
        <p:nvSpPr>
          <p:cNvPr id="554" name="box554"/>
          <p:cNvSpPr>
            <a:spLocks noGrp="1"/>
          </p:cNvSpPr>
          <p:nvPr/>
        </p:nvSpPr>
        <p:spPr>
          <a:xfrm>
            <a:off x="180000" y="540000"/>
            <a:ext cx="432000" cy="432000"/>
          </a:xfrm>
          <a:prstGeom prst="roundRect">
            <a:avLst>
              <a:gd name="adj" fmla="val 50000"/>
            </a:avLst>
          </a:prstGeom>
          <a:solidFill>
            <a:srgbClr val="BF8F00"/>
          </a:solidFill>
          <a:ln w="0">
            <a:noFill/>
          </a:ln>
        </p:spPr>
        <p:txBody>
          <a:bodyPr anchor="ctr" wrap="square" lIns="72000" rIns="72000" tIns="54000" bIns="54000"/>
          <a:lstStyle/>
          <a:p>
            <a:pPr algn="ctr" spcBef="0" spcAft="0">
              <a:spcPct val="100000"/>
            </a:pPr>
            <a:r>
              <a:rPr lang="en-GB" b="1" sz="2800" dirty="0">
                <a:solidFill>
                  <a:srgbClr val="1F3864"/>
                </a:solidFill>
                <a:latin typeface="Cambria"/>
              </a:rPr>
              <a:t>1</a:t>
            </a:r>
          </a:p>
        </p:txBody>
      </p:sp>
      <p:sp>
        <p:nvSpPr>
          <p:cNvPr id="555" name="box555"/>
          <p:cNvSpPr>
            <a:spLocks noGrp="1"/>
          </p:cNvSpPr>
          <p:nvPr/>
        </p:nvSpPr>
        <p:spPr>
          <a:xfrm>
            <a:off x="684000" y="540000"/>
            <a:ext cx="11328000" cy="432000"/>
          </a:xfrm>
          <a:prstGeom prst="rect">
            <a:avLst/>
          </a:prstGeom>
          <a:solidFill>
            <a:srgbClr val="DCE6F1"/>
          </a:solidFill>
          <a:ln w="12700">
            <a:solidFill>
              <a:srgbClr val="2E75B6"/>
            </a:solidFill>
          </a:ln>
        </p:spPr>
        <p:txBody>
          <a:bodyPr anchor="ctr" wrap="square" lIns="108000" rIns="72000" tIns="54000" bIns="54000"/>
          <a:lstStyle/>
          <a:p>
            <a:pPr algn="l" spcBef="0" spcAft="0">
              <a:spcPct val="100000"/>
            </a:pPr>
            <a:r>
              <a:rPr lang="en-GB" b="1" sz="1500" dirty="0">
                <a:solidFill>
                  <a:srgbClr val="1F3864"/>
                </a:solidFill>
                <a:latin typeface="Calibri"/>
              </a:rPr>
              <a:t>Production Task  </a:t>
            </a:r>
            <a:r>
              <a:rPr lang="en-GB" b="0" sz="1400" dirty="0">
                <a:solidFill>
                  <a:srgbClr val="404040"/>
                </a:solidFill>
                <a:latin typeface="Calibri"/>
              </a:rPr>
              <a:t>Write 8 sentences about things people in your family DON'T do. Use don't for I/we/they and doesn't for he/she/it. Example: My mother doesn't eat chocolate. We don't watch TV at night.</a:t>
            </a:r>
          </a:p>
        </p:txBody>
      </p:sp>
      <p:sp>
        <p:nvSpPr>
          <p:cNvPr id="556" name="box556"/>
          <p:cNvSpPr>
            <a:spLocks noGrp="1"/>
          </p:cNvSpPr>
          <p:nvPr/>
        </p:nvSpPr>
        <p:spPr>
          <a:xfrm>
            <a:off x="180000" y="1080000"/>
            <a:ext cx="432000" cy="432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2800" dirty="0">
                <a:solidFill>
                  <a:srgbClr val="FFFFFF"/>
                </a:solidFill>
                <a:latin typeface="Cambria"/>
              </a:rPr>
              <a:t>2</a:t>
            </a:r>
          </a:p>
        </p:txBody>
      </p:sp>
      <p:sp>
        <p:nvSpPr>
          <p:cNvPr id="557" name="box557"/>
          <p:cNvSpPr>
            <a:spLocks noGrp="1"/>
          </p:cNvSpPr>
          <p:nvPr/>
        </p:nvSpPr>
        <p:spPr>
          <a:xfrm>
            <a:off x="684000" y="1080000"/>
            <a:ext cx="11328000" cy="432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1" sz="1500" dirty="0">
                <a:solidFill>
                  <a:srgbClr val="1F3864"/>
                </a:solidFill>
                <a:latin typeface="Calibri"/>
              </a:rPr>
              <a:t>Vocabulary Consolidation  </a:t>
            </a:r>
            <a:r>
              <a:rPr lang="en-GB" b="0" sz="1400" dirty="0">
                <a:solidFill>
                  <a:srgbClr val="404040"/>
                </a:solidFill>
                <a:latin typeface="Calibri"/>
              </a:rPr>
              <a:t>Choose 10 words from the vocabulary list. Write one affirmative sentence and one negative sentence for each word. Example: like -&gt; I like pizza. / I don't like fish.</a:t>
            </a:r>
          </a:p>
        </p:txBody>
      </p:sp>
      <p:sp>
        <p:nvSpPr>
          <p:cNvPr id="558" name="box558"/>
          <p:cNvSpPr>
            <a:spLocks noGrp="1"/>
          </p:cNvSpPr>
          <p:nvPr/>
        </p:nvSpPr>
        <p:spPr>
          <a:xfrm>
            <a:off x="180000" y="6498000"/>
            <a:ext cx="1440000" cy="216000"/>
          </a:xfrm>
          <a:prstGeom prst="roundRect">
            <a:avLst>
              <a:gd name="adj" fmla="val 10000"/>
            </a:avLst>
          </a:prstGeom>
          <a:solidFill>
            <a:srgbClr val="1F3864"/>
          </a:solidFill>
          <a:ln w="0">
            <a:noFill/>
          </a:ln>
        </p:spPr>
        <p:txBody>
          <a:bodyPr anchor="ctr" wrap="square" lIns="72000" rIns="72000" tIns="54000" bIns="54000"/>
          <a:lstStyle/>
          <a:p>
            <a:pPr algn="ctr" spcBef="0" spcAft="0">
              <a:spcPct val="100000"/>
            </a:pPr>
            <a:r>
              <a:rPr lang="en-GB" b="1" sz="1300" dirty="0">
                <a:solidFill>
                  <a:srgbClr val="BF8F00"/>
                </a:solidFill>
                <a:latin typeface="Calibri"/>
              </a:rPr>
              <a:t>📅  Due: next class</a:t>
            </a:r>
          </a:p>
        </p:txBody>
      </p:sp>
    </p:spTree>
  </p:cSld>
  <p:clrMapOvr>
    <a:masterClr/>
  </p:clrMapOvr>
</p:sld>
</file>

<file path=ppt/slides/slide13.xml><?xml version="1.0" encoding="utf-8"?>
<p:sld xmlns:p="http://schemas.openxmlformats.org/presentationml/2006/main" xmlns:a="http://schemas.openxmlformats.org/drawingml/2006/main" xmlns:r="http://schemas.openxmlformats.org/officeDocument/2006/relationships" xmlns:dc="http://purl.org/dc/elements/1.1/">
  <p:cSld>
    <p:bg>
      <p:bgPr>
        <a:solidFill>
          <a:srgbClr val="1F3864"/>
        </a:solidFill>
        <a:effectLst/>
      </p:bgPr>
    </p:bg>
    <p:spTree>
      <p:nvGrpSpPr>
        <p:cNvPr id="1" name="content"/>
        <p:cNvGrpSpPr/>
        <p:nvPr/>
      </p:nvGrpSpPr>
      <p:grpSpPr>
        <a:xfrm>
          <a:off x="0" y="0"/>
          <a:ext cx="12192000" cy="6858000"/>
          <a:chOff x="0" y="0"/>
          <a:chExt cx="12192000" cy="6858000"/>
        </a:xfrm>
      </p:grpSpPr>
      <p:sp>
        <p:nvSpPr>
          <p:cNvPr id="601" name="shape601"/>
          <p:cNvSpPr>
            <a:spLocks noGrp="1"/>
          </p:cNvSpPr>
          <p:nvPr/>
        </p:nvSpPr>
        <p:spPr>
          <a:xfrm>
            <a:off x="0" y="0"/>
            <a:ext cx="12192000" cy="6858000"/>
          </a:xfrm>
          <a:prstGeom prst="rect">
            <a:avLst/>
          </a:prstGeom>
          <a:gradFill rot="1">
            <a:gsLst>
              <a:gs pos="0">
                <a:srgbClr val="1F3864"/>
              </a:gs>
              <a:gs pos="100000">
                <a:srgbClr val="0D2245"/>
              </a:gs>
            </a:gsLst>
            <a:lin ang="5400000" scaled="0"/>
          </a:gradFill>
        </p:spPr>
        <p:txBody>
          <a:bodyPr/>
          <a:lstStyle/>
          <a:p/>
        </p:txBody>
      </p:sp>
      <p:sp>
        <p:nvSpPr>
          <p:cNvPr id="602" name="shape602"/>
          <p:cNvSpPr>
            <a:spLocks noGrp="1"/>
          </p:cNvSpPr>
          <p:nvPr/>
        </p:nvSpPr>
        <p:spPr>
          <a:xfrm>
            <a:off x="0" y="0"/>
            <a:ext cx="12192000" cy="108000"/>
          </a:xfrm>
          <a:prstGeom prst="rect">
            <a:avLst/>
          </a:prstGeom>
          <a:solidFill>
            <a:srgbClr val="BF8F00"/>
          </a:solidFill>
        </p:spPr>
        <p:txBody>
          <a:bodyPr/>
          <a:lstStyle/>
          <a:p/>
        </p:txBody>
      </p:sp>
      <p:sp>
        <p:nvSpPr>
          <p:cNvPr id="603" name="shape603"/>
          <p:cNvSpPr>
            <a:spLocks noGrp="1"/>
          </p:cNvSpPr>
          <p:nvPr/>
        </p:nvSpPr>
        <p:spPr>
          <a:xfrm>
            <a:off x="0" y="6750000"/>
            <a:ext cx="12192000" cy="108000"/>
          </a:xfrm>
          <a:prstGeom prst="rect">
            <a:avLst/>
          </a:prstGeom>
          <a:solidFill>
            <a:srgbClr val="BF8F00"/>
          </a:solidFill>
        </p:spPr>
        <p:txBody>
          <a:bodyPr/>
          <a:lstStyle/>
          <a:p/>
        </p:txBody>
      </p:sp>
      <p:sp>
        <p:nvSpPr>
          <p:cNvPr id="604" name="shape604"/>
          <p:cNvSpPr>
            <a:spLocks noGrp="1"/>
          </p:cNvSpPr>
          <p:nvPr/>
        </p:nvSpPr>
        <p:spPr>
          <a:xfrm>
            <a:off x="0" y="0"/>
            <a:ext cx="144000" cy="6858000"/>
          </a:xfrm>
          <a:prstGeom prst="rect">
            <a:avLst/>
          </a:prstGeom>
          <a:solidFill>
            <a:srgbClr val="BF8F00"/>
          </a:solidFill>
        </p:spPr>
        <p:txBody>
          <a:bodyPr/>
          <a:lstStyle/>
          <a:p/>
        </p:txBody>
      </p:sp>
      <p:sp>
        <p:nvSpPr>
          <p:cNvPr id="605" name="box605"/>
          <p:cNvSpPr>
            <a:spLocks noGrp="1"/>
          </p:cNvSpPr>
          <p:nvPr/>
        </p:nvSpPr>
        <p:spPr>
          <a:xfrm>
            <a:off x="432000" y="432000"/>
            <a:ext cx="1800000" cy="324000"/>
          </a:xfrm>
          <a:prstGeom prst="roundRect">
            <a:avLst>
              <a:gd name="adj" fmla="val 20000"/>
            </a:avLst>
          </a:prstGeom>
          <a:solidFill>
            <a:srgbClr val="BF8F00"/>
          </a:solidFill>
          <a:ln w="0">
            <a:noFill/>
          </a:ln>
        </p:spPr>
        <p:txBody>
          <a:bodyPr anchor="ctr" wrap="square" lIns="72000" rIns="72000" tIns="54000" bIns="54000"/>
          <a:lstStyle/>
          <a:p>
            <a:pPr algn="ctr" spcBef="0" spcAft="0">
              <a:spcPct val="100000"/>
            </a:pPr>
            <a:r>
              <a:rPr lang="en-GB" b="1" sz="1600" dirty="0">
                <a:solidFill>
                  <a:srgbClr val="1F3864"/>
                </a:solidFill>
                <a:latin typeface="Cambria"/>
              </a:rPr>
              <a:t>UNIT 6  ·  A1</a:t>
            </a:r>
          </a:p>
        </p:txBody>
      </p:sp>
      <p:sp>
        <p:nvSpPr>
          <p:cNvPr id="606" name="tb606"/>
          <p:cNvSpPr txBox="1">
            <a:spLocks noGrp="1"/>
          </p:cNvSpPr>
          <p:nvPr/>
        </p:nvSpPr>
        <p:spPr>
          <a:xfrm>
            <a:off x="432000" y="827999"/>
            <a:ext cx="11472000" cy="900000"/>
          </a:xfrm>
          <a:prstGeom prst="rect">
            <a:avLst/>
          </a:prstGeom>
          <a:noFill/>
        </p:spPr>
        <p:txBody>
          <a:bodyPr anchor="t" wrap="square" lIns="36000" rIns="36000" tIns="36000" bIns="36000"/>
          <a:lstStyle/>
          <a:p>
            <a:pPr algn="l" spcBef="0" spcAft="0">
              <a:spcPct val="100000"/>
            </a:pPr>
            <a:r>
              <a:rPr lang="en-GB" b="1" sz="3600" dirty="0">
                <a:solidFill>
                  <a:srgbClr val="FFFFFF"/>
                </a:solidFill>
                <a:latin typeface="Cambria"/>
              </a:rPr>
              <a:t>Present Simple — Negative</a:t>
            </a:r>
          </a:p>
        </p:txBody>
      </p:sp>
      <p:sp>
        <p:nvSpPr>
          <p:cNvPr id="607" name="tb607"/>
          <p:cNvSpPr txBox="1">
            <a:spLocks noGrp="1"/>
          </p:cNvSpPr>
          <p:nvPr/>
        </p:nvSpPr>
        <p:spPr>
          <a:xfrm>
            <a:off x="432000" y="1800000"/>
            <a:ext cx="11472000" cy="324000"/>
          </a:xfrm>
          <a:prstGeom prst="rect">
            <a:avLst/>
          </a:prstGeom>
          <a:noFill/>
        </p:spPr>
        <p:txBody>
          <a:bodyPr anchor="ctr" wrap="square" lIns="36000" rIns="36000" tIns="36000" bIns="36000"/>
          <a:lstStyle/>
          <a:p>
            <a:pPr algn="l" spcBef="0" spcAft="0">
              <a:spcPct val="100000"/>
            </a:pPr>
            <a:r>
              <a:rPr lang="en-GB" b="0" i="1" sz="1600" dirty="0">
                <a:solidFill>
                  <a:srgbClr val="BF8F00"/>
                </a:solidFill>
                <a:latin typeface="Calibri"/>
              </a:rPr>
              <a:t>✦  Grammar is not a rule — it is a tool. Use it!</a:t>
            </a:r>
          </a:p>
        </p:txBody>
      </p:sp>
      <p:sp>
        <p:nvSpPr>
          <p:cNvPr id="608" name="box608"/>
          <p:cNvSpPr>
            <a:spLocks noGrp="1"/>
          </p:cNvSpPr>
          <p:nvPr/>
        </p:nvSpPr>
        <p:spPr>
          <a:xfrm>
            <a:off x="10752000" y="6462000"/>
            <a:ext cx="1260000" cy="234000"/>
          </a:xfrm>
          <a:prstGeom prst="roundRect">
            <a:avLst>
              <a:gd name="adj" fmla="val 10000"/>
            </a:avLst>
          </a:prstGeom>
          <a:solidFill>
            <a:srgbClr val="2E75B6"/>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See you next class! 👋</a:t>
            </a:r>
          </a:p>
        </p:txBody>
      </p:sp>
    </p:spTree>
  </p:cSld>
  <p:clrMapOvr>
    <a:masterClr/>
  </p:clrMapOvr>
</p:sld>
</file>