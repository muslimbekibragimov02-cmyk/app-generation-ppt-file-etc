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s>
</file>

<file path=ppt/presentation.xml><?xml version="1.0" encoding="utf-8"?>
<p:presentation xmlns:p="http://schemas.openxmlformats.org/presentationml/2006/main" xmlns:a="http://schemas.openxmlformats.org/drawingml/2006/main" xmlns:r="http://schemas.openxmlformats.org/officeDocument/2006/relationships" saveSubsetFonts="1">
  <p:sldMasterIdLst>
    <p:sldMasterId id="2147483648" r:id="rId0"/>
  </p:sldMasterIdLst>
  <p:sldIdLst>
    <p:sldId id="256" r:id="rId1"/>
    <p:sldId id="257" r:id="rId2"/>
    <p:sldId id="258" r:id="rId3"/>
    <p:sldId id="259" r:id="rId4"/>
    <p:sldId id="260" r:id="rId5"/>
    <p:sldId id="261" r:id="rId6"/>
    <p:sldId id="262" r:id="rId7"/>
    <p:sldId id="263" r:id="rId8"/>
    <p:sldId id="264" r:id="rId9"/>
    <p:sldId id="265" r:id="rId10"/>
    <p:sldId id="266" r:id="rId11"/>
    <p:sldId id="267" r:id="rId12"/>
    <p:sldId id="268" r:id="rId13"/>
  </p:sldIdLst>
  <p:sldSz cx="12192000" cy="6858000" type="screen16x9"/>
  <p:notesSz cx="6858000" cy="12192000"/>
</p:presentation>
</file>

<file path=ppt/_rels/presentation.xml.rels><?xml version="1.0" encoding="UTF-8" standalone="yes"?>
<Relationships xmlns="http://schemas.openxmlformats.org/package/2006/relationships">
  <Relationship Id="rId0"
    Type="http://schemas.openxmlformats.org/officeDocument/2006/relationships/slideMaster"
    Target="slideMasters/slideMaster1.xml"/>
  <Relationship Id="rId1"
    Type="http://schemas.openxmlformats.org/officeDocument/2006/relationships/slide"
    Target="slides/slide1.xml"/>
  <Relationship Id="rId2"
    Type="http://schemas.openxmlformats.org/officeDocument/2006/relationships/slide"
    Target="slides/slide2.xml"/>
  <Relationship Id="rId3"
    Type="http://schemas.openxmlformats.org/officeDocument/2006/relationships/slide"
    Target="slides/slide3.xml"/>
  <Relationship Id="rId4"
    Type="http://schemas.openxmlformats.org/officeDocument/2006/relationships/slide"
    Target="slides/slide4.xml"/>
  <Relationship Id="rId5"
    Type="http://schemas.openxmlformats.org/officeDocument/2006/relationships/slide"
    Target="slides/slide5.xml"/>
  <Relationship Id="rId6"
    Type="http://schemas.openxmlformats.org/officeDocument/2006/relationships/slide"
    Target="slides/slide6.xml"/>
  <Relationship Id="rId7"
    Type="http://schemas.openxmlformats.org/officeDocument/2006/relationships/slide"
    Target="slides/slide7.xml"/>
  <Relationship Id="rId8"
    Type="http://schemas.openxmlformats.org/officeDocument/2006/relationships/slide"
    Target="slides/slide8.xml"/>
  <Relationship Id="rId9"
    Type="http://schemas.openxmlformats.org/officeDocument/2006/relationships/slide"
    Target="slides/slide9.xml"/>
  <Relationship Id="rId10"
    Type="http://schemas.openxmlformats.org/officeDocument/2006/relationships/slide"
    Target="slides/slide10.xml"/>
  <Relationship Id="rId11"
    Type="http://schemas.openxmlformats.org/officeDocument/2006/relationships/slide"
    Target="slides/slide11.xml"/>
  <Relationship Id="rId12"
    Type="http://schemas.openxmlformats.org/officeDocument/2006/relationships/slide"
    Target="slides/slide12.xml"/>
  <Relationship Id="rId13"
    Type="http://schemas.openxmlformats.org/officeDocument/2006/relationships/slide"
    Target="slides/slide13.xml"/>
</Relationships>
</file>

<file path=ppt/slideLayouts/_rels/slideLayout1.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p="http://schemas.openxmlformats.org/presentationml/2006/main" xmlns:a="http://schemas.openxmlformats.org/drawingml/2006/main" xmlns:r="http://schemas.openxmlformats.org/officeDocument/2006/relationships" type="blank" preserve="1">
  <p:cSld name="Blank">
    <p:spTree>
      <p:nvGrpSpPr>
        <p:cNvPr id="1" name=""/>
        <p:cNvGrpSpPr/>
        <p:nvPr/>
      </p:nvGrpSpPr>
      <p:grpSpPr>
        <a:xfrm>
          <a:off x="0" y="0"/>
          <a:ext cx="12192000" cy="6858000"/>
          <a:chOff x="0" y="0"/>
          <a:chExt cx="12192000" cy="6858000"/>
        </a:xfrm>
      </p:grpSpPr>
    </p:spTree>
  </p:cSld>
  <p:clrMapOvr>
    <a:masterClr/>
  </p:clrMapOvr>
</p:sldLayout>
</file>

<file path=ppt/slideMasters/_rels/slideMaster1.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Masters/slideMaster1.xml><?xml version="1.0" encoding="utf-8"?>
<p:sldMaster xmlns:p="http://schemas.openxmlformats.org/presentationml/2006/main" xmlns:a="http://schemas.openxmlformats.org/drawingml/2006/main" xmlns:r="http://schemas.openxmlformats.org/officeDocument/2006/relationships">
  <p:cSld>
    <p:spTree>
      <p:nvGrpSpPr>
        <p:cNvPr id="1" name=""/>
        <p:cNvGrpSpPr/>
        <p:nvPr/>
      </p:nvGrpSpPr>
      <p:grpSpPr>
        <a:xfrm>
          <a:off x="0" y="0"/>
          <a:ext cx="12192000" cy="6858000"/>
          <a:chOff x="0" y="0"/>
          <a:chExt cx="12192000" cy="6858000"/>
        </a:xfrm>
      </p:grpSpPr>
    </p:spTree>
  </p:cSld>
  <p:clrMap bg1="lt1" tx1="dk1" bg2="lt2" tx2="dk2" accent1="accent1" accent2="accent2" accent3="accent3" accent4="accent4" accent5="accent5" accent6="accent6" hlink="hlink" folHlink="folHlink"/>
  <p:sldLayoutIdLst>
    <p:sldLayoutId id="2147483649" r:id="rId1"/>
  </p:sldLayoutIdLst>
  <p:txStyles>
    <p:titleStyle>
      <a:lstStyle/>
    </p:titleStyle>
    <p:bodyStyle>
      <a:lstStyle/>
    </p:bodyStyle>
    <p:otherStyle>
      <a:lstStyle/>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xml"/>
</Relationships>
</file>

<file path=ppt/slides/slide1.xml><?xml version="1.0" encoding="utf-8"?>
<p:sld xmlns:p="http://schemas.openxmlformats.org/presentationml/2006/main" xmlns:a="http://schemas.openxmlformats.org/drawingml/2006/main" xmlns:r="http://schemas.openxmlformats.org/officeDocument/2006/relationships" xmlns:dc="http://purl.org/dc/elements/1.1/">
  <p:cSld>
    <p:bg>
      <p:bgPr>
        <a:solidFill>
          <a:srgbClr val="1F3864"/>
        </a:solidFill>
        <a:effectLst/>
      </p:bgPr>
    </p:bg>
    <p:spTree>
      <p:nvGrpSpPr>
        <p:cNvPr id="1" name="content"/>
        <p:cNvGrpSpPr/>
        <p:nvPr/>
      </p:nvGrpSpPr>
      <p:grpSpPr>
        <a:xfrm>
          <a:off x="0" y="0"/>
          <a:ext cx="12192000" cy="6858000"/>
          <a:chOff x="0" y="0"/>
          <a:chExt cx="12192000" cy="6858000"/>
        </a:xfrm>
      </p:grpSpPr>
      <p:sp>
        <p:nvSpPr>
          <p:cNvPr id="11" name="shape11"/>
          <p:cNvSpPr>
            <a:spLocks noGrp="1"/>
          </p:cNvSpPr>
          <p:nvPr/>
        </p:nvSpPr>
        <p:spPr>
          <a:xfrm>
            <a:off x="0" y="0"/>
            <a:ext cx="12192000" cy="6858000"/>
          </a:xfrm>
          <a:prstGeom prst="rect">
            <a:avLst/>
          </a:prstGeom>
          <a:gradFill rot="1">
            <a:gsLst>
              <a:gs pos="0">
                <a:srgbClr val="1F3864"/>
              </a:gs>
              <a:gs pos="100000">
                <a:srgbClr val="0D2245"/>
              </a:gs>
            </a:gsLst>
            <a:lin ang="5400000" scaled="0"/>
          </a:gradFill>
        </p:spPr>
        <p:txBody>
          <a:bodyPr/>
          <a:lstStyle/>
          <a:p/>
        </p:txBody>
      </p:sp>
      <p:sp>
        <p:nvSpPr>
          <p:cNvPr id="12" name="shape12"/>
          <p:cNvSpPr>
            <a:spLocks noGrp="1"/>
          </p:cNvSpPr>
          <p:nvPr/>
        </p:nvSpPr>
        <p:spPr>
          <a:xfrm>
            <a:off x="0" y="0"/>
            <a:ext cx="144000" cy="6858000"/>
          </a:xfrm>
          <a:prstGeom prst="rect">
            <a:avLst/>
          </a:prstGeom>
          <a:solidFill>
            <a:srgbClr val="BF8F00"/>
          </a:solidFill>
        </p:spPr>
        <p:txBody>
          <a:bodyPr/>
          <a:lstStyle/>
          <a:p/>
        </p:txBody>
      </p:sp>
      <p:sp>
        <p:nvSpPr>
          <p:cNvPr id="13" name="shape13"/>
          <p:cNvSpPr>
            <a:spLocks noGrp="1"/>
          </p:cNvSpPr>
          <p:nvPr/>
        </p:nvSpPr>
        <p:spPr>
          <a:xfrm>
            <a:off x="0" y="0"/>
            <a:ext cx="12192000" cy="108000"/>
          </a:xfrm>
          <a:prstGeom prst="rect">
            <a:avLst/>
          </a:prstGeom>
          <a:solidFill>
            <a:srgbClr val="BF8F00"/>
          </a:solidFill>
        </p:spPr>
        <p:txBody>
          <a:bodyPr/>
          <a:lstStyle/>
          <a:p/>
        </p:txBody>
      </p:sp>
      <p:sp>
        <p:nvSpPr>
          <p:cNvPr id="14" name="box14"/>
          <p:cNvSpPr>
            <a:spLocks noGrp="1"/>
          </p:cNvSpPr>
          <p:nvPr/>
        </p:nvSpPr>
        <p:spPr>
          <a:xfrm>
            <a:off x="432000" y="468000"/>
            <a:ext cx="1800000" cy="324000"/>
          </a:xfrm>
          <a:prstGeom prst="roundRect">
            <a:avLst>
              <a:gd name="adj" fmla="val 20000"/>
            </a:avLst>
          </a:prstGeom>
          <a:solidFill>
            <a:srgbClr val="BF8F00"/>
          </a:solidFill>
          <a:ln w="0">
            <a:noFill/>
          </a:ln>
        </p:spPr>
        <p:txBody>
          <a:bodyPr anchor="ctr" wrap="square" lIns="72000" rIns="72000" tIns="54000" bIns="54000"/>
          <a:lstStyle/>
          <a:p>
            <a:pPr algn="ctr" spcBef="0" spcAft="0">
              <a:spcPct val="100000"/>
            </a:pPr>
            <a:r>
              <a:rPr lang="en-GB" b="1" sz="1600" dirty="0">
                <a:solidFill>
                  <a:srgbClr val="1F3864"/>
                </a:solidFill>
                <a:latin typeface="Cambria"/>
              </a:rPr>
              <a:t>UNIT 6  ·  A1</a:t>
            </a:r>
          </a:p>
        </p:txBody>
      </p:sp>
      <p:sp>
        <p:nvSpPr>
          <p:cNvPr id="15" name="tb15"/>
          <p:cNvSpPr txBox="1">
            <a:spLocks noGrp="1"/>
          </p:cNvSpPr>
          <p:nvPr/>
        </p:nvSpPr>
        <p:spPr>
          <a:xfrm>
            <a:off x="432000" y="900000"/>
            <a:ext cx="11472000" cy="288000"/>
          </a:xfrm>
          <a:prstGeom prst="rect">
            <a:avLst/>
          </a:prstGeom>
          <a:noFill/>
        </p:spPr>
        <p:txBody>
          <a:bodyPr anchor="ctr" wrap="square" lIns="36000" rIns="36000" tIns="36000" bIns="36000"/>
          <a:lstStyle/>
          <a:p>
            <a:pPr algn="l" spcBef="0" spcAft="0">
              <a:spcPct val="100000"/>
            </a:pPr>
            <a:r>
              <a:rPr lang="en-GB" b="0" sz="1500" dirty="0">
                <a:solidFill>
                  <a:srgbClr val="BFC9D6"/>
                </a:solidFill>
                <a:latin typeface="Calibri"/>
              </a:rPr>
              <a:t>English Grammar in Action — Level 1</a:t>
            </a:r>
          </a:p>
        </p:txBody>
      </p:sp>
      <p:sp>
        <p:nvSpPr>
          <p:cNvPr id="16" name="tb16"/>
          <p:cNvSpPr txBox="1">
            <a:spLocks noGrp="1"/>
          </p:cNvSpPr>
          <p:nvPr/>
        </p:nvSpPr>
        <p:spPr>
          <a:xfrm>
            <a:off x="432000" y="1188000"/>
            <a:ext cx="11472000" cy="1080000"/>
          </a:xfrm>
          <a:prstGeom prst="rect">
            <a:avLst/>
          </a:prstGeom>
          <a:noFill/>
        </p:spPr>
        <p:txBody>
          <a:bodyPr anchor="t" wrap="square" lIns="36000" rIns="36000" tIns="36000" bIns="36000"/>
          <a:lstStyle/>
          <a:p>
            <a:pPr algn="l" spcBef="0" spcAft="0">
              <a:spcPct val="100000"/>
            </a:pPr>
            <a:r>
              <a:rPr lang="en-GB" b="1" sz="4000" dirty="0">
                <a:solidFill>
                  <a:srgbClr val="FFFFFF"/>
                </a:solidFill>
                <a:latin typeface="Cambria"/>
              </a:rPr>
              <a:t>Present Simple — Negative</a:t>
            </a:r>
          </a:p>
        </p:txBody>
      </p:sp>
      <p:sp>
        <p:nvSpPr>
          <p:cNvPr id="17" name="tb17"/>
          <p:cNvSpPr txBox="1">
            <a:spLocks noGrp="1"/>
          </p:cNvSpPr>
          <p:nvPr/>
        </p:nvSpPr>
        <p:spPr>
          <a:xfrm>
            <a:off x="432000" y="2088000"/>
            <a:ext cx="11472000" cy="360000"/>
          </a:xfrm>
          <a:prstGeom prst="rect">
            <a:avLst/>
          </a:prstGeom>
          <a:noFill/>
        </p:spPr>
        <p:txBody>
          <a:bodyPr anchor="ctr" wrap="square" lIns="36000" rIns="36000" tIns="36000" bIns="36000"/>
          <a:lstStyle/>
          <a:p>
            <a:pPr algn="l" spcBef="0" spcAft="0">
              <a:spcPct val="100000"/>
            </a:pPr>
            <a:r>
              <a:rPr lang="en-GB" b="0" i="1" sz="1700" dirty="0">
                <a:solidFill>
                  <a:srgbClr val="DCE6F1"/>
                </a:solidFill>
                <a:latin typeface="Calibri"/>
              </a:rPr>
              <a:t>don't / doesn't + base form; I don't like / He doesn't like; common errors (NOT doesn't speaks)</a:t>
            </a:r>
          </a:p>
        </p:txBody>
      </p:sp>
      <p:sp>
        <p:nvSpPr>
          <p:cNvPr id="18" name="shape18"/>
          <p:cNvSpPr>
            <a:spLocks noGrp="1"/>
          </p:cNvSpPr>
          <p:nvPr/>
        </p:nvSpPr>
        <p:spPr>
          <a:xfrm>
            <a:off x="0" y="6768000"/>
            <a:ext cx="12192000" cy="90000"/>
          </a:xfrm>
          <a:prstGeom prst="rect">
            <a:avLst/>
          </a:prstGeom>
          <a:solidFill>
            <a:srgbClr val="BF8F00"/>
          </a:solidFill>
        </p:spPr>
        <p:txBody>
          <a:bodyPr/>
          <a:lstStyle/>
          <a:p/>
        </p:txBody>
      </p:sp>
      <p:sp>
        <p:nvSpPr>
          <p:cNvPr id="19" name="box19"/>
          <p:cNvSpPr>
            <a:spLocks noGrp="1"/>
          </p:cNvSpPr>
          <p:nvPr/>
        </p:nvSpPr>
        <p:spPr>
          <a:xfrm>
            <a:off x="11112000" y="6354001"/>
            <a:ext cx="936000" cy="360000"/>
          </a:xfrm>
          <a:prstGeom prst="roundRect">
            <a:avLst>
              <a:gd name="adj" fmla="val 20000"/>
            </a:avLst>
          </a:prstGeom>
          <a:solidFill>
            <a:srgbClr val="2E75B6"/>
          </a:solidFill>
          <a:ln w="0">
            <a:noFill/>
          </a:ln>
        </p:spPr>
        <p:txBody>
          <a:bodyPr anchor="ctr" wrap="square" lIns="72000" rIns="72000" tIns="54000" bIns="54000"/>
          <a:lstStyle/>
          <a:p>
            <a:pPr algn="ctr" spcBef="0" spcAft="0">
              <a:spcPct val="100000"/>
            </a:pPr>
            <a:r>
              <a:rPr lang="en-GB" b="1" sz="1400" dirty="0">
                <a:solidFill>
                  <a:srgbClr val="FFFFFF"/>
                </a:solidFill>
                <a:latin typeface="Calibri"/>
              </a:rPr>
              <a:t>CEFR  A1</a:t>
            </a:r>
          </a:p>
        </p:txBody>
      </p:sp>
    </p:spTree>
  </p:cSld>
  <p:clrMapOvr>
    <a:masterClr/>
  </p:clrMapOvr>
</p:sld>
</file>

<file path=ppt/slides/slide2.xml><?xml version="1.0" encoding="utf-8"?>
<p:sld xmlns:p="http://schemas.openxmlformats.org/presentationml/2006/main" xmlns:a="http://schemas.openxmlformats.org/drawingml/2006/main" xmlns:r="http://schemas.openxmlformats.org/officeDocument/2006/relationships" xmlns:dc="http://purl.org/dc/elements/1.1/">
  <p:cSld>
    <p:spTree>
      <p:nvGrpSpPr>
        <p:cNvPr id="1" name="content"/>
        <p:cNvGrpSpPr/>
        <p:nvPr/>
      </p:nvGrpSpPr>
      <p:grpSpPr>
        <a:xfrm>
          <a:off x="0" y="0"/>
          <a:ext cx="12192000" cy="6858000"/>
          <a:chOff x="0" y="0"/>
          <a:chExt cx="12192000" cy="6858000"/>
        </a:xfrm>
      </p:grpSpPr>
      <p:sp>
        <p:nvSpPr>
          <p:cNvPr id="51" name="box51"/>
          <p:cNvSpPr>
            <a:spLocks noGrp="1"/>
          </p:cNvSpPr>
          <p:nvPr/>
        </p:nvSpPr>
        <p:spPr>
          <a:xfrm>
            <a:off x="0" y="0"/>
            <a:ext cx="12192000" cy="396000"/>
          </a:xfrm>
          <a:prstGeom prst="rect">
            <a:avLst/>
          </a:prstGeom>
          <a:solidFill>
            <a:srgbClr val="1F3864"/>
          </a:solidFill>
          <a:ln w="0">
            <a:noFill/>
          </a:ln>
        </p:spPr>
        <p:txBody>
          <a:bodyPr anchor="ctr" wrap="square" lIns="72000" rIns="72000" tIns="54000" bIns="54000"/>
          <a:lstStyle/>
        </p:txBody>
      </p:sp>
      <p:sp>
        <p:nvSpPr>
          <p:cNvPr id="52" name="box52"/>
          <p:cNvSpPr>
            <a:spLocks noGrp="1"/>
          </p:cNvSpPr>
          <p:nvPr/>
        </p:nvSpPr>
        <p:spPr>
          <a:xfrm>
            <a:off x="0" y="396000"/>
            <a:ext cx="12192000" cy="64800"/>
          </a:xfrm>
          <a:prstGeom prst="rect">
            <a:avLst/>
          </a:prstGeom>
          <a:solidFill>
            <a:srgbClr val="2E75B6"/>
          </a:solidFill>
          <a:ln w="0">
            <a:noFill/>
          </a:ln>
        </p:spPr>
        <p:txBody>
          <a:bodyPr anchor="ctr" wrap="square" lIns="72000" rIns="72000" tIns="54000" bIns="54000"/>
          <a:lstStyle/>
        </p:txBody>
      </p:sp>
      <p:sp>
        <p:nvSpPr>
          <p:cNvPr id="53" name="tb53"/>
          <p:cNvSpPr txBox="1">
            <a:spLocks noGrp="1"/>
          </p:cNvSpPr>
          <p:nvPr/>
        </p:nvSpPr>
        <p:spPr>
          <a:xfrm>
            <a:off x="180000" y="21600"/>
            <a:ext cx="11832000" cy="360000"/>
          </a:xfrm>
          <a:prstGeom prst="rect">
            <a:avLst/>
          </a:prstGeom>
          <a:noFill/>
        </p:spPr>
        <p:txBody>
          <a:bodyPr anchor="ctr" wrap="square" lIns="36000" rIns="36000" tIns="36000" bIns="36000"/>
          <a:lstStyle/>
          <a:p>
            <a:pPr algn="l" spcBef="0" spcAft="0">
              <a:spcPct val="100000"/>
            </a:pPr>
            <a:r>
              <a:rPr lang="en-GB" b="1" sz="2200" dirty="0">
                <a:solidFill>
                  <a:srgbClr val="BF8F00"/>
                </a:solidFill>
                <a:latin typeface="Cambria"/>
              </a:rPr>
              <a:t>🎯  </a:t>
            </a:r>
            <a:r>
              <a:rPr lang="en-GB" b="1" sz="2200" dirty="0">
                <a:solidFill>
                  <a:srgbClr val="FFFFFF"/>
                </a:solidFill>
                <a:latin typeface="Cambria"/>
              </a:rPr>
              <a:t>LEARNING OBJECTIVES</a:t>
            </a:r>
          </a:p>
        </p:txBody>
      </p:sp>
      <p:sp>
        <p:nvSpPr>
          <p:cNvPr id="54" name="box54"/>
          <p:cNvSpPr>
            <a:spLocks noGrp="1"/>
          </p:cNvSpPr>
          <p:nvPr/>
        </p:nvSpPr>
        <p:spPr>
          <a:xfrm>
            <a:off x="180000" y="540000"/>
            <a:ext cx="306000" cy="3060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0" sz="1800" dirty="0">
                <a:solidFill>
                  <a:srgbClr val="FFFFFF"/>
                </a:solidFill>
                <a:latin typeface="Calibri"/>
              </a:rPr>
              <a:t>📌</a:t>
            </a:r>
          </a:p>
        </p:txBody>
      </p:sp>
      <p:sp>
        <p:nvSpPr>
          <p:cNvPr id="55" name="box55"/>
          <p:cNvSpPr>
            <a:spLocks noGrp="1"/>
          </p:cNvSpPr>
          <p:nvPr/>
        </p:nvSpPr>
        <p:spPr>
          <a:xfrm>
            <a:off x="558000" y="540000"/>
            <a:ext cx="11616000" cy="306000"/>
          </a:xfrm>
          <a:prstGeom prst="rect">
            <a:avLst/>
          </a:prstGeom>
          <a:solidFill>
            <a:srgbClr val="F2F2F2"/>
          </a:solidFill>
          <a:ln w="12700">
            <a:solidFill>
              <a:srgbClr val="CCCCCC"/>
            </a:solidFill>
          </a:ln>
        </p:spPr>
        <p:txBody>
          <a:bodyPr anchor="ctr" wrap="square" lIns="108000" rIns="72000" tIns="54000" bIns="54000"/>
          <a:lstStyle/>
          <a:p>
            <a:pPr algn="l" spcBef="0" spcAft="0">
              <a:spcPct val="100000"/>
            </a:pPr>
            <a:r>
              <a:rPr lang="en-GB" b="0" sz="1500" dirty="0">
                <a:solidFill>
                  <a:srgbClr val="1F3864"/>
                </a:solidFill>
                <a:latin typeface="Calibri"/>
              </a:rPr>
              <a:t>Form negative sentences with don't (do not) for I/you/we/they.</a:t>
            </a:r>
          </a:p>
        </p:txBody>
      </p:sp>
      <p:sp>
        <p:nvSpPr>
          <p:cNvPr id="56" name="box56"/>
          <p:cNvSpPr>
            <a:spLocks noGrp="1"/>
          </p:cNvSpPr>
          <p:nvPr/>
        </p:nvSpPr>
        <p:spPr>
          <a:xfrm>
            <a:off x="180000" y="925200"/>
            <a:ext cx="306000" cy="3060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0" sz="1800" dirty="0">
                <a:solidFill>
                  <a:srgbClr val="FFFFFF"/>
                </a:solidFill>
                <a:latin typeface="Calibri"/>
              </a:rPr>
              <a:t>✏️</a:t>
            </a:r>
          </a:p>
        </p:txBody>
      </p:sp>
      <p:sp>
        <p:nvSpPr>
          <p:cNvPr id="57" name="box57"/>
          <p:cNvSpPr>
            <a:spLocks noGrp="1"/>
          </p:cNvSpPr>
          <p:nvPr/>
        </p:nvSpPr>
        <p:spPr>
          <a:xfrm>
            <a:off x="558000" y="925200"/>
            <a:ext cx="11616000" cy="306000"/>
          </a:xfrm>
          <a:prstGeom prst="rect">
            <a:avLst/>
          </a:prstGeom>
          <a:solidFill>
            <a:srgbClr val="F2F2F2"/>
          </a:solidFill>
          <a:ln w="12700">
            <a:solidFill>
              <a:srgbClr val="CCCCCC"/>
            </a:solidFill>
          </a:ln>
        </p:spPr>
        <p:txBody>
          <a:bodyPr anchor="ctr" wrap="square" lIns="108000" rIns="72000" tIns="54000" bIns="54000"/>
          <a:lstStyle/>
          <a:p>
            <a:pPr algn="l" spcBef="0" spcAft="0">
              <a:spcPct val="100000"/>
            </a:pPr>
            <a:r>
              <a:rPr lang="en-GB" b="0" sz="1500" dirty="0">
                <a:solidFill>
                  <a:srgbClr val="1F3864"/>
                </a:solidFill>
                <a:latin typeface="Calibri"/>
              </a:rPr>
              <a:t>Form negative sentences with doesn't (does not) for he/she/it.</a:t>
            </a:r>
          </a:p>
        </p:txBody>
      </p:sp>
      <p:sp>
        <p:nvSpPr>
          <p:cNvPr id="58" name="box58"/>
          <p:cNvSpPr>
            <a:spLocks noGrp="1"/>
          </p:cNvSpPr>
          <p:nvPr/>
        </p:nvSpPr>
        <p:spPr>
          <a:xfrm>
            <a:off x="180000" y="1310400"/>
            <a:ext cx="306000" cy="3060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0" sz="1800" dirty="0">
                <a:solidFill>
                  <a:srgbClr val="FFFFFF"/>
                </a:solidFill>
                <a:latin typeface="Calibri"/>
              </a:rPr>
              <a:t>🔍</a:t>
            </a:r>
          </a:p>
        </p:txBody>
      </p:sp>
      <p:sp>
        <p:nvSpPr>
          <p:cNvPr id="59" name="box59"/>
          <p:cNvSpPr>
            <a:spLocks noGrp="1"/>
          </p:cNvSpPr>
          <p:nvPr/>
        </p:nvSpPr>
        <p:spPr>
          <a:xfrm>
            <a:off x="558000" y="1310400"/>
            <a:ext cx="11616000" cy="306000"/>
          </a:xfrm>
          <a:prstGeom prst="rect">
            <a:avLst/>
          </a:prstGeom>
          <a:solidFill>
            <a:srgbClr val="F2F2F2"/>
          </a:solidFill>
          <a:ln w="12700">
            <a:solidFill>
              <a:srgbClr val="CCCCCC"/>
            </a:solidFill>
          </a:ln>
        </p:spPr>
        <p:txBody>
          <a:bodyPr anchor="ctr" wrap="square" lIns="108000" rIns="72000" tIns="54000" bIns="54000"/>
          <a:lstStyle/>
          <a:p>
            <a:pPr algn="l" spcBef="0" spcAft="0">
              <a:spcPct val="100000"/>
            </a:pPr>
            <a:r>
              <a:rPr lang="en-GB" b="0" sz="1500" dirty="0">
                <a:solidFill>
                  <a:srgbClr val="1F3864"/>
                </a:solidFill>
                <a:latin typeface="Calibri"/>
              </a:rPr>
              <a:t>Understand that the main verb stays in the base form after don't/doesn't.</a:t>
            </a:r>
          </a:p>
        </p:txBody>
      </p:sp>
      <p:sp>
        <p:nvSpPr>
          <p:cNvPr id="60" name="box60"/>
          <p:cNvSpPr>
            <a:spLocks noGrp="1"/>
          </p:cNvSpPr>
          <p:nvPr/>
        </p:nvSpPr>
        <p:spPr>
          <a:xfrm>
            <a:off x="180000" y="1695600"/>
            <a:ext cx="306000" cy="3060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0" sz="1800" dirty="0">
                <a:solidFill>
                  <a:srgbClr val="FFFFFF"/>
                </a:solidFill>
                <a:latin typeface="Calibri"/>
              </a:rPr>
              <a:t>💡</a:t>
            </a:r>
          </a:p>
        </p:txBody>
      </p:sp>
      <p:sp>
        <p:nvSpPr>
          <p:cNvPr id="61" name="box61"/>
          <p:cNvSpPr>
            <a:spLocks noGrp="1"/>
          </p:cNvSpPr>
          <p:nvPr/>
        </p:nvSpPr>
        <p:spPr>
          <a:xfrm>
            <a:off x="558000" y="1695600"/>
            <a:ext cx="11616000" cy="306000"/>
          </a:xfrm>
          <a:prstGeom prst="rect">
            <a:avLst/>
          </a:prstGeom>
          <a:solidFill>
            <a:srgbClr val="F2F2F2"/>
          </a:solidFill>
          <a:ln w="12700">
            <a:solidFill>
              <a:srgbClr val="CCCCCC"/>
            </a:solidFill>
          </a:ln>
        </p:spPr>
        <p:txBody>
          <a:bodyPr anchor="ctr" wrap="square" lIns="108000" rIns="72000" tIns="54000" bIns="54000"/>
          <a:lstStyle/>
          <a:p>
            <a:pPr algn="l" spcBef="0" spcAft="0">
              <a:spcPct val="100000"/>
            </a:pPr>
            <a:r>
              <a:rPr lang="en-GB" b="0" sz="1500" dirty="0">
                <a:solidFill>
                  <a:srgbClr val="1F3864"/>
                </a:solidFill>
                <a:latin typeface="Calibri"/>
              </a:rPr>
              <a:t>Avoid the common error: He doesn't likes (incorrect) vs He doesn't like (correct).</a:t>
            </a:r>
          </a:p>
        </p:txBody>
      </p:sp>
      <p:sp>
        <p:nvSpPr>
          <p:cNvPr id="62" name="box62"/>
          <p:cNvSpPr>
            <a:spLocks noGrp="1"/>
          </p:cNvSpPr>
          <p:nvPr/>
        </p:nvSpPr>
        <p:spPr>
          <a:xfrm>
            <a:off x="180000" y="2080800"/>
            <a:ext cx="306000" cy="3060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0" sz="1800" dirty="0">
                <a:solidFill>
                  <a:srgbClr val="FFFFFF"/>
                </a:solidFill>
                <a:latin typeface="Calibri"/>
              </a:rPr>
              <a:t>🗣️</a:t>
            </a:r>
          </a:p>
        </p:txBody>
      </p:sp>
      <p:sp>
        <p:nvSpPr>
          <p:cNvPr id="63" name="box63"/>
          <p:cNvSpPr>
            <a:spLocks noGrp="1"/>
          </p:cNvSpPr>
          <p:nvPr/>
        </p:nvSpPr>
        <p:spPr>
          <a:xfrm>
            <a:off x="558000" y="2080800"/>
            <a:ext cx="11616000" cy="306000"/>
          </a:xfrm>
          <a:prstGeom prst="rect">
            <a:avLst/>
          </a:prstGeom>
          <a:solidFill>
            <a:srgbClr val="F2F2F2"/>
          </a:solidFill>
          <a:ln w="12700">
            <a:solidFill>
              <a:srgbClr val="CCCCCC"/>
            </a:solidFill>
          </a:ln>
        </p:spPr>
        <p:txBody>
          <a:bodyPr anchor="ctr" wrap="square" lIns="108000" rIns="72000" tIns="54000" bIns="54000"/>
          <a:lstStyle/>
          <a:p>
            <a:pPr algn="l" spcBef="0" spcAft="0">
              <a:spcPct val="100000"/>
            </a:pPr>
            <a:r>
              <a:rPr lang="en-GB" b="0" sz="1500" dirty="0">
                <a:solidFill>
                  <a:srgbClr val="1F3864"/>
                </a:solidFill>
                <a:latin typeface="Calibri"/>
              </a:rPr>
              <a:t>Express likes, dislikes, and habits in the negative form.</a:t>
            </a:r>
          </a:p>
        </p:txBody>
      </p:sp>
    </p:spTree>
  </p:cSld>
  <p:clrMapOvr>
    <a:masterClr/>
  </p:clrMapOvr>
</p:sld>
</file>

<file path=ppt/slides/slide3.xml><?xml version="1.0" encoding="utf-8"?>
<p:sld xmlns:p="http://schemas.openxmlformats.org/presentationml/2006/main" xmlns:a="http://schemas.openxmlformats.org/drawingml/2006/main" xmlns:r="http://schemas.openxmlformats.org/officeDocument/2006/relationships" xmlns:dc="http://purl.org/dc/elements/1.1/">
  <p:cSld>
    <p:spTree>
      <p:nvGrpSpPr>
        <p:cNvPr id="1" name="content"/>
        <p:cNvGrpSpPr/>
        <p:nvPr/>
      </p:nvGrpSpPr>
      <p:grpSpPr>
        <a:xfrm>
          <a:off x="0" y="0"/>
          <a:ext cx="12192000" cy="6858000"/>
          <a:chOff x="0" y="0"/>
          <a:chExt cx="12192000" cy="6858000"/>
        </a:xfrm>
      </p:grpSpPr>
      <p:sp>
        <p:nvSpPr>
          <p:cNvPr id="101" name="box101"/>
          <p:cNvSpPr>
            <a:spLocks noGrp="1"/>
          </p:cNvSpPr>
          <p:nvPr/>
        </p:nvSpPr>
        <p:spPr>
          <a:xfrm>
            <a:off x="0" y="0"/>
            <a:ext cx="12192000" cy="396000"/>
          </a:xfrm>
          <a:prstGeom prst="rect">
            <a:avLst/>
          </a:prstGeom>
          <a:solidFill>
            <a:srgbClr val="1F3864"/>
          </a:solidFill>
          <a:ln w="0">
            <a:noFill/>
          </a:ln>
        </p:spPr>
        <p:txBody>
          <a:bodyPr anchor="ctr" wrap="square" lIns="72000" rIns="72000" tIns="54000" bIns="54000"/>
          <a:lstStyle/>
        </p:txBody>
      </p:sp>
      <p:sp>
        <p:nvSpPr>
          <p:cNvPr id="102" name="box102"/>
          <p:cNvSpPr>
            <a:spLocks noGrp="1"/>
          </p:cNvSpPr>
          <p:nvPr/>
        </p:nvSpPr>
        <p:spPr>
          <a:xfrm>
            <a:off x="0" y="396000"/>
            <a:ext cx="12192000" cy="64800"/>
          </a:xfrm>
          <a:prstGeom prst="rect">
            <a:avLst/>
          </a:prstGeom>
          <a:solidFill>
            <a:srgbClr val="BF8F00"/>
          </a:solidFill>
          <a:ln w="0">
            <a:noFill/>
          </a:ln>
        </p:spPr>
        <p:txBody>
          <a:bodyPr anchor="ctr" wrap="square" lIns="72000" rIns="72000" tIns="54000" bIns="54000"/>
          <a:lstStyle/>
        </p:txBody>
      </p:sp>
      <p:sp>
        <p:nvSpPr>
          <p:cNvPr id="103" name="tb103"/>
          <p:cNvSpPr txBox="1">
            <a:spLocks noGrp="1"/>
          </p:cNvSpPr>
          <p:nvPr/>
        </p:nvSpPr>
        <p:spPr>
          <a:xfrm>
            <a:off x="180000" y="21600"/>
            <a:ext cx="11832000" cy="360000"/>
          </a:xfrm>
          <a:prstGeom prst="rect">
            <a:avLst/>
          </a:prstGeom>
          <a:noFill/>
        </p:spPr>
        <p:txBody>
          <a:bodyPr anchor="ctr" wrap="square" lIns="36000" rIns="36000" tIns="36000" bIns="36000"/>
          <a:lstStyle/>
          <a:p>
            <a:pPr algn="l" spcBef="0" spcAft="0">
              <a:spcPct val="100000"/>
            </a:pPr>
            <a:r>
              <a:rPr lang="en-GB" b="1" sz="2200" dirty="0">
                <a:solidFill>
                  <a:srgbClr val="BF8F00"/>
                </a:solidFill>
                <a:latin typeface="Cambria"/>
              </a:rPr>
              <a:t>⚡  </a:t>
            </a:r>
            <a:r>
              <a:rPr lang="en-GB" b="1" sz="2200" dirty="0">
                <a:solidFill>
                  <a:srgbClr val="FFFFFF"/>
                </a:solidFill>
                <a:latin typeface="Cambria"/>
              </a:rPr>
              <a:t>WARM-UP ACTIVITY</a:t>
            </a:r>
          </a:p>
        </p:txBody>
      </p:sp>
      <p:sp>
        <p:nvSpPr>
          <p:cNvPr id="104" name="box104"/>
          <p:cNvSpPr>
            <a:spLocks noGrp="1"/>
          </p:cNvSpPr>
          <p:nvPr/>
        </p:nvSpPr>
        <p:spPr>
          <a:xfrm>
            <a:off x="180000" y="540000"/>
            <a:ext cx="11832000" cy="396000"/>
          </a:xfrm>
          <a:prstGeom prst="roundRect">
            <a:avLst>
              <a:gd name="adj" fmla="val 15000"/>
            </a:avLst>
          </a:prstGeom>
          <a:solidFill>
            <a:srgbClr val="BF8F00"/>
          </a:solidFill>
          <a:ln w="0">
            <a:noFill/>
          </a:ln>
        </p:spPr>
        <p:txBody>
          <a:bodyPr anchor="ctr" wrap="square" lIns="180000" rIns="72000" tIns="54000" bIns="54000"/>
          <a:lstStyle/>
          <a:p>
            <a:pPr algn="l" spcBef="0" spcAft="0">
              <a:spcPct val="100000"/>
            </a:pPr>
            <a:r>
              <a:rPr lang="en-GB" b="1" sz="2400" dirty="0">
                <a:solidFill>
                  <a:srgbClr val="1F3864"/>
                </a:solidFill>
                <a:latin typeface="Cambria"/>
              </a:rPr>
              <a:t>🚫 I Don't Do That!</a:t>
            </a:r>
          </a:p>
        </p:txBody>
      </p:sp>
      <p:sp>
        <p:nvSpPr>
          <p:cNvPr id="105" name="box105"/>
          <p:cNvSpPr>
            <a:spLocks noGrp="1"/>
          </p:cNvSpPr>
          <p:nvPr/>
        </p:nvSpPr>
        <p:spPr>
          <a:xfrm>
            <a:off x="11040000" y="540000"/>
            <a:ext cx="972000" cy="396000"/>
          </a:xfrm>
          <a:prstGeom prst="roundRect">
            <a:avLst>
              <a:gd name="adj" fmla="val 15000"/>
            </a:avLst>
          </a:prstGeom>
          <a:solidFill>
            <a:srgbClr val="1F3864"/>
          </a:solidFill>
          <a:ln w="0">
            <a:noFill/>
          </a:ln>
        </p:spPr>
        <p:txBody>
          <a:bodyPr anchor="ctr" wrap="square" lIns="72000" rIns="72000" tIns="54000" bIns="54000"/>
          <a:lstStyle/>
          <a:p>
            <a:pPr algn="ctr" spcBef="0" spcAft="0">
              <a:spcPct val="100000"/>
            </a:pPr>
            <a:r>
              <a:rPr lang="en-GB" b="1" sz="1500" dirty="0">
                <a:solidFill>
                  <a:srgbClr val="BF8F00"/>
                </a:solidFill>
                <a:latin typeface="Calibri"/>
              </a:rPr>
              <a:t>⏱  5 minutes</a:t>
            </a:r>
          </a:p>
        </p:txBody>
      </p:sp>
      <p:sp>
        <p:nvSpPr>
          <p:cNvPr id="106" name="box106"/>
          <p:cNvSpPr>
            <a:spLocks noGrp="1"/>
          </p:cNvSpPr>
          <p:nvPr/>
        </p:nvSpPr>
        <p:spPr>
          <a:xfrm>
            <a:off x="180000" y="1026000"/>
            <a:ext cx="251999" cy="3240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1" sz="1600" dirty="0">
                <a:solidFill>
                  <a:srgbClr val="FFFFFF"/>
                </a:solidFill>
                <a:latin typeface="Calibri"/>
              </a:rPr>
              <a:t>1</a:t>
            </a:r>
          </a:p>
        </p:txBody>
      </p:sp>
      <p:sp>
        <p:nvSpPr>
          <p:cNvPr id="107" name="tb107"/>
          <p:cNvSpPr txBox="1">
            <a:spLocks noGrp="1"/>
          </p:cNvSpPr>
          <p:nvPr/>
        </p:nvSpPr>
        <p:spPr>
          <a:xfrm>
            <a:off x="503999" y="1026000"/>
            <a:ext cx="11508000" cy="324000"/>
          </a:xfrm>
          <a:prstGeom prst="rect">
            <a:avLst/>
          </a:prstGeom>
          <a:noFill/>
        </p:spPr>
        <p:txBody>
          <a:bodyPr anchor="ctr" wrap="square" lIns="36000" rIns="36000" tIns="36000" bIns="36000"/>
          <a:lstStyle/>
          <a:p>
            <a:pPr algn="l" spcBef="0" spcAft="0">
              <a:spcPct val="100000"/>
            </a:pPr>
            <a:r>
              <a:rPr lang="en-GB" b="0" sz="1500" dirty="0">
                <a:solidFill>
                  <a:srgbClr val="404040"/>
                </a:solidFill>
                <a:latin typeface="Calibri"/>
              </a:rPr>
              <a:t>Teacher says a sentence: 'I eat pizza every day.' Students who don't say: 'I DON'T eat pizza every day.'</a:t>
            </a:r>
          </a:p>
        </p:txBody>
      </p:sp>
      <p:sp>
        <p:nvSpPr>
          <p:cNvPr id="108" name="box108"/>
          <p:cNvSpPr>
            <a:spLocks noGrp="1"/>
          </p:cNvSpPr>
          <p:nvPr/>
        </p:nvSpPr>
        <p:spPr>
          <a:xfrm>
            <a:off x="180000" y="1458000"/>
            <a:ext cx="251999" cy="3240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1" sz="1600" dirty="0">
                <a:solidFill>
                  <a:srgbClr val="FFFFFF"/>
                </a:solidFill>
                <a:latin typeface="Calibri"/>
              </a:rPr>
              <a:t>2</a:t>
            </a:r>
          </a:p>
        </p:txBody>
      </p:sp>
      <p:sp>
        <p:nvSpPr>
          <p:cNvPr id="109" name="tb109"/>
          <p:cNvSpPr txBox="1">
            <a:spLocks noGrp="1"/>
          </p:cNvSpPr>
          <p:nvPr/>
        </p:nvSpPr>
        <p:spPr>
          <a:xfrm>
            <a:off x="503999" y="1458000"/>
            <a:ext cx="11508000" cy="324000"/>
          </a:xfrm>
          <a:prstGeom prst="rect">
            <a:avLst/>
          </a:prstGeom>
          <a:noFill/>
        </p:spPr>
        <p:txBody>
          <a:bodyPr anchor="ctr" wrap="square" lIns="36000" rIns="36000" tIns="36000" bIns="36000"/>
          <a:lstStyle/>
          <a:p>
            <a:pPr algn="l" spcBef="0" spcAft="0">
              <a:spcPct val="100000"/>
            </a:pPr>
            <a:r>
              <a:rPr lang="en-GB" b="0" sz="1500" dirty="0">
                <a:solidFill>
                  <a:srgbClr val="404040"/>
                </a:solidFill>
                <a:latin typeface="Calibri"/>
              </a:rPr>
              <a:t>Students take turns making positive statements; classmates who disagree stand up and say the negative.</a:t>
            </a:r>
          </a:p>
        </p:txBody>
      </p:sp>
      <p:sp>
        <p:nvSpPr>
          <p:cNvPr id="110" name="box110"/>
          <p:cNvSpPr>
            <a:spLocks noGrp="1"/>
          </p:cNvSpPr>
          <p:nvPr/>
        </p:nvSpPr>
        <p:spPr>
          <a:xfrm>
            <a:off x="180000" y="1890000"/>
            <a:ext cx="251999" cy="3240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1" sz="1600" dirty="0">
                <a:solidFill>
                  <a:srgbClr val="FFFFFF"/>
                </a:solidFill>
                <a:latin typeface="Calibri"/>
              </a:rPr>
              <a:t>3</a:t>
            </a:r>
          </a:p>
        </p:txBody>
      </p:sp>
      <p:sp>
        <p:nvSpPr>
          <p:cNvPr id="111" name="tb111"/>
          <p:cNvSpPr txBox="1">
            <a:spLocks noGrp="1"/>
          </p:cNvSpPr>
          <p:nvPr/>
        </p:nvSpPr>
        <p:spPr>
          <a:xfrm>
            <a:off x="503999" y="1890000"/>
            <a:ext cx="11508000" cy="324000"/>
          </a:xfrm>
          <a:prstGeom prst="rect">
            <a:avLst/>
          </a:prstGeom>
          <a:noFill/>
        </p:spPr>
        <p:txBody>
          <a:bodyPr anchor="ctr" wrap="square" lIns="36000" rIns="36000" tIns="36000" bIns="36000"/>
          <a:lstStyle/>
          <a:p>
            <a:pPr algn="l" spcBef="0" spcAft="0">
              <a:spcPct val="100000"/>
            </a:pPr>
            <a:r>
              <a:rPr lang="en-GB" b="0" sz="1500" dirty="0">
                <a:solidFill>
                  <a:srgbClr val="404040"/>
                </a:solidFill>
                <a:latin typeface="Calibri"/>
              </a:rPr>
              <a:t>Keep it fast! If you are too slow, you sit down.</a:t>
            </a:r>
          </a:p>
        </p:txBody>
      </p:sp>
    </p:spTree>
  </p:cSld>
  <p:clrMapOvr>
    <a:masterClr/>
  </p:clrMapOvr>
</p:sld>
</file>

<file path=ppt/slides/slide4.xml><?xml version="1.0" encoding="utf-8"?>
<p:sld xmlns:p="http://schemas.openxmlformats.org/presentationml/2006/main" xmlns:a="http://schemas.openxmlformats.org/drawingml/2006/main" xmlns:r="http://schemas.openxmlformats.org/officeDocument/2006/relationships" xmlns:dc="http://purl.org/dc/elements/1.1/">
  <p:cSld>
    <p:spTree>
      <p:nvGrpSpPr>
        <p:cNvPr id="1" name="content"/>
        <p:cNvGrpSpPr/>
        <p:nvPr/>
      </p:nvGrpSpPr>
      <p:grpSpPr>
        <a:xfrm>
          <a:off x="0" y="0"/>
          <a:ext cx="12192000" cy="6858000"/>
          <a:chOff x="0" y="0"/>
          <a:chExt cx="12192000" cy="6858000"/>
        </a:xfrm>
      </p:grpSpPr>
      <p:sp>
        <p:nvSpPr>
          <p:cNvPr id="151" name="box151"/>
          <p:cNvSpPr>
            <a:spLocks noGrp="1"/>
          </p:cNvSpPr>
          <p:nvPr/>
        </p:nvSpPr>
        <p:spPr>
          <a:xfrm>
            <a:off x="0" y="0"/>
            <a:ext cx="12192000" cy="396000"/>
          </a:xfrm>
          <a:prstGeom prst="rect">
            <a:avLst/>
          </a:prstGeom>
          <a:solidFill>
            <a:srgbClr val="1F3864"/>
          </a:solidFill>
          <a:ln w="0">
            <a:noFill/>
          </a:ln>
        </p:spPr>
        <p:txBody>
          <a:bodyPr anchor="ctr" wrap="square" lIns="72000" rIns="72000" tIns="54000" bIns="54000"/>
          <a:lstStyle/>
        </p:txBody>
      </p:sp>
      <p:sp>
        <p:nvSpPr>
          <p:cNvPr id="152" name="box152"/>
          <p:cNvSpPr>
            <a:spLocks noGrp="1"/>
          </p:cNvSpPr>
          <p:nvPr/>
        </p:nvSpPr>
        <p:spPr>
          <a:xfrm>
            <a:off x="0" y="396000"/>
            <a:ext cx="12192000" cy="64800"/>
          </a:xfrm>
          <a:prstGeom prst="rect">
            <a:avLst/>
          </a:prstGeom>
          <a:solidFill>
            <a:srgbClr val="2E75B6"/>
          </a:solidFill>
          <a:ln w="0">
            <a:noFill/>
          </a:ln>
        </p:spPr>
        <p:txBody>
          <a:bodyPr anchor="ctr" wrap="square" lIns="72000" rIns="72000" tIns="54000" bIns="54000"/>
          <a:lstStyle/>
        </p:txBody>
      </p:sp>
      <p:sp>
        <p:nvSpPr>
          <p:cNvPr id="153" name="tb153"/>
          <p:cNvSpPr txBox="1">
            <a:spLocks noGrp="1"/>
          </p:cNvSpPr>
          <p:nvPr/>
        </p:nvSpPr>
        <p:spPr>
          <a:xfrm>
            <a:off x="180000" y="21600"/>
            <a:ext cx="11832000" cy="360000"/>
          </a:xfrm>
          <a:prstGeom prst="rect">
            <a:avLst/>
          </a:prstGeom>
          <a:noFill/>
        </p:spPr>
        <p:txBody>
          <a:bodyPr anchor="ctr" wrap="square" lIns="36000" rIns="36000" tIns="36000" bIns="36000"/>
          <a:lstStyle/>
          <a:p>
            <a:pPr algn="l" spcBef="0" spcAft="0">
              <a:spcPct val="100000"/>
            </a:pPr>
            <a:r>
              <a:rPr lang="en-GB" b="1" sz="2200" dirty="0">
                <a:solidFill>
                  <a:srgbClr val="BF8F00"/>
                </a:solidFill>
                <a:latin typeface="Cambria"/>
              </a:rPr>
              <a:t>📖  </a:t>
            </a:r>
            <a:r>
              <a:rPr lang="en-GB" b="1" sz="2200" dirty="0">
                <a:solidFill>
                  <a:srgbClr val="FFFFFF"/>
                </a:solidFill>
                <a:latin typeface="Cambria"/>
              </a:rPr>
              <a:t>VOCABULARY PREVIEW</a:t>
            </a:r>
          </a:p>
        </p:txBody>
      </p:sp>
      <p:sp>
        <p:nvSpPr>
          <p:cNvPr id="154" name="box154"/>
          <p:cNvSpPr>
            <a:spLocks noGrp="1"/>
          </p:cNvSpPr>
          <p:nvPr/>
        </p:nvSpPr>
        <p:spPr>
          <a:xfrm>
            <a:off x="180000" y="540000"/>
            <a:ext cx="792000" cy="280800"/>
          </a:xfrm>
          <a:prstGeom prst="roundRect">
            <a:avLst>
              <a:gd name="adj" fmla="val 12000"/>
            </a:avLst>
          </a:prstGeom>
          <a:solidFill>
            <a:srgbClr val="1F3864"/>
          </a:solidFill>
          <a:ln w="0">
            <a:noFill/>
          </a:ln>
        </p:spPr>
        <p:txBody>
          <a:bodyPr anchor="ctr" wrap="square" lIns="72000" rIns="72000" tIns="54000" bIns="54000"/>
          <a:lstStyle/>
          <a:p>
            <a:pPr algn="ctr" spcBef="0" spcAft="0">
              <a:spcPct val="100000"/>
            </a:pPr>
            <a:r>
              <a:rPr lang="en-GB" b="1" sz="1500" dirty="0">
                <a:solidFill>
                  <a:srgbClr val="FFFFFF"/>
                </a:solidFill>
                <a:latin typeface="Calibri"/>
              </a:rPr>
              <a:t>hate</a:t>
            </a:r>
          </a:p>
        </p:txBody>
      </p:sp>
      <p:sp>
        <p:nvSpPr>
          <p:cNvPr id="155" name="box155"/>
          <p:cNvSpPr>
            <a:spLocks noGrp="1"/>
          </p:cNvSpPr>
          <p:nvPr/>
        </p:nvSpPr>
        <p:spPr>
          <a:xfrm>
            <a:off x="1007999" y="540000"/>
            <a:ext cx="468000" cy="280800"/>
          </a:xfrm>
          <a:prstGeom prst="roundRect">
            <a:avLst>
              <a:gd name="adj" fmla="val 12000"/>
            </a:avLst>
          </a:prstGeom>
          <a:solidFill>
            <a:srgbClr val="BF8F00"/>
          </a:solidFill>
          <a:ln w="0">
            <a:noFill/>
          </a:ln>
        </p:spPr>
        <p:txBody>
          <a:bodyPr anchor="ctr" wrap="square" lIns="72000" rIns="72000" tIns="54000" bIns="54000"/>
          <a:lstStyle/>
          <a:p>
            <a:pPr algn="ctr" spcBef="0" spcAft="0">
              <a:spcPct val="100000"/>
            </a:pPr>
            <a:r>
              <a:rPr lang="en-GB" b="1" sz="1200" dirty="0">
                <a:solidFill>
                  <a:srgbClr val="1F3864"/>
                </a:solidFill>
                <a:latin typeface="Calibri"/>
              </a:rPr>
              <a:t>ver</a:t>
            </a:r>
          </a:p>
        </p:txBody>
      </p:sp>
      <p:sp>
        <p:nvSpPr>
          <p:cNvPr id="156" name="box156"/>
          <p:cNvSpPr>
            <a:spLocks noGrp="1"/>
          </p:cNvSpPr>
          <p:nvPr/>
        </p:nvSpPr>
        <p:spPr>
          <a:xfrm>
            <a:off x="1512000" y="540000"/>
            <a:ext cx="4350000" cy="280800"/>
          </a:xfrm>
          <a:prstGeom prst="rect">
            <a:avLst/>
          </a:prstGeom>
          <a:solidFill>
            <a:srgbClr val="F2F2F2"/>
          </a:solidFill>
          <a:ln w="12700">
            <a:solidFill>
              <a:srgbClr val="CCCCCC"/>
            </a:solidFill>
          </a:ln>
        </p:spPr>
        <p:txBody>
          <a:bodyPr anchor="ctr" wrap="square" lIns="72000" rIns="72000" tIns="54000" bIns="54000"/>
          <a:lstStyle/>
          <a:p>
            <a:pPr algn="l" spcBef="0" spcAft="0">
              <a:spcPct val="100000"/>
            </a:pPr>
            <a:r>
              <a:rPr lang="en-GB" b="0" sz="1300" dirty="0">
                <a:solidFill>
                  <a:srgbClr val="404040"/>
                </a:solidFill>
                <a:latin typeface="Calibri"/>
              </a:rPr>
              <a:t>to dislike very strongly</a:t>
            </a:r>
          </a:p>
        </p:txBody>
      </p:sp>
      <p:sp>
        <p:nvSpPr>
          <p:cNvPr id="157" name="box157"/>
          <p:cNvSpPr>
            <a:spLocks noGrp="1"/>
          </p:cNvSpPr>
          <p:nvPr/>
        </p:nvSpPr>
        <p:spPr>
          <a:xfrm>
            <a:off x="6042000" y="540000"/>
            <a:ext cx="792000" cy="280800"/>
          </a:xfrm>
          <a:prstGeom prst="roundRect">
            <a:avLst>
              <a:gd name="adj" fmla="val 12000"/>
            </a:avLst>
          </a:prstGeom>
          <a:solidFill>
            <a:srgbClr val="1F3864"/>
          </a:solidFill>
          <a:ln w="0">
            <a:noFill/>
          </a:ln>
        </p:spPr>
        <p:txBody>
          <a:bodyPr anchor="ctr" wrap="square" lIns="72000" rIns="72000" tIns="54000" bIns="54000"/>
          <a:lstStyle/>
          <a:p>
            <a:pPr algn="ctr" spcBef="0" spcAft="0">
              <a:spcPct val="100000"/>
            </a:pPr>
            <a:r>
              <a:rPr lang="en-GB" b="1" sz="1500" dirty="0">
                <a:solidFill>
                  <a:srgbClr val="FFFFFF"/>
                </a:solidFill>
                <a:latin typeface="Calibri"/>
              </a:rPr>
              <a:t>agree</a:t>
            </a:r>
          </a:p>
        </p:txBody>
      </p:sp>
      <p:sp>
        <p:nvSpPr>
          <p:cNvPr id="158" name="box158"/>
          <p:cNvSpPr>
            <a:spLocks noGrp="1"/>
          </p:cNvSpPr>
          <p:nvPr/>
        </p:nvSpPr>
        <p:spPr>
          <a:xfrm>
            <a:off x="6869999" y="540000"/>
            <a:ext cx="468000" cy="280800"/>
          </a:xfrm>
          <a:prstGeom prst="roundRect">
            <a:avLst>
              <a:gd name="adj" fmla="val 12000"/>
            </a:avLst>
          </a:prstGeom>
          <a:solidFill>
            <a:srgbClr val="BF8F00"/>
          </a:solidFill>
          <a:ln w="0">
            <a:noFill/>
          </a:ln>
        </p:spPr>
        <p:txBody>
          <a:bodyPr anchor="ctr" wrap="square" lIns="72000" rIns="72000" tIns="54000" bIns="54000"/>
          <a:lstStyle/>
          <a:p>
            <a:pPr algn="ctr" spcBef="0" spcAft="0">
              <a:spcPct val="100000"/>
            </a:pPr>
            <a:r>
              <a:rPr lang="en-GB" b="1" sz="1200" dirty="0">
                <a:solidFill>
                  <a:srgbClr val="1F3864"/>
                </a:solidFill>
                <a:latin typeface="Calibri"/>
              </a:rPr>
              <a:t>ver</a:t>
            </a:r>
          </a:p>
        </p:txBody>
      </p:sp>
      <p:sp>
        <p:nvSpPr>
          <p:cNvPr id="159" name="box159"/>
          <p:cNvSpPr>
            <a:spLocks noGrp="1"/>
          </p:cNvSpPr>
          <p:nvPr/>
        </p:nvSpPr>
        <p:spPr>
          <a:xfrm>
            <a:off x="7374000" y="540000"/>
            <a:ext cx="4350000" cy="280800"/>
          </a:xfrm>
          <a:prstGeom prst="rect">
            <a:avLst/>
          </a:prstGeom>
          <a:solidFill>
            <a:srgbClr val="F2F2F2"/>
          </a:solidFill>
          <a:ln w="12700">
            <a:solidFill>
              <a:srgbClr val="CCCCCC"/>
            </a:solidFill>
          </a:ln>
        </p:spPr>
        <p:txBody>
          <a:bodyPr anchor="ctr" wrap="square" lIns="72000" rIns="72000" tIns="54000" bIns="54000"/>
          <a:lstStyle/>
          <a:p>
            <a:pPr algn="l" spcBef="0" spcAft="0">
              <a:spcPct val="100000"/>
            </a:pPr>
            <a:r>
              <a:rPr lang="en-GB" b="0" sz="1300" dirty="0">
                <a:solidFill>
                  <a:srgbClr val="404040"/>
                </a:solidFill>
                <a:latin typeface="Calibri"/>
              </a:rPr>
              <a:t>to have the same opinion</a:t>
            </a:r>
          </a:p>
        </p:txBody>
      </p:sp>
      <p:sp>
        <p:nvSpPr>
          <p:cNvPr id="160" name="box160"/>
          <p:cNvSpPr>
            <a:spLocks noGrp="1"/>
          </p:cNvSpPr>
          <p:nvPr/>
        </p:nvSpPr>
        <p:spPr>
          <a:xfrm>
            <a:off x="180000" y="885600"/>
            <a:ext cx="792000" cy="280800"/>
          </a:xfrm>
          <a:prstGeom prst="roundRect">
            <a:avLst>
              <a:gd name="adj" fmla="val 12000"/>
            </a:avLst>
          </a:prstGeom>
          <a:solidFill>
            <a:srgbClr val="1F3864"/>
          </a:solidFill>
          <a:ln w="0">
            <a:noFill/>
          </a:ln>
        </p:spPr>
        <p:txBody>
          <a:bodyPr anchor="ctr" wrap="square" lIns="72000" rIns="72000" tIns="54000" bIns="54000"/>
          <a:lstStyle/>
          <a:p>
            <a:pPr algn="ctr" spcBef="0" spcAft="0">
              <a:spcPct val="100000"/>
            </a:pPr>
            <a:r>
              <a:rPr lang="en-GB" b="1" sz="1500" dirty="0">
                <a:solidFill>
                  <a:srgbClr val="FFFFFF"/>
                </a:solidFill>
                <a:latin typeface="Calibri"/>
              </a:rPr>
              <a:t>smoke</a:t>
            </a:r>
          </a:p>
        </p:txBody>
      </p:sp>
      <p:sp>
        <p:nvSpPr>
          <p:cNvPr id="161" name="box161"/>
          <p:cNvSpPr>
            <a:spLocks noGrp="1"/>
          </p:cNvSpPr>
          <p:nvPr/>
        </p:nvSpPr>
        <p:spPr>
          <a:xfrm>
            <a:off x="1007999" y="885600"/>
            <a:ext cx="468000" cy="280800"/>
          </a:xfrm>
          <a:prstGeom prst="roundRect">
            <a:avLst>
              <a:gd name="adj" fmla="val 12000"/>
            </a:avLst>
          </a:prstGeom>
          <a:solidFill>
            <a:srgbClr val="BF8F00"/>
          </a:solidFill>
          <a:ln w="0">
            <a:noFill/>
          </a:ln>
        </p:spPr>
        <p:txBody>
          <a:bodyPr anchor="ctr" wrap="square" lIns="72000" rIns="72000" tIns="54000" bIns="54000"/>
          <a:lstStyle/>
          <a:p>
            <a:pPr algn="ctr" spcBef="0" spcAft="0">
              <a:spcPct val="100000"/>
            </a:pPr>
            <a:r>
              <a:rPr lang="en-GB" b="1" sz="1200" dirty="0">
                <a:solidFill>
                  <a:srgbClr val="1F3864"/>
                </a:solidFill>
                <a:latin typeface="Calibri"/>
              </a:rPr>
              <a:t>ver</a:t>
            </a:r>
          </a:p>
        </p:txBody>
      </p:sp>
      <p:sp>
        <p:nvSpPr>
          <p:cNvPr id="162" name="box162"/>
          <p:cNvSpPr>
            <a:spLocks noGrp="1"/>
          </p:cNvSpPr>
          <p:nvPr/>
        </p:nvSpPr>
        <p:spPr>
          <a:xfrm>
            <a:off x="1512000" y="885600"/>
            <a:ext cx="4350000" cy="280800"/>
          </a:xfrm>
          <a:prstGeom prst="rect">
            <a:avLst/>
          </a:prstGeom>
          <a:solidFill>
            <a:srgbClr val="F2F2F2"/>
          </a:solidFill>
          <a:ln w="12700">
            <a:solidFill>
              <a:srgbClr val="CCCCCC"/>
            </a:solidFill>
          </a:ln>
        </p:spPr>
        <p:txBody>
          <a:bodyPr anchor="ctr" wrap="square" lIns="72000" rIns="72000" tIns="54000" bIns="54000"/>
          <a:lstStyle/>
          <a:p>
            <a:pPr algn="l" spcBef="0" spcAft="0">
              <a:spcPct val="100000"/>
            </a:pPr>
            <a:r>
              <a:rPr lang="en-GB" b="0" sz="1300" dirty="0">
                <a:solidFill>
                  <a:srgbClr val="404040"/>
                </a:solidFill>
                <a:latin typeface="Calibri"/>
              </a:rPr>
              <a:t>to breathe in cigarette fumes</a:t>
            </a:r>
          </a:p>
        </p:txBody>
      </p:sp>
      <p:sp>
        <p:nvSpPr>
          <p:cNvPr id="163" name="box163"/>
          <p:cNvSpPr>
            <a:spLocks noGrp="1"/>
          </p:cNvSpPr>
          <p:nvPr/>
        </p:nvSpPr>
        <p:spPr>
          <a:xfrm>
            <a:off x="6042000" y="885600"/>
            <a:ext cx="792000" cy="280800"/>
          </a:xfrm>
          <a:prstGeom prst="roundRect">
            <a:avLst>
              <a:gd name="adj" fmla="val 12000"/>
            </a:avLst>
          </a:prstGeom>
          <a:solidFill>
            <a:srgbClr val="1F3864"/>
          </a:solidFill>
          <a:ln w="0">
            <a:noFill/>
          </a:ln>
        </p:spPr>
        <p:txBody>
          <a:bodyPr anchor="ctr" wrap="square" lIns="72000" rIns="72000" tIns="54000" bIns="54000"/>
          <a:lstStyle/>
          <a:p>
            <a:pPr algn="ctr" spcBef="0" spcAft="0">
              <a:spcPct val="100000"/>
            </a:pPr>
            <a:r>
              <a:rPr lang="en-GB" b="1" sz="1500" dirty="0">
                <a:solidFill>
                  <a:srgbClr val="FFFFFF"/>
                </a:solidFill>
                <a:latin typeface="Calibri"/>
              </a:rPr>
              <a:t>spend</a:t>
            </a:r>
          </a:p>
        </p:txBody>
      </p:sp>
      <p:sp>
        <p:nvSpPr>
          <p:cNvPr id="164" name="box164"/>
          <p:cNvSpPr>
            <a:spLocks noGrp="1"/>
          </p:cNvSpPr>
          <p:nvPr/>
        </p:nvSpPr>
        <p:spPr>
          <a:xfrm>
            <a:off x="6869999" y="885600"/>
            <a:ext cx="468000" cy="280800"/>
          </a:xfrm>
          <a:prstGeom prst="roundRect">
            <a:avLst>
              <a:gd name="adj" fmla="val 12000"/>
            </a:avLst>
          </a:prstGeom>
          <a:solidFill>
            <a:srgbClr val="BF8F00"/>
          </a:solidFill>
          <a:ln w="0">
            <a:noFill/>
          </a:ln>
        </p:spPr>
        <p:txBody>
          <a:bodyPr anchor="ctr" wrap="square" lIns="72000" rIns="72000" tIns="54000" bIns="54000"/>
          <a:lstStyle/>
          <a:p>
            <a:pPr algn="ctr" spcBef="0" spcAft="0">
              <a:spcPct val="100000"/>
            </a:pPr>
            <a:r>
              <a:rPr lang="en-GB" b="1" sz="1200" dirty="0">
                <a:solidFill>
                  <a:srgbClr val="1F3864"/>
                </a:solidFill>
                <a:latin typeface="Calibri"/>
              </a:rPr>
              <a:t>ver</a:t>
            </a:r>
          </a:p>
        </p:txBody>
      </p:sp>
      <p:sp>
        <p:nvSpPr>
          <p:cNvPr id="165" name="box165"/>
          <p:cNvSpPr>
            <a:spLocks noGrp="1"/>
          </p:cNvSpPr>
          <p:nvPr/>
        </p:nvSpPr>
        <p:spPr>
          <a:xfrm>
            <a:off x="7374000" y="885600"/>
            <a:ext cx="4350000" cy="280800"/>
          </a:xfrm>
          <a:prstGeom prst="rect">
            <a:avLst/>
          </a:prstGeom>
          <a:solidFill>
            <a:srgbClr val="F2F2F2"/>
          </a:solidFill>
          <a:ln w="12700">
            <a:solidFill>
              <a:srgbClr val="CCCCCC"/>
            </a:solidFill>
          </a:ln>
        </p:spPr>
        <p:txBody>
          <a:bodyPr anchor="ctr" wrap="square" lIns="72000" rIns="72000" tIns="54000" bIns="54000"/>
          <a:lstStyle/>
          <a:p>
            <a:pPr algn="l" spcBef="0" spcAft="0">
              <a:spcPct val="100000"/>
            </a:pPr>
            <a:r>
              <a:rPr lang="en-GB" b="0" sz="1300" dirty="0">
                <a:solidFill>
                  <a:srgbClr val="404040"/>
                </a:solidFill>
                <a:latin typeface="Calibri"/>
              </a:rPr>
              <a:t>to use money to buy things</a:t>
            </a:r>
          </a:p>
        </p:txBody>
      </p:sp>
      <p:sp>
        <p:nvSpPr>
          <p:cNvPr id="166" name="box166"/>
          <p:cNvSpPr>
            <a:spLocks noGrp="1"/>
          </p:cNvSpPr>
          <p:nvPr/>
        </p:nvSpPr>
        <p:spPr>
          <a:xfrm>
            <a:off x="180000" y="1231200"/>
            <a:ext cx="792000" cy="280800"/>
          </a:xfrm>
          <a:prstGeom prst="roundRect">
            <a:avLst>
              <a:gd name="adj" fmla="val 12000"/>
            </a:avLst>
          </a:prstGeom>
          <a:solidFill>
            <a:srgbClr val="1F3864"/>
          </a:solidFill>
          <a:ln w="0">
            <a:noFill/>
          </a:ln>
        </p:spPr>
        <p:txBody>
          <a:bodyPr anchor="ctr" wrap="square" lIns="72000" rIns="72000" tIns="54000" bIns="54000"/>
          <a:lstStyle/>
          <a:p>
            <a:pPr algn="ctr" spcBef="0" spcAft="0">
              <a:spcPct val="100000"/>
            </a:pPr>
            <a:r>
              <a:rPr lang="en-GB" b="1" sz="1500" dirty="0">
                <a:solidFill>
                  <a:srgbClr val="FFFFFF"/>
                </a:solidFill>
                <a:latin typeface="Calibri"/>
              </a:rPr>
              <a:t>travel</a:t>
            </a:r>
          </a:p>
        </p:txBody>
      </p:sp>
      <p:sp>
        <p:nvSpPr>
          <p:cNvPr id="167" name="box167"/>
          <p:cNvSpPr>
            <a:spLocks noGrp="1"/>
          </p:cNvSpPr>
          <p:nvPr/>
        </p:nvSpPr>
        <p:spPr>
          <a:xfrm>
            <a:off x="1007999" y="1231200"/>
            <a:ext cx="468000" cy="280800"/>
          </a:xfrm>
          <a:prstGeom prst="roundRect">
            <a:avLst>
              <a:gd name="adj" fmla="val 12000"/>
            </a:avLst>
          </a:prstGeom>
          <a:solidFill>
            <a:srgbClr val="BF8F00"/>
          </a:solidFill>
          <a:ln w="0">
            <a:noFill/>
          </a:ln>
        </p:spPr>
        <p:txBody>
          <a:bodyPr anchor="ctr" wrap="square" lIns="72000" rIns="72000" tIns="54000" bIns="54000"/>
          <a:lstStyle/>
          <a:p>
            <a:pPr algn="ctr" spcBef="0" spcAft="0">
              <a:spcPct val="100000"/>
            </a:pPr>
            <a:r>
              <a:rPr lang="en-GB" b="1" sz="1200" dirty="0">
                <a:solidFill>
                  <a:srgbClr val="1F3864"/>
                </a:solidFill>
                <a:latin typeface="Calibri"/>
              </a:rPr>
              <a:t>ver</a:t>
            </a:r>
          </a:p>
        </p:txBody>
      </p:sp>
      <p:sp>
        <p:nvSpPr>
          <p:cNvPr id="168" name="box168"/>
          <p:cNvSpPr>
            <a:spLocks noGrp="1"/>
          </p:cNvSpPr>
          <p:nvPr/>
        </p:nvSpPr>
        <p:spPr>
          <a:xfrm>
            <a:off x="1512000" y="1231200"/>
            <a:ext cx="4350000" cy="280800"/>
          </a:xfrm>
          <a:prstGeom prst="rect">
            <a:avLst/>
          </a:prstGeom>
          <a:solidFill>
            <a:srgbClr val="F2F2F2"/>
          </a:solidFill>
          <a:ln w="12700">
            <a:solidFill>
              <a:srgbClr val="CCCCCC"/>
            </a:solidFill>
          </a:ln>
        </p:spPr>
        <p:txBody>
          <a:bodyPr anchor="ctr" wrap="square" lIns="72000" rIns="72000" tIns="54000" bIns="54000"/>
          <a:lstStyle/>
          <a:p>
            <a:pPr algn="l" spcBef="0" spcAft="0">
              <a:spcPct val="100000"/>
            </a:pPr>
            <a:r>
              <a:rPr lang="en-GB" b="0" sz="1300" dirty="0">
                <a:solidFill>
                  <a:srgbClr val="404040"/>
                </a:solidFill>
                <a:latin typeface="Calibri"/>
              </a:rPr>
              <a:t>to go from one place to another</a:t>
            </a:r>
          </a:p>
        </p:txBody>
      </p:sp>
      <p:sp>
        <p:nvSpPr>
          <p:cNvPr id="169" name="box169"/>
          <p:cNvSpPr>
            <a:spLocks noGrp="1"/>
          </p:cNvSpPr>
          <p:nvPr/>
        </p:nvSpPr>
        <p:spPr>
          <a:xfrm>
            <a:off x="6042000" y="1231200"/>
            <a:ext cx="792000" cy="280800"/>
          </a:xfrm>
          <a:prstGeom prst="roundRect">
            <a:avLst>
              <a:gd name="adj" fmla="val 12000"/>
            </a:avLst>
          </a:prstGeom>
          <a:solidFill>
            <a:srgbClr val="1F3864"/>
          </a:solidFill>
          <a:ln w="0">
            <a:noFill/>
          </a:ln>
        </p:spPr>
        <p:txBody>
          <a:bodyPr anchor="ctr" wrap="square" lIns="72000" rIns="72000" tIns="54000" bIns="54000"/>
          <a:lstStyle/>
          <a:p>
            <a:pPr algn="ctr" spcBef="0" spcAft="0">
              <a:spcPct val="100000"/>
            </a:pPr>
            <a:r>
              <a:rPr lang="en-GB" b="1" sz="1500" dirty="0">
                <a:solidFill>
                  <a:srgbClr val="FFFFFF"/>
                </a:solidFill>
                <a:latin typeface="Calibri"/>
              </a:rPr>
              <a:t>understand</a:t>
            </a:r>
          </a:p>
        </p:txBody>
      </p:sp>
      <p:sp>
        <p:nvSpPr>
          <p:cNvPr id="170" name="box170"/>
          <p:cNvSpPr>
            <a:spLocks noGrp="1"/>
          </p:cNvSpPr>
          <p:nvPr/>
        </p:nvSpPr>
        <p:spPr>
          <a:xfrm>
            <a:off x="6869999" y="1231200"/>
            <a:ext cx="468000" cy="280800"/>
          </a:xfrm>
          <a:prstGeom prst="roundRect">
            <a:avLst>
              <a:gd name="adj" fmla="val 12000"/>
            </a:avLst>
          </a:prstGeom>
          <a:solidFill>
            <a:srgbClr val="BF8F00"/>
          </a:solidFill>
          <a:ln w="0">
            <a:noFill/>
          </a:ln>
        </p:spPr>
        <p:txBody>
          <a:bodyPr anchor="ctr" wrap="square" lIns="72000" rIns="72000" tIns="54000" bIns="54000"/>
          <a:lstStyle/>
          <a:p>
            <a:pPr algn="ctr" spcBef="0" spcAft="0">
              <a:spcPct val="100000"/>
            </a:pPr>
            <a:r>
              <a:rPr lang="en-GB" b="1" sz="1200" dirty="0">
                <a:solidFill>
                  <a:srgbClr val="1F3864"/>
                </a:solidFill>
                <a:latin typeface="Calibri"/>
              </a:rPr>
              <a:t>ver</a:t>
            </a:r>
          </a:p>
        </p:txBody>
      </p:sp>
      <p:sp>
        <p:nvSpPr>
          <p:cNvPr id="171" name="box171"/>
          <p:cNvSpPr>
            <a:spLocks noGrp="1"/>
          </p:cNvSpPr>
          <p:nvPr/>
        </p:nvSpPr>
        <p:spPr>
          <a:xfrm>
            <a:off x="7374000" y="1231200"/>
            <a:ext cx="4350000" cy="280800"/>
          </a:xfrm>
          <a:prstGeom prst="rect">
            <a:avLst/>
          </a:prstGeom>
          <a:solidFill>
            <a:srgbClr val="F2F2F2"/>
          </a:solidFill>
          <a:ln w="12700">
            <a:solidFill>
              <a:srgbClr val="CCCCCC"/>
            </a:solidFill>
          </a:ln>
        </p:spPr>
        <p:txBody>
          <a:bodyPr anchor="ctr" wrap="square" lIns="72000" rIns="72000" tIns="54000" bIns="54000"/>
          <a:lstStyle/>
          <a:p>
            <a:pPr algn="l" spcBef="0" spcAft="0">
              <a:spcPct val="100000"/>
            </a:pPr>
            <a:r>
              <a:rPr lang="en-GB" b="0" sz="1300" dirty="0">
                <a:solidFill>
                  <a:srgbClr val="404040"/>
                </a:solidFill>
                <a:latin typeface="Calibri"/>
              </a:rPr>
              <a:t>to know the meaning of something</a:t>
            </a:r>
          </a:p>
        </p:txBody>
      </p:sp>
      <p:sp>
        <p:nvSpPr>
          <p:cNvPr id="172" name="box172"/>
          <p:cNvSpPr>
            <a:spLocks noGrp="1"/>
          </p:cNvSpPr>
          <p:nvPr/>
        </p:nvSpPr>
        <p:spPr>
          <a:xfrm>
            <a:off x="180000" y="1576800"/>
            <a:ext cx="792000" cy="280800"/>
          </a:xfrm>
          <a:prstGeom prst="roundRect">
            <a:avLst>
              <a:gd name="adj" fmla="val 12000"/>
            </a:avLst>
          </a:prstGeom>
          <a:solidFill>
            <a:srgbClr val="1F3864"/>
          </a:solidFill>
          <a:ln w="0">
            <a:noFill/>
          </a:ln>
        </p:spPr>
        <p:txBody>
          <a:bodyPr anchor="ctr" wrap="square" lIns="72000" rIns="72000" tIns="54000" bIns="54000"/>
          <a:lstStyle/>
          <a:p>
            <a:pPr algn="ctr" spcBef="0" spcAft="0">
              <a:spcPct val="100000"/>
            </a:pPr>
            <a:r>
              <a:rPr lang="en-GB" b="1" sz="1500" dirty="0">
                <a:solidFill>
                  <a:srgbClr val="FFFFFF"/>
                </a:solidFill>
                <a:latin typeface="Calibri"/>
              </a:rPr>
              <a:t>believe</a:t>
            </a:r>
          </a:p>
        </p:txBody>
      </p:sp>
      <p:sp>
        <p:nvSpPr>
          <p:cNvPr id="173" name="box173"/>
          <p:cNvSpPr>
            <a:spLocks noGrp="1"/>
          </p:cNvSpPr>
          <p:nvPr/>
        </p:nvSpPr>
        <p:spPr>
          <a:xfrm>
            <a:off x="1007999" y="1576800"/>
            <a:ext cx="468000" cy="280800"/>
          </a:xfrm>
          <a:prstGeom prst="roundRect">
            <a:avLst>
              <a:gd name="adj" fmla="val 12000"/>
            </a:avLst>
          </a:prstGeom>
          <a:solidFill>
            <a:srgbClr val="BF8F00"/>
          </a:solidFill>
          <a:ln w="0">
            <a:noFill/>
          </a:ln>
        </p:spPr>
        <p:txBody>
          <a:bodyPr anchor="ctr" wrap="square" lIns="72000" rIns="72000" tIns="54000" bIns="54000"/>
          <a:lstStyle/>
          <a:p>
            <a:pPr algn="ctr" spcBef="0" spcAft="0">
              <a:spcPct val="100000"/>
            </a:pPr>
            <a:r>
              <a:rPr lang="en-GB" b="1" sz="1200" dirty="0">
                <a:solidFill>
                  <a:srgbClr val="1F3864"/>
                </a:solidFill>
                <a:latin typeface="Calibri"/>
              </a:rPr>
              <a:t>ver</a:t>
            </a:r>
          </a:p>
        </p:txBody>
      </p:sp>
      <p:sp>
        <p:nvSpPr>
          <p:cNvPr id="174" name="box174"/>
          <p:cNvSpPr>
            <a:spLocks noGrp="1"/>
          </p:cNvSpPr>
          <p:nvPr/>
        </p:nvSpPr>
        <p:spPr>
          <a:xfrm>
            <a:off x="1512000" y="1576800"/>
            <a:ext cx="4350000" cy="280800"/>
          </a:xfrm>
          <a:prstGeom prst="rect">
            <a:avLst/>
          </a:prstGeom>
          <a:solidFill>
            <a:srgbClr val="F2F2F2"/>
          </a:solidFill>
          <a:ln w="12700">
            <a:solidFill>
              <a:srgbClr val="CCCCCC"/>
            </a:solidFill>
          </a:ln>
        </p:spPr>
        <p:txBody>
          <a:bodyPr anchor="ctr" wrap="square" lIns="72000" rIns="72000" tIns="54000" bIns="54000"/>
          <a:lstStyle/>
          <a:p>
            <a:pPr algn="l" spcBef="0" spcAft="0">
              <a:spcPct val="100000"/>
            </a:pPr>
            <a:r>
              <a:rPr lang="en-GB" b="0" sz="1300" dirty="0">
                <a:solidFill>
                  <a:srgbClr val="404040"/>
                </a:solidFill>
                <a:latin typeface="Calibri"/>
              </a:rPr>
              <a:t>to think something is true</a:t>
            </a:r>
          </a:p>
        </p:txBody>
      </p:sp>
      <p:sp>
        <p:nvSpPr>
          <p:cNvPr id="175" name="box175"/>
          <p:cNvSpPr>
            <a:spLocks noGrp="1"/>
          </p:cNvSpPr>
          <p:nvPr/>
        </p:nvSpPr>
        <p:spPr>
          <a:xfrm>
            <a:off x="6042000" y="1576800"/>
            <a:ext cx="792000" cy="280800"/>
          </a:xfrm>
          <a:prstGeom prst="roundRect">
            <a:avLst>
              <a:gd name="adj" fmla="val 12000"/>
            </a:avLst>
          </a:prstGeom>
          <a:solidFill>
            <a:srgbClr val="1F3864"/>
          </a:solidFill>
          <a:ln w="0">
            <a:noFill/>
          </a:ln>
        </p:spPr>
        <p:txBody>
          <a:bodyPr anchor="ctr" wrap="square" lIns="72000" rIns="72000" tIns="54000" bIns="54000"/>
          <a:lstStyle/>
          <a:p>
            <a:pPr algn="ctr" spcBef="0" spcAft="0">
              <a:spcPct val="100000"/>
            </a:pPr>
            <a:r>
              <a:rPr lang="en-GB" b="1" sz="1500" dirty="0">
                <a:solidFill>
                  <a:srgbClr val="FFFFFF"/>
                </a:solidFill>
                <a:latin typeface="Calibri"/>
              </a:rPr>
              <a:t>belong</a:t>
            </a:r>
          </a:p>
        </p:txBody>
      </p:sp>
      <p:sp>
        <p:nvSpPr>
          <p:cNvPr id="176" name="box176"/>
          <p:cNvSpPr>
            <a:spLocks noGrp="1"/>
          </p:cNvSpPr>
          <p:nvPr/>
        </p:nvSpPr>
        <p:spPr>
          <a:xfrm>
            <a:off x="6869999" y="1576800"/>
            <a:ext cx="468000" cy="280800"/>
          </a:xfrm>
          <a:prstGeom prst="roundRect">
            <a:avLst>
              <a:gd name="adj" fmla="val 12000"/>
            </a:avLst>
          </a:prstGeom>
          <a:solidFill>
            <a:srgbClr val="BF8F00"/>
          </a:solidFill>
          <a:ln w="0">
            <a:noFill/>
          </a:ln>
        </p:spPr>
        <p:txBody>
          <a:bodyPr anchor="ctr" wrap="square" lIns="72000" rIns="72000" tIns="54000" bIns="54000"/>
          <a:lstStyle/>
          <a:p>
            <a:pPr algn="ctr" spcBef="0" spcAft="0">
              <a:spcPct val="100000"/>
            </a:pPr>
            <a:r>
              <a:rPr lang="en-GB" b="1" sz="1200" dirty="0">
                <a:solidFill>
                  <a:srgbClr val="1F3864"/>
                </a:solidFill>
                <a:latin typeface="Calibri"/>
              </a:rPr>
              <a:t>ver</a:t>
            </a:r>
          </a:p>
        </p:txBody>
      </p:sp>
      <p:sp>
        <p:nvSpPr>
          <p:cNvPr id="177" name="box177"/>
          <p:cNvSpPr>
            <a:spLocks noGrp="1"/>
          </p:cNvSpPr>
          <p:nvPr/>
        </p:nvSpPr>
        <p:spPr>
          <a:xfrm>
            <a:off x="7374000" y="1576800"/>
            <a:ext cx="4350000" cy="280800"/>
          </a:xfrm>
          <a:prstGeom prst="rect">
            <a:avLst/>
          </a:prstGeom>
          <a:solidFill>
            <a:srgbClr val="F2F2F2"/>
          </a:solidFill>
          <a:ln w="12700">
            <a:solidFill>
              <a:srgbClr val="CCCCCC"/>
            </a:solidFill>
          </a:ln>
        </p:spPr>
        <p:txBody>
          <a:bodyPr anchor="ctr" wrap="square" lIns="72000" rIns="72000" tIns="54000" bIns="54000"/>
          <a:lstStyle/>
          <a:p>
            <a:pPr algn="l" spcBef="0" spcAft="0">
              <a:spcPct val="100000"/>
            </a:pPr>
            <a:r>
              <a:rPr lang="en-GB" b="0" sz="1300" dirty="0">
                <a:solidFill>
                  <a:srgbClr val="404040"/>
                </a:solidFill>
                <a:latin typeface="Calibri"/>
              </a:rPr>
              <a:t>to be the property of</a:t>
            </a:r>
          </a:p>
        </p:txBody>
      </p:sp>
      <p:sp>
        <p:nvSpPr>
          <p:cNvPr id="178" name="box178"/>
          <p:cNvSpPr>
            <a:spLocks noGrp="1"/>
          </p:cNvSpPr>
          <p:nvPr/>
        </p:nvSpPr>
        <p:spPr>
          <a:xfrm>
            <a:off x="180000" y="1922400"/>
            <a:ext cx="792000" cy="280800"/>
          </a:xfrm>
          <a:prstGeom prst="roundRect">
            <a:avLst>
              <a:gd name="adj" fmla="val 12000"/>
            </a:avLst>
          </a:prstGeom>
          <a:solidFill>
            <a:srgbClr val="1F3864"/>
          </a:solidFill>
          <a:ln w="0">
            <a:noFill/>
          </a:ln>
        </p:spPr>
        <p:txBody>
          <a:bodyPr anchor="ctr" wrap="square" lIns="72000" rIns="72000" tIns="54000" bIns="54000"/>
          <a:lstStyle/>
          <a:p>
            <a:pPr algn="ctr" spcBef="0" spcAft="0">
              <a:spcPct val="100000"/>
            </a:pPr>
            <a:r>
              <a:rPr lang="en-GB" b="1" sz="1500" dirty="0">
                <a:solidFill>
                  <a:srgbClr val="FFFFFF"/>
                </a:solidFill>
                <a:latin typeface="Calibri"/>
              </a:rPr>
              <a:t>matter</a:t>
            </a:r>
          </a:p>
        </p:txBody>
      </p:sp>
      <p:sp>
        <p:nvSpPr>
          <p:cNvPr id="179" name="box179"/>
          <p:cNvSpPr>
            <a:spLocks noGrp="1"/>
          </p:cNvSpPr>
          <p:nvPr/>
        </p:nvSpPr>
        <p:spPr>
          <a:xfrm>
            <a:off x="1007999" y="1922400"/>
            <a:ext cx="468000" cy="280800"/>
          </a:xfrm>
          <a:prstGeom prst="roundRect">
            <a:avLst>
              <a:gd name="adj" fmla="val 12000"/>
            </a:avLst>
          </a:prstGeom>
          <a:solidFill>
            <a:srgbClr val="BF8F00"/>
          </a:solidFill>
          <a:ln w="0">
            <a:noFill/>
          </a:ln>
        </p:spPr>
        <p:txBody>
          <a:bodyPr anchor="ctr" wrap="square" lIns="72000" rIns="72000" tIns="54000" bIns="54000"/>
          <a:lstStyle/>
          <a:p>
            <a:pPr algn="ctr" spcBef="0" spcAft="0">
              <a:spcPct val="100000"/>
            </a:pPr>
            <a:r>
              <a:rPr lang="en-GB" b="1" sz="1200" dirty="0">
                <a:solidFill>
                  <a:srgbClr val="1F3864"/>
                </a:solidFill>
                <a:latin typeface="Calibri"/>
              </a:rPr>
              <a:t>ver</a:t>
            </a:r>
          </a:p>
        </p:txBody>
      </p:sp>
      <p:sp>
        <p:nvSpPr>
          <p:cNvPr id="180" name="box180"/>
          <p:cNvSpPr>
            <a:spLocks noGrp="1"/>
          </p:cNvSpPr>
          <p:nvPr/>
        </p:nvSpPr>
        <p:spPr>
          <a:xfrm>
            <a:off x="1512000" y="1922400"/>
            <a:ext cx="4350000" cy="280800"/>
          </a:xfrm>
          <a:prstGeom prst="rect">
            <a:avLst/>
          </a:prstGeom>
          <a:solidFill>
            <a:srgbClr val="F2F2F2"/>
          </a:solidFill>
          <a:ln w="12700">
            <a:solidFill>
              <a:srgbClr val="CCCCCC"/>
            </a:solidFill>
          </a:ln>
        </p:spPr>
        <p:txBody>
          <a:bodyPr anchor="ctr" wrap="square" lIns="72000" rIns="72000" tIns="54000" bIns="54000"/>
          <a:lstStyle/>
          <a:p>
            <a:pPr algn="l" spcBef="0" spcAft="0">
              <a:spcPct val="100000"/>
            </a:pPr>
            <a:r>
              <a:rPr lang="en-GB" b="0" sz="1300" dirty="0">
                <a:solidFill>
                  <a:srgbClr val="404040"/>
                </a:solidFill>
                <a:latin typeface="Calibri"/>
              </a:rPr>
              <a:t>to be important</a:t>
            </a:r>
          </a:p>
        </p:txBody>
      </p:sp>
      <p:sp>
        <p:nvSpPr>
          <p:cNvPr id="181" name="box181"/>
          <p:cNvSpPr>
            <a:spLocks noGrp="1"/>
          </p:cNvSpPr>
          <p:nvPr/>
        </p:nvSpPr>
        <p:spPr>
          <a:xfrm>
            <a:off x="6042000" y="1922400"/>
            <a:ext cx="792000" cy="280800"/>
          </a:xfrm>
          <a:prstGeom prst="roundRect">
            <a:avLst>
              <a:gd name="adj" fmla="val 12000"/>
            </a:avLst>
          </a:prstGeom>
          <a:solidFill>
            <a:srgbClr val="1F3864"/>
          </a:solidFill>
          <a:ln w="0">
            <a:noFill/>
          </a:ln>
        </p:spPr>
        <p:txBody>
          <a:bodyPr anchor="ctr" wrap="square" lIns="72000" rIns="72000" tIns="54000" bIns="54000"/>
          <a:lstStyle/>
          <a:p>
            <a:pPr algn="ctr" spcBef="0" spcAft="0">
              <a:spcPct val="100000"/>
            </a:pPr>
            <a:r>
              <a:rPr lang="en-GB" b="1" sz="1500" dirty="0">
                <a:solidFill>
                  <a:srgbClr val="FFFFFF"/>
                </a:solidFill>
                <a:latin typeface="Calibri"/>
              </a:rPr>
              <a:t>cost</a:t>
            </a:r>
          </a:p>
        </p:txBody>
      </p:sp>
      <p:sp>
        <p:nvSpPr>
          <p:cNvPr id="182" name="box182"/>
          <p:cNvSpPr>
            <a:spLocks noGrp="1"/>
          </p:cNvSpPr>
          <p:nvPr/>
        </p:nvSpPr>
        <p:spPr>
          <a:xfrm>
            <a:off x="6869999" y="1922400"/>
            <a:ext cx="468000" cy="280800"/>
          </a:xfrm>
          <a:prstGeom prst="roundRect">
            <a:avLst>
              <a:gd name="adj" fmla="val 12000"/>
            </a:avLst>
          </a:prstGeom>
          <a:solidFill>
            <a:srgbClr val="BF8F00"/>
          </a:solidFill>
          <a:ln w="0">
            <a:noFill/>
          </a:ln>
        </p:spPr>
        <p:txBody>
          <a:bodyPr anchor="ctr" wrap="square" lIns="72000" rIns="72000" tIns="54000" bIns="54000"/>
          <a:lstStyle/>
          <a:p>
            <a:pPr algn="ctr" spcBef="0" spcAft="0">
              <a:spcPct val="100000"/>
            </a:pPr>
            <a:r>
              <a:rPr lang="en-GB" b="1" sz="1200" dirty="0">
                <a:solidFill>
                  <a:srgbClr val="1F3864"/>
                </a:solidFill>
                <a:latin typeface="Calibri"/>
              </a:rPr>
              <a:t>ver</a:t>
            </a:r>
          </a:p>
        </p:txBody>
      </p:sp>
      <p:sp>
        <p:nvSpPr>
          <p:cNvPr id="183" name="box183"/>
          <p:cNvSpPr>
            <a:spLocks noGrp="1"/>
          </p:cNvSpPr>
          <p:nvPr/>
        </p:nvSpPr>
        <p:spPr>
          <a:xfrm>
            <a:off x="7374000" y="1922400"/>
            <a:ext cx="4350000" cy="280800"/>
          </a:xfrm>
          <a:prstGeom prst="rect">
            <a:avLst/>
          </a:prstGeom>
          <a:solidFill>
            <a:srgbClr val="F2F2F2"/>
          </a:solidFill>
          <a:ln w="12700">
            <a:solidFill>
              <a:srgbClr val="CCCCCC"/>
            </a:solidFill>
          </a:ln>
        </p:spPr>
        <p:txBody>
          <a:bodyPr anchor="ctr" wrap="square" lIns="72000" rIns="72000" tIns="54000" bIns="54000"/>
          <a:lstStyle/>
          <a:p>
            <a:pPr algn="l" spcBef="0" spcAft="0">
              <a:spcPct val="100000"/>
            </a:pPr>
            <a:r>
              <a:rPr lang="en-GB" b="0" sz="1300" dirty="0">
                <a:solidFill>
                  <a:srgbClr val="404040"/>
                </a:solidFill>
                <a:latin typeface="Calibri"/>
              </a:rPr>
              <a:t>to have a particular price</a:t>
            </a:r>
          </a:p>
        </p:txBody>
      </p:sp>
      <p:sp>
        <p:nvSpPr>
          <p:cNvPr id="184" name="tb184"/>
          <p:cNvSpPr txBox="1">
            <a:spLocks noGrp="1"/>
          </p:cNvSpPr>
          <p:nvPr/>
        </p:nvSpPr>
        <p:spPr>
          <a:xfrm>
            <a:off x="180000" y="6606001"/>
            <a:ext cx="11832000" cy="198000"/>
          </a:xfrm>
          <a:prstGeom prst="rect">
            <a:avLst/>
          </a:prstGeom>
          <a:noFill/>
        </p:spPr>
        <p:txBody>
          <a:bodyPr anchor="ctr" wrap="square" lIns="36000" rIns="36000" tIns="36000" bIns="36000"/>
          <a:lstStyle/>
          <a:p>
            <a:pPr algn="l" spcBef="0" spcAft="0">
              <a:spcPct val="100000"/>
            </a:pPr>
            <a:r>
              <a:rPr lang="en-GB" b="0" i="1" sz="1300" dirty="0">
                <a:solidFill>
                  <a:srgbClr val="2E75B6"/>
                </a:solidFill>
                <a:latin typeface="Calibri"/>
              </a:rPr>
              <a:t>📚  Full 30-word vocabulary bank in your workbook — Section 4.</a:t>
            </a:r>
          </a:p>
        </p:txBody>
      </p:sp>
    </p:spTree>
  </p:cSld>
  <p:clrMapOvr>
    <a:masterClr/>
  </p:clrMapOvr>
</p:sld>
</file>

<file path=ppt/slides/slide5.xml><?xml version="1.0" encoding="utf-8"?>
<p:sld xmlns:p="http://schemas.openxmlformats.org/presentationml/2006/main" xmlns:a="http://schemas.openxmlformats.org/drawingml/2006/main" xmlns:r="http://schemas.openxmlformats.org/officeDocument/2006/relationships" xmlns:dc="http://purl.org/dc/elements/1.1/">
  <p:cSld>
    <p:spTree>
      <p:nvGrpSpPr>
        <p:cNvPr id="1" name="content"/>
        <p:cNvGrpSpPr/>
        <p:nvPr/>
      </p:nvGrpSpPr>
      <p:grpSpPr>
        <a:xfrm>
          <a:off x="0" y="0"/>
          <a:ext cx="12192000" cy="6858000"/>
          <a:chOff x="0" y="0"/>
          <a:chExt cx="12192000" cy="6858000"/>
        </a:xfrm>
      </p:grpSpPr>
      <p:sp>
        <p:nvSpPr>
          <p:cNvPr id="201" name="box201"/>
          <p:cNvSpPr>
            <a:spLocks noGrp="1"/>
          </p:cNvSpPr>
          <p:nvPr/>
        </p:nvSpPr>
        <p:spPr>
          <a:xfrm>
            <a:off x="0" y="0"/>
            <a:ext cx="12192000" cy="396000"/>
          </a:xfrm>
          <a:prstGeom prst="rect">
            <a:avLst/>
          </a:prstGeom>
          <a:solidFill>
            <a:srgbClr val="1F3864"/>
          </a:solidFill>
          <a:ln w="0">
            <a:noFill/>
          </a:ln>
        </p:spPr>
        <p:txBody>
          <a:bodyPr anchor="ctr" wrap="square" lIns="72000" rIns="72000" tIns="54000" bIns="54000"/>
          <a:lstStyle/>
        </p:txBody>
      </p:sp>
      <p:sp>
        <p:nvSpPr>
          <p:cNvPr id="202" name="box202"/>
          <p:cNvSpPr>
            <a:spLocks noGrp="1"/>
          </p:cNvSpPr>
          <p:nvPr/>
        </p:nvSpPr>
        <p:spPr>
          <a:xfrm>
            <a:off x="0" y="396000"/>
            <a:ext cx="12192000" cy="64800"/>
          </a:xfrm>
          <a:prstGeom prst="rect">
            <a:avLst/>
          </a:prstGeom>
          <a:solidFill>
            <a:srgbClr val="BF8F00"/>
          </a:solidFill>
          <a:ln w="0">
            <a:noFill/>
          </a:ln>
        </p:spPr>
        <p:txBody>
          <a:bodyPr anchor="ctr" wrap="square" lIns="72000" rIns="72000" tIns="54000" bIns="54000"/>
          <a:lstStyle/>
        </p:txBody>
      </p:sp>
      <p:sp>
        <p:nvSpPr>
          <p:cNvPr id="203" name="tb203"/>
          <p:cNvSpPr txBox="1">
            <a:spLocks noGrp="1"/>
          </p:cNvSpPr>
          <p:nvPr/>
        </p:nvSpPr>
        <p:spPr>
          <a:xfrm>
            <a:off x="180000" y="21600"/>
            <a:ext cx="11832000" cy="360000"/>
          </a:xfrm>
          <a:prstGeom prst="rect">
            <a:avLst/>
          </a:prstGeom>
          <a:noFill/>
        </p:spPr>
        <p:txBody>
          <a:bodyPr anchor="ctr" wrap="square" lIns="36000" rIns="36000" tIns="36000" bIns="36000"/>
          <a:lstStyle/>
          <a:p>
            <a:pPr algn="l" spcBef="0" spcAft="0">
              <a:spcPct val="100000"/>
            </a:pPr>
            <a:r>
              <a:rPr lang="en-GB" b="1" sz="2200" dirty="0">
                <a:solidFill>
                  <a:srgbClr val="BF8F00"/>
                </a:solidFill>
                <a:latin typeface="Cambria"/>
              </a:rPr>
              <a:t>📐  </a:t>
            </a:r>
            <a:r>
              <a:rPr lang="en-GB" b="1" sz="2200" dirty="0">
                <a:solidFill>
                  <a:srgbClr val="FFFFFF"/>
                </a:solidFill>
                <a:latin typeface="Cambria"/>
              </a:rPr>
              <a:t>GRAMMAR RULE</a:t>
            </a:r>
          </a:p>
        </p:txBody>
      </p:sp>
      <p:sp>
        <p:nvSpPr>
          <p:cNvPr id="204" name="box204"/>
          <p:cNvSpPr>
            <a:spLocks noGrp="1"/>
          </p:cNvSpPr>
          <p:nvPr/>
        </p:nvSpPr>
        <p:spPr>
          <a:xfrm>
            <a:off x="180000" y="522000"/>
            <a:ext cx="11832000" cy="396000"/>
          </a:xfrm>
          <a:prstGeom prst="roundRect">
            <a:avLst>
              <a:gd name="adj" fmla="val 10000"/>
            </a:avLst>
          </a:prstGeom>
          <a:solidFill>
            <a:srgbClr val="FFF2CC"/>
          </a:solidFill>
          <a:ln w="12700">
            <a:solidFill>
              <a:srgbClr val="BF8F00"/>
            </a:solidFill>
          </a:ln>
        </p:spPr>
        <p:txBody>
          <a:bodyPr anchor="ctr" wrap="square" lIns="144000" rIns="72000" tIns="54000" bIns="54000"/>
          <a:lstStyle/>
          <a:p>
            <a:pPr algn="l" spcBef="0" spcAft="0">
              <a:spcPct val="100000"/>
            </a:pPr>
            <a:r>
              <a:rPr lang="en-GB" b="1" sz="1700" dirty="0">
                <a:solidFill>
                  <a:srgbClr val="1F3864"/>
                </a:solidFill>
                <a:latin typeface="Calibri"/>
              </a:rPr>
              <a:t>📌  To make a Present Simple negative, use do not (don't) or does not (doesn't) + base form of the verb.</a:t>
            </a:r>
          </a:p>
        </p:txBody>
      </p:sp>
      <p:graphicFrame>
        <p:nvGraphicFramePr>
          <p:cNvPr id="205" name="tbl205"/>
          <p:cNvGraphicFramePr>
            <a:graphicFrameLocks noGrp="1"/>
          </p:cNvGraphicFramePr>
          <p:nvPr/>
        </p:nvGraphicFramePr>
        <p:xfrm>
          <a:off x="180000" y="990000"/>
          <a:ext cx="11832000" cy="5778000"/>
        </p:xfrm>
        <a:graphic>
          <a:graphicData uri="http://schemas.openxmlformats.org/drawingml/2006/table">
            <a:tbl>
              <a:tblPr firstRow="1" bandRow="1">
                <a:tableStyleId>{5C22544A-7EE6-4342-B048-85BDC9FD1C3A}</a:tableStyleId>
              </a:tblPr>
              <a:tblGrid>
                <a:gridCol w="3944000"/>
                <a:gridCol w="3944000"/>
                <a:gridCol w="3944000"/>
              </a:tblGrid>
              <a:tr h="1854000">
                <a:tc>
                  <a:txBody>
                    <a:bodyPr/>
                    <a:lstStyle/>
                    <a:p>
                      <a:pPr algn="l"/>
                      <a:r>
                        <a:rPr lang="en-GB" b="1" sz="1400" dirty="0">
                          <a:solidFill>
                            <a:srgbClr val="FFFFFF"/>
                          </a:solidFill>
                          <a:latin typeface="Calibri"/>
                        </a:rPr>
                        <a:t>Subject</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1" sz="1400" dirty="0">
                          <a:solidFill>
                            <a:srgbClr val="FFFFFF"/>
                          </a:solidFill>
                          <a:latin typeface="Calibri"/>
                        </a:rPr>
                        <a:t>Negative Form</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1" sz="1400" dirty="0">
                          <a:solidFill>
                            <a:srgbClr val="FFFFFF"/>
                          </a:solidFill>
                          <a:latin typeface="Calibri"/>
                        </a:rPr>
                        <a:t>Example</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r>
              <a:tr h="1854000">
                <a:tc>
                  <a:txBody>
                    <a:bodyPr/>
                    <a:lstStyle/>
                    <a:p>
                      <a:pPr algn="l"/>
                      <a:r>
                        <a:rPr lang="en-GB" b="1" sz="1400" dirty="0">
                          <a:solidFill>
                            <a:srgbClr val="1F3864"/>
                          </a:solidFill>
                          <a:latin typeface="Calibri"/>
                        </a:rPr>
                        <a:t>I / You / We / They</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don't + base verb</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I don't like coffee.</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r>
              <a:tr h="1854000">
                <a:tc>
                  <a:txBody>
                    <a:bodyPr/>
                    <a:lstStyle/>
                    <a:p>
                      <a:pPr algn="l"/>
                      <a:r>
                        <a:rPr lang="en-GB" b="1" sz="1400" dirty="0">
                          <a:solidFill>
                            <a:srgbClr val="1F3864"/>
                          </a:solidFill>
                          <a:latin typeface="Calibri"/>
                        </a:rPr>
                        <a:t>He / She / It</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doesn't + base verb</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She doesn't eat meat.</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bl>
          </a:graphicData>
        </a:graphic>
      </p:graphicFrame>
    </p:spTree>
  </p:cSld>
  <p:clrMapOvr>
    <a:masterClr/>
  </p:clrMapOvr>
</p:sld>
</file>

<file path=ppt/slides/slide6.xml><?xml version="1.0" encoding="utf-8"?>
<p:sld xmlns:p="http://schemas.openxmlformats.org/presentationml/2006/main" xmlns:a="http://schemas.openxmlformats.org/drawingml/2006/main" xmlns:r="http://schemas.openxmlformats.org/officeDocument/2006/relationships" xmlns:dc="http://purl.org/dc/elements/1.1/">
  <p:cSld>
    <p:spTree>
      <p:nvGrpSpPr>
        <p:cNvPr id="1" name="content"/>
        <p:cNvGrpSpPr/>
        <p:nvPr/>
      </p:nvGrpSpPr>
      <p:grpSpPr>
        <a:xfrm>
          <a:off x="0" y="0"/>
          <a:ext cx="12192000" cy="6858000"/>
          <a:chOff x="0" y="0"/>
          <a:chExt cx="12192000" cy="6858000"/>
        </a:xfrm>
      </p:grpSpPr>
      <p:sp>
        <p:nvSpPr>
          <p:cNvPr id="251" name="box251"/>
          <p:cNvSpPr>
            <a:spLocks noGrp="1"/>
          </p:cNvSpPr>
          <p:nvPr/>
        </p:nvSpPr>
        <p:spPr>
          <a:xfrm>
            <a:off x="0" y="0"/>
            <a:ext cx="12192000" cy="396000"/>
          </a:xfrm>
          <a:prstGeom prst="rect">
            <a:avLst/>
          </a:prstGeom>
          <a:solidFill>
            <a:srgbClr val="1F3864"/>
          </a:solidFill>
          <a:ln w="0">
            <a:noFill/>
          </a:ln>
        </p:spPr>
        <p:txBody>
          <a:bodyPr anchor="ctr" wrap="square" lIns="72000" rIns="72000" tIns="54000" bIns="54000"/>
          <a:lstStyle/>
        </p:txBody>
      </p:sp>
      <p:sp>
        <p:nvSpPr>
          <p:cNvPr id="252" name="box252"/>
          <p:cNvSpPr>
            <a:spLocks noGrp="1"/>
          </p:cNvSpPr>
          <p:nvPr/>
        </p:nvSpPr>
        <p:spPr>
          <a:xfrm>
            <a:off x="0" y="396000"/>
            <a:ext cx="12192000" cy="64800"/>
          </a:xfrm>
          <a:prstGeom prst="rect">
            <a:avLst/>
          </a:prstGeom>
          <a:solidFill>
            <a:srgbClr val="BF8F00"/>
          </a:solidFill>
          <a:ln w="0">
            <a:noFill/>
          </a:ln>
        </p:spPr>
        <p:txBody>
          <a:bodyPr anchor="ctr" wrap="square" lIns="72000" rIns="72000" tIns="54000" bIns="54000"/>
          <a:lstStyle/>
        </p:txBody>
      </p:sp>
      <p:sp>
        <p:nvSpPr>
          <p:cNvPr id="253" name="tb253"/>
          <p:cNvSpPr txBox="1">
            <a:spLocks noGrp="1"/>
          </p:cNvSpPr>
          <p:nvPr/>
        </p:nvSpPr>
        <p:spPr>
          <a:xfrm>
            <a:off x="180000" y="21600"/>
            <a:ext cx="11832000" cy="360000"/>
          </a:xfrm>
          <a:prstGeom prst="rect">
            <a:avLst/>
          </a:prstGeom>
          <a:noFill/>
        </p:spPr>
        <p:txBody>
          <a:bodyPr anchor="ctr" wrap="square" lIns="36000" rIns="36000" tIns="36000" bIns="36000"/>
          <a:lstStyle/>
          <a:p>
            <a:pPr algn="l" spcBef="0" spcAft="0">
              <a:spcPct val="100000"/>
            </a:pPr>
            <a:r>
              <a:rPr lang="en-GB" b="1" sz="2200" dirty="0">
                <a:solidFill>
                  <a:srgbClr val="BF8F00"/>
                </a:solidFill>
                <a:latin typeface="Cambria"/>
              </a:rPr>
              <a:t>✏️  </a:t>
            </a:r>
            <a:r>
              <a:rPr lang="en-GB" b="1" sz="2200" dirty="0">
                <a:solidFill>
                  <a:srgbClr val="FFFFFF"/>
                </a:solidFill>
                <a:latin typeface="Cambria"/>
              </a:rPr>
              <a:t>SPELLING &amp; USAGE NOTES</a:t>
            </a:r>
          </a:p>
        </p:txBody>
      </p:sp>
      <p:sp>
        <p:nvSpPr>
          <p:cNvPr id="254" name="box254"/>
          <p:cNvSpPr>
            <a:spLocks noGrp="1"/>
          </p:cNvSpPr>
          <p:nvPr/>
        </p:nvSpPr>
        <p:spPr>
          <a:xfrm>
            <a:off x="180000" y="540000"/>
            <a:ext cx="11832000" cy="503999"/>
          </a:xfrm>
          <a:prstGeom prst="rect">
            <a:avLst/>
          </a:prstGeom>
          <a:solidFill>
            <a:srgbClr val="DCE6F1"/>
          </a:solidFill>
          <a:ln w="12700">
            <a:solidFill>
              <a:srgbClr val="1F3864"/>
            </a:solidFill>
          </a:ln>
        </p:spPr>
        <p:txBody>
          <a:bodyPr anchor="ctr" wrap="square" lIns="144000" rIns="72000" tIns="54000" bIns="54000"/>
          <a:lstStyle/>
          <a:p>
            <a:pPr algn="l" spcBef="0" spcAft="0">
              <a:spcPct val="100000"/>
            </a:pPr>
            <a:r>
              <a:rPr lang="en-GB" b="1" sz="1500" dirty="0">
                <a:solidFill>
                  <a:srgbClr val="1F3864"/>
                </a:solidFill>
                <a:latin typeface="Calibri"/>
              </a:rPr>
              <a:t>⚠️  Watch Out!  </a:t>
            </a:r>
            <a:r>
              <a:rPr lang="en-GB" b="0" sz="1400" dirty="0">
                <a:solidFill>
                  <a:srgbClr val="1F3864"/>
                </a:solidFill>
                <a:latin typeface="Calibri"/>
              </a:rPr>
              <a:t>After doesn't, ALWAYS use the base form. NEVER say 'He doesn't likes' or 'She doesn't goes'. The -s is already in 'does'.</a:t>
            </a:r>
          </a:p>
        </p:txBody>
      </p:sp>
      <p:sp>
        <p:nvSpPr>
          <p:cNvPr id="255" name="box255"/>
          <p:cNvSpPr>
            <a:spLocks noGrp="1"/>
          </p:cNvSpPr>
          <p:nvPr/>
        </p:nvSpPr>
        <p:spPr>
          <a:xfrm>
            <a:off x="180000" y="1169998"/>
            <a:ext cx="1260000" cy="216000"/>
          </a:xfrm>
          <a:prstGeom prst="roundRect">
            <a:avLst>
              <a:gd name="adj" fmla="val 10000"/>
            </a:avLst>
          </a:prstGeom>
          <a:solidFill>
            <a:srgbClr val="BF8F00"/>
          </a:solidFill>
          <a:ln w="0">
            <a:noFill/>
          </a:ln>
        </p:spPr>
        <p:txBody>
          <a:bodyPr anchor="ctr" wrap="square" lIns="72000" rIns="72000" tIns="54000" bIns="54000"/>
          <a:lstStyle/>
          <a:p>
            <a:pPr algn="ctr" spcBef="0" spcAft="0">
              <a:spcPct val="100000"/>
            </a:pPr>
            <a:r>
              <a:rPr lang="en-GB" b="1" sz="1400" dirty="0">
                <a:solidFill>
                  <a:srgbClr val="1F3864"/>
                </a:solidFill>
                <a:latin typeface="Calibri"/>
              </a:rPr>
              <a:t>Usage Examples</a:t>
            </a:r>
          </a:p>
        </p:txBody>
      </p:sp>
      <p:sp>
        <p:nvSpPr>
          <p:cNvPr id="256" name="tb256"/>
          <p:cNvSpPr txBox="1">
            <a:spLocks noGrp="1"/>
          </p:cNvSpPr>
          <p:nvPr/>
        </p:nvSpPr>
        <p:spPr>
          <a:xfrm>
            <a:off x="180000" y="1439998"/>
            <a:ext cx="11832000" cy="198000"/>
          </a:xfrm>
          <a:prstGeom prst="rect">
            <a:avLst/>
          </a:prstGeom>
          <a:noFill/>
        </p:spPr>
        <p:txBody>
          <a:bodyPr anchor="ctr" wrap="square" lIns="36000" rIns="36000" tIns="36000" bIns="36000"/>
          <a:lstStyle/>
          <a:p>
            <a:pPr algn="l" spcBef="0" spcAft="0">
              <a:spcPct val="100000"/>
            </a:pPr>
            <a:r>
              <a:rPr lang="en-GB" b="0" sz="1400" dirty="0">
                <a:solidFill>
                  <a:srgbClr val="404040"/>
                </a:solidFill>
                <a:latin typeface="Calibri"/>
              </a:rPr>
              <a:t>▶  Likes/dislikes: I don't like spicy food. He doesn't enjoy sports.</a:t>
            </a:r>
          </a:p>
        </p:txBody>
      </p:sp>
      <p:sp>
        <p:nvSpPr>
          <p:cNvPr id="257" name="tb257"/>
          <p:cNvSpPr txBox="1">
            <a:spLocks noGrp="1"/>
          </p:cNvSpPr>
          <p:nvPr/>
        </p:nvSpPr>
        <p:spPr>
          <a:xfrm>
            <a:off x="180000" y="1655998"/>
            <a:ext cx="11832000" cy="198000"/>
          </a:xfrm>
          <a:prstGeom prst="rect">
            <a:avLst/>
          </a:prstGeom>
          <a:noFill/>
        </p:spPr>
        <p:txBody>
          <a:bodyPr anchor="ctr" wrap="square" lIns="36000" rIns="36000" tIns="36000" bIns="36000"/>
          <a:lstStyle/>
          <a:p>
            <a:pPr algn="l" spcBef="0" spcAft="0">
              <a:spcPct val="100000"/>
            </a:pPr>
            <a:r>
              <a:rPr lang="en-GB" b="0" sz="1400" dirty="0">
                <a:solidFill>
                  <a:srgbClr val="404040"/>
                </a:solidFill>
                <a:latin typeface="Calibri"/>
              </a:rPr>
              <a:t>▶  Habits: She doesn't smoke. We don't eat meat.</a:t>
            </a:r>
          </a:p>
        </p:txBody>
      </p:sp>
      <p:sp>
        <p:nvSpPr>
          <p:cNvPr id="258" name="tb258"/>
          <p:cNvSpPr txBox="1">
            <a:spLocks noGrp="1"/>
          </p:cNvSpPr>
          <p:nvPr/>
        </p:nvSpPr>
        <p:spPr>
          <a:xfrm>
            <a:off x="180000" y="1871998"/>
            <a:ext cx="11832000" cy="198000"/>
          </a:xfrm>
          <a:prstGeom prst="rect">
            <a:avLst/>
          </a:prstGeom>
          <a:noFill/>
        </p:spPr>
        <p:txBody>
          <a:bodyPr anchor="ctr" wrap="square" lIns="36000" rIns="36000" tIns="36000" bIns="36000"/>
          <a:lstStyle/>
          <a:p>
            <a:pPr algn="l" spcBef="0" spcAft="0">
              <a:spcPct val="100000"/>
            </a:pPr>
            <a:r>
              <a:rPr lang="en-GB" b="0" sz="1400" dirty="0">
                <a:solidFill>
                  <a:srgbClr val="404040"/>
                </a:solidFill>
                <a:latin typeface="Calibri"/>
              </a:rPr>
              <a:t>▶  Knowledge: They don't understand the question.</a:t>
            </a:r>
          </a:p>
        </p:txBody>
      </p:sp>
      <p:sp>
        <p:nvSpPr>
          <p:cNvPr id="259" name="tb259"/>
          <p:cNvSpPr txBox="1">
            <a:spLocks noGrp="1"/>
          </p:cNvSpPr>
          <p:nvPr/>
        </p:nvSpPr>
        <p:spPr>
          <a:xfrm>
            <a:off x="180000" y="2087998"/>
            <a:ext cx="11832000" cy="198000"/>
          </a:xfrm>
          <a:prstGeom prst="rect">
            <a:avLst/>
          </a:prstGeom>
          <a:noFill/>
        </p:spPr>
        <p:txBody>
          <a:bodyPr anchor="ctr" wrap="square" lIns="36000" rIns="36000" tIns="36000" bIns="36000"/>
          <a:lstStyle/>
          <a:p>
            <a:pPr algn="l" spcBef="0" spcAft="0">
              <a:spcPct val="100000"/>
            </a:pPr>
            <a:r>
              <a:rPr lang="en-GB" b="0" sz="1400" dirty="0">
                <a:solidFill>
                  <a:srgbClr val="404040"/>
                </a:solidFill>
                <a:latin typeface="Calibri"/>
              </a:rPr>
              <a:t>▶  Possession: He doesn't have a car.</a:t>
            </a:r>
          </a:p>
        </p:txBody>
      </p:sp>
    </p:spTree>
  </p:cSld>
  <p:clrMapOvr>
    <a:masterClr/>
  </p:clrMapOvr>
</p:sld>
</file>

<file path=ppt/slides/slide7.xml><?xml version="1.0" encoding="utf-8"?>
<p:sld xmlns:p="http://schemas.openxmlformats.org/presentationml/2006/main" xmlns:a="http://schemas.openxmlformats.org/drawingml/2006/main" xmlns:r="http://schemas.openxmlformats.org/officeDocument/2006/relationships" xmlns:dc="http://purl.org/dc/elements/1.1/">
  <p:cSld>
    <p:spTree>
      <p:nvGrpSpPr>
        <p:cNvPr id="1" name="content"/>
        <p:cNvGrpSpPr/>
        <p:nvPr/>
      </p:nvGrpSpPr>
      <p:grpSpPr>
        <a:xfrm>
          <a:off x="0" y="0"/>
          <a:ext cx="12192000" cy="6858000"/>
          <a:chOff x="0" y="0"/>
          <a:chExt cx="12192000" cy="6858000"/>
        </a:xfrm>
      </p:grpSpPr>
      <p:sp>
        <p:nvSpPr>
          <p:cNvPr id="301" name="box301"/>
          <p:cNvSpPr>
            <a:spLocks noGrp="1"/>
          </p:cNvSpPr>
          <p:nvPr/>
        </p:nvSpPr>
        <p:spPr>
          <a:xfrm>
            <a:off x="0" y="0"/>
            <a:ext cx="12192000" cy="396000"/>
          </a:xfrm>
          <a:prstGeom prst="rect">
            <a:avLst/>
          </a:prstGeom>
          <a:solidFill>
            <a:srgbClr val="1F3864"/>
          </a:solidFill>
          <a:ln w="0">
            <a:noFill/>
          </a:ln>
        </p:spPr>
        <p:txBody>
          <a:bodyPr anchor="ctr" wrap="square" lIns="72000" rIns="72000" tIns="54000" bIns="54000"/>
          <a:lstStyle/>
        </p:txBody>
      </p:sp>
      <p:sp>
        <p:nvSpPr>
          <p:cNvPr id="302" name="box302"/>
          <p:cNvSpPr>
            <a:spLocks noGrp="1"/>
          </p:cNvSpPr>
          <p:nvPr/>
        </p:nvSpPr>
        <p:spPr>
          <a:xfrm>
            <a:off x="0" y="396000"/>
            <a:ext cx="12192000" cy="64800"/>
          </a:xfrm>
          <a:prstGeom prst="rect">
            <a:avLst/>
          </a:prstGeom>
          <a:solidFill>
            <a:srgbClr val="BF8F00"/>
          </a:solidFill>
          <a:ln w="0">
            <a:noFill/>
          </a:ln>
        </p:spPr>
        <p:txBody>
          <a:bodyPr anchor="ctr" wrap="square" lIns="72000" rIns="72000" tIns="54000" bIns="54000"/>
          <a:lstStyle/>
        </p:txBody>
      </p:sp>
      <p:sp>
        <p:nvSpPr>
          <p:cNvPr id="303" name="tb303"/>
          <p:cNvSpPr txBox="1">
            <a:spLocks noGrp="1"/>
          </p:cNvSpPr>
          <p:nvPr/>
        </p:nvSpPr>
        <p:spPr>
          <a:xfrm>
            <a:off x="180000" y="21600"/>
            <a:ext cx="11832000" cy="360000"/>
          </a:xfrm>
          <a:prstGeom prst="rect">
            <a:avLst/>
          </a:prstGeom>
          <a:noFill/>
        </p:spPr>
        <p:txBody>
          <a:bodyPr anchor="ctr" wrap="square" lIns="36000" rIns="36000" tIns="36000" bIns="36000"/>
          <a:lstStyle/>
          <a:p>
            <a:pPr algn="l" spcBef="0" spcAft="0">
              <a:spcPct val="100000"/>
            </a:pPr>
            <a:r>
              <a:rPr lang="en-GB" b="1" sz="2200" dirty="0">
                <a:solidFill>
                  <a:srgbClr val="BF8F00"/>
                </a:solidFill>
                <a:latin typeface="Cambria"/>
              </a:rPr>
              <a:t>✍️  </a:t>
            </a:r>
            <a:r>
              <a:rPr lang="en-GB" b="1" sz="2200" dirty="0">
                <a:solidFill>
                  <a:srgbClr val="FFFFFF"/>
                </a:solidFill>
                <a:latin typeface="Cambria"/>
              </a:rPr>
              <a:t>GUIDED PRACTICE</a:t>
            </a:r>
          </a:p>
        </p:txBody>
      </p:sp>
      <p:sp>
        <p:nvSpPr>
          <p:cNvPr id="304" name="tb304"/>
          <p:cNvSpPr txBox="1">
            <a:spLocks noGrp="1"/>
          </p:cNvSpPr>
          <p:nvPr/>
        </p:nvSpPr>
        <p:spPr>
          <a:xfrm>
            <a:off x="180000" y="540000"/>
            <a:ext cx="11832000" cy="234000"/>
          </a:xfrm>
          <a:prstGeom prst="rect">
            <a:avLst/>
          </a:prstGeom>
          <a:noFill/>
        </p:spPr>
        <p:txBody>
          <a:bodyPr anchor="ctr" wrap="square" lIns="36000" rIns="36000" tIns="36000" bIns="36000"/>
          <a:lstStyle/>
          <a:p>
            <a:pPr algn="l" spcBef="0" spcAft="0">
              <a:spcPct val="100000"/>
            </a:pPr>
            <a:r>
              <a:rPr lang="en-GB" b="0" i="1" sz="1400" dirty="0">
                <a:solidFill>
                  <a:srgbClr val="BF8F00"/>
                </a:solidFill>
                <a:latin typeface="Calibri"/>
              </a:rPr>
              <a:t>Make the sentences negative. Items 1-2 are completed for you.</a:t>
            </a:r>
          </a:p>
        </p:txBody>
      </p:sp>
      <p:graphicFrame>
        <p:nvGraphicFramePr>
          <p:cNvPr id="305" name="tbl305"/>
          <p:cNvGraphicFramePr>
            <a:graphicFrameLocks noGrp="1"/>
          </p:cNvGraphicFramePr>
          <p:nvPr/>
        </p:nvGraphicFramePr>
        <p:xfrm>
          <a:off x="180000" y="846000"/>
          <a:ext cx="11832000" cy="5922000"/>
        </p:xfrm>
        <a:graphic>
          <a:graphicData uri="http://schemas.openxmlformats.org/drawingml/2006/table">
            <a:tbl>
              <a:tblPr firstRow="1" bandRow="1">
                <a:tableStyleId>{5C22544A-7EE6-4342-B048-85BDC9FD1C3A}</a:tableStyleId>
              </a:tblPr>
              <a:tblGrid>
                <a:gridCol w="709920"/>
                <a:gridCol w="6152640"/>
                <a:gridCol w="4969440"/>
              </a:tblGrid>
              <a:tr h="1141200">
                <a:tc>
                  <a:txBody>
                    <a:bodyPr/>
                    <a:lstStyle/>
                    <a:p>
                      <a:pPr algn="l"/>
                      <a:r>
                        <a:rPr lang="en-GB" b="1" sz="1400" dirty="0">
                          <a:solidFill>
                            <a:srgbClr val="FFFFFF"/>
                          </a:solidFill>
                          <a:latin typeface="Calibri"/>
                        </a:rPr>
                        <a:t>#</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1" sz="1400" dirty="0">
                          <a:solidFill>
                            <a:srgbClr val="FFFFFF"/>
                          </a:solidFill>
                          <a:latin typeface="Calibri"/>
                        </a:rPr>
                        <a:t>Positive Sentence</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1" sz="1400" dirty="0">
                          <a:solidFill>
                            <a:srgbClr val="FFFFFF"/>
                          </a:solidFill>
                          <a:latin typeface="Calibri"/>
                        </a:rPr>
                        <a:t>Negative Sentence</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r>
              <a:tr h="1141200">
                <a:tc>
                  <a:txBody>
                    <a:bodyPr/>
                    <a:lstStyle/>
                    <a:p>
                      <a:pPr algn="l"/>
                      <a:r>
                        <a:rPr lang="en-GB" b="1" sz="1400" dirty="0">
                          <a:solidFill>
                            <a:srgbClr val="1F3864"/>
                          </a:solidFill>
                          <a:latin typeface="Calibri"/>
                        </a:rPr>
                        <a:t>1 ✅</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She likes coffee.</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She DOESN'T LIKE coffee.</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r>
              <a:tr h="1141200">
                <a:tc>
                  <a:txBody>
                    <a:bodyPr/>
                    <a:lstStyle/>
                    <a:p>
                      <a:pPr algn="l"/>
                      <a:r>
                        <a:rPr lang="en-GB" b="1" sz="1400" dirty="0">
                          <a:solidFill>
                            <a:srgbClr val="1F3864"/>
                          </a:solidFill>
                          <a:latin typeface="Calibri"/>
                        </a:rPr>
                        <a:t>2 ✅</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They eat meat.</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They DON'T EAT meat.</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1141200">
                <a:tc>
                  <a:txBody>
                    <a:bodyPr/>
                    <a:lstStyle/>
                    <a:p>
                      <a:pPr algn="l"/>
                      <a:r>
                        <a:rPr lang="en-GB" b="1" sz="1400" dirty="0">
                          <a:solidFill>
                            <a:srgbClr val="1F3864"/>
                          </a:solidFill>
                          <a:latin typeface="Calibri"/>
                        </a:rPr>
                        <a:t>3</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He smokes.</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________________________</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r>
              <a:tr h="1141200">
                <a:tc>
                  <a:txBody>
                    <a:bodyPr/>
                    <a:lstStyle/>
                    <a:p>
                      <a:pPr algn="l"/>
                      <a:r>
                        <a:rPr lang="en-GB" b="1" sz="1400" dirty="0">
                          <a:solidFill>
                            <a:srgbClr val="1F3864"/>
                          </a:solidFill>
                          <a:latin typeface="Calibri"/>
                        </a:rPr>
                        <a:t>4</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I understand the question.</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________________________</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bl>
          </a:graphicData>
        </a:graphic>
      </p:graphicFrame>
    </p:spTree>
  </p:cSld>
  <p:clrMapOvr>
    <a:masterClr/>
  </p:clrMapOvr>
</p:sld>
</file>

<file path=ppt/slides/slide8.xml><?xml version="1.0" encoding="utf-8"?>
<p:sld xmlns:p="http://schemas.openxmlformats.org/presentationml/2006/main" xmlns:a="http://schemas.openxmlformats.org/drawingml/2006/main" xmlns:r="http://schemas.openxmlformats.org/officeDocument/2006/relationships" xmlns:dc="http://purl.org/dc/elements/1.1/">
  <p:cSld>
    <p:spTree>
      <p:nvGrpSpPr>
        <p:cNvPr id="1" name="content"/>
        <p:cNvGrpSpPr/>
        <p:nvPr/>
      </p:nvGrpSpPr>
      <p:grpSpPr>
        <a:xfrm>
          <a:off x="0" y="0"/>
          <a:ext cx="12192000" cy="6858000"/>
          <a:chOff x="0" y="0"/>
          <a:chExt cx="12192000" cy="6858000"/>
        </a:xfrm>
      </p:grpSpPr>
      <p:sp>
        <p:nvSpPr>
          <p:cNvPr id="351" name="box351"/>
          <p:cNvSpPr>
            <a:spLocks noGrp="1"/>
          </p:cNvSpPr>
          <p:nvPr/>
        </p:nvSpPr>
        <p:spPr>
          <a:xfrm>
            <a:off x="0" y="0"/>
            <a:ext cx="12192000" cy="396000"/>
          </a:xfrm>
          <a:prstGeom prst="rect">
            <a:avLst/>
          </a:prstGeom>
          <a:solidFill>
            <a:srgbClr val="1F3864"/>
          </a:solidFill>
          <a:ln w="0">
            <a:noFill/>
          </a:ln>
        </p:spPr>
        <p:txBody>
          <a:bodyPr anchor="ctr" wrap="square" lIns="72000" rIns="72000" tIns="54000" bIns="54000"/>
          <a:lstStyle/>
        </p:txBody>
      </p:sp>
      <p:sp>
        <p:nvSpPr>
          <p:cNvPr id="352" name="box352"/>
          <p:cNvSpPr>
            <a:spLocks noGrp="1"/>
          </p:cNvSpPr>
          <p:nvPr/>
        </p:nvSpPr>
        <p:spPr>
          <a:xfrm>
            <a:off x="0" y="396000"/>
            <a:ext cx="12192000" cy="64800"/>
          </a:xfrm>
          <a:prstGeom prst="rect">
            <a:avLst/>
          </a:prstGeom>
          <a:solidFill>
            <a:srgbClr val="BF8F00"/>
          </a:solidFill>
          <a:ln w="0">
            <a:noFill/>
          </a:ln>
        </p:spPr>
        <p:txBody>
          <a:bodyPr anchor="ctr" wrap="square" lIns="72000" rIns="72000" tIns="54000" bIns="54000"/>
          <a:lstStyle/>
        </p:txBody>
      </p:sp>
      <p:sp>
        <p:nvSpPr>
          <p:cNvPr id="353" name="tb353"/>
          <p:cNvSpPr txBox="1">
            <a:spLocks noGrp="1"/>
          </p:cNvSpPr>
          <p:nvPr/>
        </p:nvSpPr>
        <p:spPr>
          <a:xfrm>
            <a:off x="180000" y="21600"/>
            <a:ext cx="11832000" cy="360000"/>
          </a:xfrm>
          <a:prstGeom prst="rect">
            <a:avLst/>
          </a:prstGeom>
          <a:noFill/>
        </p:spPr>
        <p:txBody>
          <a:bodyPr anchor="ctr" wrap="square" lIns="36000" rIns="36000" tIns="36000" bIns="36000"/>
          <a:lstStyle/>
          <a:p>
            <a:pPr algn="l" spcBef="0" spcAft="0">
              <a:spcPct val="100000"/>
            </a:pPr>
            <a:r>
              <a:rPr lang="en-GB" b="1" sz="2200" dirty="0">
                <a:solidFill>
                  <a:srgbClr val="BF8F00"/>
                </a:solidFill>
                <a:latin typeface="Cambria"/>
              </a:rPr>
              <a:t>📝  </a:t>
            </a:r>
            <a:r>
              <a:rPr lang="en-GB" b="1" sz="2200" dirty="0">
                <a:solidFill>
                  <a:srgbClr val="FFFFFF"/>
                </a:solidFill>
                <a:latin typeface="Cambria"/>
              </a:rPr>
              <a:t>CONTROLLED PRACTICE</a:t>
            </a:r>
          </a:p>
        </p:txBody>
      </p:sp>
      <p:sp>
        <p:nvSpPr>
          <p:cNvPr id="354" name="tb354"/>
          <p:cNvSpPr txBox="1">
            <a:spLocks noGrp="1"/>
          </p:cNvSpPr>
          <p:nvPr/>
        </p:nvSpPr>
        <p:spPr>
          <a:xfrm>
            <a:off x="180000" y="540000"/>
            <a:ext cx="11832000" cy="234000"/>
          </a:xfrm>
          <a:prstGeom prst="rect">
            <a:avLst/>
          </a:prstGeom>
          <a:noFill/>
        </p:spPr>
        <p:txBody>
          <a:bodyPr anchor="ctr" wrap="square" lIns="36000" rIns="36000" tIns="36000" bIns="36000"/>
          <a:lstStyle/>
          <a:p>
            <a:pPr algn="l" spcBef="0" spcAft="0">
              <a:spcPct val="100000"/>
            </a:pPr>
            <a:r>
              <a:rPr lang="en-GB" b="0" i="1" sz="1400" dirty="0">
                <a:solidFill>
                  <a:srgbClr val="BF8F00"/>
                </a:solidFill>
                <a:latin typeface="Calibri"/>
              </a:rPr>
              <a:t>Write complete negative sentences in the Present Simple.</a:t>
            </a:r>
          </a:p>
        </p:txBody>
      </p:sp>
      <p:graphicFrame>
        <p:nvGraphicFramePr>
          <p:cNvPr id="355" name="tbl355"/>
          <p:cNvGraphicFramePr>
            <a:graphicFrameLocks noGrp="1"/>
          </p:cNvGraphicFramePr>
          <p:nvPr/>
        </p:nvGraphicFramePr>
        <p:xfrm>
          <a:off x="180000" y="846000"/>
          <a:ext cx="11832000" cy="5922000"/>
        </p:xfrm>
        <a:graphic>
          <a:graphicData uri="http://schemas.openxmlformats.org/drawingml/2006/table">
            <a:tbl>
              <a:tblPr firstRow="1" bandRow="1">
                <a:tableStyleId>{5C22544A-7EE6-4342-B048-85BDC9FD1C3A}</a:tableStyleId>
              </a:tblPr>
              <a:tblGrid>
                <a:gridCol w="709920"/>
                <a:gridCol w="5561040"/>
                <a:gridCol w="5561040"/>
              </a:tblGrid>
              <a:tr h="951000">
                <a:tc>
                  <a:txBody>
                    <a:bodyPr/>
                    <a:lstStyle/>
                    <a:p>
                      <a:pPr algn="l"/>
                      <a:r>
                        <a:rPr lang="en-GB" b="1" sz="1400" dirty="0">
                          <a:solidFill>
                            <a:srgbClr val="FFFFFF"/>
                          </a:solidFill>
                          <a:latin typeface="Calibri"/>
                        </a:rPr>
                        <a:t>#</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1" sz="1400" dirty="0">
                          <a:solidFill>
                            <a:srgbClr val="FFFFFF"/>
                          </a:solidFill>
                          <a:latin typeface="Calibri"/>
                        </a:rPr>
                        <a:t>Prompt</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1" sz="1400" dirty="0">
                          <a:solidFill>
                            <a:srgbClr val="FFFFFF"/>
                          </a:solidFill>
                          <a:latin typeface="Calibri"/>
                        </a:rPr>
                        <a:t>Write your answer</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r>
              <a:tr h="951000">
                <a:tc>
                  <a:txBody>
                    <a:bodyPr/>
                    <a:lstStyle/>
                    <a:p>
                      <a:pPr algn="l"/>
                      <a:r>
                        <a:rPr lang="en-GB" b="1" sz="1400" dirty="0">
                          <a:solidFill>
                            <a:srgbClr val="1F3864"/>
                          </a:solidFill>
                          <a:latin typeface="Calibri"/>
                        </a:rPr>
                        <a:t>1</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(she / not / eat / meat)</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________________________</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r>
              <a:tr h="951000">
                <a:tc>
                  <a:txBody>
                    <a:bodyPr/>
                    <a:lstStyle/>
                    <a:p>
                      <a:pPr algn="l"/>
                      <a:r>
                        <a:rPr lang="en-GB" b="1" sz="1400" dirty="0">
                          <a:solidFill>
                            <a:srgbClr val="1F3864"/>
                          </a:solidFill>
                          <a:latin typeface="Calibri"/>
                        </a:rPr>
                        <a:t>2</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(I / not / like / noise)</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________________________</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951000">
                <a:tc>
                  <a:txBody>
                    <a:bodyPr/>
                    <a:lstStyle/>
                    <a:p>
                      <a:pPr algn="l"/>
                      <a:r>
                        <a:rPr lang="en-GB" b="1" sz="1400" dirty="0">
                          <a:solidFill>
                            <a:srgbClr val="1F3864"/>
                          </a:solidFill>
                          <a:latin typeface="Calibri"/>
                        </a:rPr>
                        <a:t>3</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(he / not / travel / often)</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________________________</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r>
              <a:tr h="951000">
                <a:tc>
                  <a:txBody>
                    <a:bodyPr/>
                    <a:lstStyle/>
                    <a:p>
                      <a:pPr algn="l"/>
                      <a:r>
                        <a:rPr lang="en-GB" b="1" sz="1400" dirty="0">
                          <a:solidFill>
                            <a:srgbClr val="1F3864"/>
                          </a:solidFill>
                          <a:latin typeface="Calibri"/>
                        </a:rPr>
                        <a:t>4</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(we / not / understand / this)</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________________________</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951000">
                <a:tc>
                  <a:txBody>
                    <a:bodyPr/>
                    <a:lstStyle/>
                    <a:p>
                      <a:pPr algn="l"/>
                      <a:r>
                        <a:rPr lang="en-GB" b="1" sz="1400" dirty="0">
                          <a:solidFill>
                            <a:srgbClr val="1F3864"/>
                          </a:solidFill>
                          <a:latin typeface="Calibri"/>
                        </a:rPr>
                        <a:t>5</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(it / not / matter)</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________________________</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r>
            </a:tbl>
          </a:graphicData>
        </a:graphic>
      </p:graphicFrame>
    </p:spTree>
  </p:cSld>
  <p:clrMapOvr>
    <a:masterClr/>
  </p:clrMapOvr>
</p:sld>
</file>

<file path=ppt/slides/slide9.xml><?xml version="1.0" encoding="utf-8"?>
<p:sld xmlns:p="http://schemas.openxmlformats.org/presentationml/2006/main" xmlns:a="http://schemas.openxmlformats.org/drawingml/2006/main" xmlns:r="http://schemas.openxmlformats.org/officeDocument/2006/relationships" xmlns:dc="http://purl.org/dc/elements/1.1/">
  <p:cSld>
    <p:spTree>
      <p:nvGrpSpPr>
        <p:cNvPr id="1" name="content"/>
        <p:cNvGrpSpPr/>
        <p:nvPr/>
      </p:nvGrpSpPr>
      <p:grpSpPr>
        <a:xfrm>
          <a:off x="0" y="0"/>
          <a:ext cx="12192000" cy="6858000"/>
          <a:chOff x="0" y="0"/>
          <a:chExt cx="12192000" cy="6858000"/>
        </a:xfrm>
      </p:grpSpPr>
      <p:sp>
        <p:nvSpPr>
          <p:cNvPr id="401" name="box401"/>
          <p:cNvSpPr>
            <a:spLocks noGrp="1"/>
          </p:cNvSpPr>
          <p:nvPr/>
        </p:nvSpPr>
        <p:spPr>
          <a:xfrm>
            <a:off x="0" y="0"/>
            <a:ext cx="12192000" cy="396000"/>
          </a:xfrm>
          <a:prstGeom prst="rect">
            <a:avLst/>
          </a:prstGeom>
          <a:solidFill>
            <a:srgbClr val="1F3864"/>
          </a:solidFill>
          <a:ln w="0">
            <a:noFill/>
          </a:ln>
        </p:spPr>
        <p:txBody>
          <a:bodyPr anchor="ctr" wrap="square" lIns="72000" rIns="72000" tIns="54000" bIns="54000"/>
          <a:lstStyle/>
        </p:txBody>
      </p:sp>
      <p:sp>
        <p:nvSpPr>
          <p:cNvPr id="402" name="box402"/>
          <p:cNvSpPr>
            <a:spLocks noGrp="1"/>
          </p:cNvSpPr>
          <p:nvPr/>
        </p:nvSpPr>
        <p:spPr>
          <a:xfrm>
            <a:off x="0" y="396000"/>
            <a:ext cx="12192000" cy="64800"/>
          </a:xfrm>
          <a:prstGeom prst="rect">
            <a:avLst/>
          </a:prstGeom>
          <a:solidFill>
            <a:srgbClr val="BF8F00"/>
          </a:solidFill>
          <a:ln w="0">
            <a:noFill/>
          </a:ln>
        </p:spPr>
        <p:txBody>
          <a:bodyPr anchor="ctr" wrap="square" lIns="72000" rIns="72000" tIns="54000" bIns="54000"/>
          <a:lstStyle/>
        </p:txBody>
      </p:sp>
      <p:sp>
        <p:nvSpPr>
          <p:cNvPr id="403" name="tb403"/>
          <p:cNvSpPr txBox="1">
            <a:spLocks noGrp="1"/>
          </p:cNvSpPr>
          <p:nvPr/>
        </p:nvSpPr>
        <p:spPr>
          <a:xfrm>
            <a:off x="180000" y="21600"/>
            <a:ext cx="11832000" cy="360000"/>
          </a:xfrm>
          <a:prstGeom prst="rect">
            <a:avLst/>
          </a:prstGeom>
          <a:noFill/>
        </p:spPr>
        <p:txBody>
          <a:bodyPr anchor="ctr" wrap="square" lIns="36000" rIns="36000" tIns="36000" bIns="36000"/>
          <a:lstStyle/>
          <a:p>
            <a:pPr algn="l" spcBef="0" spcAft="0">
              <a:spcPct val="100000"/>
            </a:pPr>
            <a:r>
              <a:rPr lang="en-GB" b="1" sz="2200" dirty="0">
                <a:solidFill>
                  <a:srgbClr val="BF8F00"/>
                </a:solidFill>
                <a:latin typeface="Cambria"/>
              </a:rPr>
              <a:t>🔎  </a:t>
            </a:r>
            <a:r>
              <a:rPr lang="en-GB" b="1" sz="2200" dirty="0">
                <a:solidFill>
                  <a:srgbClr val="FFFFFF"/>
                </a:solidFill>
                <a:latin typeface="Cambria"/>
              </a:rPr>
              <a:t>ERROR CORRECTION</a:t>
            </a:r>
          </a:p>
        </p:txBody>
      </p:sp>
      <p:sp>
        <p:nvSpPr>
          <p:cNvPr id="404" name="tb404"/>
          <p:cNvSpPr txBox="1">
            <a:spLocks noGrp="1"/>
          </p:cNvSpPr>
          <p:nvPr/>
        </p:nvSpPr>
        <p:spPr>
          <a:xfrm>
            <a:off x="180000" y="540000"/>
            <a:ext cx="11832000" cy="234000"/>
          </a:xfrm>
          <a:prstGeom prst="rect">
            <a:avLst/>
          </a:prstGeom>
          <a:noFill/>
        </p:spPr>
        <p:txBody>
          <a:bodyPr anchor="ctr" wrap="square" lIns="36000" rIns="36000" tIns="36000" bIns="36000"/>
          <a:lstStyle/>
          <a:p>
            <a:pPr algn="l" spcBef="0" spcAft="0">
              <a:spcPct val="100000"/>
            </a:pPr>
            <a:r>
              <a:rPr lang="en-GB" b="0" i="1" sz="1400" dirty="0">
                <a:solidFill>
                  <a:srgbClr val="BF8F00"/>
                </a:solidFill>
                <a:latin typeface="Calibri"/>
              </a:rPr>
              <a:t>Find and correct the ONE mistake in each sentence.</a:t>
            </a:r>
          </a:p>
        </p:txBody>
      </p:sp>
      <p:graphicFrame>
        <p:nvGraphicFramePr>
          <p:cNvPr id="405" name="tbl405"/>
          <p:cNvGraphicFramePr>
            <a:graphicFrameLocks noGrp="1"/>
          </p:cNvGraphicFramePr>
          <p:nvPr/>
        </p:nvGraphicFramePr>
        <p:xfrm>
          <a:off x="180000" y="846000"/>
          <a:ext cx="11832000" cy="5922000"/>
        </p:xfrm>
        <a:graphic>
          <a:graphicData uri="http://schemas.openxmlformats.org/drawingml/2006/table">
            <a:tbl>
              <a:tblPr firstRow="1" bandRow="1">
                <a:tableStyleId>{5C22544A-7EE6-4342-B048-85BDC9FD1C3A}</a:tableStyleId>
              </a:tblPr>
              <a:tblGrid>
                <a:gridCol w="591600"/>
                <a:gridCol w="5916000"/>
                <a:gridCol w="5324400"/>
              </a:tblGrid>
              <a:tr h="951000">
                <a:tc>
                  <a:txBody>
                    <a:bodyPr/>
                    <a:lstStyle/>
                    <a:p>
                      <a:pPr algn="l"/>
                      <a:r>
                        <a:rPr lang="en-GB" b="1" sz="1400" dirty="0">
                          <a:solidFill>
                            <a:srgbClr val="FFFFFF"/>
                          </a:solidFill>
                          <a:latin typeface="Calibri"/>
                        </a:rPr>
                        <a:t>#</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1" sz="1400" dirty="0">
                          <a:solidFill>
                            <a:srgbClr val="FFFFFF"/>
                          </a:solidFill>
                          <a:latin typeface="Calibri"/>
                        </a:rPr>
                        <a:t>Incorrect Sentence</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1" sz="1400" dirty="0">
                          <a:solidFill>
                            <a:srgbClr val="FFFFFF"/>
                          </a:solidFill>
                          <a:latin typeface="Calibri"/>
                        </a:rPr>
                        <a:t>Corrected Sentence</a:t>
                      </a:r>
                    </a:p>
                  </a:txBody>
                  <a:tcPr>
                    <a:solidFill>
                      <a:srgbClr val="1F3864"/>
                    </a:solidFill>
                    <a:lnL w="6350">
                      <a:solidFill>
                        <a:srgbClr val="FFFFFF"/>
                      </a:solidFill>
                    </a:lnL>
                    <a:lnR w="6350">
                      <a:solidFill>
                        <a:srgbClr val="FFFFFF"/>
                      </a:solidFill>
                    </a:lnR>
                    <a:lnT w="6350">
                      <a:solidFill>
                        <a:srgbClr val="FFFFFF"/>
                      </a:solidFill>
                    </a:lnT>
                    <a:lnB w="6350">
                      <a:solidFill>
                        <a:srgbClr val="FFFFFF"/>
                      </a:solidFill>
                    </a:lnB>
                  </a:tcPr>
                </a:tc>
              </a:tr>
              <a:tr h="951000">
                <a:tc>
                  <a:txBody>
                    <a:bodyPr/>
                    <a:lstStyle/>
                    <a:p>
                      <a:pPr algn="l"/>
                      <a:r>
                        <a:rPr lang="en-GB" b="1" sz="1400" dirty="0">
                          <a:solidFill>
                            <a:srgbClr val="1F3864"/>
                          </a:solidFill>
                          <a:latin typeface="Calibri"/>
                        </a:rPr>
                        <a:t>1</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He doesn't likes football.</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________________________</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r>
              <a:tr h="951000">
                <a:tc>
                  <a:txBody>
                    <a:bodyPr/>
                    <a:lstStyle/>
                    <a:p>
                      <a:pPr algn="l"/>
                      <a:r>
                        <a:rPr lang="en-GB" b="1" sz="1400" dirty="0">
                          <a:solidFill>
                            <a:srgbClr val="1F3864"/>
                          </a:solidFill>
                          <a:latin typeface="Calibri"/>
                        </a:rPr>
                        <a:t>2</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She don't eat meat.</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________________________</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951000">
                <a:tc>
                  <a:txBody>
                    <a:bodyPr/>
                    <a:lstStyle/>
                    <a:p>
                      <a:pPr algn="l"/>
                      <a:r>
                        <a:rPr lang="en-GB" b="1" sz="1400" dirty="0">
                          <a:solidFill>
                            <a:srgbClr val="1F3864"/>
                          </a:solidFill>
                          <a:latin typeface="Calibri"/>
                        </a:rPr>
                        <a:t>3</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They doesn't understand.</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________________________</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r>
              <a:tr h="951000">
                <a:tc>
                  <a:txBody>
                    <a:bodyPr/>
                    <a:lstStyle/>
                    <a:p>
                      <a:pPr algn="l"/>
                      <a:r>
                        <a:rPr lang="en-GB" b="1" sz="1400" dirty="0">
                          <a:solidFill>
                            <a:srgbClr val="1F3864"/>
                          </a:solidFill>
                          <a:latin typeface="Calibri"/>
                        </a:rPr>
                        <a:t>4</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I doesn't have a car.</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A1A1A"/>
                          </a:solidFill>
                          <a:latin typeface="Calibri"/>
                        </a:rPr>
                        <a:t>________________________</a:t>
                      </a:r>
                    </a:p>
                  </a:txBody>
                  <a:tcPr>
                    <a:solidFill>
                      <a:srgbClr val="FFFFFF"/>
                    </a:solidFill>
                    <a:lnL w="6350">
                      <a:solidFill>
                        <a:srgbClr val="FFFFFF"/>
                      </a:solidFill>
                    </a:lnL>
                    <a:lnR w="6350">
                      <a:solidFill>
                        <a:srgbClr val="FFFFFF"/>
                      </a:solidFill>
                    </a:lnR>
                    <a:lnT w="6350">
                      <a:solidFill>
                        <a:srgbClr val="FFFFFF"/>
                      </a:solidFill>
                    </a:lnT>
                    <a:lnB w="6350">
                      <a:solidFill>
                        <a:srgbClr val="FFFFFF"/>
                      </a:solidFill>
                    </a:lnB>
                  </a:tcPr>
                </a:tc>
              </a:tr>
              <a:tr h="951000">
                <a:tc>
                  <a:txBody>
                    <a:bodyPr/>
                    <a:lstStyle/>
                    <a:p>
                      <a:pPr algn="l"/>
                      <a:r>
                        <a:rPr lang="en-GB" b="1" sz="1400" dirty="0">
                          <a:solidFill>
                            <a:srgbClr val="1F3864"/>
                          </a:solidFill>
                          <a:latin typeface="Calibri"/>
                        </a:rPr>
                        <a:t>5</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He don't speaks English.</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c>
                  <a:txBody>
                    <a:bodyPr/>
                    <a:lstStyle/>
                    <a:p>
                      <a:pPr algn="l"/>
                      <a:r>
                        <a:rPr lang="en-GB" b="0" sz="1400" dirty="0">
                          <a:solidFill>
                            <a:srgbClr val="1F3864"/>
                          </a:solidFill>
                          <a:latin typeface="Calibri"/>
                        </a:rPr>
                        <a:t>________________________</a:t>
                      </a:r>
                    </a:p>
                  </a:txBody>
                  <a:tcPr>
                    <a:solidFill>
                      <a:srgbClr val="DCE6F1"/>
                    </a:solidFill>
                    <a:lnL w="6350">
                      <a:solidFill>
                        <a:srgbClr val="FFFFFF"/>
                      </a:solidFill>
                    </a:lnL>
                    <a:lnR w="6350">
                      <a:solidFill>
                        <a:srgbClr val="FFFFFF"/>
                      </a:solidFill>
                    </a:lnR>
                    <a:lnT w="6350">
                      <a:solidFill>
                        <a:srgbClr val="FFFFFF"/>
                      </a:solidFill>
                    </a:lnT>
                    <a:lnB w="6350">
                      <a:solidFill>
                        <a:srgbClr val="FFFFFF"/>
                      </a:solidFill>
                    </a:lnB>
                  </a:tcPr>
                </a:tc>
              </a:tr>
            </a:tbl>
          </a:graphicData>
        </a:graphic>
      </p:graphicFrame>
    </p:spTree>
  </p:cSld>
  <p:clrMapOvr>
    <a:masterClr/>
  </p:clrMapOvr>
</p:sld>
</file>

<file path=ppt/slides/slide10.xml><?xml version="1.0" encoding="utf-8"?>
<p:sld xmlns:p="http://schemas.openxmlformats.org/presentationml/2006/main" xmlns:a="http://schemas.openxmlformats.org/drawingml/2006/main" xmlns:r="http://schemas.openxmlformats.org/officeDocument/2006/relationships" xmlns:dc="http://purl.org/dc/elements/1.1/">
  <p:cSld>
    <p:spTree>
      <p:nvGrpSpPr>
        <p:cNvPr id="1" name="content"/>
        <p:cNvGrpSpPr/>
        <p:nvPr/>
      </p:nvGrpSpPr>
      <p:grpSpPr>
        <a:xfrm>
          <a:off x="0" y="0"/>
          <a:ext cx="12192000" cy="6858000"/>
          <a:chOff x="0" y="0"/>
          <a:chExt cx="12192000" cy="6858000"/>
        </a:xfrm>
      </p:grpSpPr>
      <p:sp>
        <p:nvSpPr>
          <p:cNvPr id="451" name="box451"/>
          <p:cNvSpPr>
            <a:spLocks noGrp="1"/>
          </p:cNvSpPr>
          <p:nvPr/>
        </p:nvSpPr>
        <p:spPr>
          <a:xfrm>
            <a:off x="0" y="0"/>
            <a:ext cx="12192000" cy="396000"/>
          </a:xfrm>
          <a:prstGeom prst="rect">
            <a:avLst/>
          </a:prstGeom>
          <a:solidFill>
            <a:srgbClr val="1F3864"/>
          </a:solidFill>
          <a:ln w="0">
            <a:noFill/>
          </a:ln>
        </p:spPr>
        <p:txBody>
          <a:bodyPr anchor="ctr" wrap="square" lIns="72000" rIns="72000" tIns="54000" bIns="54000"/>
          <a:lstStyle/>
        </p:txBody>
      </p:sp>
      <p:sp>
        <p:nvSpPr>
          <p:cNvPr id="452" name="box452"/>
          <p:cNvSpPr>
            <a:spLocks noGrp="1"/>
          </p:cNvSpPr>
          <p:nvPr/>
        </p:nvSpPr>
        <p:spPr>
          <a:xfrm>
            <a:off x="0" y="396000"/>
            <a:ext cx="12192000" cy="64800"/>
          </a:xfrm>
          <a:prstGeom prst="rect">
            <a:avLst/>
          </a:prstGeom>
          <a:solidFill>
            <a:srgbClr val="548235"/>
          </a:solidFill>
          <a:ln w="0">
            <a:noFill/>
          </a:ln>
        </p:spPr>
        <p:txBody>
          <a:bodyPr anchor="ctr" wrap="square" lIns="72000" rIns="72000" tIns="54000" bIns="54000"/>
          <a:lstStyle/>
        </p:txBody>
      </p:sp>
      <p:sp>
        <p:nvSpPr>
          <p:cNvPr id="453" name="tb453"/>
          <p:cNvSpPr txBox="1">
            <a:spLocks noGrp="1"/>
          </p:cNvSpPr>
          <p:nvPr/>
        </p:nvSpPr>
        <p:spPr>
          <a:xfrm>
            <a:off x="180000" y="21600"/>
            <a:ext cx="11832000" cy="360000"/>
          </a:xfrm>
          <a:prstGeom prst="rect">
            <a:avLst/>
          </a:prstGeom>
          <a:noFill/>
        </p:spPr>
        <p:txBody>
          <a:bodyPr anchor="ctr" wrap="square" lIns="36000" rIns="36000" tIns="36000" bIns="36000"/>
          <a:lstStyle/>
          <a:p>
            <a:pPr algn="l" spcBef="0" spcAft="0">
              <a:spcPct val="100000"/>
            </a:pPr>
            <a:r>
              <a:rPr lang="en-GB" b="1" sz="2200" dirty="0">
                <a:solidFill>
                  <a:srgbClr val="BF8F00"/>
                </a:solidFill>
                <a:latin typeface="Cambria"/>
              </a:rPr>
              <a:t>🗣️  </a:t>
            </a:r>
            <a:r>
              <a:rPr lang="en-GB" b="1" sz="2200" dirty="0">
                <a:solidFill>
                  <a:srgbClr val="FFFFFF"/>
                </a:solidFill>
                <a:latin typeface="Cambria"/>
              </a:rPr>
              <a:t>SPEAKING ACTIVITY</a:t>
            </a:r>
          </a:p>
        </p:txBody>
      </p:sp>
      <p:sp>
        <p:nvSpPr>
          <p:cNvPr id="454" name="box454"/>
          <p:cNvSpPr>
            <a:spLocks noGrp="1"/>
          </p:cNvSpPr>
          <p:nvPr/>
        </p:nvSpPr>
        <p:spPr>
          <a:xfrm>
            <a:off x="180000" y="522000"/>
            <a:ext cx="11832000" cy="360000"/>
          </a:xfrm>
          <a:prstGeom prst="roundRect">
            <a:avLst>
              <a:gd name="adj" fmla="val 12000"/>
            </a:avLst>
          </a:prstGeom>
          <a:solidFill>
            <a:srgbClr val="548235"/>
          </a:solidFill>
          <a:ln w="0">
            <a:noFill/>
          </a:ln>
        </p:spPr>
        <p:txBody>
          <a:bodyPr anchor="ctr" wrap="square" lIns="180000" rIns="72000" tIns="54000" bIns="54000"/>
          <a:lstStyle/>
          <a:p>
            <a:pPr algn="l" spcBef="0" spcAft="0">
              <a:spcPct val="100000"/>
            </a:pPr>
            <a:r>
              <a:rPr lang="en-GB" b="1" sz="2200" dirty="0">
                <a:solidFill>
                  <a:srgbClr val="FFFFFF"/>
                </a:solidFill>
                <a:latin typeface="Cambria"/>
              </a:rPr>
              <a:t>💬 Things We Don't Do</a:t>
            </a:r>
          </a:p>
        </p:txBody>
      </p:sp>
      <p:sp>
        <p:nvSpPr>
          <p:cNvPr id="455" name="box455"/>
          <p:cNvSpPr>
            <a:spLocks noGrp="1"/>
          </p:cNvSpPr>
          <p:nvPr/>
        </p:nvSpPr>
        <p:spPr>
          <a:xfrm>
            <a:off x="11112000" y="954000"/>
            <a:ext cx="900000" cy="1260000"/>
          </a:xfrm>
          <a:prstGeom prst="roundRect">
            <a:avLst>
              <a:gd name="adj" fmla="val 20000"/>
            </a:avLst>
          </a:prstGeom>
          <a:solidFill>
            <a:srgbClr val="DCE6F1"/>
          </a:solidFill>
          <a:ln w="0">
            <a:noFill/>
          </a:ln>
        </p:spPr>
        <p:txBody>
          <a:bodyPr anchor="ctr" wrap="square" lIns="72000" rIns="72000" tIns="54000" bIns="54000"/>
          <a:lstStyle/>
          <a:p>
            <a:pPr algn="ctr" spcBef="0" spcAft="0">
              <a:spcPct val="100000"/>
            </a:pPr>
            <a:r>
              <a:rPr lang="en-GB" b="0" sz="6000" dirty="0">
                <a:solidFill>
                  <a:srgbClr val="2E75B6"/>
                </a:solidFill>
                <a:latin typeface="Calibri"/>
              </a:rPr>
              <a:t>💬</a:t>
            </a:r>
          </a:p>
        </p:txBody>
      </p:sp>
      <p:sp>
        <p:nvSpPr>
          <p:cNvPr id="456" name="box456"/>
          <p:cNvSpPr>
            <a:spLocks noGrp="1"/>
          </p:cNvSpPr>
          <p:nvPr/>
        </p:nvSpPr>
        <p:spPr>
          <a:xfrm>
            <a:off x="180000" y="954000"/>
            <a:ext cx="234000" cy="2592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1" sz="1400" dirty="0">
                <a:solidFill>
                  <a:srgbClr val="FFFFFF"/>
                </a:solidFill>
                <a:latin typeface="Calibri"/>
              </a:rPr>
              <a:t>1</a:t>
            </a:r>
          </a:p>
        </p:txBody>
      </p:sp>
      <p:sp>
        <p:nvSpPr>
          <p:cNvPr id="457" name="tb457"/>
          <p:cNvSpPr txBox="1">
            <a:spLocks noGrp="1"/>
          </p:cNvSpPr>
          <p:nvPr/>
        </p:nvSpPr>
        <p:spPr>
          <a:xfrm>
            <a:off x="468000" y="954000"/>
            <a:ext cx="10464000" cy="259200"/>
          </a:xfrm>
          <a:prstGeom prst="rect">
            <a:avLst/>
          </a:prstGeom>
          <a:noFill/>
        </p:spPr>
        <p:txBody>
          <a:bodyPr anchor="ctr" wrap="square" lIns="36000" rIns="36000" tIns="36000" bIns="36000"/>
          <a:lstStyle/>
          <a:p>
            <a:pPr algn="l" spcBef="0" spcAft="0">
              <a:spcPct val="100000"/>
            </a:pPr>
            <a:r>
              <a:rPr lang="en-GB" b="0" sz="1400" dirty="0">
                <a:solidFill>
                  <a:srgbClr val="404040"/>
                </a:solidFill>
                <a:latin typeface="Calibri"/>
              </a:rPr>
              <a:t>Work in pairs. Tell your partner 5 things you don't do.</a:t>
            </a:r>
          </a:p>
        </p:txBody>
      </p:sp>
      <p:sp>
        <p:nvSpPr>
          <p:cNvPr id="458" name="box458"/>
          <p:cNvSpPr>
            <a:spLocks noGrp="1"/>
          </p:cNvSpPr>
          <p:nvPr/>
        </p:nvSpPr>
        <p:spPr>
          <a:xfrm>
            <a:off x="180000" y="1270800"/>
            <a:ext cx="234000" cy="2592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1" sz="1400" dirty="0">
                <a:solidFill>
                  <a:srgbClr val="FFFFFF"/>
                </a:solidFill>
                <a:latin typeface="Calibri"/>
              </a:rPr>
              <a:t>2</a:t>
            </a:r>
          </a:p>
        </p:txBody>
      </p:sp>
      <p:sp>
        <p:nvSpPr>
          <p:cNvPr id="459" name="tb459"/>
          <p:cNvSpPr txBox="1">
            <a:spLocks noGrp="1"/>
          </p:cNvSpPr>
          <p:nvPr/>
        </p:nvSpPr>
        <p:spPr>
          <a:xfrm>
            <a:off x="468000" y="1270800"/>
            <a:ext cx="10464000" cy="259200"/>
          </a:xfrm>
          <a:prstGeom prst="rect">
            <a:avLst/>
          </a:prstGeom>
          <a:noFill/>
        </p:spPr>
        <p:txBody>
          <a:bodyPr anchor="ctr" wrap="square" lIns="36000" rIns="36000" tIns="36000" bIns="36000"/>
          <a:lstStyle/>
          <a:p>
            <a:pPr algn="l" spcBef="0" spcAft="0">
              <a:spcPct val="100000"/>
            </a:pPr>
            <a:r>
              <a:rPr lang="en-GB" b="0" sz="1400" dirty="0">
                <a:solidFill>
                  <a:srgbClr val="404040"/>
                </a:solidFill>
                <a:latin typeface="Calibri"/>
              </a:rPr>
              <a:t>Example: 'I don't smoke. I don't eat meat. I don't watch horror films.'</a:t>
            </a:r>
          </a:p>
        </p:txBody>
      </p:sp>
      <p:sp>
        <p:nvSpPr>
          <p:cNvPr id="460" name="box460"/>
          <p:cNvSpPr>
            <a:spLocks noGrp="1"/>
          </p:cNvSpPr>
          <p:nvPr/>
        </p:nvSpPr>
        <p:spPr>
          <a:xfrm>
            <a:off x="180000" y="1587600"/>
            <a:ext cx="234000" cy="2592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1" sz="1400" dirty="0">
                <a:solidFill>
                  <a:srgbClr val="FFFFFF"/>
                </a:solidFill>
                <a:latin typeface="Calibri"/>
              </a:rPr>
              <a:t>3</a:t>
            </a:r>
          </a:p>
        </p:txBody>
      </p:sp>
      <p:sp>
        <p:nvSpPr>
          <p:cNvPr id="461" name="tb461"/>
          <p:cNvSpPr txBox="1">
            <a:spLocks noGrp="1"/>
          </p:cNvSpPr>
          <p:nvPr/>
        </p:nvSpPr>
        <p:spPr>
          <a:xfrm>
            <a:off x="468000" y="1587600"/>
            <a:ext cx="10464000" cy="259200"/>
          </a:xfrm>
          <a:prstGeom prst="rect">
            <a:avLst/>
          </a:prstGeom>
          <a:noFill/>
        </p:spPr>
        <p:txBody>
          <a:bodyPr anchor="ctr" wrap="square" lIns="36000" rIns="36000" tIns="36000" bIns="36000"/>
          <a:lstStyle/>
          <a:p>
            <a:pPr algn="l" spcBef="0" spcAft="0">
              <a:spcPct val="100000"/>
            </a:pPr>
            <a:r>
              <a:rPr lang="en-GB" b="0" sz="1400" dirty="0">
                <a:solidFill>
                  <a:srgbClr val="404040"/>
                </a:solidFill>
                <a:latin typeface="Calibri"/>
              </a:rPr>
              <a:t>Your partner reports to the class: 'Ana doesn't smoke. She doesn't eat meat.'</a:t>
            </a:r>
          </a:p>
        </p:txBody>
      </p:sp>
      <p:sp>
        <p:nvSpPr>
          <p:cNvPr id="462" name="box462"/>
          <p:cNvSpPr>
            <a:spLocks noGrp="1"/>
          </p:cNvSpPr>
          <p:nvPr/>
        </p:nvSpPr>
        <p:spPr>
          <a:xfrm>
            <a:off x="180000" y="1904400"/>
            <a:ext cx="234000" cy="2592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1" sz="1400" dirty="0">
                <a:solidFill>
                  <a:srgbClr val="FFFFFF"/>
                </a:solidFill>
                <a:latin typeface="Calibri"/>
              </a:rPr>
              <a:t>4</a:t>
            </a:r>
          </a:p>
        </p:txBody>
      </p:sp>
      <p:sp>
        <p:nvSpPr>
          <p:cNvPr id="463" name="tb463"/>
          <p:cNvSpPr txBox="1">
            <a:spLocks noGrp="1"/>
          </p:cNvSpPr>
          <p:nvPr/>
        </p:nvSpPr>
        <p:spPr>
          <a:xfrm>
            <a:off x="468000" y="1904400"/>
            <a:ext cx="10464000" cy="259200"/>
          </a:xfrm>
          <a:prstGeom prst="rect">
            <a:avLst/>
          </a:prstGeom>
          <a:noFill/>
        </p:spPr>
        <p:txBody>
          <a:bodyPr anchor="ctr" wrap="square" lIns="36000" rIns="36000" tIns="36000" bIns="36000"/>
          <a:lstStyle/>
          <a:p>
            <a:pPr algn="l" spcBef="0" spcAft="0">
              <a:spcPct val="100000"/>
            </a:pPr>
            <a:r>
              <a:rPr lang="en-GB" b="0" sz="1400" dirty="0">
                <a:solidFill>
                  <a:srgbClr val="404040"/>
                </a:solidFill>
                <a:latin typeface="Calibri"/>
              </a:rPr>
              <a:t>Find one thing that BOTH of you don't do: 'We don't like...'</a:t>
            </a:r>
          </a:p>
        </p:txBody>
      </p:sp>
      <p:sp>
        <p:nvSpPr>
          <p:cNvPr id="464" name="box464"/>
          <p:cNvSpPr>
            <a:spLocks noGrp="1"/>
          </p:cNvSpPr>
          <p:nvPr/>
        </p:nvSpPr>
        <p:spPr>
          <a:xfrm>
            <a:off x="180000" y="6570000"/>
            <a:ext cx="1260000" cy="216000"/>
          </a:xfrm>
          <a:prstGeom prst="roundRect">
            <a:avLst>
              <a:gd name="adj" fmla="val 10000"/>
            </a:avLst>
          </a:prstGeom>
          <a:solidFill>
            <a:srgbClr val="1F3864"/>
          </a:solidFill>
          <a:ln w="0">
            <a:noFill/>
          </a:ln>
        </p:spPr>
        <p:txBody>
          <a:bodyPr anchor="ctr" wrap="square" lIns="72000" rIns="72000" tIns="54000" bIns="54000"/>
          <a:lstStyle/>
          <a:p>
            <a:pPr algn="ctr" spcBef="0" spcAft="0">
              <a:spcPct val="100000"/>
            </a:pPr>
            <a:r>
              <a:rPr lang="en-GB" b="1" sz="1300" dirty="0">
                <a:solidFill>
                  <a:srgbClr val="BF8F00"/>
                </a:solidFill>
                <a:latin typeface="Calibri"/>
              </a:rPr>
              <a:t>👥  Pair Work</a:t>
            </a:r>
          </a:p>
        </p:txBody>
      </p:sp>
    </p:spTree>
  </p:cSld>
  <p:clrMapOvr>
    <a:masterClr/>
  </p:clrMapOvr>
</p:sld>
</file>

<file path=ppt/slides/slide11.xml><?xml version="1.0" encoding="utf-8"?>
<p:sld xmlns:p="http://schemas.openxmlformats.org/presentationml/2006/main" xmlns:a="http://schemas.openxmlformats.org/drawingml/2006/main" xmlns:r="http://schemas.openxmlformats.org/officeDocument/2006/relationships" xmlns:dc="http://purl.org/dc/elements/1.1/">
  <p:cSld>
    <p:spTree>
      <p:nvGrpSpPr>
        <p:cNvPr id="1" name="content"/>
        <p:cNvGrpSpPr/>
        <p:nvPr/>
      </p:nvGrpSpPr>
      <p:grpSpPr>
        <a:xfrm>
          <a:off x="0" y="0"/>
          <a:ext cx="12192000" cy="6858000"/>
          <a:chOff x="0" y="0"/>
          <a:chExt cx="12192000" cy="6858000"/>
        </a:xfrm>
      </p:grpSpPr>
      <p:sp>
        <p:nvSpPr>
          <p:cNvPr id="501" name="box501"/>
          <p:cNvSpPr>
            <a:spLocks noGrp="1"/>
          </p:cNvSpPr>
          <p:nvPr/>
        </p:nvSpPr>
        <p:spPr>
          <a:xfrm>
            <a:off x="0" y="0"/>
            <a:ext cx="12192000" cy="396000"/>
          </a:xfrm>
          <a:prstGeom prst="rect">
            <a:avLst/>
          </a:prstGeom>
          <a:solidFill>
            <a:srgbClr val="1F3864"/>
          </a:solidFill>
          <a:ln w="0">
            <a:noFill/>
          </a:ln>
        </p:spPr>
        <p:txBody>
          <a:bodyPr anchor="ctr" wrap="square" lIns="72000" rIns="72000" tIns="54000" bIns="54000"/>
          <a:lstStyle/>
        </p:txBody>
      </p:sp>
      <p:sp>
        <p:nvSpPr>
          <p:cNvPr id="502" name="box502"/>
          <p:cNvSpPr>
            <a:spLocks noGrp="1"/>
          </p:cNvSpPr>
          <p:nvPr/>
        </p:nvSpPr>
        <p:spPr>
          <a:xfrm>
            <a:off x="0" y="396000"/>
            <a:ext cx="12192000" cy="64800"/>
          </a:xfrm>
          <a:prstGeom prst="rect">
            <a:avLst/>
          </a:prstGeom>
          <a:solidFill>
            <a:srgbClr val="548235"/>
          </a:solidFill>
          <a:ln w="0">
            <a:noFill/>
          </a:ln>
        </p:spPr>
        <p:txBody>
          <a:bodyPr anchor="ctr" wrap="square" lIns="72000" rIns="72000" tIns="54000" bIns="54000"/>
          <a:lstStyle/>
        </p:txBody>
      </p:sp>
      <p:sp>
        <p:nvSpPr>
          <p:cNvPr id="503" name="tb503"/>
          <p:cNvSpPr txBox="1">
            <a:spLocks noGrp="1"/>
          </p:cNvSpPr>
          <p:nvPr/>
        </p:nvSpPr>
        <p:spPr>
          <a:xfrm>
            <a:off x="180000" y="21600"/>
            <a:ext cx="11832000" cy="360000"/>
          </a:xfrm>
          <a:prstGeom prst="rect">
            <a:avLst/>
          </a:prstGeom>
          <a:noFill/>
        </p:spPr>
        <p:txBody>
          <a:bodyPr anchor="ctr" wrap="square" lIns="36000" rIns="36000" tIns="36000" bIns="36000"/>
          <a:lstStyle/>
          <a:p>
            <a:pPr algn="l" spcBef="0" spcAft="0">
              <a:spcPct val="100000"/>
            </a:pPr>
            <a:r>
              <a:rPr lang="en-GB" b="1" sz="2200" dirty="0">
                <a:solidFill>
                  <a:srgbClr val="BF8F00"/>
                </a:solidFill>
                <a:latin typeface="Cambria"/>
              </a:rPr>
              <a:t>📄  </a:t>
            </a:r>
            <a:r>
              <a:rPr lang="en-GB" b="1" sz="2200" dirty="0">
                <a:solidFill>
                  <a:srgbClr val="FFFFFF"/>
                </a:solidFill>
                <a:latin typeface="Cambria"/>
              </a:rPr>
              <a:t>READING &amp; WRITING</a:t>
            </a:r>
          </a:p>
        </p:txBody>
      </p:sp>
      <p:sp>
        <p:nvSpPr>
          <p:cNvPr id="504" name="box504"/>
          <p:cNvSpPr>
            <a:spLocks noGrp="1"/>
          </p:cNvSpPr>
          <p:nvPr/>
        </p:nvSpPr>
        <p:spPr>
          <a:xfrm>
            <a:off x="180000" y="540000"/>
            <a:ext cx="900000" cy="198000"/>
          </a:xfrm>
          <a:prstGeom prst="roundRect">
            <a:avLst>
              <a:gd name="adj" fmla="val 10000"/>
            </a:avLst>
          </a:prstGeom>
          <a:solidFill>
            <a:srgbClr val="548235"/>
          </a:solidFill>
          <a:ln w="0">
            <a:noFill/>
          </a:ln>
        </p:spPr>
        <p:txBody>
          <a:bodyPr anchor="ctr" wrap="square" lIns="72000" rIns="72000" tIns="54000" bIns="54000"/>
          <a:lstStyle/>
          <a:p>
            <a:pPr algn="ctr" spcBef="0" spcAft="0">
              <a:spcPct val="100000"/>
            </a:pPr>
            <a:r>
              <a:rPr lang="en-GB" b="1" sz="1300" dirty="0">
                <a:solidFill>
                  <a:srgbClr val="FFFFFF"/>
                </a:solidFill>
                <a:latin typeface="Calibri"/>
              </a:rPr>
              <a:t>Reading</a:t>
            </a:r>
          </a:p>
        </p:txBody>
      </p:sp>
      <p:sp>
        <p:nvSpPr>
          <p:cNvPr id="505" name="box505"/>
          <p:cNvSpPr>
            <a:spLocks noGrp="1"/>
          </p:cNvSpPr>
          <p:nvPr/>
        </p:nvSpPr>
        <p:spPr>
          <a:xfrm>
            <a:off x="180000" y="792000"/>
            <a:ext cx="11832000" cy="612000"/>
          </a:xfrm>
          <a:prstGeom prst="rect">
            <a:avLst/>
          </a:prstGeom>
          <a:solidFill>
            <a:srgbClr val="F2F2F2"/>
          </a:solidFill>
          <a:ln w="12700">
            <a:solidFill>
              <a:srgbClr val="CCCCCC"/>
            </a:solidFill>
          </a:ln>
        </p:spPr>
        <p:txBody>
          <a:bodyPr anchor="t" wrap="square" lIns="108000" rIns="72000" tIns="72000" bIns="54000"/>
          <a:lstStyle/>
          <a:p>
            <a:pPr algn="l" spcBef="0" spcAft="0">
              <a:spcPct val="100000"/>
            </a:pPr>
            <a:r>
              <a:rPr lang="en-GB" b="0" i="1" sz="1300" dirty="0">
                <a:solidFill>
                  <a:srgbClr val="404040"/>
                </a:solidFill>
                <a:latin typeface="Calibri"/>
              </a:rPr>
              <a:t>My friend Sara is vegetarian. She doesn't eat meat or fish. She doesn't drink milk either. Her brother is different. He doesn't like vegetables, but he eats everything else. They don't agree about food, but they don't argue. They cook separately and respect each other.</a:t>
            </a:r>
          </a:p>
        </p:txBody>
      </p:sp>
      <p:sp>
        <p:nvSpPr>
          <p:cNvPr id="506" name="box506"/>
          <p:cNvSpPr>
            <a:spLocks noGrp="1"/>
          </p:cNvSpPr>
          <p:nvPr/>
        </p:nvSpPr>
        <p:spPr>
          <a:xfrm>
            <a:off x="180000" y="1475999"/>
            <a:ext cx="900000" cy="198000"/>
          </a:xfrm>
          <a:prstGeom prst="roundRect">
            <a:avLst>
              <a:gd name="adj" fmla="val 10000"/>
            </a:avLst>
          </a:prstGeom>
          <a:solidFill>
            <a:srgbClr val="548235"/>
          </a:solidFill>
          <a:ln w="0">
            <a:noFill/>
          </a:ln>
        </p:spPr>
        <p:txBody>
          <a:bodyPr anchor="ctr" wrap="square" lIns="72000" rIns="72000" tIns="54000" bIns="54000"/>
          <a:lstStyle/>
          <a:p>
            <a:pPr algn="ctr" spcBef="0" spcAft="0">
              <a:spcPct val="100000"/>
            </a:pPr>
            <a:r>
              <a:rPr lang="en-GB" b="1" sz="1300" dirty="0">
                <a:solidFill>
                  <a:srgbClr val="FFFFFF"/>
                </a:solidFill>
                <a:latin typeface="Calibri"/>
              </a:rPr>
              <a:t>Writing</a:t>
            </a:r>
          </a:p>
        </p:txBody>
      </p:sp>
      <p:sp>
        <p:nvSpPr>
          <p:cNvPr id="507" name="tb507"/>
          <p:cNvSpPr txBox="1">
            <a:spLocks noGrp="1"/>
          </p:cNvSpPr>
          <p:nvPr/>
        </p:nvSpPr>
        <p:spPr>
          <a:xfrm>
            <a:off x="180000" y="1728000"/>
            <a:ext cx="11832000" cy="234000"/>
          </a:xfrm>
          <a:prstGeom prst="rect">
            <a:avLst/>
          </a:prstGeom>
          <a:noFill/>
        </p:spPr>
        <p:txBody>
          <a:bodyPr anchor="ctr" wrap="square" lIns="36000" rIns="36000" tIns="36000" bIns="36000"/>
          <a:lstStyle/>
          <a:p>
            <a:pPr algn="l" spcBef="0" spcAft="0">
              <a:spcPct val="100000"/>
            </a:pPr>
            <a:r>
              <a:rPr lang="en-GB" b="0" i="1" sz="1400" dirty="0">
                <a:solidFill>
                  <a:srgbClr val="548235"/>
                </a:solidFill>
                <a:latin typeface="Calibri"/>
              </a:rPr>
              <a:t>Write 6 negative sentences about yourself or people you know.</a:t>
            </a:r>
          </a:p>
        </p:txBody>
      </p:sp>
      <p:sp>
        <p:nvSpPr>
          <p:cNvPr id="508" name="tb508"/>
          <p:cNvSpPr txBox="1">
            <a:spLocks noGrp="1"/>
          </p:cNvSpPr>
          <p:nvPr/>
        </p:nvSpPr>
        <p:spPr>
          <a:xfrm>
            <a:off x="180000" y="2015999"/>
            <a:ext cx="11832000" cy="125999"/>
          </a:xfrm>
          <a:prstGeom prst="rect">
            <a:avLst/>
          </a:prstGeom>
          <a:noFill/>
        </p:spPr>
        <p:txBody>
          <a:bodyPr anchor="ctr" wrap="square" lIns="36000" rIns="36000" tIns="36000" bIns="36000"/>
          <a:lstStyle/>
          <a:p>
            <a:pPr algn="l" spcBef="0" spcAft="0">
              <a:spcPct val="100000"/>
            </a:pPr>
            <a:r>
              <a:rPr lang="en-GB" b="0" sz="1300" dirty="0">
                <a:solidFill>
                  <a:srgbClr val="404040"/>
                </a:solidFill>
                <a:latin typeface="Calibri"/>
              </a:rPr>
              <a:t>• Write something you don't eat: I don't eat ___.</a:t>
            </a:r>
          </a:p>
        </p:txBody>
      </p:sp>
      <p:sp>
        <p:nvSpPr>
          <p:cNvPr id="509" name="tb509"/>
          <p:cNvSpPr txBox="1">
            <a:spLocks noGrp="1"/>
          </p:cNvSpPr>
          <p:nvPr/>
        </p:nvSpPr>
        <p:spPr>
          <a:xfrm>
            <a:off x="180000" y="2152799"/>
            <a:ext cx="11832000" cy="125999"/>
          </a:xfrm>
          <a:prstGeom prst="rect">
            <a:avLst/>
          </a:prstGeom>
          <a:noFill/>
        </p:spPr>
        <p:txBody>
          <a:bodyPr anchor="ctr" wrap="square" lIns="36000" rIns="36000" tIns="36000" bIns="36000"/>
          <a:lstStyle/>
          <a:p>
            <a:pPr algn="l" spcBef="0" spcAft="0">
              <a:spcPct val="100000"/>
            </a:pPr>
            <a:r>
              <a:rPr lang="en-GB" b="0" sz="1300" dirty="0">
                <a:solidFill>
                  <a:srgbClr val="404040"/>
                </a:solidFill>
                <a:latin typeface="Calibri"/>
              </a:rPr>
              <a:t>• Write something you don't do in the morning: I don't ___.</a:t>
            </a:r>
          </a:p>
        </p:txBody>
      </p:sp>
      <p:sp>
        <p:nvSpPr>
          <p:cNvPr id="510" name="tb510"/>
          <p:cNvSpPr txBox="1">
            <a:spLocks noGrp="1"/>
          </p:cNvSpPr>
          <p:nvPr/>
        </p:nvSpPr>
        <p:spPr>
          <a:xfrm>
            <a:off x="180000" y="2289599"/>
            <a:ext cx="11832000" cy="125999"/>
          </a:xfrm>
          <a:prstGeom prst="rect">
            <a:avLst/>
          </a:prstGeom>
          <a:noFill/>
        </p:spPr>
        <p:txBody>
          <a:bodyPr anchor="ctr" wrap="square" lIns="36000" rIns="36000" tIns="36000" bIns="36000"/>
          <a:lstStyle/>
          <a:p>
            <a:pPr algn="l" spcBef="0" spcAft="0">
              <a:spcPct val="100000"/>
            </a:pPr>
            <a:r>
              <a:rPr lang="en-GB" b="0" sz="1300" dirty="0">
                <a:solidFill>
                  <a:srgbClr val="404040"/>
                </a:solidFill>
                <a:latin typeface="Calibri"/>
              </a:rPr>
              <a:t>• Write something your friend doesn't like: He/She doesn't like ___.</a:t>
            </a:r>
          </a:p>
        </p:txBody>
      </p:sp>
    </p:spTree>
  </p:cSld>
  <p:clrMapOvr>
    <a:masterClr/>
  </p:clrMapOvr>
</p:sld>
</file>

<file path=ppt/slides/slide12.xml><?xml version="1.0" encoding="utf-8"?>
<p:sld xmlns:p="http://schemas.openxmlformats.org/presentationml/2006/main" xmlns:a="http://schemas.openxmlformats.org/drawingml/2006/main" xmlns:r="http://schemas.openxmlformats.org/officeDocument/2006/relationships" xmlns:dc="http://purl.org/dc/elements/1.1/">
  <p:cSld>
    <p:spTree>
      <p:nvGrpSpPr>
        <p:cNvPr id="1" name="content"/>
        <p:cNvGrpSpPr/>
        <p:nvPr/>
      </p:nvGrpSpPr>
      <p:grpSpPr>
        <a:xfrm>
          <a:off x="0" y="0"/>
          <a:ext cx="12192000" cy="6858000"/>
          <a:chOff x="0" y="0"/>
          <a:chExt cx="12192000" cy="6858000"/>
        </a:xfrm>
      </p:grpSpPr>
      <p:sp>
        <p:nvSpPr>
          <p:cNvPr id="551" name="box551"/>
          <p:cNvSpPr>
            <a:spLocks noGrp="1"/>
          </p:cNvSpPr>
          <p:nvPr/>
        </p:nvSpPr>
        <p:spPr>
          <a:xfrm>
            <a:off x="0" y="0"/>
            <a:ext cx="12192000" cy="396000"/>
          </a:xfrm>
          <a:prstGeom prst="rect">
            <a:avLst/>
          </a:prstGeom>
          <a:solidFill>
            <a:srgbClr val="1F3864"/>
          </a:solidFill>
          <a:ln w="0">
            <a:noFill/>
          </a:ln>
        </p:spPr>
        <p:txBody>
          <a:bodyPr anchor="ctr" wrap="square" lIns="72000" rIns="72000" tIns="54000" bIns="54000"/>
          <a:lstStyle/>
        </p:txBody>
      </p:sp>
      <p:sp>
        <p:nvSpPr>
          <p:cNvPr id="552" name="box552"/>
          <p:cNvSpPr>
            <a:spLocks noGrp="1"/>
          </p:cNvSpPr>
          <p:nvPr/>
        </p:nvSpPr>
        <p:spPr>
          <a:xfrm>
            <a:off x="0" y="396000"/>
            <a:ext cx="12192000" cy="64800"/>
          </a:xfrm>
          <a:prstGeom prst="rect">
            <a:avLst/>
          </a:prstGeom>
          <a:solidFill>
            <a:srgbClr val="2E75B6"/>
          </a:solidFill>
          <a:ln w="0">
            <a:noFill/>
          </a:ln>
        </p:spPr>
        <p:txBody>
          <a:bodyPr anchor="ctr" wrap="square" lIns="72000" rIns="72000" tIns="54000" bIns="54000"/>
          <a:lstStyle/>
        </p:txBody>
      </p:sp>
      <p:sp>
        <p:nvSpPr>
          <p:cNvPr id="553" name="tb553"/>
          <p:cNvSpPr txBox="1">
            <a:spLocks noGrp="1"/>
          </p:cNvSpPr>
          <p:nvPr/>
        </p:nvSpPr>
        <p:spPr>
          <a:xfrm>
            <a:off x="180000" y="21600"/>
            <a:ext cx="11832000" cy="360000"/>
          </a:xfrm>
          <a:prstGeom prst="rect">
            <a:avLst/>
          </a:prstGeom>
          <a:noFill/>
        </p:spPr>
        <p:txBody>
          <a:bodyPr anchor="ctr" wrap="square" lIns="36000" rIns="36000" tIns="36000" bIns="36000"/>
          <a:lstStyle/>
          <a:p>
            <a:pPr algn="l" spcBef="0" spcAft="0">
              <a:spcPct val="100000"/>
            </a:pPr>
            <a:r>
              <a:rPr lang="en-GB" b="1" sz="2200" dirty="0">
                <a:solidFill>
                  <a:srgbClr val="BF8F00"/>
                </a:solidFill>
                <a:latin typeface="Cambria"/>
              </a:rPr>
              <a:t>🏠  </a:t>
            </a:r>
            <a:r>
              <a:rPr lang="en-GB" b="1" sz="2200" dirty="0">
                <a:solidFill>
                  <a:srgbClr val="FFFFFF"/>
                </a:solidFill>
                <a:latin typeface="Cambria"/>
              </a:rPr>
              <a:t>HOMEWORK</a:t>
            </a:r>
          </a:p>
        </p:txBody>
      </p:sp>
      <p:sp>
        <p:nvSpPr>
          <p:cNvPr id="554" name="box554"/>
          <p:cNvSpPr>
            <a:spLocks noGrp="1"/>
          </p:cNvSpPr>
          <p:nvPr/>
        </p:nvSpPr>
        <p:spPr>
          <a:xfrm>
            <a:off x="180000" y="540000"/>
            <a:ext cx="432000" cy="432000"/>
          </a:xfrm>
          <a:prstGeom prst="roundRect">
            <a:avLst>
              <a:gd name="adj" fmla="val 50000"/>
            </a:avLst>
          </a:prstGeom>
          <a:solidFill>
            <a:srgbClr val="BF8F00"/>
          </a:solidFill>
          <a:ln w="0">
            <a:noFill/>
          </a:ln>
        </p:spPr>
        <p:txBody>
          <a:bodyPr anchor="ctr" wrap="square" lIns="72000" rIns="72000" tIns="54000" bIns="54000"/>
          <a:lstStyle/>
          <a:p>
            <a:pPr algn="ctr" spcBef="0" spcAft="0">
              <a:spcPct val="100000"/>
            </a:pPr>
            <a:r>
              <a:rPr lang="en-GB" b="1" sz="2800" dirty="0">
                <a:solidFill>
                  <a:srgbClr val="1F3864"/>
                </a:solidFill>
                <a:latin typeface="Cambria"/>
              </a:rPr>
              <a:t>1</a:t>
            </a:r>
          </a:p>
        </p:txBody>
      </p:sp>
      <p:sp>
        <p:nvSpPr>
          <p:cNvPr id="555" name="box555"/>
          <p:cNvSpPr>
            <a:spLocks noGrp="1"/>
          </p:cNvSpPr>
          <p:nvPr/>
        </p:nvSpPr>
        <p:spPr>
          <a:xfrm>
            <a:off x="684000" y="540000"/>
            <a:ext cx="11328000" cy="432000"/>
          </a:xfrm>
          <a:prstGeom prst="rect">
            <a:avLst/>
          </a:prstGeom>
          <a:solidFill>
            <a:srgbClr val="DCE6F1"/>
          </a:solidFill>
          <a:ln w="12700">
            <a:solidFill>
              <a:srgbClr val="2E75B6"/>
            </a:solidFill>
          </a:ln>
        </p:spPr>
        <p:txBody>
          <a:bodyPr anchor="ctr" wrap="square" lIns="108000" rIns="72000" tIns="54000" bIns="54000"/>
          <a:lstStyle/>
          <a:p>
            <a:pPr algn="l" spcBef="0" spcAft="0">
              <a:spcPct val="100000"/>
            </a:pPr>
            <a:r>
              <a:rPr lang="en-GB" b="1" sz="1500" dirty="0">
                <a:solidFill>
                  <a:srgbClr val="1F3864"/>
                </a:solidFill>
                <a:latin typeface="Calibri"/>
              </a:rPr>
              <a:t>Production Task  </a:t>
            </a:r>
            <a:r>
              <a:rPr lang="en-GB" b="0" sz="1400" dirty="0">
                <a:solidFill>
                  <a:srgbClr val="404040"/>
                </a:solidFill>
                <a:latin typeface="Calibri"/>
              </a:rPr>
              <a:t>Write 8 negative sentences about things your best friend doesn't do. Use doesn't at least 5 times. Check that the base form follows doesn't.</a:t>
            </a:r>
          </a:p>
        </p:txBody>
      </p:sp>
      <p:sp>
        <p:nvSpPr>
          <p:cNvPr id="556" name="box556"/>
          <p:cNvSpPr>
            <a:spLocks noGrp="1"/>
          </p:cNvSpPr>
          <p:nvPr/>
        </p:nvSpPr>
        <p:spPr>
          <a:xfrm>
            <a:off x="180000" y="1080000"/>
            <a:ext cx="432000" cy="432000"/>
          </a:xfrm>
          <a:prstGeom prst="roundRect">
            <a:avLst>
              <a:gd name="adj" fmla="val 50000"/>
            </a:avLst>
          </a:prstGeom>
          <a:solidFill>
            <a:srgbClr val="2E75B6"/>
          </a:solidFill>
          <a:ln w="0">
            <a:noFill/>
          </a:ln>
        </p:spPr>
        <p:txBody>
          <a:bodyPr anchor="ctr" wrap="square" lIns="72000" rIns="72000" tIns="54000" bIns="54000"/>
          <a:lstStyle/>
          <a:p>
            <a:pPr algn="ctr" spcBef="0" spcAft="0">
              <a:spcPct val="100000"/>
            </a:pPr>
            <a:r>
              <a:rPr lang="en-GB" b="1" sz="2800" dirty="0">
                <a:solidFill>
                  <a:srgbClr val="FFFFFF"/>
                </a:solidFill>
                <a:latin typeface="Cambria"/>
              </a:rPr>
              <a:t>2</a:t>
            </a:r>
          </a:p>
        </p:txBody>
      </p:sp>
      <p:sp>
        <p:nvSpPr>
          <p:cNvPr id="557" name="box557"/>
          <p:cNvSpPr>
            <a:spLocks noGrp="1"/>
          </p:cNvSpPr>
          <p:nvPr/>
        </p:nvSpPr>
        <p:spPr>
          <a:xfrm>
            <a:off x="684000" y="1080000"/>
            <a:ext cx="11328000" cy="432000"/>
          </a:xfrm>
          <a:prstGeom prst="rect">
            <a:avLst/>
          </a:prstGeom>
          <a:solidFill>
            <a:srgbClr val="F2F2F2"/>
          </a:solidFill>
          <a:ln w="12700">
            <a:solidFill>
              <a:srgbClr val="CCCCCC"/>
            </a:solidFill>
          </a:ln>
        </p:spPr>
        <p:txBody>
          <a:bodyPr anchor="ctr" wrap="square" lIns="108000" rIns="72000" tIns="54000" bIns="54000"/>
          <a:lstStyle/>
          <a:p>
            <a:pPr algn="l" spcBef="0" spcAft="0">
              <a:spcPct val="100000"/>
            </a:pPr>
            <a:r>
              <a:rPr lang="en-GB" b="1" sz="1500" dirty="0">
                <a:solidFill>
                  <a:srgbClr val="1F3864"/>
                </a:solidFill>
                <a:latin typeface="Calibri"/>
              </a:rPr>
              <a:t>Vocabulary Consolidation  </a:t>
            </a:r>
            <a:r>
              <a:rPr lang="en-GB" b="0" sz="1400" dirty="0">
                <a:solidFill>
                  <a:srgbClr val="404040"/>
                </a:solidFill>
                <a:latin typeface="Calibri"/>
              </a:rPr>
              <a:t>Choose 10 vocabulary words from Section 4. For each word, write one negative sentence using don't or doesn't. Example: 'She doesn't smoke.'</a:t>
            </a:r>
          </a:p>
        </p:txBody>
      </p:sp>
      <p:sp>
        <p:nvSpPr>
          <p:cNvPr id="558" name="box558"/>
          <p:cNvSpPr>
            <a:spLocks noGrp="1"/>
          </p:cNvSpPr>
          <p:nvPr/>
        </p:nvSpPr>
        <p:spPr>
          <a:xfrm>
            <a:off x="180000" y="6498000"/>
            <a:ext cx="1440000" cy="216000"/>
          </a:xfrm>
          <a:prstGeom prst="roundRect">
            <a:avLst>
              <a:gd name="adj" fmla="val 10000"/>
            </a:avLst>
          </a:prstGeom>
          <a:solidFill>
            <a:srgbClr val="1F3864"/>
          </a:solidFill>
          <a:ln w="0">
            <a:noFill/>
          </a:ln>
        </p:spPr>
        <p:txBody>
          <a:bodyPr anchor="ctr" wrap="square" lIns="72000" rIns="72000" tIns="54000" bIns="54000"/>
          <a:lstStyle/>
          <a:p>
            <a:pPr algn="ctr" spcBef="0" spcAft="0">
              <a:spcPct val="100000"/>
            </a:pPr>
            <a:r>
              <a:rPr lang="en-GB" b="1" sz="1300" dirty="0">
                <a:solidFill>
                  <a:srgbClr val="BF8F00"/>
                </a:solidFill>
                <a:latin typeface="Calibri"/>
              </a:rPr>
              <a:t>📅  Due: next class</a:t>
            </a:r>
          </a:p>
        </p:txBody>
      </p:sp>
    </p:spTree>
  </p:cSld>
  <p:clrMapOvr>
    <a:masterClr/>
  </p:clrMapOvr>
</p:sld>
</file>

<file path=ppt/slides/slide13.xml><?xml version="1.0" encoding="utf-8"?>
<p:sld xmlns:p="http://schemas.openxmlformats.org/presentationml/2006/main" xmlns:a="http://schemas.openxmlformats.org/drawingml/2006/main" xmlns:r="http://schemas.openxmlformats.org/officeDocument/2006/relationships" xmlns:dc="http://purl.org/dc/elements/1.1/">
  <p:cSld>
    <p:bg>
      <p:bgPr>
        <a:solidFill>
          <a:srgbClr val="1F3864"/>
        </a:solidFill>
        <a:effectLst/>
      </p:bgPr>
    </p:bg>
    <p:spTree>
      <p:nvGrpSpPr>
        <p:cNvPr id="1" name="content"/>
        <p:cNvGrpSpPr/>
        <p:nvPr/>
      </p:nvGrpSpPr>
      <p:grpSpPr>
        <a:xfrm>
          <a:off x="0" y="0"/>
          <a:ext cx="12192000" cy="6858000"/>
          <a:chOff x="0" y="0"/>
          <a:chExt cx="12192000" cy="6858000"/>
        </a:xfrm>
      </p:grpSpPr>
      <p:sp>
        <p:nvSpPr>
          <p:cNvPr id="601" name="shape601"/>
          <p:cNvSpPr>
            <a:spLocks noGrp="1"/>
          </p:cNvSpPr>
          <p:nvPr/>
        </p:nvSpPr>
        <p:spPr>
          <a:xfrm>
            <a:off x="0" y="0"/>
            <a:ext cx="12192000" cy="6858000"/>
          </a:xfrm>
          <a:prstGeom prst="rect">
            <a:avLst/>
          </a:prstGeom>
          <a:gradFill rot="1">
            <a:gsLst>
              <a:gs pos="0">
                <a:srgbClr val="1F3864"/>
              </a:gs>
              <a:gs pos="100000">
                <a:srgbClr val="0D2245"/>
              </a:gs>
            </a:gsLst>
            <a:lin ang="5400000" scaled="0"/>
          </a:gradFill>
        </p:spPr>
        <p:txBody>
          <a:bodyPr/>
          <a:lstStyle/>
          <a:p/>
        </p:txBody>
      </p:sp>
      <p:sp>
        <p:nvSpPr>
          <p:cNvPr id="602" name="shape602"/>
          <p:cNvSpPr>
            <a:spLocks noGrp="1"/>
          </p:cNvSpPr>
          <p:nvPr/>
        </p:nvSpPr>
        <p:spPr>
          <a:xfrm>
            <a:off x="0" y="0"/>
            <a:ext cx="12192000" cy="108000"/>
          </a:xfrm>
          <a:prstGeom prst="rect">
            <a:avLst/>
          </a:prstGeom>
          <a:solidFill>
            <a:srgbClr val="BF8F00"/>
          </a:solidFill>
        </p:spPr>
        <p:txBody>
          <a:bodyPr/>
          <a:lstStyle/>
          <a:p/>
        </p:txBody>
      </p:sp>
      <p:sp>
        <p:nvSpPr>
          <p:cNvPr id="603" name="shape603"/>
          <p:cNvSpPr>
            <a:spLocks noGrp="1"/>
          </p:cNvSpPr>
          <p:nvPr/>
        </p:nvSpPr>
        <p:spPr>
          <a:xfrm>
            <a:off x="0" y="6750000"/>
            <a:ext cx="12192000" cy="108000"/>
          </a:xfrm>
          <a:prstGeom prst="rect">
            <a:avLst/>
          </a:prstGeom>
          <a:solidFill>
            <a:srgbClr val="BF8F00"/>
          </a:solidFill>
        </p:spPr>
        <p:txBody>
          <a:bodyPr/>
          <a:lstStyle/>
          <a:p/>
        </p:txBody>
      </p:sp>
      <p:sp>
        <p:nvSpPr>
          <p:cNvPr id="604" name="shape604"/>
          <p:cNvSpPr>
            <a:spLocks noGrp="1"/>
          </p:cNvSpPr>
          <p:nvPr/>
        </p:nvSpPr>
        <p:spPr>
          <a:xfrm>
            <a:off x="0" y="0"/>
            <a:ext cx="144000" cy="6858000"/>
          </a:xfrm>
          <a:prstGeom prst="rect">
            <a:avLst/>
          </a:prstGeom>
          <a:solidFill>
            <a:srgbClr val="BF8F00"/>
          </a:solidFill>
        </p:spPr>
        <p:txBody>
          <a:bodyPr/>
          <a:lstStyle/>
          <a:p/>
        </p:txBody>
      </p:sp>
      <p:sp>
        <p:nvSpPr>
          <p:cNvPr id="605" name="box605"/>
          <p:cNvSpPr>
            <a:spLocks noGrp="1"/>
          </p:cNvSpPr>
          <p:nvPr/>
        </p:nvSpPr>
        <p:spPr>
          <a:xfrm>
            <a:off x="432000" y="432000"/>
            <a:ext cx="1800000" cy="324000"/>
          </a:xfrm>
          <a:prstGeom prst="roundRect">
            <a:avLst>
              <a:gd name="adj" fmla="val 20000"/>
            </a:avLst>
          </a:prstGeom>
          <a:solidFill>
            <a:srgbClr val="BF8F00"/>
          </a:solidFill>
          <a:ln w="0">
            <a:noFill/>
          </a:ln>
        </p:spPr>
        <p:txBody>
          <a:bodyPr anchor="ctr" wrap="square" lIns="72000" rIns="72000" tIns="54000" bIns="54000"/>
          <a:lstStyle/>
          <a:p>
            <a:pPr algn="ctr" spcBef="0" spcAft="0">
              <a:spcPct val="100000"/>
            </a:pPr>
            <a:r>
              <a:rPr lang="en-GB" b="1" sz="1600" dirty="0">
                <a:solidFill>
                  <a:srgbClr val="1F3864"/>
                </a:solidFill>
                <a:latin typeface="Cambria"/>
              </a:rPr>
              <a:t>UNIT 6  ·  A1</a:t>
            </a:r>
          </a:p>
        </p:txBody>
      </p:sp>
      <p:sp>
        <p:nvSpPr>
          <p:cNvPr id="606" name="tb606"/>
          <p:cNvSpPr txBox="1">
            <a:spLocks noGrp="1"/>
          </p:cNvSpPr>
          <p:nvPr/>
        </p:nvSpPr>
        <p:spPr>
          <a:xfrm>
            <a:off x="432000" y="827999"/>
            <a:ext cx="11472000" cy="900000"/>
          </a:xfrm>
          <a:prstGeom prst="rect">
            <a:avLst/>
          </a:prstGeom>
          <a:noFill/>
        </p:spPr>
        <p:txBody>
          <a:bodyPr anchor="t" wrap="square" lIns="36000" rIns="36000" tIns="36000" bIns="36000"/>
          <a:lstStyle/>
          <a:p>
            <a:pPr algn="l" spcBef="0" spcAft="0">
              <a:spcPct val="100000"/>
            </a:pPr>
            <a:r>
              <a:rPr lang="en-GB" b="1" sz="3600" dirty="0">
                <a:solidFill>
                  <a:srgbClr val="FFFFFF"/>
                </a:solidFill>
                <a:latin typeface="Cambria"/>
              </a:rPr>
              <a:t>Present Simple — Negative</a:t>
            </a:r>
          </a:p>
        </p:txBody>
      </p:sp>
      <p:sp>
        <p:nvSpPr>
          <p:cNvPr id="607" name="tb607"/>
          <p:cNvSpPr txBox="1">
            <a:spLocks noGrp="1"/>
          </p:cNvSpPr>
          <p:nvPr/>
        </p:nvSpPr>
        <p:spPr>
          <a:xfrm>
            <a:off x="432000" y="1800000"/>
            <a:ext cx="11472000" cy="324000"/>
          </a:xfrm>
          <a:prstGeom prst="rect">
            <a:avLst/>
          </a:prstGeom>
          <a:noFill/>
        </p:spPr>
        <p:txBody>
          <a:bodyPr anchor="ctr" wrap="square" lIns="36000" rIns="36000" tIns="36000" bIns="36000"/>
          <a:lstStyle/>
          <a:p>
            <a:pPr algn="l" spcBef="0" spcAft="0">
              <a:spcPct val="100000"/>
            </a:pPr>
            <a:r>
              <a:rPr lang="en-GB" b="0" i="1" sz="1600" dirty="0">
                <a:solidFill>
                  <a:srgbClr val="BF8F00"/>
                </a:solidFill>
                <a:latin typeface="Calibri"/>
              </a:rPr>
              <a:t>✦  Grammar is not a rule — it is a tool. Use it!</a:t>
            </a:r>
          </a:p>
        </p:txBody>
      </p:sp>
      <p:sp>
        <p:nvSpPr>
          <p:cNvPr id="608" name="box608"/>
          <p:cNvSpPr>
            <a:spLocks noGrp="1"/>
          </p:cNvSpPr>
          <p:nvPr/>
        </p:nvSpPr>
        <p:spPr>
          <a:xfrm>
            <a:off x="10752000" y="6462000"/>
            <a:ext cx="1260000" cy="234000"/>
          </a:xfrm>
          <a:prstGeom prst="roundRect">
            <a:avLst>
              <a:gd name="adj" fmla="val 10000"/>
            </a:avLst>
          </a:prstGeom>
          <a:solidFill>
            <a:srgbClr val="2E75B6"/>
          </a:solidFill>
          <a:ln w="0">
            <a:noFill/>
          </a:ln>
        </p:spPr>
        <p:txBody>
          <a:bodyPr anchor="ctr" wrap="square" lIns="72000" rIns="72000" tIns="54000" bIns="54000"/>
          <a:lstStyle/>
          <a:p>
            <a:pPr algn="ctr" spcBef="0" spcAft="0">
              <a:spcPct val="100000"/>
            </a:pPr>
            <a:r>
              <a:rPr lang="en-GB" b="1" sz="1300" dirty="0">
                <a:solidFill>
                  <a:srgbClr val="FFFFFF"/>
                </a:solidFill>
                <a:latin typeface="Calibri"/>
              </a:rPr>
              <a:t>See you next class! 👋</a:t>
            </a:r>
          </a:p>
        </p:txBody>
      </p:sp>
    </p:spTree>
  </p:cSld>
  <p:clrMapOvr>
    <a:masterClr/>
  </p:clrMapOvr>
</p:sld>
</file>