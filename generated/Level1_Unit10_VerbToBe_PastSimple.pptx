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0"
    Type="http://schemas.openxmlformats.org/officeDocument/2006/relationships/slideMaster"
    Target="slideMasters/slideMaster1.xml"/>
  <Relationship Id="rId1"
    Type="http://schemas.openxmlformats.org/officeDocument/2006/relationships/slide"
    Target="slides/slide1.xml"/>
  <Relationship Id="rId2"
    Type="http://schemas.openxmlformats.org/officeDocument/2006/relationships/slide"
    Target="slides/slide2.xml"/>
  <Relationship Id="rId3"
    Type="http://schemas.openxmlformats.org/officeDocument/2006/relationships/slide"
    Target="slides/slide3.xml"/>
  <Relationship Id="rId4"
    Type="http://schemas.openxmlformats.org/officeDocument/2006/relationships/slide"
    Target="slides/slide4.xml"/>
  <Relationship Id="rId5"
    Type="http://schemas.openxmlformats.org/officeDocument/2006/relationships/slide"
    Target="slides/slide5.xml"/>
  <Relationship Id="rId6"
    Type="http://schemas.openxmlformats.org/officeDocument/2006/relationships/slide"
    Target="slides/slide6.xml"/>
  <Relationship Id="rId7"
    Type="http://schemas.openxmlformats.org/officeDocument/2006/relationships/slide"
    Target="slides/slide7.xml"/>
  <Relationship Id="rId8"
    Type="http://schemas.openxmlformats.org/officeDocument/2006/relationships/slide"
    Target="slides/slide8.xml"/>
  <Relationship Id="rId9"
    Type="http://schemas.openxmlformats.org/officeDocument/2006/relationships/slide"
    Target="slides/slide9.xml"/>
  <Relationship Id="rId10"
    Type="http://schemas.openxmlformats.org/officeDocument/2006/relationships/slide"
    Target="slides/slide10.xml"/>
  <Relationship Id="rId11"
    Type="http://schemas.openxmlformats.org/officeDocument/2006/relationships/slide"
    Target="slides/slide11.xml"/>
  <Relationship Id="rId12"
    Type="http://schemas.openxmlformats.org/officeDocument/2006/relationships/slide"
    Target="slides/slide12.xml"/>
  <Relationship Id="rId13"
    Type="http://schemas.openxmlformats.org/officeDocument/2006/relationships/slide"
    Target="slides/slide13.xml"/>
</Relationships>
</file>

<file path=ppt/slideLayouts/_rels/slideLayout1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bg>
      <p:bgPr>
        <a:solidFill>
          <a:srgbClr val="1F3864"/>
        </a:solidFill>
        <a:effectLst/>
      </p:bgPr>
    </p:bg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1" name="shape1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="1">
            <a:gsLst>
              <a:gs pos="0">
                <a:srgbClr val="1F3864"/>
              </a:gs>
              <a:gs pos="100000">
                <a:srgbClr val="0D2245"/>
              </a:gs>
            </a:gsLst>
            <a:lin ang="5400000" scaled="0"/>
          </a:gradFill>
        </p:spPr>
        <p:txBody>
          <a:bodyPr/>
          <a:lstStyle/>
          <a:p/>
        </p:txBody>
      </p:sp>
      <p:sp>
        <p:nvSpPr>
          <p:cNvPr id="12" name="shape12"/>
          <p:cNvSpPr>
            <a:spLocks noGrp="1"/>
          </p:cNvSpPr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3" name="shape13"/>
          <p:cNvSpPr>
            <a:spLocks noGrp="1"/>
          </p:cNvSpPr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4" name="box14"/>
          <p:cNvSpPr>
            <a:spLocks noGrp="1"/>
          </p:cNvSpPr>
          <p:nvPr/>
        </p:nvSpPr>
        <p:spPr>
          <a:xfrm>
            <a:off x="432000" y="468000"/>
            <a:ext cx="1800000" cy="324000"/>
          </a:xfrm>
          <a:prstGeom prst="roundRect">
            <a:avLst>
              <a:gd name="adj" fmla="val 2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1F3864"/>
                </a:solidFill>
                <a:latin typeface="Cambria"/>
              </a:rPr>
              <a:t>UNIT 10  ·  A1</a:t>
            </a:r>
          </a:p>
        </p:txBody>
      </p:sp>
      <p:sp>
        <p:nvSpPr>
          <p:cNvPr id="15" name="tb15"/>
          <p:cNvSpPr txBox="1">
            <a:spLocks noGrp="1"/>
          </p:cNvSpPr>
          <p:nvPr/>
        </p:nvSpPr>
        <p:spPr>
          <a:xfrm>
            <a:off x="432000" y="900000"/>
            <a:ext cx="11472000" cy="28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BFC9D6"/>
                </a:solidFill>
                <a:latin typeface="Calibri"/>
              </a:rPr>
              <a:t>English Grammar in Action — Level 1</a:t>
            </a:r>
          </a:p>
        </p:txBody>
      </p:sp>
      <p:sp>
        <p:nvSpPr>
          <p:cNvPr id="16" name="tb16"/>
          <p:cNvSpPr txBox="1">
            <a:spLocks noGrp="1"/>
          </p:cNvSpPr>
          <p:nvPr/>
        </p:nvSpPr>
        <p:spPr>
          <a:xfrm>
            <a:off x="432000" y="1188000"/>
            <a:ext cx="11472000" cy="1080000"/>
          </a:xfrm>
          <a:prstGeom prst="rect">
            <a:avLst/>
          </a:prstGeom>
          <a:noFill/>
        </p:spPr>
        <p:txBody>
          <a:bodyPr anchor="t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4000" dirty="0">
                <a:solidFill>
                  <a:srgbClr val="FFFFFF"/>
                </a:solidFill>
                <a:latin typeface="Cambria"/>
              </a:rPr>
              <a:t>Verb To Be — Past Simple</a:t>
            </a:r>
          </a:p>
        </p:txBody>
      </p:sp>
      <p:sp>
        <p:nvSpPr>
          <p:cNvPr id="17" name="tb17"/>
          <p:cNvSpPr txBox="1">
            <a:spLocks noGrp="1"/>
          </p:cNvSpPr>
          <p:nvPr/>
        </p:nvSpPr>
        <p:spPr>
          <a:xfrm>
            <a:off x="432000" y="2088000"/>
            <a:ext cx="1147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700" dirty="0">
                <a:solidFill>
                  <a:srgbClr val="DCE6F1"/>
                </a:solidFill>
                <a:latin typeface="Calibri"/>
              </a:rPr>
              <a:t>was (I/he/she/it); were (you/we/they); wasn't / weren't; questions and short answers</a:t>
            </a:r>
          </a:p>
        </p:txBody>
      </p:sp>
      <p:sp>
        <p:nvSpPr>
          <p:cNvPr id="18" name="shape18"/>
          <p:cNvSpPr>
            <a:spLocks noGrp="1"/>
          </p:cNvSpPr>
          <p:nvPr/>
        </p:nvSpPr>
        <p:spPr>
          <a:xfrm>
            <a:off x="0" y="6768000"/>
            <a:ext cx="12192000" cy="90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19" name="box19"/>
          <p:cNvSpPr>
            <a:spLocks noGrp="1"/>
          </p:cNvSpPr>
          <p:nvPr/>
        </p:nvSpPr>
        <p:spPr>
          <a:xfrm>
            <a:off x="11112000" y="6354001"/>
            <a:ext cx="936000" cy="3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CEFR  A1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1" name="box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2" name="box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3" name="tb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🎯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LEARNING OBJECTIVES</a:t>
            </a:r>
          </a:p>
        </p:txBody>
      </p:sp>
      <p:sp>
        <p:nvSpPr>
          <p:cNvPr id="54" name="box54"/>
          <p:cNvSpPr>
            <a:spLocks noGrp="1"/>
          </p:cNvSpPr>
          <p:nvPr/>
        </p:nvSpPr>
        <p:spPr>
          <a:xfrm>
            <a:off x="180000" y="5400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📌</a:t>
            </a:r>
          </a:p>
        </p:txBody>
      </p:sp>
      <p:sp>
        <p:nvSpPr>
          <p:cNvPr id="55" name="box55"/>
          <p:cNvSpPr>
            <a:spLocks noGrp="1"/>
          </p:cNvSpPr>
          <p:nvPr/>
        </p:nvSpPr>
        <p:spPr>
          <a:xfrm>
            <a:off x="558000" y="5400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Use was for I/he/she/it and were for you/we/they in past sentences.</a:t>
            </a:r>
          </a:p>
        </p:txBody>
      </p:sp>
      <p:sp>
        <p:nvSpPr>
          <p:cNvPr id="56" name="box56"/>
          <p:cNvSpPr>
            <a:spLocks noGrp="1"/>
          </p:cNvSpPr>
          <p:nvPr/>
        </p:nvSpPr>
        <p:spPr>
          <a:xfrm>
            <a:off x="180000" y="9252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✏️</a:t>
            </a:r>
          </a:p>
        </p:txBody>
      </p:sp>
      <p:sp>
        <p:nvSpPr>
          <p:cNvPr id="57" name="box57"/>
          <p:cNvSpPr>
            <a:spLocks noGrp="1"/>
          </p:cNvSpPr>
          <p:nvPr/>
        </p:nvSpPr>
        <p:spPr>
          <a:xfrm>
            <a:off x="558000" y="9252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Form negatives with wasn't and weren't.</a:t>
            </a:r>
          </a:p>
        </p:txBody>
      </p:sp>
      <p:sp>
        <p:nvSpPr>
          <p:cNvPr id="58" name="box58"/>
          <p:cNvSpPr>
            <a:spLocks noGrp="1"/>
          </p:cNvSpPr>
          <p:nvPr/>
        </p:nvSpPr>
        <p:spPr>
          <a:xfrm>
            <a:off x="180000" y="13104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59" name="box59"/>
          <p:cNvSpPr>
            <a:spLocks noGrp="1"/>
          </p:cNvSpPr>
          <p:nvPr/>
        </p:nvSpPr>
        <p:spPr>
          <a:xfrm>
            <a:off x="558000" y="13104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Ask questions: Was he...? Were they...?</a:t>
            </a:r>
          </a:p>
        </p:txBody>
      </p:sp>
      <p:sp>
        <p:nvSpPr>
          <p:cNvPr id="60" name="box60"/>
          <p:cNvSpPr>
            <a:spLocks noGrp="1"/>
          </p:cNvSpPr>
          <p:nvPr/>
        </p:nvSpPr>
        <p:spPr>
          <a:xfrm>
            <a:off x="180000" y="16956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💡</a:t>
            </a:r>
          </a:p>
        </p:txBody>
      </p:sp>
      <p:sp>
        <p:nvSpPr>
          <p:cNvPr id="61" name="box61"/>
          <p:cNvSpPr>
            <a:spLocks noGrp="1"/>
          </p:cNvSpPr>
          <p:nvPr/>
        </p:nvSpPr>
        <p:spPr>
          <a:xfrm>
            <a:off x="558000" y="16956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Give short answers: Yes, I was. / No, they weren't.</a:t>
            </a:r>
          </a:p>
        </p:txBody>
      </p:sp>
      <p:sp>
        <p:nvSpPr>
          <p:cNvPr id="62" name="box62"/>
          <p:cNvSpPr>
            <a:spLocks noGrp="1"/>
          </p:cNvSpPr>
          <p:nvPr/>
        </p:nvSpPr>
        <p:spPr>
          <a:xfrm>
            <a:off x="180000" y="2080800"/>
            <a:ext cx="306000" cy="306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1800" dirty="0">
                <a:solidFill>
                  <a:srgbClr val="FFFFFF"/>
                </a:solidFill>
                <a:latin typeface="Calibri"/>
              </a:rPr>
              <a:t>🗣️</a:t>
            </a:r>
          </a:p>
        </p:txBody>
      </p:sp>
      <p:sp>
        <p:nvSpPr>
          <p:cNvPr id="63" name="box63"/>
          <p:cNvSpPr>
            <a:spLocks noGrp="1"/>
          </p:cNvSpPr>
          <p:nvPr/>
        </p:nvSpPr>
        <p:spPr>
          <a:xfrm>
            <a:off x="558000" y="2080800"/>
            <a:ext cx="11616000" cy="30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1F3864"/>
                </a:solidFill>
                <a:latin typeface="Calibri"/>
              </a:rPr>
              <a:t>Talk about past states, locations, and descriptions using was/were.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01" name="box1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02" name="box1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03" name="tb1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⚡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WARM-UP ACTIVITY</a:t>
            </a:r>
          </a:p>
        </p:txBody>
      </p:sp>
      <p:sp>
        <p:nvSpPr>
          <p:cNvPr id="104" name="box104"/>
          <p:cNvSpPr>
            <a:spLocks noGrp="1"/>
          </p:cNvSpPr>
          <p:nvPr/>
        </p:nvSpPr>
        <p:spPr>
          <a:xfrm>
            <a:off x="180000" y="540000"/>
            <a:ext cx="11832000" cy="396000"/>
          </a:xfrm>
          <a:prstGeom prst="roundRect">
            <a:avLst>
              <a:gd name="adj" fmla="val 15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180000" rIns="72000" tIns="54000" bIns="54000"/>
          <a:lstStyle/>
          <a:p>
            <a:pPr algn="l" spcBef="0" spcAft="0">
              <a:spcPct val="100000"/>
            </a:pPr>
            <a:r>
              <a:rPr lang="en-GB" b="1" sz="2400" dirty="0">
                <a:solidFill>
                  <a:srgbClr val="1F3864"/>
                </a:solidFill>
                <a:latin typeface="Cambria"/>
              </a:rPr>
              <a:t>🕰️ Yesterday vs Today</a:t>
            </a:r>
          </a:p>
        </p:txBody>
      </p:sp>
      <p:sp>
        <p:nvSpPr>
          <p:cNvPr id="105" name="box105"/>
          <p:cNvSpPr>
            <a:spLocks noGrp="1"/>
          </p:cNvSpPr>
          <p:nvPr/>
        </p:nvSpPr>
        <p:spPr>
          <a:xfrm>
            <a:off x="11040000" y="540000"/>
            <a:ext cx="972000" cy="396000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BF8F00"/>
                </a:solidFill>
                <a:latin typeface="Calibri"/>
              </a:rPr>
              <a:t>⏱  5 minutes</a:t>
            </a:r>
          </a:p>
        </p:txBody>
      </p:sp>
      <p:sp>
        <p:nvSpPr>
          <p:cNvPr id="106" name="box106"/>
          <p:cNvSpPr>
            <a:spLocks noGrp="1"/>
          </p:cNvSpPr>
          <p:nvPr/>
        </p:nvSpPr>
        <p:spPr>
          <a:xfrm>
            <a:off x="180000" y="1026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7" name="tb107"/>
          <p:cNvSpPr txBox="1">
            <a:spLocks noGrp="1"/>
          </p:cNvSpPr>
          <p:nvPr/>
        </p:nvSpPr>
        <p:spPr>
          <a:xfrm>
            <a:off x="503999" y="1026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Think about yesterday. Where were you at 10 AM? How were you feeling?</a:t>
            </a:r>
          </a:p>
        </p:txBody>
      </p:sp>
      <p:sp>
        <p:nvSpPr>
          <p:cNvPr id="108" name="box108"/>
          <p:cNvSpPr>
            <a:spLocks noGrp="1"/>
          </p:cNvSpPr>
          <p:nvPr/>
        </p:nvSpPr>
        <p:spPr>
          <a:xfrm>
            <a:off x="180000" y="1458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9" name="tb109"/>
          <p:cNvSpPr txBox="1">
            <a:spLocks noGrp="1"/>
          </p:cNvSpPr>
          <p:nvPr/>
        </p:nvSpPr>
        <p:spPr>
          <a:xfrm>
            <a:off x="503999" y="1458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Tell your partner: 'Yesterday I was at home. I was tired.'</a:t>
            </a:r>
          </a:p>
        </p:txBody>
      </p:sp>
      <p:sp>
        <p:nvSpPr>
          <p:cNvPr id="110" name="box110"/>
          <p:cNvSpPr>
            <a:spLocks noGrp="1"/>
          </p:cNvSpPr>
          <p:nvPr/>
        </p:nvSpPr>
        <p:spPr>
          <a:xfrm>
            <a:off x="180000" y="1890000"/>
            <a:ext cx="251999" cy="324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1" name="tb111"/>
          <p:cNvSpPr txBox="1">
            <a:spLocks noGrp="1"/>
          </p:cNvSpPr>
          <p:nvPr/>
        </p:nvSpPr>
        <p:spPr>
          <a:xfrm>
            <a:off x="503999" y="1890000"/>
            <a:ext cx="11508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500" dirty="0">
                <a:solidFill>
                  <a:srgbClr val="404040"/>
                </a:solidFill>
                <a:latin typeface="Calibri"/>
              </a:rPr>
              <a:t>Your partner asks: 'Were you alone? Was it a good day?'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151" name="box1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52" name="box1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153" name="tb1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📖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VOCABULARY PREVIEW</a:t>
            </a:r>
          </a:p>
        </p:txBody>
      </p:sp>
      <p:sp>
        <p:nvSpPr>
          <p:cNvPr id="154" name="box154"/>
          <p:cNvSpPr>
            <a:spLocks noGrp="1"/>
          </p:cNvSpPr>
          <p:nvPr/>
        </p:nvSpPr>
        <p:spPr>
          <a:xfrm>
            <a:off x="180000" y="5400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yesterday</a:t>
            </a:r>
          </a:p>
        </p:txBody>
      </p:sp>
      <p:sp>
        <p:nvSpPr>
          <p:cNvPr id="155" name="box155"/>
          <p:cNvSpPr>
            <a:spLocks noGrp="1"/>
          </p:cNvSpPr>
          <p:nvPr/>
        </p:nvSpPr>
        <p:spPr>
          <a:xfrm>
            <a:off x="1007999" y="5400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adv</a:t>
            </a:r>
          </a:p>
        </p:txBody>
      </p:sp>
      <p:sp>
        <p:nvSpPr>
          <p:cNvPr id="156" name="box156"/>
          <p:cNvSpPr>
            <a:spLocks noGrp="1"/>
          </p:cNvSpPr>
          <p:nvPr/>
        </p:nvSpPr>
        <p:spPr>
          <a:xfrm>
            <a:off x="1512000" y="5400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the day before today</a:t>
            </a:r>
          </a:p>
        </p:txBody>
      </p:sp>
      <p:sp>
        <p:nvSpPr>
          <p:cNvPr id="157" name="box157"/>
          <p:cNvSpPr>
            <a:spLocks noGrp="1"/>
          </p:cNvSpPr>
          <p:nvPr/>
        </p:nvSpPr>
        <p:spPr>
          <a:xfrm>
            <a:off x="6042000" y="5400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last</a:t>
            </a:r>
          </a:p>
        </p:txBody>
      </p:sp>
      <p:sp>
        <p:nvSpPr>
          <p:cNvPr id="158" name="box158"/>
          <p:cNvSpPr>
            <a:spLocks noGrp="1"/>
          </p:cNvSpPr>
          <p:nvPr/>
        </p:nvSpPr>
        <p:spPr>
          <a:xfrm>
            <a:off x="6869999" y="5400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adj</a:t>
            </a:r>
          </a:p>
        </p:txBody>
      </p:sp>
      <p:sp>
        <p:nvSpPr>
          <p:cNvPr id="159" name="box159"/>
          <p:cNvSpPr>
            <a:spLocks noGrp="1"/>
          </p:cNvSpPr>
          <p:nvPr/>
        </p:nvSpPr>
        <p:spPr>
          <a:xfrm>
            <a:off x="7374000" y="5400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most recent; the one before now</a:t>
            </a:r>
          </a:p>
        </p:txBody>
      </p:sp>
      <p:sp>
        <p:nvSpPr>
          <p:cNvPr id="160" name="box160"/>
          <p:cNvSpPr>
            <a:spLocks noGrp="1"/>
          </p:cNvSpPr>
          <p:nvPr/>
        </p:nvSpPr>
        <p:spPr>
          <a:xfrm>
            <a:off x="180000" y="8856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ago</a:t>
            </a:r>
          </a:p>
        </p:txBody>
      </p:sp>
      <p:sp>
        <p:nvSpPr>
          <p:cNvPr id="161" name="box161"/>
          <p:cNvSpPr>
            <a:spLocks noGrp="1"/>
          </p:cNvSpPr>
          <p:nvPr/>
        </p:nvSpPr>
        <p:spPr>
          <a:xfrm>
            <a:off x="1007999" y="8856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adv</a:t>
            </a:r>
          </a:p>
        </p:txBody>
      </p:sp>
      <p:sp>
        <p:nvSpPr>
          <p:cNvPr id="162" name="box162"/>
          <p:cNvSpPr>
            <a:spLocks noGrp="1"/>
          </p:cNvSpPr>
          <p:nvPr/>
        </p:nvSpPr>
        <p:spPr>
          <a:xfrm>
            <a:off x="1512000" y="8856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in the past; before now</a:t>
            </a:r>
          </a:p>
        </p:txBody>
      </p:sp>
      <p:sp>
        <p:nvSpPr>
          <p:cNvPr id="163" name="box163"/>
          <p:cNvSpPr>
            <a:spLocks noGrp="1"/>
          </p:cNvSpPr>
          <p:nvPr/>
        </p:nvSpPr>
        <p:spPr>
          <a:xfrm>
            <a:off x="6042000" y="8856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born</a:t>
            </a:r>
          </a:p>
        </p:txBody>
      </p:sp>
      <p:sp>
        <p:nvSpPr>
          <p:cNvPr id="164" name="box164"/>
          <p:cNvSpPr>
            <a:spLocks noGrp="1"/>
          </p:cNvSpPr>
          <p:nvPr/>
        </p:nvSpPr>
        <p:spPr>
          <a:xfrm>
            <a:off x="6869999" y="8856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adj</a:t>
            </a:r>
          </a:p>
        </p:txBody>
      </p:sp>
      <p:sp>
        <p:nvSpPr>
          <p:cNvPr id="165" name="box165"/>
          <p:cNvSpPr>
            <a:spLocks noGrp="1"/>
          </p:cNvSpPr>
          <p:nvPr/>
        </p:nvSpPr>
        <p:spPr>
          <a:xfrm>
            <a:off x="7374000" y="8856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brought into life</a:t>
            </a:r>
          </a:p>
        </p:txBody>
      </p:sp>
      <p:sp>
        <p:nvSpPr>
          <p:cNvPr id="166" name="box166"/>
          <p:cNvSpPr>
            <a:spLocks noGrp="1"/>
          </p:cNvSpPr>
          <p:nvPr/>
        </p:nvSpPr>
        <p:spPr>
          <a:xfrm>
            <a:off x="180000" y="12312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absent</a:t>
            </a:r>
          </a:p>
        </p:txBody>
      </p:sp>
      <p:sp>
        <p:nvSpPr>
          <p:cNvPr id="167" name="box167"/>
          <p:cNvSpPr>
            <a:spLocks noGrp="1"/>
          </p:cNvSpPr>
          <p:nvPr/>
        </p:nvSpPr>
        <p:spPr>
          <a:xfrm>
            <a:off x="1007999" y="12312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adj</a:t>
            </a:r>
          </a:p>
        </p:txBody>
      </p:sp>
      <p:sp>
        <p:nvSpPr>
          <p:cNvPr id="168" name="box168"/>
          <p:cNvSpPr>
            <a:spLocks noGrp="1"/>
          </p:cNvSpPr>
          <p:nvPr/>
        </p:nvSpPr>
        <p:spPr>
          <a:xfrm>
            <a:off x="1512000" y="12312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not present; away</a:t>
            </a:r>
          </a:p>
        </p:txBody>
      </p:sp>
      <p:sp>
        <p:nvSpPr>
          <p:cNvPr id="169" name="box169"/>
          <p:cNvSpPr>
            <a:spLocks noGrp="1"/>
          </p:cNvSpPr>
          <p:nvPr/>
        </p:nvSpPr>
        <p:spPr>
          <a:xfrm>
            <a:off x="6042000" y="12312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present</a:t>
            </a:r>
          </a:p>
        </p:txBody>
      </p:sp>
      <p:sp>
        <p:nvSpPr>
          <p:cNvPr id="170" name="box170"/>
          <p:cNvSpPr>
            <a:spLocks noGrp="1"/>
          </p:cNvSpPr>
          <p:nvPr/>
        </p:nvSpPr>
        <p:spPr>
          <a:xfrm>
            <a:off x="6869999" y="12312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adj</a:t>
            </a:r>
          </a:p>
        </p:txBody>
      </p:sp>
      <p:sp>
        <p:nvSpPr>
          <p:cNvPr id="171" name="box171"/>
          <p:cNvSpPr>
            <a:spLocks noGrp="1"/>
          </p:cNvSpPr>
          <p:nvPr/>
        </p:nvSpPr>
        <p:spPr>
          <a:xfrm>
            <a:off x="7374000" y="12312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in a particular place</a:t>
            </a:r>
          </a:p>
        </p:txBody>
      </p:sp>
      <p:sp>
        <p:nvSpPr>
          <p:cNvPr id="172" name="box172"/>
          <p:cNvSpPr>
            <a:spLocks noGrp="1"/>
          </p:cNvSpPr>
          <p:nvPr/>
        </p:nvSpPr>
        <p:spPr>
          <a:xfrm>
            <a:off x="180000" y="15768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173" name="box173"/>
          <p:cNvSpPr>
            <a:spLocks noGrp="1"/>
          </p:cNvSpPr>
          <p:nvPr/>
        </p:nvSpPr>
        <p:spPr>
          <a:xfrm>
            <a:off x="1007999" y="15768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adj</a:t>
            </a:r>
          </a:p>
        </p:txBody>
      </p:sp>
      <p:sp>
        <p:nvSpPr>
          <p:cNvPr id="174" name="box174"/>
          <p:cNvSpPr>
            <a:spLocks noGrp="1"/>
          </p:cNvSpPr>
          <p:nvPr/>
        </p:nvSpPr>
        <p:spPr>
          <a:xfrm>
            <a:off x="1512000" y="15768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not open</a:t>
            </a:r>
          </a:p>
        </p:txBody>
      </p:sp>
      <p:sp>
        <p:nvSpPr>
          <p:cNvPr id="175" name="box175"/>
          <p:cNvSpPr>
            <a:spLocks noGrp="1"/>
          </p:cNvSpPr>
          <p:nvPr/>
        </p:nvSpPr>
        <p:spPr>
          <a:xfrm>
            <a:off x="6042000" y="15768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empty</a:t>
            </a:r>
          </a:p>
        </p:txBody>
      </p:sp>
      <p:sp>
        <p:nvSpPr>
          <p:cNvPr id="176" name="box176"/>
          <p:cNvSpPr>
            <a:spLocks noGrp="1"/>
          </p:cNvSpPr>
          <p:nvPr/>
        </p:nvSpPr>
        <p:spPr>
          <a:xfrm>
            <a:off x="6869999" y="15768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adj</a:t>
            </a:r>
          </a:p>
        </p:txBody>
      </p:sp>
      <p:sp>
        <p:nvSpPr>
          <p:cNvPr id="177" name="box177"/>
          <p:cNvSpPr>
            <a:spLocks noGrp="1"/>
          </p:cNvSpPr>
          <p:nvPr/>
        </p:nvSpPr>
        <p:spPr>
          <a:xfrm>
            <a:off x="7374000" y="15768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containing nothing</a:t>
            </a:r>
          </a:p>
        </p:txBody>
      </p:sp>
      <p:sp>
        <p:nvSpPr>
          <p:cNvPr id="178" name="box178"/>
          <p:cNvSpPr>
            <a:spLocks noGrp="1"/>
          </p:cNvSpPr>
          <p:nvPr/>
        </p:nvSpPr>
        <p:spPr>
          <a:xfrm>
            <a:off x="180000" y="19224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full</a:t>
            </a:r>
          </a:p>
        </p:txBody>
      </p:sp>
      <p:sp>
        <p:nvSpPr>
          <p:cNvPr id="179" name="box179"/>
          <p:cNvSpPr>
            <a:spLocks noGrp="1"/>
          </p:cNvSpPr>
          <p:nvPr/>
        </p:nvSpPr>
        <p:spPr>
          <a:xfrm>
            <a:off x="1007999" y="19224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adj</a:t>
            </a:r>
          </a:p>
        </p:txBody>
      </p:sp>
      <p:sp>
        <p:nvSpPr>
          <p:cNvPr id="180" name="box180"/>
          <p:cNvSpPr>
            <a:spLocks noGrp="1"/>
          </p:cNvSpPr>
          <p:nvPr/>
        </p:nvSpPr>
        <p:spPr>
          <a:xfrm>
            <a:off x="1512000" y="19224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containing as much as possible</a:t>
            </a:r>
          </a:p>
        </p:txBody>
      </p:sp>
      <p:sp>
        <p:nvSpPr>
          <p:cNvPr id="181" name="box181"/>
          <p:cNvSpPr>
            <a:spLocks noGrp="1"/>
          </p:cNvSpPr>
          <p:nvPr/>
        </p:nvSpPr>
        <p:spPr>
          <a:xfrm>
            <a:off x="6042000" y="1922400"/>
            <a:ext cx="792000" cy="280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500" dirty="0">
                <a:solidFill>
                  <a:srgbClr val="FFFFFF"/>
                </a:solidFill>
                <a:latin typeface="Calibri"/>
              </a:rPr>
              <a:t>crowded</a:t>
            </a:r>
          </a:p>
        </p:txBody>
      </p:sp>
      <p:sp>
        <p:nvSpPr>
          <p:cNvPr id="182" name="box182"/>
          <p:cNvSpPr>
            <a:spLocks noGrp="1"/>
          </p:cNvSpPr>
          <p:nvPr/>
        </p:nvSpPr>
        <p:spPr>
          <a:xfrm>
            <a:off x="6869999" y="1922400"/>
            <a:ext cx="468000" cy="280800"/>
          </a:xfrm>
          <a:prstGeom prst="roundRect">
            <a:avLst>
              <a:gd name="adj" fmla="val 12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200" dirty="0">
                <a:solidFill>
                  <a:srgbClr val="1F3864"/>
                </a:solidFill>
                <a:latin typeface="Calibri"/>
              </a:rPr>
              <a:t>adj</a:t>
            </a:r>
          </a:p>
        </p:txBody>
      </p:sp>
      <p:sp>
        <p:nvSpPr>
          <p:cNvPr id="183" name="box183"/>
          <p:cNvSpPr>
            <a:spLocks noGrp="1"/>
          </p:cNvSpPr>
          <p:nvPr/>
        </p:nvSpPr>
        <p:spPr>
          <a:xfrm>
            <a:off x="7374000" y="1922400"/>
            <a:ext cx="4350000" cy="2808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72000" rIns="72000" tIns="54000" bIns="54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full of people</a:t>
            </a:r>
          </a:p>
        </p:txBody>
      </p:sp>
      <p:sp>
        <p:nvSpPr>
          <p:cNvPr id="184" name="tb184"/>
          <p:cNvSpPr txBox="1">
            <a:spLocks noGrp="1"/>
          </p:cNvSpPr>
          <p:nvPr/>
        </p:nvSpPr>
        <p:spPr>
          <a:xfrm>
            <a:off x="180000" y="6606001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300" dirty="0">
                <a:solidFill>
                  <a:srgbClr val="2E75B6"/>
                </a:solidFill>
                <a:latin typeface="Calibri"/>
              </a:rPr>
              <a:t>📚  Full 30-word vocabulary bank in your workbook — Section 4.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01" name="box2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02" name="box2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03" name="tb2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📐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GRAMMAR RULE</a:t>
            </a:r>
          </a:p>
        </p:txBody>
      </p:sp>
      <p:sp>
        <p:nvSpPr>
          <p:cNvPr id="204" name="box204"/>
          <p:cNvSpPr>
            <a:spLocks noGrp="1"/>
          </p:cNvSpPr>
          <p:nvPr/>
        </p:nvSpPr>
        <p:spPr>
          <a:xfrm>
            <a:off x="180000" y="522000"/>
            <a:ext cx="11832000" cy="39600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2700">
            <a:solidFill>
              <a:srgbClr val="BF8F00"/>
            </a:solidFill>
          </a:ln>
        </p:spPr>
        <p:txBody>
          <a:bodyPr anchor="ctr" wrap="square" lIns="144000" rIns="72000" tIns="54000" bIns="54000"/>
          <a:lstStyle/>
          <a:p>
            <a:pPr algn="l" spcBef="0" spcAft="0">
              <a:spcPct val="100000"/>
            </a:pPr>
            <a:r>
              <a:rPr lang="en-GB" b="1" sz="1700" dirty="0">
                <a:solidFill>
                  <a:srgbClr val="1F3864"/>
                </a:solidFill>
                <a:latin typeface="Calibri"/>
              </a:rPr>
              <a:t>📌  The past of am/is is was. The past of are is were. Use was/were to talk about past states, feelings, and locations.</a:t>
            </a:r>
          </a:p>
        </p:txBody>
      </p:sp>
      <p:graphicFrame>
        <p:nvGraphicFramePr>
          <p:cNvPr id="205" name="tbl205"/>
          <p:cNvGraphicFramePr>
            <a:graphicFrameLocks noGrp="1"/>
          </p:cNvGraphicFramePr>
          <p:nvPr/>
        </p:nvGraphicFramePr>
        <p:xfrm>
          <a:off x="180000" y="990000"/>
          <a:ext cx="11832000" cy="5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4000"/>
                <a:gridCol w="3944000"/>
                <a:gridCol w="3944000"/>
              </a:tblGrid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I / He / She / It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You / We / They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Affirmative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was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were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was not (wasn't)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were not (weren't)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Was I/he/she/it...?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Were you/we/they...?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Short answer +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Yes, I was.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Yes, they were.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27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Short answer -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No, he wasn't.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No, we weren't.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51" name="box2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52" name="box2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253" name="tb2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✏️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SPELLING &amp; USAGE NOTES</a:t>
            </a:r>
          </a:p>
        </p:txBody>
      </p:sp>
      <p:sp>
        <p:nvSpPr>
          <p:cNvPr id="254" name="box254"/>
          <p:cNvSpPr>
            <a:spLocks noGrp="1"/>
          </p:cNvSpPr>
          <p:nvPr/>
        </p:nvSpPr>
        <p:spPr>
          <a:xfrm>
            <a:off x="180000" y="540000"/>
            <a:ext cx="11832000" cy="503999"/>
          </a:xfrm>
          <a:prstGeom prst="rect">
            <a:avLst/>
          </a:prstGeom>
          <a:solidFill>
            <a:srgbClr val="DCE6F1"/>
          </a:solidFill>
          <a:ln w="12700">
            <a:solidFill>
              <a:srgbClr val="1F3864"/>
            </a:solidFill>
          </a:ln>
        </p:spPr>
        <p:txBody>
          <a:bodyPr anchor="ctr" wrap="square" lIns="144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⚠️  Watch Out!  </a:t>
            </a:r>
            <a:r>
              <a:rPr lang="en-GB" b="0" sz="1400" dirty="0">
                <a:solidFill>
                  <a:srgbClr val="1F3864"/>
                </a:solidFill>
                <a:latin typeface="Calibri"/>
              </a:rPr>
              <a:t>Was/were is the ONLY past form of to be. Do NOT say 'I were' or 'He were'. I/he/she/it = WAS. You/we/they = WERE.</a:t>
            </a:r>
          </a:p>
        </p:txBody>
      </p:sp>
      <p:sp>
        <p:nvSpPr>
          <p:cNvPr id="255" name="box255"/>
          <p:cNvSpPr>
            <a:spLocks noGrp="1"/>
          </p:cNvSpPr>
          <p:nvPr/>
        </p:nvSpPr>
        <p:spPr>
          <a:xfrm>
            <a:off x="180000" y="1169998"/>
            <a:ext cx="1260000" cy="216000"/>
          </a:xfrm>
          <a:prstGeom prst="roundRect">
            <a:avLst>
              <a:gd name="adj" fmla="val 1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1F3864"/>
                </a:solidFill>
                <a:latin typeface="Calibri"/>
              </a:rPr>
              <a:t>Usage Examples</a:t>
            </a:r>
          </a:p>
        </p:txBody>
      </p:sp>
      <p:sp>
        <p:nvSpPr>
          <p:cNvPr id="256" name="tb256"/>
          <p:cNvSpPr txBox="1">
            <a:spLocks noGrp="1"/>
          </p:cNvSpPr>
          <p:nvPr/>
        </p:nvSpPr>
        <p:spPr>
          <a:xfrm>
            <a:off x="180000" y="1439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Past location: I was at home yesterday. They were at school.</a:t>
            </a:r>
          </a:p>
        </p:txBody>
      </p:sp>
      <p:sp>
        <p:nvSpPr>
          <p:cNvPr id="257" name="tb257"/>
          <p:cNvSpPr txBox="1">
            <a:spLocks noGrp="1"/>
          </p:cNvSpPr>
          <p:nvPr/>
        </p:nvSpPr>
        <p:spPr>
          <a:xfrm>
            <a:off x="180000" y="1655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Past feeling: She was happy. We were tired after the trip.</a:t>
            </a:r>
          </a:p>
        </p:txBody>
      </p:sp>
      <p:sp>
        <p:nvSpPr>
          <p:cNvPr id="258" name="tb258"/>
          <p:cNvSpPr txBox="1">
            <a:spLocks noGrp="1"/>
          </p:cNvSpPr>
          <p:nvPr/>
        </p:nvSpPr>
        <p:spPr>
          <a:xfrm>
            <a:off x="180000" y="1871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Past description: The film was boring. The questions were easy.</a:t>
            </a:r>
          </a:p>
        </p:txBody>
      </p:sp>
      <p:sp>
        <p:nvSpPr>
          <p:cNvPr id="259" name="tb259"/>
          <p:cNvSpPr txBox="1">
            <a:spLocks noGrp="1"/>
          </p:cNvSpPr>
          <p:nvPr/>
        </p:nvSpPr>
        <p:spPr>
          <a:xfrm>
            <a:off x="180000" y="2087998"/>
            <a:ext cx="11832000" cy="198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▶  Past time: It was Monday. It was 3 o'clock.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301" name="box3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02" name="box3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03" name="tb3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✍️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GUIDED PRACTICE</a:t>
            </a:r>
          </a:p>
        </p:txBody>
      </p:sp>
      <p:sp>
        <p:nvSpPr>
          <p:cNvPr id="304" name="tb30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Complete with was, were, wasn't, or weren't. Items 1-2 are done for you.</a:t>
            </a:r>
          </a:p>
        </p:txBody>
      </p:sp>
      <p:graphicFrame>
        <p:nvGraphicFramePr>
          <p:cNvPr id="305" name="tbl30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920"/>
                <a:gridCol w="6152640"/>
                <a:gridCol w="4969440"/>
              </a:tblGrid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 ✅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I ___ at home yesterday.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I WAS at home yesterday.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 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They ___ not at school.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They WERE not at school. (WEREN'T)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She ___ born in 2003.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11412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The children ___ very excited.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351" name="box3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52" name="box3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353" name="tb3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📝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CONTROLLED PRACTICE</a:t>
            </a:r>
          </a:p>
        </p:txBody>
      </p:sp>
      <p:sp>
        <p:nvSpPr>
          <p:cNvPr id="354" name="tb35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Write complete sentences in the past using was or were.</a:t>
            </a:r>
          </a:p>
        </p:txBody>
      </p:sp>
      <p:graphicFrame>
        <p:nvGraphicFramePr>
          <p:cNvPr id="355" name="tbl35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9920"/>
                <a:gridCol w="5561040"/>
                <a:gridCol w="5561040"/>
              </a:tblGrid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Prompt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Write your answer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(I / tired / yesterday)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(the weather / terrible / last week)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(they / not / at home / last night)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(the test / easy?)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(we / lucky / on holiday)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401" name="box4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02" name="box4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03" name="tb4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🔎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ERROR CORRECTION</a:t>
            </a:r>
          </a:p>
        </p:txBody>
      </p:sp>
      <p:sp>
        <p:nvSpPr>
          <p:cNvPr id="404" name="tb404"/>
          <p:cNvSpPr txBox="1">
            <a:spLocks noGrp="1"/>
          </p:cNvSpPr>
          <p:nvPr/>
        </p:nvSpPr>
        <p:spPr>
          <a:xfrm>
            <a:off x="180000" y="540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BF8F00"/>
                </a:solidFill>
                <a:latin typeface="Calibri"/>
              </a:rPr>
              <a:t>Find and correct the ONE mistake in each sentence.</a:t>
            </a:r>
          </a:p>
        </p:txBody>
      </p:sp>
      <p:graphicFrame>
        <p:nvGraphicFramePr>
          <p:cNvPr id="405" name="tbl405"/>
          <p:cNvGraphicFramePr>
            <a:graphicFrameLocks noGrp="1"/>
          </p:cNvGraphicFramePr>
          <p:nvPr/>
        </p:nvGraphicFramePr>
        <p:xfrm>
          <a:off x="180000" y="846000"/>
          <a:ext cx="11832000" cy="592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600"/>
                <a:gridCol w="5916000"/>
                <a:gridCol w="5324400"/>
              </a:tblGrid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Incorrect Sentence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FFFFFF"/>
                          </a:solidFill>
                          <a:latin typeface="Calibri"/>
                        </a:rPr>
                        <a:t>Corrected Sentence</a:t>
                      </a:r>
                    </a:p>
                  </a:txBody>
                  <a:tcPr>
                    <a:solidFill>
                      <a:srgbClr val="1F3864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They was at school yesterday.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He were born in London.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I were tired after the trip.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Was they surprised?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A1A1A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951000">
                <a:tc>
                  <a:txBody>
                    <a:bodyPr/>
                    <a:lstStyle/>
                    <a:p>
                      <a:pPr algn="l"/>
                      <a:r>
                        <a:rPr lang="en-GB" b="1" sz="1400" dirty="0">
                          <a:solidFill>
                            <a:srgbClr val="1F386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She weren't at work.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0" sz="1400" dirty="0">
                          <a:solidFill>
                            <a:srgbClr val="1F3864"/>
                          </a:solidFill>
                          <a:latin typeface="Calibri"/>
                        </a:rPr>
                        <a:t>________________________</a:t>
                      </a:r>
                    </a:p>
                  </a:txBody>
                  <a:tcPr>
                    <a:solidFill>
                      <a:srgbClr val="DCE6F1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451" name="box4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52" name="box4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453" name="tb4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🗣️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SPEAKING ACTIVITY</a:t>
            </a:r>
          </a:p>
        </p:txBody>
      </p:sp>
      <p:sp>
        <p:nvSpPr>
          <p:cNvPr id="454" name="box454"/>
          <p:cNvSpPr>
            <a:spLocks noGrp="1"/>
          </p:cNvSpPr>
          <p:nvPr/>
        </p:nvSpPr>
        <p:spPr>
          <a:xfrm>
            <a:off x="180000" y="522000"/>
            <a:ext cx="11832000" cy="360000"/>
          </a:xfrm>
          <a:prstGeom prst="roundRect">
            <a:avLst>
              <a:gd name="adj" fmla="val 12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180000" rIns="72000" tIns="54000" bIns="54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FFFFFF"/>
                </a:solidFill>
                <a:latin typeface="Cambria"/>
              </a:rPr>
              <a:t>💬 My Last Weekend</a:t>
            </a:r>
          </a:p>
        </p:txBody>
      </p:sp>
      <p:sp>
        <p:nvSpPr>
          <p:cNvPr id="455" name="box455"/>
          <p:cNvSpPr>
            <a:spLocks noGrp="1"/>
          </p:cNvSpPr>
          <p:nvPr/>
        </p:nvSpPr>
        <p:spPr>
          <a:xfrm>
            <a:off x="11112000" y="954000"/>
            <a:ext cx="900000" cy="1260000"/>
          </a:xfrm>
          <a:prstGeom prst="roundRect">
            <a:avLst>
              <a:gd name="adj" fmla="val 20000"/>
            </a:avLst>
          </a:prstGeom>
          <a:solidFill>
            <a:srgbClr val="DCE6F1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0" sz="6000" dirty="0">
                <a:solidFill>
                  <a:srgbClr val="2E75B6"/>
                </a:solidFill>
                <a:latin typeface="Calibri"/>
              </a:rPr>
              <a:t>💬</a:t>
            </a:r>
          </a:p>
        </p:txBody>
      </p:sp>
      <p:sp>
        <p:nvSpPr>
          <p:cNvPr id="456" name="box456"/>
          <p:cNvSpPr>
            <a:spLocks noGrp="1"/>
          </p:cNvSpPr>
          <p:nvPr/>
        </p:nvSpPr>
        <p:spPr>
          <a:xfrm>
            <a:off x="180000" y="9540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57" name="tb457"/>
          <p:cNvSpPr txBox="1">
            <a:spLocks noGrp="1"/>
          </p:cNvSpPr>
          <p:nvPr/>
        </p:nvSpPr>
        <p:spPr>
          <a:xfrm>
            <a:off x="468000" y="9540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Tell your partner about last weekend. Use: I was... / I wasn't... / It was...</a:t>
            </a:r>
          </a:p>
        </p:txBody>
      </p:sp>
      <p:sp>
        <p:nvSpPr>
          <p:cNvPr id="458" name="box458"/>
          <p:cNvSpPr>
            <a:spLocks noGrp="1"/>
          </p:cNvSpPr>
          <p:nvPr/>
        </p:nvSpPr>
        <p:spPr>
          <a:xfrm>
            <a:off x="180000" y="12708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59" name="tb459"/>
          <p:cNvSpPr txBox="1">
            <a:spLocks noGrp="1"/>
          </p:cNvSpPr>
          <p:nvPr/>
        </p:nvSpPr>
        <p:spPr>
          <a:xfrm>
            <a:off x="468000" y="12708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Ask your partner questions: Were you at home? Was it fun? Was the weather good?</a:t>
            </a:r>
          </a:p>
        </p:txBody>
      </p:sp>
      <p:sp>
        <p:nvSpPr>
          <p:cNvPr id="460" name="box460"/>
          <p:cNvSpPr>
            <a:spLocks noGrp="1"/>
          </p:cNvSpPr>
          <p:nvPr/>
        </p:nvSpPr>
        <p:spPr>
          <a:xfrm>
            <a:off x="180000" y="15876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61" name="tb461"/>
          <p:cNvSpPr txBox="1">
            <a:spLocks noGrp="1"/>
          </p:cNvSpPr>
          <p:nvPr/>
        </p:nvSpPr>
        <p:spPr>
          <a:xfrm>
            <a:off x="468000" y="15876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Give short answers: Yes, I was. / No, it wasn't.</a:t>
            </a:r>
          </a:p>
        </p:txBody>
      </p:sp>
      <p:sp>
        <p:nvSpPr>
          <p:cNvPr id="462" name="box462"/>
          <p:cNvSpPr>
            <a:spLocks noGrp="1"/>
          </p:cNvSpPr>
          <p:nvPr/>
        </p:nvSpPr>
        <p:spPr>
          <a:xfrm>
            <a:off x="180000" y="1904400"/>
            <a:ext cx="234000" cy="2592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400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3" name="tb463"/>
          <p:cNvSpPr txBox="1">
            <a:spLocks noGrp="1"/>
          </p:cNvSpPr>
          <p:nvPr/>
        </p:nvSpPr>
        <p:spPr>
          <a:xfrm>
            <a:off x="468000" y="1904400"/>
            <a:ext cx="10464000" cy="2592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400" dirty="0">
                <a:solidFill>
                  <a:srgbClr val="404040"/>
                </a:solidFill>
                <a:latin typeface="Calibri"/>
              </a:rPr>
              <a:t>Report to the class: 'Maria was at the beach. The weather was wonderful.'</a:t>
            </a:r>
          </a:p>
        </p:txBody>
      </p:sp>
      <p:sp>
        <p:nvSpPr>
          <p:cNvPr id="464" name="box464"/>
          <p:cNvSpPr>
            <a:spLocks noGrp="1"/>
          </p:cNvSpPr>
          <p:nvPr/>
        </p:nvSpPr>
        <p:spPr>
          <a:xfrm>
            <a:off x="180000" y="6570000"/>
            <a:ext cx="1260000" cy="2160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BF8F00"/>
                </a:solidFill>
                <a:latin typeface="Calibri"/>
              </a:rPr>
              <a:t>👥  Pair Work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01" name="box50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02" name="box50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03" name="tb50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📄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READING &amp; WRITING</a:t>
            </a:r>
          </a:p>
        </p:txBody>
      </p:sp>
      <p:sp>
        <p:nvSpPr>
          <p:cNvPr id="504" name="box504"/>
          <p:cNvSpPr>
            <a:spLocks noGrp="1"/>
          </p:cNvSpPr>
          <p:nvPr/>
        </p:nvSpPr>
        <p:spPr>
          <a:xfrm>
            <a:off x="180000" y="540000"/>
            <a:ext cx="900000" cy="198000"/>
          </a:xfrm>
          <a:prstGeom prst="roundRect">
            <a:avLst>
              <a:gd name="adj" fmla="val 10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Reading</a:t>
            </a:r>
          </a:p>
        </p:txBody>
      </p:sp>
      <p:sp>
        <p:nvSpPr>
          <p:cNvPr id="505" name="box505"/>
          <p:cNvSpPr>
            <a:spLocks noGrp="1"/>
          </p:cNvSpPr>
          <p:nvPr/>
        </p:nvSpPr>
        <p:spPr>
          <a:xfrm>
            <a:off x="180000" y="792000"/>
            <a:ext cx="11832000" cy="612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t" wrap="square" lIns="108000" rIns="72000" tIns="72000" bIns="54000"/>
          <a:lstStyle/>
          <a:p>
            <a:pPr algn="l" spcBef="0" spcAft="0">
              <a:spcPct val="100000"/>
            </a:pPr>
            <a:r>
              <a:rPr lang="en-GB" b="0" i="1" sz="1300" dirty="0">
                <a:solidFill>
                  <a:srgbClr val="404040"/>
                </a:solidFill>
                <a:latin typeface="Calibri"/>
              </a:rPr>
              <a:t>Last Saturday was my birthday. I was at a restaurant with my family. The food was wonderful and the music was loud. My parents were very happy. My little brother was excited because there was a big cake. The restaurant was crowded, but our table was ready at seven. It was a perfect evening.</a:t>
            </a:r>
          </a:p>
        </p:txBody>
      </p:sp>
      <p:sp>
        <p:nvSpPr>
          <p:cNvPr id="506" name="box506"/>
          <p:cNvSpPr>
            <a:spLocks noGrp="1"/>
          </p:cNvSpPr>
          <p:nvPr/>
        </p:nvSpPr>
        <p:spPr>
          <a:xfrm>
            <a:off x="180000" y="1475999"/>
            <a:ext cx="900000" cy="198000"/>
          </a:xfrm>
          <a:prstGeom prst="roundRect">
            <a:avLst>
              <a:gd name="adj" fmla="val 10000"/>
            </a:avLst>
          </a:prstGeom>
          <a:solidFill>
            <a:srgbClr val="548235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507" name="tb507"/>
          <p:cNvSpPr txBox="1">
            <a:spLocks noGrp="1"/>
          </p:cNvSpPr>
          <p:nvPr/>
        </p:nvSpPr>
        <p:spPr>
          <a:xfrm>
            <a:off x="180000" y="1728000"/>
            <a:ext cx="11832000" cy="23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400" dirty="0">
                <a:solidFill>
                  <a:srgbClr val="548235"/>
                </a:solidFill>
                <a:latin typeface="Calibri"/>
              </a:rPr>
              <a:t>Write 6 sentences about a past event using was and were.</a:t>
            </a:r>
          </a:p>
        </p:txBody>
      </p:sp>
      <p:sp>
        <p:nvSpPr>
          <p:cNvPr id="508" name="tb508"/>
          <p:cNvSpPr txBox="1">
            <a:spLocks noGrp="1"/>
          </p:cNvSpPr>
          <p:nvPr/>
        </p:nvSpPr>
        <p:spPr>
          <a:xfrm>
            <a:off x="180000" y="20159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Where were you last weekend? I was at ___.</a:t>
            </a:r>
          </a:p>
        </p:txBody>
      </p:sp>
      <p:sp>
        <p:nvSpPr>
          <p:cNvPr id="509" name="tb509"/>
          <p:cNvSpPr txBox="1">
            <a:spLocks noGrp="1"/>
          </p:cNvSpPr>
          <p:nvPr/>
        </p:nvSpPr>
        <p:spPr>
          <a:xfrm>
            <a:off x="180000" y="21527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How was the weather? The weather was ___.</a:t>
            </a:r>
          </a:p>
        </p:txBody>
      </p:sp>
      <p:sp>
        <p:nvSpPr>
          <p:cNvPr id="510" name="tb510"/>
          <p:cNvSpPr txBox="1">
            <a:spLocks noGrp="1"/>
          </p:cNvSpPr>
          <p:nvPr/>
        </p:nvSpPr>
        <p:spPr>
          <a:xfrm>
            <a:off x="180000" y="2289599"/>
            <a:ext cx="11832000" cy="125999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sz="1300" dirty="0">
                <a:solidFill>
                  <a:srgbClr val="404040"/>
                </a:solidFill>
                <a:latin typeface="Calibri"/>
              </a:rPr>
              <a:t>• How were you feeling? I was ___.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551" name="box551"/>
          <p:cNvSpPr>
            <a:spLocks noGrp="1"/>
          </p:cNvSpPr>
          <p:nvPr/>
        </p:nvSpPr>
        <p:spPr>
          <a:xfrm>
            <a:off x="0" y="0"/>
            <a:ext cx="12192000" cy="396000"/>
          </a:xfrm>
          <a:prstGeom prst="rect">
            <a:avLst/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52" name="box552"/>
          <p:cNvSpPr>
            <a:spLocks noGrp="1"/>
          </p:cNvSpPr>
          <p:nvPr/>
        </p:nvSpPr>
        <p:spPr>
          <a:xfrm>
            <a:off x="0" y="396000"/>
            <a:ext cx="12192000" cy="64800"/>
          </a:xfrm>
          <a:prstGeom prst="rect">
            <a:avLst/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</p:txBody>
      </p:sp>
      <p:sp>
        <p:nvSpPr>
          <p:cNvPr id="553" name="tb553"/>
          <p:cNvSpPr txBox="1">
            <a:spLocks noGrp="1"/>
          </p:cNvSpPr>
          <p:nvPr/>
        </p:nvSpPr>
        <p:spPr>
          <a:xfrm>
            <a:off x="180000" y="21600"/>
            <a:ext cx="11832000" cy="360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2200" dirty="0">
                <a:solidFill>
                  <a:srgbClr val="BF8F00"/>
                </a:solidFill>
                <a:latin typeface="Cambria"/>
              </a:rPr>
              <a:t>🏠  </a:t>
            </a:r>
            <a:r>
              <a:rPr lang="en-GB" b="1" sz="2200" dirty="0">
                <a:solidFill>
                  <a:srgbClr val="FFFFFF"/>
                </a:solidFill>
                <a:latin typeface="Cambria"/>
              </a:rPr>
              <a:t>HOMEWORK</a:t>
            </a:r>
          </a:p>
        </p:txBody>
      </p:sp>
      <p:sp>
        <p:nvSpPr>
          <p:cNvPr id="554" name="box554"/>
          <p:cNvSpPr>
            <a:spLocks noGrp="1"/>
          </p:cNvSpPr>
          <p:nvPr/>
        </p:nvSpPr>
        <p:spPr>
          <a:xfrm>
            <a:off x="180000" y="540000"/>
            <a:ext cx="432000" cy="432000"/>
          </a:xfrm>
          <a:prstGeom prst="roundRect">
            <a:avLst>
              <a:gd name="adj" fmla="val 5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2800" dirty="0">
                <a:solidFill>
                  <a:srgbClr val="1F3864"/>
                </a:solidFill>
                <a:latin typeface="Cambria"/>
              </a:rPr>
              <a:t>1</a:t>
            </a:r>
          </a:p>
        </p:txBody>
      </p:sp>
      <p:sp>
        <p:nvSpPr>
          <p:cNvPr id="555" name="box555"/>
          <p:cNvSpPr>
            <a:spLocks noGrp="1"/>
          </p:cNvSpPr>
          <p:nvPr/>
        </p:nvSpPr>
        <p:spPr>
          <a:xfrm>
            <a:off x="684000" y="540000"/>
            <a:ext cx="11328000" cy="432000"/>
          </a:xfrm>
          <a:prstGeom prst="rect">
            <a:avLst/>
          </a:prstGeom>
          <a:solidFill>
            <a:srgbClr val="DCE6F1"/>
          </a:solidFill>
          <a:ln w="12700">
            <a:solidFill>
              <a:srgbClr val="2E75B6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Production Task  </a:t>
            </a:r>
            <a:r>
              <a:rPr lang="en-GB" b="0" sz="1400" dirty="0">
                <a:solidFill>
                  <a:srgbClr val="404040"/>
                </a:solidFill>
                <a:latin typeface="Calibri"/>
              </a:rPr>
              <a:t>Write 8 sentences about a trip or event in the past. Use was/were at least 6 times. Include at least 2 negatives (wasn't/weren't) and 2 questions (Was/Were...?).</a:t>
            </a:r>
          </a:p>
        </p:txBody>
      </p:sp>
      <p:sp>
        <p:nvSpPr>
          <p:cNvPr id="556" name="box556"/>
          <p:cNvSpPr>
            <a:spLocks noGrp="1"/>
          </p:cNvSpPr>
          <p:nvPr/>
        </p:nvSpPr>
        <p:spPr>
          <a:xfrm>
            <a:off x="180000" y="1080000"/>
            <a:ext cx="432000" cy="43200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2800" dirty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57" name="box557"/>
          <p:cNvSpPr>
            <a:spLocks noGrp="1"/>
          </p:cNvSpPr>
          <p:nvPr/>
        </p:nvSpPr>
        <p:spPr>
          <a:xfrm>
            <a:off x="684000" y="1080000"/>
            <a:ext cx="11328000" cy="432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txBody>
          <a:bodyPr anchor="ctr" wrap="square" lIns="108000" rIns="72000" tIns="54000" bIns="54000"/>
          <a:lstStyle/>
          <a:p>
            <a:pPr algn="l" spcBef="0" spcAft="0">
              <a:spcPct val="100000"/>
            </a:pPr>
            <a:r>
              <a:rPr lang="en-GB" b="1" sz="1500" dirty="0">
                <a:solidFill>
                  <a:srgbClr val="1F3864"/>
                </a:solidFill>
                <a:latin typeface="Calibri"/>
              </a:rPr>
              <a:t>Vocabulary Consolidation  </a:t>
            </a:r>
            <a:r>
              <a:rPr lang="en-GB" b="0" sz="1400" dirty="0">
                <a:solidFill>
                  <a:srgbClr val="404040"/>
                </a:solidFill>
                <a:latin typeface="Calibri"/>
              </a:rPr>
              <a:t>Choose 10 vocabulary words from Section 4. For each word, write a sentence using was or were. Example: 'The park was crowded last Sunday.'</a:t>
            </a:r>
          </a:p>
        </p:txBody>
      </p:sp>
      <p:sp>
        <p:nvSpPr>
          <p:cNvPr id="558" name="box558"/>
          <p:cNvSpPr>
            <a:spLocks noGrp="1"/>
          </p:cNvSpPr>
          <p:nvPr/>
        </p:nvSpPr>
        <p:spPr>
          <a:xfrm>
            <a:off x="180000" y="6498000"/>
            <a:ext cx="1440000" cy="2160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BF8F00"/>
                </a:solidFill>
                <a:latin typeface="Calibri"/>
              </a:rPr>
              <a:t>📅  Due: next class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 xmlns:dc="http://purl.org/dc/elements/1.1/">
  <p:cSld>
    <p:bg>
      <p:bgPr>
        <a:solidFill>
          <a:srgbClr val="1F3864"/>
        </a:solidFill>
        <a:effectLst/>
      </p:bgPr>
    </p:bg>
    <p:spTree>
      <p:nvGrpSpPr>
        <p:cNvPr id="1" name="content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601" name="shape6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="1">
            <a:gsLst>
              <a:gs pos="0">
                <a:srgbClr val="1F3864"/>
              </a:gs>
              <a:gs pos="100000">
                <a:srgbClr val="0D2245"/>
              </a:gs>
            </a:gsLst>
            <a:lin ang="5400000" scaled="0"/>
          </a:gradFill>
        </p:spPr>
        <p:txBody>
          <a:bodyPr/>
          <a:lstStyle/>
          <a:p/>
        </p:txBody>
      </p:sp>
      <p:sp>
        <p:nvSpPr>
          <p:cNvPr id="602" name="shape602"/>
          <p:cNvSpPr>
            <a:spLocks noGrp="1"/>
          </p:cNvSpPr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3" name="shape603"/>
          <p:cNvSpPr>
            <a:spLocks noGrp="1"/>
          </p:cNvSpPr>
          <p:nvPr/>
        </p:nvSpPr>
        <p:spPr>
          <a:xfrm>
            <a:off x="0" y="6750000"/>
            <a:ext cx="12192000" cy="10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4" name="shape604"/>
          <p:cNvSpPr>
            <a:spLocks noGrp="1"/>
          </p:cNvSpPr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rgbClr val="BF8F00"/>
          </a:solidFill>
        </p:spPr>
        <p:txBody>
          <a:bodyPr/>
          <a:lstStyle/>
          <a:p/>
        </p:txBody>
      </p:sp>
      <p:sp>
        <p:nvSpPr>
          <p:cNvPr id="605" name="box605"/>
          <p:cNvSpPr>
            <a:spLocks noGrp="1"/>
          </p:cNvSpPr>
          <p:nvPr/>
        </p:nvSpPr>
        <p:spPr>
          <a:xfrm>
            <a:off x="432000" y="432000"/>
            <a:ext cx="1800000" cy="324000"/>
          </a:xfrm>
          <a:prstGeom prst="roundRect">
            <a:avLst>
              <a:gd name="adj" fmla="val 20000"/>
            </a:avLst>
          </a:prstGeom>
          <a:solidFill>
            <a:srgbClr val="BF8F00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600" dirty="0">
                <a:solidFill>
                  <a:srgbClr val="1F3864"/>
                </a:solidFill>
                <a:latin typeface="Cambria"/>
              </a:rPr>
              <a:t>UNIT 10  ·  A1</a:t>
            </a:r>
          </a:p>
        </p:txBody>
      </p:sp>
      <p:sp>
        <p:nvSpPr>
          <p:cNvPr id="606" name="tb606"/>
          <p:cNvSpPr txBox="1">
            <a:spLocks noGrp="1"/>
          </p:cNvSpPr>
          <p:nvPr/>
        </p:nvSpPr>
        <p:spPr>
          <a:xfrm>
            <a:off x="432000" y="827999"/>
            <a:ext cx="11472000" cy="900000"/>
          </a:xfrm>
          <a:prstGeom prst="rect">
            <a:avLst/>
          </a:prstGeom>
          <a:noFill/>
        </p:spPr>
        <p:txBody>
          <a:bodyPr anchor="t" wrap="square" lIns="36000" rIns="36000" tIns="36000" bIns="36000"/>
          <a:lstStyle/>
          <a:p>
            <a:pPr algn="l" spcBef="0" spcAft="0">
              <a:spcPct val="100000"/>
            </a:pPr>
            <a:r>
              <a:rPr lang="en-GB" b="1" sz="3600" dirty="0">
                <a:solidFill>
                  <a:srgbClr val="FFFFFF"/>
                </a:solidFill>
                <a:latin typeface="Cambria"/>
              </a:rPr>
              <a:t>Verb To Be — Past Simple</a:t>
            </a:r>
          </a:p>
        </p:txBody>
      </p:sp>
      <p:sp>
        <p:nvSpPr>
          <p:cNvPr id="607" name="tb607"/>
          <p:cNvSpPr txBox="1">
            <a:spLocks noGrp="1"/>
          </p:cNvSpPr>
          <p:nvPr/>
        </p:nvSpPr>
        <p:spPr>
          <a:xfrm>
            <a:off x="432000" y="1800000"/>
            <a:ext cx="11472000" cy="324000"/>
          </a:xfrm>
          <a:prstGeom prst="rect">
            <a:avLst/>
          </a:prstGeom>
          <a:noFill/>
        </p:spPr>
        <p:txBody>
          <a:bodyPr anchor="ctr" wrap="square" lIns="36000" rIns="36000" tIns="36000" bIns="36000"/>
          <a:lstStyle/>
          <a:p>
            <a:pPr algn="l" spcBef="0" spcAft="0">
              <a:spcPct val="100000"/>
            </a:pPr>
            <a:r>
              <a:rPr lang="en-GB" b="0" i="1" sz="1600" dirty="0">
                <a:solidFill>
                  <a:srgbClr val="BF8F00"/>
                </a:solidFill>
                <a:latin typeface="Calibri"/>
              </a:rPr>
              <a:t>✦  Grammar is not a rule — it is a tool. Use it!</a:t>
            </a:r>
          </a:p>
        </p:txBody>
      </p:sp>
      <p:sp>
        <p:nvSpPr>
          <p:cNvPr id="608" name="box608"/>
          <p:cNvSpPr>
            <a:spLocks noGrp="1"/>
          </p:cNvSpPr>
          <p:nvPr/>
        </p:nvSpPr>
        <p:spPr>
          <a:xfrm>
            <a:off x="10752000" y="6462000"/>
            <a:ext cx="1260000" cy="23400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 w="0">
            <a:noFill/>
          </a:ln>
        </p:spPr>
        <p:txBody>
          <a:bodyPr anchor="ctr" wrap="square" lIns="72000" rIns="72000" tIns="54000" bIns="54000"/>
          <a:lstStyle/>
          <a:p>
            <a:pPr algn="ctr" spcBef="0" spcAft="0">
              <a:spcPct val="100000"/>
            </a:pPr>
            <a:r>
              <a:rPr lang="en-GB" b="1" sz="1300" dirty="0">
                <a:solidFill>
                  <a:srgbClr val="FFFFFF"/>
                </a:solidFill>
                <a:latin typeface="Calibri"/>
              </a:rPr>
              <a:t>See you next class! 👋</a:t>
            </a:r>
          </a:p>
        </p:txBody>
      </p:sp>
    </p:spTree>
  </p:cSld>
  <p:clrMapOvr>
    <a:masterClr/>
  </p:clrMapOvr>
</p:sld>
</file>