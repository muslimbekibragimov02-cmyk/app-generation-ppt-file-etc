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Types>
</file>

<file path=_rels/.rels><?xml version="1.0" encoding="UTF-8" standalone="yes"?>
<Relationships xmlns="http://schemas.openxmlformats.org/package/2006/relationships">
  <Relationship Id="rId1"
    Type="http://schemas.openxmlformats.org/officeDocument/2006/relationships/officeDocument"
    Target="ppt/presentation.xml"/>
</Relationships>
</file>

<file path=ppt/presentation.xml><?xml version="1.0" encoding="utf-8"?>
<p:presentation xmlns:p="http://schemas.openxmlformats.org/presentationml/2006/main" xmlns:a="http://schemas.openxmlformats.org/drawingml/2006/main" xmlns:r="http://schemas.openxmlformats.org/officeDocument/2006/relationships" saveSubsetFonts="1">
  <p:sldMasterIdLst>
    <p:sldMasterId id="2147483648" r:id="rId0"/>
  </p:sldMasterIdLst>
  <p:sldIdLst>
    <p:sldId id="256" r:id="rId1"/>
    <p:sldId id="257" r:id="rId2"/>
    <p:sldId id="258" r:id="rId3"/>
    <p:sldId id="259" r:id="rId4"/>
    <p:sldId id="260" r:id="rId5"/>
    <p:sldId id="261" r:id="rId6"/>
    <p:sldId id="262" r:id="rId7"/>
    <p:sldId id="263" r:id="rId8"/>
    <p:sldId id="264" r:id="rId9"/>
    <p:sldId id="265" r:id="rId10"/>
    <p:sldId id="266" r:id="rId11"/>
    <p:sldId id="267" r:id="rId12"/>
    <p:sldId id="268" r:id="rId13"/>
  </p:sldIdLst>
  <p:sldSz cx="12192000" cy="6858000" type="screen16x9"/>
  <p:notesSz cx="6858000" cy="12192000"/>
</p:presentation>
</file>

<file path=ppt/_rels/presentation.xml.rels><?xml version="1.0" encoding="UTF-8" standalone="yes"?>
<Relationships xmlns="http://schemas.openxmlformats.org/package/2006/relationships">
  <Relationship Id="rId0"
    Type="http://schemas.openxmlformats.org/officeDocument/2006/relationships/slideMaster"
    Target="slideMasters/slideMaster1.xml"/>
  <Relationship Id="rId1"
    Type="http://schemas.openxmlformats.org/officeDocument/2006/relationships/slide"
    Target="slides/slide1.xml"/>
  <Relationship Id="rId2"
    Type="http://schemas.openxmlformats.org/officeDocument/2006/relationships/slide"
    Target="slides/slide2.xml"/>
  <Relationship Id="rId3"
    Type="http://schemas.openxmlformats.org/officeDocument/2006/relationships/slide"
    Target="slides/slide3.xml"/>
  <Relationship Id="rId4"
    Type="http://schemas.openxmlformats.org/officeDocument/2006/relationships/slide"
    Target="slides/slide4.xml"/>
  <Relationship Id="rId5"
    Type="http://schemas.openxmlformats.org/officeDocument/2006/relationships/slide"
    Target="slides/slide5.xml"/>
  <Relationship Id="rId6"
    Type="http://schemas.openxmlformats.org/officeDocument/2006/relationships/slide"
    Target="slides/slide6.xml"/>
  <Relationship Id="rId7"
    Type="http://schemas.openxmlformats.org/officeDocument/2006/relationships/slide"
    Target="slides/slide7.xml"/>
  <Relationship Id="rId8"
    Type="http://schemas.openxmlformats.org/officeDocument/2006/relationships/slide"
    Target="slides/slide8.xml"/>
  <Relationship Id="rId9"
    Type="http://schemas.openxmlformats.org/officeDocument/2006/relationships/slide"
    Target="slides/slide9.xml"/>
  <Relationship Id="rId10"
    Type="http://schemas.openxmlformats.org/officeDocument/2006/relationships/slide"
    Target="slides/slide10.xml"/>
  <Relationship Id="rId11"
    Type="http://schemas.openxmlformats.org/officeDocument/2006/relationships/slide"
    Target="slides/slide11.xml"/>
  <Relationship Id="rId12"
    Type="http://schemas.openxmlformats.org/officeDocument/2006/relationships/slide"
    Target="slides/slide12.xml"/>
  <Relationship Id="rId13"
    Type="http://schemas.openxmlformats.org/officeDocument/2006/relationships/slide"
    Target="slides/slide13.xml"/>
</Relationships>
</file>

<file path=ppt/slideLayouts/_rels/slideLayout1.xml.rels><?xml version="1.0" encoding="UTF-8" standalone="yes"?>
<Relationships xmlns="http://schemas.openxmlformats.org/package/2006/relationships">
  <Relationship Id="rId1"
    Type="http://schemas.openxmlformats.org/officeDocument/2006/relationships/slideMaster"
    Target="../slideMasters/slideMaster1.xml"/>
</Relationships>
</file>

<file path=ppt/slideLayouts/slideLayout1.xml><?xml version="1.0" encoding="utf-8"?>
<p:sldLayout xmlns:p="http://schemas.openxmlformats.org/presentationml/2006/main" xmlns:a="http://schemas.openxmlformats.org/drawingml/2006/main" xmlns:r="http://schemas.openxmlformats.org/officeDocument/2006/relationships" type="blank" preserve="1">
  <p:cSld name="Blank">
    <p:spTree>
      <p:nvGrpSpPr>
        <p:cNvPr id="1" name=""/>
        <p:cNvGrpSpPr/>
        <p:nvPr/>
      </p:nvGrpSpPr>
      <p:grpSpPr>
        <a:xfrm>
          <a:off x="0" y="0"/>
          <a:ext cx="12192000" cy="6858000"/>
          <a:chOff x="0" y="0"/>
          <a:chExt cx="12192000" cy="6858000"/>
        </a:xfrm>
      </p:grpSpPr>
    </p:spTree>
  </p:cSld>
  <p:clrMapOvr>
    <a:masterClr/>
  </p:clrMapOvr>
</p:sldLayout>
</file>

<file path=ppt/slideMasters/_rels/slideMaster1.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Masters/slideMaster1.xml><?xml version="1.0" encoding="utf-8"?>
<p:sldMaster xmlns:p="http://schemas.openxmlformats.org/presentationml/2006/main" xmlns:a="http://schemas.openxmlformats.org/drawingml/2006/main" xmlns:r="http://schemas.openxmlformats.org/officeDocument/2006/relationships">
  <p:cSld>
    <p:spTree>
      <p:nvGrpSpPr>
        <p:cNvPr id="1" name=""/>
        <p:cNvGrpSpPr/>
        <p:nvPr/>
      </p:nvGrpSpPr>
      <p:grpSpPr>
        <a:xfrm>
          <a:off x="0" y="0"/>
          <a:ext cx="12192000" cy="6858000"/>
          <a:chOff x="0" y="0"/>
          <a:chExt cx="12192000" cy="6858000"/>
        </a:xfrm>
      </p:grpSpPr>
    </p:spTree>
  </p:cSld>
  <p:clrMap bg1="lt1" tx1="dk1" bg2="lt2" tx2="dk2" accent1="accent1" accent2="accent2" accent3="accent3" accent4="accent4" accent5="accent5" accent6="accent6" hlink="hlink" folHlink="folHlink"/>
  <p:sldLayoutIdLst>
    <p:sldLayoutId id="2147483649" r:id="rId1"/>
  </p:sldLayoutIdLst>
  <p:txStyles>
    <p:titleStyle>
      <a:lstStyle/>
    </p:titleStyle>
    <p:bodyStyle>
      <a:lstStyle/>
    </p:bodyStyle>
    <p:otherStyle>
      <a:lstStyle/>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slide1.xml><?xml version="1.0" encoding="utf-8"?>
<p:sld xmlns:p="http://schemas.openxmlformats.org/presentationml/2006/main" xmlns:a="http://schemas.openxmlformats.org/drawingml/2006/main" xmlns:r="http://schemas.openxmlformats.org/officeDocument/2006/relationships" xmlns:dc="http://purl.org/dc/elements/1.1/">
  <p:cSld>
    <p:bg>
      <p:bgPr>
        <a:solidFill>
          <a:srgbClr val="1F3864"/>
        </a:solidFill>
        <a:effectLst/>
      </p:bgPr>
    </p:bg>
    <p:spTree>
      <p:nvGrpSpPr>
        <p:cNvPr id="1" name="content"/>
        <p:cNvGrpSpPr/>
        <p:nvPr/>
      </p:nvGrpSpPr>
      <p:grpSpPr>
        <a:xfrm>
          <a:off x="0" y="0"/>
          <a:ext cx="12192000" cy="6858000"/>
          <a:chOff x="0" y="0"/>
          <a:chExt cx="12192000" cy="6858000"/>
        </a:xfrm>
      </p:grpSpPr>
      <p:sp>
        <p:nvSpPr>
          <p:cNvPr id="11" name="shape11"/>
          <p:cNvSpPr>
            <a:spLocks noGrp="1"/>
          </p:cNvSpPr>
          <p:nvPr/>
        </p:nvSpPr>
        <p:spPr>
          <a:xfrm>
            <a:off x="0" y="0"/>
            <a:ext cx="12192000" cy="6858000"/>
          </a:xfrm>
          <a:prstGeom prst="rect">
            <a:avLst/>
          </a:prstGeom>
          <a:gradFill rot="1">
            <a:gsLst>
              <a:gs pos="0">
                <a:srgbClr val="1F3864"/>
              </a:gs>
              <a:gs pos="100000">
                <a:srgbClr val="0D2245"/>
              </a:gs>
            </a:gsLst>
            <a:lin ang="5400000" scaled="0"/>
          </a:gradFill>
        </p:spPr>
        <p:txBody>
          <a:bodyPr/>
          <a:lstStyle/>
          <a:p/>
        </p:txBody>
      </p:sp>
      <p:sp>
        <p:nvSpPr>
          <p:cNvPr id="12" name="shape12"/>
          <p:cNvSpPr>
            <a:spLocks noGrp="1"/>
          </p:cNvSpPr>
          <p:nvPr/>
        </p:nvSpPr>
        <p:spPr>
          <a:xfrm>
            <a:off x="0" y="0"/>
            <a:ext cx="144000" cy="6858000"/>
          </a:xfrm>
          <a:prstGeom prst="rect">
            <a:avLst/>
          </a:prstGeom>
          <a:solidFill>
            <a:srgbClr val="BF8F00"/>
          </a:solidFill>
        </p:spPr>
        <p:txBody>
          <a:bodyPr/>
          <a:lstStyle/>
          <a:p/>
        </p:txBody>
      </p:sp>
      <p:sp>
        <p:nvSpPr>
          <p:cNvPr id="13" name="shape13"/>
          <p:cNvSpPr>
            <a:spLocks noGrp="1"/>
          </p:cNvSpPr>
          <p:nvPr/>
        </p:nvSpPr>
        <p:spPr>
          <a:xfrm>
            <a:off x="0" y="0"/>
            <a:ext cx="12192000" cy="108000"/>
          </a:xfrm>
          <a:prstGeom prst="rect">
            <a:avLst/>
          </a:prstGeom>
          <a:solidFill>
            <a:srgbClr val="BF8F00"/>
          </a:solidFill>
        </p:spPr>
        <p:txBody>
          <a:bodyPr/>
          <a:lstStyle/>
          <a:p/>
        </p:txBody>
      </p:sp>
      <p:sp>
        <p:nvSpPr>
          <p:cNvPr id="14" name="box14"/>
          <p:cNvSpPr>
            <a:spLocks noGrp="1"/>
          </p:cNvSpPr>
          <p:nvPr/>
        </p:nvSpPr>
        <p:spPr>
          <a:xfrm>
            <a:off x="432000" y="468000"/>
            <a:ext cx="1800000" cy="324000"/>
          </a:xfrm>
          <a:prstGeom prst="roundRect">
            <a:avLst>
              <a:gd name="adj" fmla="val 20000"/>
            </a:avLst>
          </a:prstGeom>
          <a:solidFill>
            <a:srgbClr val="BF8F00"/>
          </a:solidFill>
          <a:ln w="0">
            <a:noFill/>
          </a:ln>
        </p:spPr>
        <p:txBody>
          <a:bodyPr anchor="ctr" wrap="square" lIns="72000" rIns="72000" tIns="54000" bIns="54000"/>
          <a:lstStyle/>
          <a:p>
            <a:pPr algn="ctr" spcBef="0" spcAft="0">
              <a:spcPct val="100000"/>
            </a:pPr>
            <a:r>
              <a:rPr lang="en-GB" b="1" sz="1600" dirty="0">
                <a:solidFill>
                  <a:srgbClr val="1F3864"/>
                </a:solidFill>
                <a:latin typeface="Cambria"/>
              </a:rPr>
              <a:t>UNIT 10  ·  A1</a:t>
            </a:r>
          </a:p>
        </p:txBody>
      </p:sp>
      <p:sp>
        <p:nvSpPr>
          <p:cNvPr id="15" name="tb15"/>
          <p:cNvSpPr txBox="1">
            <a:spLocks noGrp="1"/>
          </p:cNvSpPr>
          <p:nvPr/>
        </p:nvSpPr>
        <p:spPr>
          <a:xfrm>
            <a:off x="432000" y="900000"/>
            <a:ext cx="11472000" cy="288000"/>
          </a:xfrm>
          <a:prstGeom prst="rect">
            <a:avLst/>
          </a:prstGeom>
          <a:noFill/>
        </p:spPr>
        <p:txBody>
          <a:bodyPr anchor="ctr" wrap="square" lIns="36000" rIns="36000" tIns="36000" bIns="36000"/>
          <a:lstStyle/>
          <a:p>
            <a:pPr algn="l" spcBef="0" spcAft="0">
              <a:spcPct val="100000"/>
            </a:pPr>
            <a:r>
              <a:rPr lang="en-GB" b="0" sz="1500" dirty="0">
                <a:solidFill>
                  <a:srgbClr val="BFC9D6"/>
                </a:solidFill>
                <a:latin typeface="Calibri"/>
              </a:rPr>
              <a:t>English Grammar in Action — Level 1</a:t>
            </a:r>
          </a:p>
        </p:txBody>
      </p:sp>
      <p:sp>
        <p:nvSpPr>
          <p:cNvPr id="16" name="tb16"/>
          <p:cNvSpPr txBox="1">
            <a:spLocks noGrp="1"/>
          </p:cNvSpPr>
          <p:nvPr/>
        </p:nvSpPr>
        <p:spPr>
          <a:xfrm>
            <a:off x="432000" y="1188000"/>
            <a:ext cx="11472000" cy="1080000"/>
          </a:xfrm>
          <a:prstGeom prst="rect">
            <a:avLst/>
          </a:prstGeom>
          <a:noFill/>
        </p:spPr>
        <p:txBody>
          <a:bodyPr anchor="t" wrap="square" lIns="36000" rIns="36000" tIns="36000" bIns="36000"/>
          <a:lstStyle/>
          <a:p>
            <a:pPr algn="l" spcBef="0" spcAft="0">
              <a:spcPct val="100000"/>
            </a:pPr>
            <a:r>
              <a:rPr lang="en-GB" b="1" sz="4000" dirty="0">
                <a:solidFill>
                  <a:srgbClr val="FFFFFF"/>
                </a:solidFill>
                <a:latin typeface="Cambria"/>
              </a:rPr>
              <a:t>Verb To Be — Past Simple</a:t>
            </a:r>
          </a:p>
        </p:txBody>
      </p:sp>
      <p:sp>
        <p:nvSpPr>
          <p:cNvPr id="17" name="tb17"/>
          <p:cNvSpPr txBox="1">
            <a:spLocks noGrp="1"/>
          </p:cNvSpPr>
          <p:nvPr/>
        </p:nvSpPr>
        <p:spPr>
          <a:xfrm>
            <a:off x="432000" y="2088000"/>
            <a:ext cx="11472000" cy="360000"/>
          </a:xfrm>
          <a:prstGeom prst="rect">
            <a:avLst/>
          </a:prstGeom>
          <a:noFill/>
        </p:spPr>
        <p:txBody>
          <a:bodyPr anchor="ctr" wrap="square" lIns="36000" rIns="36000" tIns="36000" bIns="36000"/>
          <a:lstStyle/>
          <a:p>
            <a:pPr algn="l" spcBef="0" spcAft="0">
              <a:spcPct val="100000"/>
            </a:pPr>
            <a:r>
              <a:rPr lang="en-GB" b="0" i="1" sz="1700" dirty="0">
                <a:solidFill>
                  <a:srgbClr val="DCE6F1"/>
                </a:solidFill>
                <a:latin typeface="Calibri"/>
              </a:rPr>
              <a:t>was/were: affirmative, negative, and questions; talking about the past</a:t>
            </a:r>
          </a:p>
        </p:txBody>
      </p:sp>
      <p:sp>
        <p:nvSpPr>
          <p:cNvPr id="18" name="shape18"/>
          <p:cNvSpPr>
            <a:spLocks noGrp="1"/>
          </p:cNvSpPr>
          <p:nvPr/>
        </p:nvSpPr>
        <p:spPr>
          <a:xfrm>
            <a:off x="0" y="6768000"/>
            <a:ext cx="12192000" cy="90000"/>
          </a:xfrm>
          <a:prstGeom prst="rect">
            <a:avLst/>
          </a:prstGeom>
          <a:solidFill>
            <a:srgbClr val="BF8F00"/>
          </a:solidFill>
        </p:spPr>
        <p:txBody>
          <a:bodyPr/>
          <a:lstStyle/>
          <a:p/>
        </p:txBody>
      </p:sp>
      <p:sp>
        <p:nvSpPr>
          <p:cNvPr id="19" name="box19"/>
          <p:cNvSpPr>
            <a:spLocks noGrp="1"/>
          </p:cNvSpPr>
          <p:nvPr/>
        </p:nvSpPr>
        <p:spPr>
          <a:xfrm>
            <a:off x="11112000" y="6354001"/>
            <a:ext cx="936000" cy="360000"/>
          </a:xfrm>
          <a:prstGeom prst="roundRect">
            <a:avLst>
              <a:gd name="adj" fmla="val 20000"/>
            </a:avLst>
          </a:prstGeom>
          <a:solidFill>
            <a:srgbClr val="2E75B6"/>
          </a:solidFill>
          <a:ln w="0">
            <a:noFill/>
          </a:ln>
        </p:spPr>
        <p:txBody>
          <a:bodyPr anchor="ctr" wrap="square" lIns="72000" rIns="72000" tIns="54000" bIns="54000"/>
          <a:lstStyle/>
          <a:p>
            <a:pPr algn="ctr" spcBef="0" spcAft="0">
              <a:spcPct val="100000"/>
            </a:pPr>
            <a:r>
              <a:rPr lang="en-GB" b="1" sz="1400" dirty="0">
                <a:solidFill>
                  <a:srgbClr val="FFFFFF"/>
                </a:solidFill>
                <a:latin typeface="Calibri"/>
              </a:rPr>
              <a:t>CEFR  A1</a:t>
            </a:r>
          </a:p>
        </p:txBody>
      </p:sp>
    </p:spTree>
  </p:cSld>
  <p:clrMapOvr>
    <a:masterClr/>
  </p:clrMapOvr>
</p:sld>
</file>

<file path=ppt/slides/slide2.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51" name="box5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52" name="box52"/>
          <p:cNvSpPr>
            <a:spLocks noGrp="1"/>
          </p:cNvSpPr>
          <p:nvPr/>
        </p:nvSpPr>
        <p:spPr>
          <a:xfrm>
            <a:off x="0" y="396000"/>
            <a:ext cx="12192000" cy="64800"/>
          </a:xfrm>
          <a:prstGeom prst="rect">
            <a:avLst/>
          </a:prstGeom>
          <a:solidFill>
            <a:srgbClr val="2E75B6"/>
          </a:solidFill>
          <a:ln w="0">
            <a:noFill/>
          </a:ln>
        </p:spPr>
        <p:txBody>
          <a:bodyPr anchor="ctr" wrap="square" lIns="72000" rIns="72000" tIns="54000" bIns="54000"/>
          <a:lstStyle/>
        </p:txBody>
      </p:sp>
      <p:sp>
        <p:nvSpPr>
          <p:cNvPr id="53" name="tb5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LEARNING OBJECTIVES</a:t>
            </a:r>
          </a:p>
        </p:txBody>
      </p:sp>
      <p:sp>
        <p:nvSpPr>
          <p:cNvPr id="54" name="box54"/>
          <p:cNvSpPr>
            <a:spLocks noGrp="1"/>
          </p:cNvSpPr>
          <p:nvPr/>
        </p:nvSpPr>
        <p:spPr>
          <a:xfrm>
            <a:off x="180000" y="540000"/>
            <a:ext cx="306000" cy="306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0" sz="1800" dirty="0">
                <a:solidFill>
                  <a:srgbClr val="FFFFFF"/>
                </a:solidFill>
                <a:latin typeface="Calibri"/>
              </a:rPr>
              <a:t>📌</a:t>
            </a:r>
          </a:p>
        </p:txBody>
      </p:sp>
      <p:sp>
        <p:nvSpPr>
          <p:cNvPr id="55" name="box55"/>
          <p:cNvSpPr>
            <a:spLocks noGrp="1"/>
          </p:cNvSpPr>
          <p:nvPr/>
        </p:nvSpPr>
        <p:spPr>
          <a:xfrm>
            <a:off x="558000" y="540000"/>
            <a:ext cx="11616000" cy="306000"/>
          </a:xfrm>
          <a:prstGeom prst="rect">
            <a:avLst/>
          </a:prstGeom>
          <a:solidFill>
            <a:srgbClr val="F2F2F2"/>
          </a:solidFill>
          <a:ln w="12700">
            <a:solidFill>
              <a:srgbClr val="CCCCCC"/>
            </a:solidFill>
          </a:ln>
        </p:spPr>
        <p:txBody>
          <a:bodyPr anchor="ctr" wrap="square" lIns="108000" rIns="72000" tIns="54000" bIns="54000"/>
          <a:lstStyle/>
          <a:p>
            <a:pPr algn="l" spcBef="0" spcAft="0">
              <a:spcPct val="100000"/>
            </a:pPr>
            <a:r>
              <a:rPr lang="en-GB" b="0" sz="1500" dirty="0">
                <a:solidFill>
                  <a:srgbClr val="1F3864"/>
                </a:solidFill>
                <a:latin typeface="Calibri"/>
              </a:rPr>
              <a:t>Form affirmative past simple sentences with was (I/he/she/it) and were (you/we/they).</a:t>
            </a:r>
          </a:p>
        </p:txBody>
      </p:sp>
      <p:sp>
        <p:nvSpPr>
          <p:cNvPr id="56" name="box56"/>
          <p:cNvSpPr>
            <a:spLocks noGrp="1"/>
          </p:cNvSpPr>
          <p:nvPr/>
        </p:nvSpPr>
        <p:spPr>
          <a:xfrm>
            <a:off x="180000" y="925200"/>
            <a:ext cx="306000" cy="306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0" sz="1800" dirty="0">
                <a:solidFill>
                  <a:srgbClr val="FFFFFF"/>
                </a:solidFill>
                <a:latin typeface="Calibri"/>
              </a:rPr>
              <a:t>✏️</a:t>
            </a:r>
          </a:p>
        </p:txBody>
      </p:sp>
      <p:sp>
        <p:nvSpPr>
          <p:cNvPr id="57" name="box57"/>
          <p:cNvSpPr>
            <a:spLocks noGrp="1"/>
          </p:cNvSpPr>
          <p:nvPr/>
        </p:nvSpPr>
        <p:spPr>
          <a:xfrm>
            <a:off x="558000" y="925200"/>
            <a:ext cx="11616000" cy="306000"/>
          </a:xfrm>
          <a:prstGeom prst="rect">
            <a:avLst/>
          </a:prstGeom>
          <a:solidFill>
            <a:srgbClr val="F2F2F2"/>
          </a:solidFill>
          <a:ln w="12700">
            <a:solidFill>
              <a:srgbClr val="CCCCCC"/>
            </a:solidFill>
          </a:ln>
        </p:spPr>
        <p:txBody>
          <a:bodyPr anchor="ctr" wrap="square" lIns="108000" rIns="72000" tIns="54000" bIns="54000"/>
          <a:lstStyle/>
          <a:p>
            <a:pPr algn="l" spcBef="0" spcAft="0">
              <a:spcPct val="100000"/>
            </a:pPr>
            <a:r>
              <a:rPr lang="en-GB" b="0" sz="1500" dirty="0">
                <a:solidFill>
                  <a:srgbClr val="1F3864"/>
                </a:solidFill>
                <a:latin typeface="Calibri"/>
              </a:rPr>
              <a:t>Form negative sentences using wasn't and weren't.</a:t>
            </a:r>
          </a:p>
        </p:txBody>
      </p:sp>
      <p:sp>
        <p:nvSpPr>
          <p:cNvPr id="58" name="box58"/>
          <p:cNvSpPr>
            <a:spLocks noGrp="1"/>
          </p:cNvSpPr>
          <p:nvPr/>
        </p:nvSpPr>
        <p:spPr>
          <a:xfrm>
            <a:off x="180000" y="1310400"/>
            <a:ext cx="306000" cy="306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0" sz="1800" dirty="0">
                <a:solidFill>
                  <a:srgbClr val="FFFFFF"/>
                </a:solidFill>
                <a:latin typeface="Calibri"/>
              </a:rPr>
              <a:t>🔍</a:t>
            </a:r>
          </a:p>
        </p:txBody>
      </p:sp>
      <p:sp>
        <p:nvSpPr>
          <p:cNvPr id="59" name="box59"/>
          <p:cNvSpPr>
            <a:spLocks noGrp="1"/>
          </p:cNvSpPr>
          <p:nvPr/>
        </p:nvSpPr>
        <p:spPr>
          <a:xfrm>
            <a:off x="558000" y="1310400"/>
            <a:ext cx="11616000" cy="306000"/>
          </a:xfrm>
          <a:prstGeom prst="rect">
            <a:avLst/>
          </a:prstGeom>
          <a:solidFill>
            <a:srgbClr val="F2F2F2"/>
          </a:solidFill>
          <a:ln w="12700">
            <a:solidFill>
              <a:srgbClr val="CCCCCC"/>
            </a:solidFill>
          </a:ln>
        </p:spPr>
        <p:txBody>
          <a:bodyPr anchor="ctr" wrap="square" lIns="108000" rIns="72000" tIns="54000" bIns="54000"/>
          <a:lstStyle/>
          <a:p>
            <a:pPr algn="l" spcBef="0" spcAft="0">
              <a:spcPct val="100000"/>
            </a:pPr>
            <a:r>
              <a:rPr lang="en-GB" b="0" sz="1500" dirty="0">
                <a:solidFill>
                  <a:srgbClr val="1F3864"/>
                </a:solidFill>
                <a:latin typeface="Calibri"/>
              </a:rPr>
              <a:t>Form Yes/No questions: Was he...? Were they...? and give short answers.</a:t>
            </a:r>
          </a:p>
        </p:txBody>
      </p:sp>
      <p:sp>
        <p:nvSpPr>
          <p:cNvPr id="60" name="box60"/>
          <p:cNvSpPr>
            <a:spLocks noGrp="1"/>
          </p:cNvSpPr>
          <p:nvPr/>
        </p:nvSpPr>
        <p:spPr>
          <a:xfrm>
            <a:off x="180000" y="1695600"/>
            <a:ext cx="306000" cy="306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0" sz="1800" dirty="0">
                <a:solidFill>
                  <a:srgbClr val="FFFFFF"/>
                </a:solidFill>
                <a:latin typeface="Calibri"/>
              </a:rPr>
              <a:t>💡</a:t>
            </a:r>
          </a:p>
        </p:txBody>
      </p:sp>
      <p:sp>
        <p:nvSpPr>
          <p:cNvPr id="61" name="box61"/>
          <p:cNvSpPr>
            <a:spLocks noGrp="1"/>
          </p:cNvSpPr>
          <p:nvPr/>
        </p:nvSpPr>
        <p:spPr>
          <a:xfrm>
            <a:off x="558000" y="1695600"/>
            <a:ext cx="11616000" cy="306000"/>
          </a:xfrm>
          <a:prstGeom prst="rect">
            <a:avLst/>
          </a:prstGeom>
          <a:solidFill>
            <a:srgbClr val="F2F2F2"/>
          </a:solidFill>
          <a:ln w="12700">
            <a:solidFill>
              <a:srgbClr val="CCCCCC"/>
            </a:solidFill>
          </a:ln>
        </p:spPr>
        <p:txBody>
          <a:bodyPr anchor="ctr" wrap="square" lIns="108000" rIns="72000" tIns="54000" bIns="54000"/>
          <a:lstStyle/>
          <a:p>
            <a:pPr algn="l" spcBef="0" spcAft="0">
              <a:spcPct val="100000"/>
            </a:pPr>
            <a:r>
              <a:rPr lang="en-GB" b="0" sz="1500" dirty="0">
                <a:solidFill>
                  <a:srgbClr val="1F3864"/>
                </a:solidFill>
                <a:latin typeface="Calibri"/>
              </a:rPr>
              <a:t>Form Wh- questions with was/were (Where were you? How was it?).</a:t>
            </a:r>
          </a:p>
        </p:txBody>
      </p:sp>
      <p:sp>
        <p:nvSpPr>
          <p:cNvPr id="62" name="box62"/>
          <p:cNvSpPr>
            <a:spLocks noGrp="1"/>
          </p:cNvSpPr>
          <p:nvPr/>
        </p:nvSpPr>
        <p:spPr>
          <a:xfrm>
            <a:off x="180000" y="2080800"/>
            <a:ext cx="306000" cy="306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0" sz="1800" dirty="0">
                <a:solidFill>
                  <a:srgbClr val="FFFFFF"/>
                </a:solidFill>
                <a:latin typeface="Calibri"/>
              </a:rPr>
              <a:t>🗣️</a:t>
            </a:r>
          </a:p>
        </p:txBody>
      </p:sp>
      <p:sp>
        <p:nvSpPr>
          <p:cNvPr id="63" name="box63"/>
          <p:cNvSpPr>
            <a:spLocks noGrp="1"/>
          </p:cNvSpPr>
          <p:nvPr/>
        </p:nvSpPr>
        <p:spPr>
          <a:xfrm>
            <a:off x="558000" y="2080800"/>
            <a:ext cx="11616000" cy="306000"/>
          </a:xfrm>
          <a:prstGeom prst="rect">
            <a:avLst/>
          </a:prstGeom>
          <a:solidFill>
            <a:srgbClr val="F2F2F2"/>
          </a:solidFill>
          <a:ln w="12700">
            <a:solidFill>
              <a:srgbClr val="CCCCCC"/>
            </a:solidFill>
          </a:ln>
        </p:spPr>
        <p:txBody>
          <a:bodyPr anchor="ctr" wrap="square" lIns="108000" rIns="72000" tIns="54000" bIns="54000"/>
          <a:lstStyle/>
          <a:p>
            <a:pPr algn="l" spcBef="0" spcAft="0">
              <a:spcPct val="100000"/>
            </a:pPr>
            <a:r>
              <a:rPr lang="en-GB" b="0" sz="1500" dirty="0">
                <a:solidFill>
                  <a:srgbClr val="1F3864"/>
                </a:solidFill>
                <a:latin typeface="Calibri"/>
              </a:rPr>
              <a:t>Use was/were to describe past situations, locations, and states.</a:t>
            </a:r>
          </a:p>
        </p:txBody>
      </p:sp>
    </p:spTree>
  </p:cSld>
  <p:clrMapOvr>
    <a:masterClr/>
  </p:clrMapOvr>
</p:sld>
</file>

<file path=ppt/slides/slide3.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101" name="box10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102" name="box102"/>
          <p:cNvSpPr>
            <a:spLocks noGrp="1"/>
          </p:cNvSpPr>
          <p:nvPr/>
        </p:nvSpPr>
        <p:spPr>
          <a:xfrm>
            <a:off x="0" y="396000"/>
            <a:ext cx="12192000" cy="64800"/>
          </a:xfrm>
          <a:prstGeom prst="rect">
            <a:avLst/>
          </a:prstGeom>
          <a:solidFill>
            <a:srgbClr val="BF8F00"/>
          </a:solidFill>
          <a:ln w="0">
            <a:noFill/>
          </a:ln>
        </p:spPr>
        <p:txBody>
          <a:bodyPr anchor="ctr" wrap="square" lIns="72000" rIns="72000" tIns="54000" bIns="54000"/>
          <a:lstStyle/>
        </p:txBody>
      </p:sp>
      <p:sp>
        <p:nvSpPr>
          <p:cNvPr id="103" name="tb10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WARM-UP ACTIVITY</a:t>
            </a:r>
          </a:p>
        </p:txBody>
      </p:sp>
      <p:sp>
        <p:nvSpPr>
          <p:cNvPr id="104" name="box104"/>
          <p:cNvSpPr>
            <a:spLocks noGrp="1"/>
          </p:cNvSpPr>
          <p:nvPr/>
        </p:nvSpPr>
        <p:spPr>
          <a:xfrm>
            <a:off x="180000" y="540000"/>
            <a:ext cx="11832000" cy="396000"/>
          </a:xfrm>
          <a:prstGeom prst="roundRect">
            <a:avLst>
              <a:gd name="adj" fmla="val 15000"/>
            </a:avLst>
          </a:prstGeom>
          <a:solidFill>
            <a:srgbClr val="BF8F00"/>
          </a:solidFill>
          <a:ln w="0">
            <a:noFill/>
          </a:ln>
        </p:spPr>
        <p:txBody>
          <a:bodyPr anchor="ctr" wrap="square" lIns="180000" rIns="72000" tIns="54000" bIns="54000"/>
          <a:lstStyle/>
          <a:p>
            <a:pPr algn="l" spcBef="0" spcAft="0">
              <a:spcPct val="100000"/>
            </a:pPr>
            <a:r>
              <a:rPr lang="en-GB" b="1" sz="2400" dirty="0">
                <a:solidFill>
                  <a:srgbClr val="1F3864"/>
                </a:solidFill>
                <a:latin typeface="Cambria"/>
              </a:rPr>
              <a:t>🕰️ Yesterday's Story</a:t>
            </a:r>
          </a:p>
        </p:txBody>
      </p:sp>
      <p:sp>
        <p:nvSpPr>
          <p:cNvPr id="105" name="box105"/>
          <p:cNvSpPr>
            <a:spLocks noGrp="1"/>
          </p:cNvSpPr>
          <p:nvPr/>
        </p:nvSpPr>
        <p:spPr>
          <a:xfrm>
            <a:off x="11040000" y="540000"/>
            <a:ext cx="972000" cy="396000"/>
          </a:xfrm>
          <a:prstGeom prst="roundRect">
            <a:avLst>
              <a:gd name="adj" fmla="val 15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BF8F00"/>
                </a:solidFill>
                <a:latin typeface="Calibri"/>
              </a:rPr>
              <a:t>⏱  5 minutes</a:t>
            </a:r>
          </a:p>
        </p:txBody>
      </p:sp>
      <p:sp>
        <p:nvSpPr>
          <p:cNvPr id="106" name="box106"/>
          <p:cNvSpPr>
            <a:spLocks noGrp="1"/>
          </p:cNvSpPr>
          <p:nvPr/>
        </p:nvSpPr>
        <p:spPr>
          <a:xfrm>
            <a:off x="180000" y="1026000"/>
            <a:ext cx="251999" cy="324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600" dirty="0">
                <a:solidFill>
                  <a:srgbClr val="FFFFFF"/>
                </a:solidFill>
                <a:latin typeface="Calibri"/>
              </a:rPr>
              <a:t>1</a:t>
            </a:r>
          </a:p>
        </p:txBody>
      </p:sp>
      <p:sp>
        <p:nvSpPr>
          <p:cNvPr id="107" name="tb107"/>
          <p:cNvSpPr txBox="1">
            <a:spLocks noGrp="1"/>
          </p:cNvSpPr>
          <p:nvPr/>
        </p:nvSpPr>
        <p:spPr>
          <a:xfrm>
            <a:off x="503999" y="1026000"/>
            <a:ext cx="11508000" cy="324000"/>
          </a:xfrm>
          <a:prstGeom prst="rect">
            <a:avLst/>
          </a:prstGeom>
          <a:noFill/>
        </p:spPr>
        <p:txBody>
          <a:bodyPr anchor="ctr" wrap="square" lIns="36000" rIns="36000" tIns="36000" bIns="36000"/>
          <a:lstStyle/>
          <a:p>
            <a:pPr algn="l" spcBef="0" spcAft="0">
              <a:spcPct val="100000"/>
            </a:pPr>
            <a:r>
              <a:rPr lang="en-GB" b="0" sz="1500" dirty="0">
                <a:solidFill>
                  <a:srgbClr val="404040"/>
                </a:solidFill>
                <a:latin typeface="Calibri"/>
              </a:rPr>
              <a:t>Think about yesterday. Where were you at 3 p.m.?</a:t>
            </a:r>
          </a:p>
        </p:txBody>
      </p:sp>
      <p:sp>
        <p:nvSpPr>
          <p:cNvPr id="108" name="box108"/>
          <p:cNvSpPr>
            <a:spLocks noGrp="1"/>
          </p:cNvSpPr>
          <p:nvPr/>
        </p:nvSpPr>
        <p:spPr>
          <a:xfrm>
            <a:off x="180000" y="1458000"/>
            <a:ext cx="251999" cy="324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600" dirty="0">
                <a:solidFill>
                  <a:srgbClr val="FFFFFF"/>
                </a:solidFill>
                <a:latin typeface="Calibri"/>
              </a:rPr>
              <a:t>2</a:t>
            </a:r>
          </a:p>
        </p:txBody>
      </p:sp>
      <p:sp>
        <p:nvSpPr>
          <p:cNvPr id="109" name="tb109"/>
          <p:cNvSpPr txBox="1">
            <a:spLocks noGrp="1"/>
          </p:cNvSpPr>
          <p:nvPr/>
        </p:nvSpPr>
        <p:spPr>
          <a:xfrm>
            <a:off x="503999" y="1458000"/>
            <a:ext cx="11508000" cy="324000"/>
          </a:xfrm>
          <a:prstGeom prst="rect">
            <a:avLst/>
          </a:prstGeom>
          <a:noFill/>
        </p:spPr>
        <p:txBody>
          <a:bodyPr anchor="ctr" wrap="square" lIns="36000" rIns="36000" tIns="36000" bIns="36000"/>
          <a:lstStyle/>
          <a:p>
            <a:pPr algn="l" spcBef="0" spcAft="0">
              <a:spcPct val="100000"/>
            </a:pPr>
            <a:r>
              <a:rPr lang="en-GB" b="0" sz="1500" dirty="0">
                <a:solidFill>
                  <a:srgbClr val="404040"/>
                </a:solidFill>
                <a:latin typeface="Calibri"/>
              </a:rPr>
              <a:t>Tell your partner: 'I was at school / at home / in the park.'</a:t>
            </a:r>
          </a:p>
        </p:txBody>
      </p:sp>
      <p:sp>
        <p:nvSpPr>
          <p:cNvPr id="110" name="box110"/>
          <p:cNvSpPr>
            <a:spLocks noGrp="1"/>
          </p:cNvSpPr>
          <p:nvPr/>
        </p:nvSpPr>
        <p:spPr>
          <a:xfrm>
            <a:off x="180000" y="1890000"/>
            <a:ext cx="251999" cy="324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600" dirty="0">
                <a:solidFill>
                  <a:srgbClr val="FFFFFF"/>
                </a:solidFill>
                <a:latin typeface="Calibri"/>
              </a:rPr>
              <a:t>3</a:t>
            </a:r>
          </a:p>
        </p:txBody>
      </p:sp>
      <p:sp>
        <p:nvSpPr>
          <p:cNvPr id="111" name="tb111"/>
          <p:cNvSpPr txBox="1">
            <a:spLocks noGrp="1"/>
          </p:cNvSpPr>
          <p:nvPr/>
        </p:nvSpPr>
        <p:spPr>
          <a:xfrm>
            <a:off x="503999" y="1890000"/>
            <a:ext cx="11508000" cy="324000"/>
          </a:xfrm>
          <a:prstGeom prst="rect">
            <a:avLst/>
          </a:prstGeom>
          <a:noFill/>
        </p:spPr>
        <p:txBody>
          <a:bodyPr anchor="ctr" wrap="square" lIns="36000" rIns="36000" tIns="36000" bIns="36000"/>
          <a:lstStyle/>
          <a:p>
            <a:pPr algn="l" spcBef="0" spcAft="0">
              <a:spcPct val="100000"/>
            </a:pPr>
            <a:r>
              <a:rPr lang="en-GB" b="0" sz="1500" dirty="0">
                <a:solidFill>
                  <a:srgbClr val="404040"/>
                </a:solidFill>
                <a:latin typeface="Calibri"/>
              </a:rPr>
              <a:t>Ask your partner: 'Were you tired yesterday? Was it a good day?'</a:t>
            </a:r>
          </a:p>
        </p:txBody>
      </p:sp>
    </p:spTree>
  </p:cSld>
  <p:clrMapOvr>
    <a:masterClr/>
  </p:clrMapOvr>
</p:sld>
</file>

<file path=ppt/slides/slide4.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151" name="box15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152" name="box152"/>
          <p:cNvSpPr>
            <a:spLocks noGrp="1"/>
          </p:cNvSpPr>
          <p:nvPr/>
        </p:nvSpPr>
        <p:spPr>
          <a:xfrm>
            <a:off x="0" y="396000"/>
            <a:ext cx="12192000" cy="64800"/>
          </a:xfrm>
          <a:prstGeom prst="rect">
            <a:avLst/>
          </a:prstGeom>
          <a:solidFill>
            <a:srgbClr val="2E75B6"/>
          </a:solidFill>
          <a:ln w="0">
            <a:noFill/>
          </a:ln>
        </p:spPr>
        <p:txBody>
          <a:bodyPr anchor="ctr" wrap="square" lIns="72000" rIns="72000" tIns="54000" bIns="54000"/>
          <a:lstStyle/>
        </p:txBody>
      </p:sp>
      <p:sp>
        <p:nvSpPr>
          <p:cNvPr id="153" name="tb15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VOCABULARY PREVIEW</a:t>
            </a:r>
          </a:p>
        </p:txBody>
      </p:sp>
      <p:sp>
        <p:nvSpPr>
          <p:cNvPr id="154" name="box154"/>
          <p:cNvSpPr>
            <a:spLocks noGrp="1"/>
          </p:cNvSpPr>
          <p:nvPr/>
        </p:nvSpPr>
        <p:spPr>
          <a:xfrm>
            <a:off x="180000" y="5400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yesterday</a:t>
            </a:r>
          </a:p>
        </p:txBody>
      </p:sp>
      <p:sp>
        <p:nvSpPr>
          <p:cNvPr id="155" name="box155"/>
          <p:cNvSpPr>
            <a:spLocks noGrp="1"/>
          </p:cNvSpPr>
          <p:nvPr/>
        </p:nvSpPr>
        <p:spPr>
          <a:xfrm>
            <a:off x="1007999" y="5400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adv</a:t>
            </a:r>
          </a:p>
        </p:txBody>
      </p:sp>
      <p:sp>
        <p:nvSpPr>
          <p:cNvPr id="156" name="box156"/>
          <p:cNvSpPr>
            <a:spLocks noGrp="1"/>
          </p:cNvSpPr>
          <p:nvPr/>
        </p:nvSpPr>
        <p:spPr>
          <a:xfrm>
            <a:off x="1512000" y="5400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the day before today</a:t>
            </a:r>
          </a:p>
        </p:txBody>
      </p:sp>
      <p:sp>
        <p:nvSpPr>
          <p:cNvPr id="157" name="box157"/>
          <p:cNvSpPr>
            <a:spLocks noGrp="1"/>
          </p:cNvSpPr>
          <p:nvPr/>
        </p:nvSpPr>
        <p:spPr>
          <a:xfrm>
            <a:off x="6042000" y="5400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last week</a:t>
            </a:r>
          </a:p>
        </p:txBody>
      </p:sp>
      <p:sp>
        <p:nvSpPr>
          <p:cNvPr id="158" name="box158"/>
          <p:cNvSpPr>
            <a:spLocks noGrp="1"/>
          </p:cNvSpPr>
          <p:nvPr/>
        </p:nvSpPr>
        <p:spPr>
          <a:xfrm>
            <a:off x="6869999" y="5400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adv</a:t>
            </a:r>
          </a:p>
        </p:txBody>
      </p:sp>
      <p:sp>
        <p:nvSpPr>
          <p:cNvPr id="159" name="box159"/>
          <p:cNvSpPr>
            <a:spLocks noGrp="1"/>
          </p:cNvSpPr>
          <p:nvPr/>
        </p:nvSpPr>
        <p:spPr>
          <a:xfrm>
            <a:off x="7374000" y="5400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the week before this one</a:t>
            </a:r>
          </a:p>
        </p:txBody>
      </p:sp>
      <p:sp>
        <p:nvSpPr>
          <p:cNvPr id="160" name="box160"/>
          <p:cNvSpPr>
            <a:spLocks noGrp="1"/>
          </p:cNvSpPr>
          <p:nvPr/>
        </p:nvSpPr>
        <p:spPr>
          <a:xfrm>
            <a:off x="180000" y="8856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last night</a:t>
            </a:r>
          </a:p>
        </p:txBody>
      </p:sp>
      <p:sp>
        <p:nvSpPr>
          <p:cNvPr id="161" name="box161"/>
          <p:cNvSpPr>
            <a:spLocks noGrp="1"/>
          </p:cNvSpPr>
          <p:nvPr/>
        </p:nvSpPr>
        <p:spPr>
          <a:xfrm>
            <a:off x="1007999" y="8856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adv</a:t>
            </a:r>
          </a:p>
        </p:txBody>
      </p:sp>
      <p:sp>
        <p:nvSpPr>
          <p:cNvPr id="162" name="box162"/>
          <p:cNvSpPr>
            <a:spLocks noGrp="1"/>
          </p:cNvSpPr>
          <p:nvPr/>
        </p:nvSpPr>
        <p:spPr>
          <a:xfrm>
            <a:off x="1512000" y="8856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the previous evening/night</a:t>
            </a:r>
          </a:p>
        </p:txBody>
      </p:sp>
      <p:sp>
        <p:nvSpPr>
          <p:cNvPr id="163" name="box163"/>
          <p:cNvSpPr>
            <a:spLocks noGrp="1"/>
          </p:cNvSpPr>
          <p:nvPr/>
        </p:nvSpPr>
        <p:spPr>
          <a:xfrm>
            <a:off x="6042000" y="8856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ago</a:t>
            </a:r>
          </a:p>
        </p:txBody>
      </p:sp>
      <p:sp>
        <p:nvSpPr>
          <p:cNvPr id="164" name="box164"/>
          <p:cNvSpPr>
            <a:spLocks noGrp="1"/>
          </p:cNvSpPr>
          <p:nvPr/>
        </p:nvSpPr>
        <p:spPr>
          <a:xfrm>
            <a:off x="6869999" y="8856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adv</a:t>
            </a:r>
          </a:p>
        </p:txBody>
      </p:sp>
      <p:sp>
        <p:nvSpPr>
          <p:cNvPr id="165" name="box165"/>
          <p:cNvSpPr>
            <a:spLocks noGrp="1"/>
          </p:cNvSpPr>
          <p:nvPr/>
        </p:nvSpPr>
        <p:spPr>
          <a:xfrm>
            <a:off x="7374000" y="8856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in the past (two days ago)</a:t>
            </a:r>
          </a:p>
        </p:txBody>
      </p:sp>
      <p:sp>
        <p:nvSpPr>
          <p:cNvPr id="166" name="box166"/>
          <p:cNvSpPr>
            <a:spLocks noGrp="1"/>
          </p:cNvSpPr>
          <p:nvPr/>
        </p:nvSpPr>
        <p:spPr>
          <a:xfrm>
            <a:off x="180000" y="12312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born</a:t>
            </a:r>
          </a:p>
        </p:txBody>
      </p:sp>
      <p:sp>
        <p:nvSpPr>
          <p:cNvPr id="167" name="box167"/>
          <p:cNvSpPr>
            <a:spLocks noGrp="1"/>
          </p:cNvSpPr>
          <p:nvPr/>
        </p:nvSpPr>
        <p:spPr>
          <a:xfrm>
            <a:off x="1007999" y="12312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adj</a:t>
            </a:r>
          </a:p>
        </p:txBody>
      </p:sp>
      <p:sp>
        <p:nvSpPr>
          <p:cNvPr id="168" name="box168"/>
          <p:cNvSpPr>
            <a:spLocks noGrp="1"/>
          </p:cNvSpPr>
          <p:nvPr/>
        </p:nvSpPr>
        <p:spPr>
          <a:xfrm>
            <a:off x="1512000" y="12312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brought into life</a:t>
            </a:r>
          </a:p>
        </p:txBody>
      </p:sp>
      <p:sp>
        <p:nvSpPr>
          <p:cNvPr id="169" name="box169"/>
          <p:cNvSpPr>
            <a:spLocks noGrp="1"/>
          </p:cNvSpPr>
          <p:nvPr/>
        </p:nvSpPr>
        <p:spPr>
          <a:xfrm>
            <a:off x="6042000" y="12312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late</a:t>
            </a:r>
          </a:p>
        </p:txBody>
      </p:sp>
      <p:sp>
        <p:nvSpPr>
          <p:cNvPr id="170" name="box170"/>
          <p:cNvSpPr>
            <a:spLocks noGrp="1"/>
          </p:cNvSpPr>
          <p:nvPr/>
        </p:nvSpPr>
        <p:spPr>
          <a:xfrm>
            <a:off x="6869999" y="12312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adj</a:t>
            </a:r>
          </a:p>
        </p:txBody>
      </p:sp>
      <p:sp>
        <p:nvSpPr>
          <p:cNvPr id="171" name="box171"/>
          <p:cNvSpPr>
            <a:spLocks noGrp="1"/>
          </p:cNvSpPr>
          <p:nvPr/>
        </p:nvSpPr>
        <p:spPr>
          <a:xfrm>
            <a:off x="7374000" y="12312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not on time</a:t>
            </a:r>
          </a:p>
        </p:txBody>
      </p:sp>
      <p:sp>
        <p:nvSpPr>
          <p:cNvPr id="172" name="box172"/>
          <p:cNvSpPr>
            <a:spLocks noGrp="1"/>
          </p:cNvSpPr>
          <p:nvPr/>
        </p:nvSpPr>
        <p:spPr>
          <a:xfrm>
            <a:off x="180000" y="15768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early</a:t>
            </a:r>
          </a:p>
        </p:txBody>
      </p:sp>
      <p:sp>
        <p:nvSpPr>
          <p:cNvPr id="173" name="box173"/>
          <p:cNvSpPr>
            <a:spLocks noGrp="1"/>
          </p:cNvSpPr>
          <p:nvPr/>
        </p:nvSpPr>
        <p:spPr>
          <a:xfrm>
            <a:off x="1007999" y="15768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adj</a:t>
            </a:r>
          </a:p>
        </p:txBody>
      </p:sp>
      <p:sp>
        <p:nvSpPr>
          <p:cNvPr id="174" name="box174"/>
          <p:cNvSpPr>
            <a:spLocks noGrp="1"/>
          </p:cNvSpPr>
          <p:nvPr/>
        </p:nvSpPr>
        <p:spPr>
          <a:xfrm>
            <a:off x="1512000" y="15768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before the expected time</a:t>
            </a:r>
          </a:p>
        </p:txBody>
      </p:sp>
      <p:sp>
        <p:nvSpPr>
          <p:cNvPr id="175" name="box175"/>
          <p:cNvSpPr>
            <a:spLocks noGrp="1"/>
          </p:cNvSpPr>
          <p:nvPr/>
        </p:nvSpPr>
        <p:spPr>
          <a:xfrm>
            <a:off x="6042000" y="15768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absent</a:t>
            </a:r>
          </a:p>
        </p:txBody>
      </p:sp>
      <p:sp>
        <p:nvSpPr>
          <p:cNvPr id="176" name="box176"/>
          <p:cNvSpPr>
            <a:spLocks noGrp="1"/>
          </p:cNvSpPr>
          <p:nvPr/>
        </p:nvSpPr>
        <p:spPr>
          <a:xfrm>
            <a:off x="6869999" y="15768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adj</a:t>
            </a:r>
          </a:p>
        </p:txBody>
      </p:sp>
      <p:sp>
        <p:nvSpPr>
          <p:cNvPr id="177" name="box177"/>
          <p:cNvSpPr>
            <a:spLocks noGrp="1"/>
          </p:cNvSpPr>
          <p:nvPr/>
        </p:nvSpPr>
        <p:spPr>
          <a:xfrm>
            <a:off x="7374000" y="15768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not present; away</a:t>
            </a:r>
          </a:p>
        </p:txBody>
      </p:sp>
      <p:sp>
        <p:nvSpPr>
          <p:cNvPr id="178" name="box178"/>
          <p:cNvSpPr>
            <a:spLocks noGrp="1"/>
          </p:cNvSpPr>
          <p:nvPr/>
        </p:nvSpPr>
        <p:spPr>
          <a:xfrm>
            <a:off x="180000" y="19224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present</a:t>
            </a:r>
          </a:p>
        </p:txBody>
      </p:sp>
      <p:sp>
        <p:nvSpPr>
          <p:cNvPr id="179" name="box179"/>
          <p:cNvSpPr>
            <a:spLocks noGrp="1"/>
          </p:cNvSpPr>
          <p:nvPr/>
        </p:nvSpPr>
        <p:spPr>
          <a:xfrm>
            <a:off x="1007999" y="19224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adj</a:t>
            </a:r>
          </a:p>
        </p:txBody>
      </p:sp>
      <p:sp>
        <p:nvSpPr>
          <p:cNvPr id="180" name="box180"/>
          <p:cNvSpPr>
            <a:spLocks noGrp="1"/>
          </p:cNvSpPr>
          <p:nvPr/>
        </p:nvSpPr>
        <p:spPr>
          <a:xfrm>
            <a:off x="1512000" y="19224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in a place; not absent</a:t>
            </a:r>
          </a:p>
        </p:txBody>
      </p:sp>
      <p:sp>
        <p:nvSpPr>
          <p:cNvPr id="181" name="box181"/>
          <p:cNvSpPr>
            <a:spLocks noGrp="1"/>
          </p:cNvSpPr>
          <p:nvPr/>
        </p:nvSpPr>
        <p:spPr>
          <a:xfrm>
            <a:off x="6042000" y="19224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famous</a:t>
            </a:r>
          </a:p>
        </p:txBody>
      </p:sp>
      <p:sp>
        <p:nvSpPr>
          <p:cNvPr id="182" name="box182"/>
          <p:cNvSpPr>
            <a:spLocks noGrp="1"/>
          </p:cNvSpPr>
          <p:nvPr/>
        </p:nvSpPr>
        <p:spPr>
          <a:xfrm>
            <a:off x="6869999" y="19224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adj</a:t>
            </a:r>
          </a:p>
        </p:txBody>
      </p:sp>
      <p:sp>
        <p:nvSpPr>
          <p:cNvPr id="183" name="box183"/>
          <p:cNvSpPr>
            <a:spLocks noGrp="1"/>
          </p:cNvSpPr>
          <p:nvPr/>
        </p:nvSpPr>
        <p:spPr>
          <a:xfrm>
            <a:off x="7374000" y="19224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known by many people</a:t>
            </a:r>
          </a:p>
        </p:txBody>
      </p:sp>
      <p:sp>
        <p:nvSpPr>
          <p:cNvPr id="184" name="tb184"/>
          <p:cNvSpPr txBox="1">
            <a:spLocks noGrp="1"/>
          </p:cNvSpPr>
          <p:nvPr/>
        </p:nvSpPr>
        <p:spPr>
          <a:xfrm>
            <a:off x="180000" y="6606001"/>
            <a:ext cx="11832000" cy="198000"/>
          </a:xfrm>
          <a:prstGeom prst="rect">
            <a:avLst/>
          </a:prstGeom>
          <a:noFill/>
        </p:spPr>
        <p:txBody>
          <a:bodyPr anchor="ctr" wrap="square" lIns="36000" rIns="36000" tIns="36000" bIns="36000"/>
          <a:lstStyle/>
          <a:p>
            <a:pPr algn="l" spcBef="0" spcAft="0">
              <a:spcPct val="100000"/>
            </a:pPr>
            <a:r>
              <a:rPr lang="en-GB" b="0" i="1" sz="1300" dirty="0">
                <a:solidFill>
                  <a:srgbClr val="2E75B6"/>
                </a:solidFill>
                <a:latin typeface="Calibri"/>
              </a:rPr>
              <a:t>📚  Full 30-word vocabulary bank in your workbook — Section 4.</a:t>
            </a:r>
          </a:p>
        </p:txBody>
      </p:sp>
    </p:spTree>
  </p:cSld>
  <p:clrMapOvr>
    <a:masterClr/>
  </p:clrMapOvr>
</p:sld>
</file>

<file path=ppt/slides/slide5.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201" name="box20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202" name="box202"/>
          <p:cNvSpPr>
            <a:spLocks noGrp="1"/>
          </p:cNvSpPr>
          <p:nvPr/>
        </p:nvSpPr>
        <p:spPr>
          <a:xfrm>
            <a:off x="0" y="396000"/>
            <a:ext cx="12192000" cy="64800"/>
          </a:xfrm>
          <a:prstGeom prst="rect">
            <a:avLst/>
          </a:prstGeom>
          <a:solidFill>
            <a:srgbClr val="BF8F00"/>
          </a:solidFill>
          <a:ln w="0">
            <a:noFill/>
          </a:ln>
        </p:spPr>
        <p:txBody>
          <a:bodyPr anchor="ctr" wrap="square" lIns="72000" rIns="72000" tIns="54000" bIns="54000"/>
          <a:lstStyle/>
        </p:txBody>
      </p:sp>
      <p:sp>
        <p:nvSpPr>
          <p:cNvPr id="203" name="tb20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GRAMMAR RULE</a:t>
            </a:r>
          </a:p>
        </p:txBody>
      </p:sp>
      <p:sp>
        <p:nvSpPr>
          <p:cNvPr id="204" name="box204"/>
          <p:cNvSpPr>
            <a:spLocks noGrp="1"/>
          </p:cNvSpPr>
          <p:nvPr/>
        </p:nvSpPr>
        <p:spPr>
          <a:xfrm>
            <a:off x="180000" y="522000"/>
            <a:ext cx="11832000" cy="396000"/>
          </a:xfrm>
          <a:prstGeom prst="roundRect">
            <a:avLst>
              <a:gd name="adj" fmla="val 10000"/>
            </a:avLst>
          </a:prstGeom>
          <a:solidFill>
            <a:srgbClr val="FFF2CC"/>
          </a:solidFill>
          <a:ln w="12700">
            <a:solidFill>
              <a:srgbClr val="BF8F00"/>
            </a:solidFill>
          </a:ln>
        </p:spPr>
        <p:txBody>
          <a:bodyPr anchor="ctr" wrap="square" lIns="144000" rIns="72000" tIns="54000" bIns="54000"/>
          <a:lstStyle/>
          <a:p>
            <a:pPr algn="l" spcBef="0" spcAft="0">
              <a:spcPct val="100000"/>
            </a:pPr>
            <a:r>
              <a:rPr lang="en-GB" b="1" sz="1700" dirty="0">
                <a:solidFill>
                  <a:srgbClr val="1F3864"/>
                </a:solidFill>
                <a:latin typeface="Calibri"/>
              </a:rPr>
              <a:t>📌  Use was (I/he/she/it) and were (you/we/they) to talk about past states, descriptions, and locations.</a:t>
            </a:r>
          </a:p>
        </p:txBody>
      </p:sp>
      <p:graphicFrame>
        <p:nvGraphicFramePr>
          <p:cNvPr id="205" name="tbl205"/>
          <p:cNvGraphicFramePr>
            <a:graphicFrameLocks noGrp="1"/>
          </p:cNvGraphicFramePr>
          <p:nvPr/>
        </p:nvGraphicFramePr>
        <p:xfrm>
          <a:off x="180000" y="990000"/>
          <a:ext cx="11832000" cy="5778000"/>
        </p:xfrm>
        <a:graphic>
          <a:graphicData uri="http://schemas.openxmlformats.org/drawingml/2006/table">
            <a:tbl>
              <a:tblPr firstRow="1" bandRow="1">
                <a:tableStyleId>{5C22544A-7EE6-4342-B048-85BDC9FD1C3A}</a:tableStyleId>
              </a:tblPr>
              <a:tblGrid>
                <a:gridCol w="2958000"/>
                <a:gridCol w="2958000"/>
                <a:gridCol w="2958000"/>
                <a:gridCol w="2958000"/>
              </a:tblGrid>
              <a:tr h="1854000">
                <a:tc>
                  <a:txBody>
                    <a:bodyPr/>
                    <a:lstStyle/>
                    <a:p>
                      <a:pPr algn="l"/>
                      <a:r>
                        <a:rPr lang="en-GB" b="1" sz="1400" dirty="0">
                          <a:solidFill>
                            <a:srgbClr val="FFFFFF"/>
                          </a:solidFill>
                          <a:latin typeface="Calibri"/>
                        </a:rPr>
                        <a:t>Subject</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Affirmative</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Negative</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Question</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r>
              <a:tr h="1854000">
                <a:tc>
                  <a:txBody>
                    <a:bodyPr/>
                    <a:lstStyle/>
                    <a:p>
                      <a:pPr algn="l"/>
                      <a:r>
                        <a:rPr lang="en-GB" b="1" sz="1400" dirty="0">
                          <a:solidFill>
                            <a:srgbClr val="1F3864"/>
                          </a:solidFill>
                          <a:latin typeface="Calibri"/>
                        </a:rPr>
                        <a:t>I / He / She / It</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was</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was not (wasn't)</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Was I/he/she/it...?</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1854000">
                <a:tc>
                  <a:txBody>
                    <a:bodyPr/>
                    <a:lstStyle/>
                    <a:p>
                      <a:pPr algn="l"/>
                      <a:r>
                        <a:rPr lang="en-GB" b="1" sz="1400" dirty="0">
                          <a:solidFill>
                            <a:srgbClr val="1F3864"/>
                          </a:solidFill>
                          <a:latin typeface="Calibri"/>
                        </a:rPr>
                        <a:t>You / We / They</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were</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were not (weren't)</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Were you/we/they...?</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bl>
          </a:graphicData>
        </a:graphic>
      </p:graphicFrame>
    </p:spTree>
  </p:cSld>
  <p:clrMapOvr>
    <a:masterClr/>
  </p:clrMapOvr>
</p:sld>
</file>

<file path=ppt/slides/slide6.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251" name="box25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252" name="box252"/>
          <p:cNvSpPr>
            <a:spLocks noGrp="1"/>
          </p:cNvSpPr>
          <p:nvPr/>
        </p:nvSpPr>
        <p:spPr>
          <a:xfrm>
            <a:off x="0" y="396000"/>
            <a:ext cx="12192000" cy="64800"/>
          </a:xfrm>
          <a:prstGeom prst="rect">
            <a:avLst/>
          </a:prstGeom>
          <a:solidFill>
            <a:srgbClr val="BF8F00"/>
          </a:solidFill>
          <a:ln w="0">
            <a:noFill/>
          </a:ln>
        </p:spPr>
        <p:txBody>
          <a:bodyPr anchor="ctr" wrap="square" lIns="72000" rIns="72000" tIns="54000" bIns="54000"/>
          <a:lstStyle/>
        </p:txBody>
      </p:sp>
      <p:sp>
        <p:nvSpPr>
          <p:cNvPr id="253" name="tb25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SPELLING &amp; USAGE NOTES</a:t>
            </a:r>
          </a:p>
        </p:txBody>
      </p:sp>
      <p:graphicFrame>
        <p:nvGraphicFramePr>
          <p:cNvPr id="254" name="tbl254"/>
          <p:cNvGraphicFramePr>
            <a:graphicFrameLocks noGrp="1"/>
          </p:cNvGraphicFramePr>
          <p:nvPr/>
        </p:nvGraphicFramePr>
        <p:xfrm>
          <a:off x="180000" y="540000"/>
          <a:ext cx="11832000" cy="792000"/>
        </p:xfrm>
        <a:graphic>
          <a:graphicData uri="http://schemas.openxmlformats.org/drawingml/2006/table">
            <a:tbl>
              <a:tblPr firstRow="1" bandRow="1">
                <a:tableStyleId>{5C22544A-7EE6-4342-B048-85BDC9FD1C3A}</a:tableStyleId>
              </a:tblPr>
              <a:tblGrid>
                <a:gridCol w="3944000"/>
                <a:gridCol w="3944000"/>
                <a:gridCol w="3944000"/>
              </a:tblGrid>
              <a:tr h="192000">
                <a:tc>
                  <a:txBody>
                    <a:bodyPr/>
                    <a:lstStyle/>
                    <a:p>
                      <a:pPr algn="l"/>
                      <a:r>
                        <a:rPr lang="en-GB" b="1" sz="1300" dirty="0">
                          <a:solidFill>
                            <a:srgbClr val="FFFFFF"/>
                          </a:solidFill>
                          <a:latin typeface="Calibri"/>
                        </a:rPr>
                        <a:t>Form</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300" dirty="0">
                          <a:solidFill>
                            <a:srgbClr val="FFFFFF"/>
                          </a:solidFill>
                          <a:latin typeface="Calibri"/>
                        </a:rPr>
                        <a:t>Contraction</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300" dirty="0">
                          <a:solidFill>
                            <a:srgbClr val="FFFFFF"/>
                          </a:solidFill>
                          <a:latin typeface="Calibri"/>
                        </a:rPr>
                        <a:t>Example</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r>
              <a:tr h="192000">
                <a:tc>
                  <a:txBody>
                    <a:bodyPr/>
                    <a:lstStyle/>
                    <a:p>
                      <a:pPr algn="l"/>
                      <a:r>
                        <a:rPr lang="en-GB" b="1" sz="1300" dirty="0">
                          <a:solidFill>
                            <a:srgbClr val="1F3864"/>
                          </a:solidFill>
                          <a:latin typeface="Calibri"/>
                        </a:rPr>
                        <a:t>was not</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300" dirty="0">
                          <a:solidFill>
                            <a:srgbClr val="1F3864"/>
                          </a:solidFill>
                          <a:latin typeface="Calibri"/>
                        </a:rPr>
                        <a:t>wasn't</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300" dirty="0">
                          <a:solidFill>
                            <a:srgbClr val="1F3864"/>
                          </a:solidFill>
                          <a:latin typeface="Calibri"/>
                        </a:rPr>
                        <a:t>It wasn't cold yesterday.</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192000">
                <a:tc>
                  <a:txBody>
                    <a:bodyPr/>
                    <a:lstStyle/>
                    <a:p>
                      <a:pPr algn="l"/>
                      <a:r>
                        <a:rPr lang="en-GB" b="1" sz="1300" dirty="0">
                          <a:solidFill>
                            <a:srgbClr val="1F3864"/>
                          </a:solidFill>
                          <a:latin typeface="Calibri"/>
                        </a:rPr>
                        <a:t>were not</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300" dirty="0">
                          <a:solidFill>
                            <a:srgbClr val="1A1A1A"/>
                          </a:solidFill>
                          <a:latin typeface="Calibri"/>
                        </a:rPr>
                        <a:t>weren't</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300" dirty="0">
                          <a:solidFill>
                            <a:srgbClr val="1A1A1A"/>
                          </a:solidFill>
                          <a:latin typeface="Calibri"/>
                        </a:rPr>
                        <a:t>They weren't at school.</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bl>
          </a:graphicData>
        </a:graphic>
      </p:graphicFrame>
      <p:sp>
        <p:nvSpPr>
          <p:cNvPr id="255" name="box255"/>
          <p:cNvSpPr>
            <a:spLocks noGrp="1"/>
          </p:cNvSpPr>
          <p:nvPr/>
        </p:nvSpPr>
        <p:spPr>
          <a:xfrm>
            <a:off x="180000" y="1440000"/>
            <a:ext cx="11832000" cy="503999"/>
          </a:xfrm>
          <a:prstGeom prst="rect">
            <a:avLst/>
          </a:prstGeom>
          <a:solidFill>
            <a:srgbClr val="DCE6F1"/>
          </a:solidFill>
          <a:ln w="12700">
            <a:solidFill>
              <a:srgbClr val="1F3864"/>
            </a:solidFill>
          </a:ln>
        </p:spPr>
        <p:txBody>
          <a:bodyPr anchor="ctr" wrap="square" lIns="144000" rIns="72000" tIns="54000" bIns="54000"/>
          <a:lstStyle/>
          <a:p>
            <a:pPr algn="l" spcBef="0" spcAft="0">
              <a:spcPct val="100000"/>
            </a:pPr>
            <a:r>
              <a:rPr lang="en-GB" b="1" sz="1500" dirty="0">
                <a:solidFill>
                  <a:srgbClr val="1F3864"/>
                </a:solidFill>
                <a:latin typeface="Calibri"/>
              </a:rPr>
              <a:t>⚠️  Watch Out!  </a:t>
            </a:r>
            <a:r>
              <a:rPr lang="en-GB" b="0" sz="1400" dirty="0">
                <a:solidFill>
                  <a:srgbClr val="1F3864"/>
                </a:solidFill>
                <a:latin typeface="Calibri"/>
              </a:rPr>
              <a:t>Short answers: Was she tired? Yes, she was. / No, she wasn't. (NOT: Yes, she was tired. for a short answer)</a:t>
            </a:r>
          </a:p>
        </p:txBody>
      </p:sp>
      <p:sp>
        <p:nvSpPr>
          <p:cNvPr id="256" name="box256"/>
          <p:cNvSpPr>
            <a:spLocks noGrp="1"/>
          </p:cNvSpPr>
          <p:nvPr/>
        </p:nvSpPr>
        <p:spPr>
          <a:xfrm>
            <a:off x="180000" y="2069998"/>
            <a:ext cx="1260000" cy="216000"/>
          </a:xfrm>
          <a:prstGeom prst="roundRect">
            <a:avLst>
              <a:gd name="adj" fmla="val 10000"/>
            </a:avLst>
          </a:prstGeom>
          <a:solidFill>
            <a:srgbClr val="BF8F00"/>
          </a:solidFill>
          <a:ln w="0">
            <a:noFill/>
          </a:ln>
        </p:spPr>
        <p:txBody>
          <a:bodyPr anchor="ctr" wrap="square" lIns="72000" rIns="72000" tIns="54000" bIns="54000"/>
          <a:lstStyle/>
          <a:p>
            <a:pPr algn="ctr" spcBef="0" spcAft="0">
              <a:spcPct val="100000"/>
            </a:pPr>
            <a:r>
              <a:rPr lang="en-GB" b="1" sz="1400" dirty="0">
                <a:solidFill>
                  <a:srgbClr val="1F3864"/>
                </a:solidFill>
                <a:latin typeface="Calibri"/>
              </a:rPr>
              <a:t>Usage Examples</a:t>
            </a:r>
          </a:p>
        </p:txBody>
      </p:sp>
      <p:sp>
        <p:nvSpPr>
          <p:cNvPr id="257" name="tb257"/>
          <p:cNvSpPr txBox="1">
            <a:spLocks noGrp="1"/>
          </p:cNvSpPr>
          <p:nvPr/>
        </p:nvSpPr>
        <p:spPr>
          <a:xfrm>
            <a:off x="180000" y="2339998"/>
            <a:ext cx="11832000" cy="1980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  Past state: I was tired yesterday. She wasn't happy.</a:t>
            </a:r>
          </a:p>
        </p:txBody>
      </p:sp>
      <p:sp>
        <p:nvSpPr>
          <p:cNvPr id="258" name="tb258"/>
          <p:cNvSpPr txBox="1">
            <a:spLocks noGrp="1"/>
          </p:cNvSpPr>
          <p:nvPr/>
        </p:nvSpPr>
        <p:spPr>
          <a:xfrm>
            <a:off x="180000" y="2555998"/>
            <a:ext cx="11832000" cy="1980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  Past location: We were at the park. He was at work.</a:t>
            </a:r>
          </a:p>
        </p:txBody>
      </p:sp>
      <p:sp>
        <p:nvSpPr>
          <p:cNvPr id="259" name="tb259"/>
          <p:cNvSpPr txBox="1">
            <a:spLocks noGrp="1"/>
          </p:cNvSpPr>
          <p:nvPr/>
        </p:nvSpPr>
        <p:spPr>
          <a:xfrm>
            <a:off x="180000" y="2771998"/>
            <a:ext cx="11832000" cy="1980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  Time: The meeting was at 3 p.m. It was Monday.</a:t>
            </a:r>
          </a:p>
        </p:txBody>
      </p:sp>
      <p:sp>
        <p:nvSpPr>
          <p:cNvPr id="260" name="tb260"/>
          <p:cNvSpPr txBox="1">
            <a:spLocks noGrp="1"/>
          </p:cNvSpPr>
          <p:nvPr/>
        </p:nvSpPr>
        <p:spPr>
          <a:xfrm>
            <a:off x="180000" y="2987998"/>
            <a:ext cx="11832000" cy="1980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  Description: The weather was sunny. The film was boring.</a:t>
            </a:r>
          </a:p>
        </p:txBody>
      </p:sp>
    </p:spTree>
  </p:cSld>
  <p:clrMapOvr>
    <a:masterClr/>
  </p:clrMapOvr>
</p:sld>
</file>

<file path=ppt/slides/slide7.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301" name="box30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302" name="box302"/>
          <p:cNvSpPr>
            <a:spLocks noGrp="1"/>
          </p:cNvSpPr>
          <p:nvPr/>
        </p:nvSpPr>
        <p:spPr>
          <a:xfrm>
            <a:off x="0" y="396000"/>
            <a:ext cx="12192000" cy="64800"/>
          </a:xfrm>
          <a:prstGeom prst="rect">
            <a:avLst/>
          </a:prstGeom>
          <a:solidFill>
            <a:srgbClr val="BF8F00"/>
          </a:solidFill>
          <a:ln w="0">
            <a:noFill/>
          </a:ln>
        </p:spPr>
        <p:txBody>
          <a:bodyPr anchor="ctr" wrap="square" lIns="72000" rIns="72000" tIns="54000" bIns="54000"/>
          <a:lstStyle/>
        </p:txBody>
      </p:sp>
      <p:sp>
        <p:nvSpPr>
          <p:cNvPr id="303" name="tb30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GUIDED PRACTICE</a:t>
            </a:r>
          </a:p>
        </p:txBody>
      </p:sp>
      <p:sp>
        <p:nvSpPr>
          <p:cNvPr id="304" name="tb304"/>
          <p:cNvSpPr txBox="1">
            <a:spLocks noGrp="1"/>
          </p:cNvSpPr>
          <p:nvPr/>
        </p:nvSpPr>
        <p:spPr>
          <a:xfrm>
            <a:off x="180000" y="540000"/>
            <a:ext cx="11832000" cy="234000"/>
          </a:xfrm>
          <a:prstGeom prst="rect">
            <a:avLst/>
          </a:prstGeom>
          <a:noFill/>
        </p:spPr>
        <p:txBody>
          <a:bodyPr anchor="ctr" wrap="square" lIns="36000" rIns="36000" tIns="36000" bIns="36000"/>
          <a:lstStyle/>
          <a:p>
            <a:pPr algn="l" spcBef="0" spcAft="0">
              <a:spcPct val="100000"/>
            </a:pPr>
            <a:r>
              <a:rPr lang="en-GB" b="0" i="1" sz="1400" dirty="0">
                <a:solidFill>
                  <a:srgbClr val="BF8F00"/>
                </a:solidFill>
                <a:latin typeface="Calibri"/>
              </a:rPr>
              <a:t>Complete the sentences with was, were, wasn't, or weren't. Items 1-2 are done for you.</a:t>
            </a:r>
          </a:p>
        </p:txBody>
      </p:sp>
      <p:graphicFrame>
        <p:nvGraphicFramePr>
          <p:cNvPr id="305" name="tbl305"/>
          <p:cNvGraphicFramePr>
            <a:graphicFrameLocks noGrp="1"/>
          </p:cNvGraphicFramePr>
          <p:nvPr/>
        </p:nvGraphicFramePr>
        <p:xfrm>
          <a:off x="180000" y="846000"/>
          <a:ext cx="11832000" cy="5922000"/>
        </p:xfrm>
        <a:graphic>
          <a:graphicData uri="http://schemas.openxmlformats.org/drawingml/2006/table">
            <a:tbl>
              <a:tblPr firstRow="1" bandRow="1">
                <a:tableStyleId>{5C22544A-7EE6-4342-B048-85BDC9FD1C3A}</a:tableStyleId>
              </a:tblPr>
              <a:tblGrid>
                <a:gridCol w="709920"/>
                <a:gridCol w="6152640"/>
                <a:gridCol w="4969440"/>
              </a:tblGrid>
              <a:tr h="1141200">
                <a:tc>
                  <a:txBody>
                    <a:bodyPr/>
                    <a:lstStyle/>
                    <a:p>
                      <a:pPr algn="l"/>
                      <a:r>
                        <a:rPr lang="en-GB" b="1" sz="1400" dirty="0">
                          <a:solidFill>
                            <a:srgbClr val="FFFFFF"/>
                          </a:solidFill>
                          <a:latin typeface="Calibri"/>
                        </a:rPr>
                        <a:t>#</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Prompt</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Answer</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r>
              <a:tr h="1141200">
                <a:tc>
                  <a:txBody>
                    <a:bodyPr/>
                    <a:lstStyle/>
                    <a:p>
                      <a:pPr algn="l"/>
                      <a:r>
                        <a:rPr lang="en-GB" b="1" sz="1400" dirty="0">
                          <a:solidFill>
                            <a:srgbClr val="1F3864"/>
                          </a:solidFill>
                          <a:latin typeface="Calibri"/>
                        </a:rPr>
                        <a:t>1 ✅</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I ___ at home yesterday. (+)</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I WAS at home yesterday.</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1141200">
                <a:tc>
                  <a:txBody>
                    <a:bodyPr/>
                    <a:lstStyle/>
                    <a:p>
                      <a:pPr algn="l"/>
                      <a:r>
                        <a:rPr lang="en-GB" b="1" sz="1400" dirty="0">
                          <a:solidFill>
                            <a:srgbClr val="1F3864"/>
                          </a:solidFill>
                          <a:latin typeface="Calibri"/>
                        </a:rPr>
                        <a:t>2 ✅</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They ___ at school. (-)</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They WEREN'T at school.</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1141200">
                <a:tc>
                  <a:txBody>
                    <a:bodyPr/>
                    <a:lstStyle/>
                    <a:p>
                      <a:pPr algn="l"/>
                      <a:r>
                        <a:rPr lang="en-GB" b="1" sz="1400" dirty="0">
                          <a:solidFill>
                            <a:srgbClr val="1F3864"/>
                          </a:solidFill>
                          <a:latin typeface="Calibri"/>
                        </a:rPr>
                        <a:t>3</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She ___ ill last week. (+)</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________________________</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1141200">
                <a:tc>
                  <a:txBody>
                    <a:bodyPr/>
                    <a:lstStyle/>
                    <a:p>
                      <a:pPr algn="l"/>
                      <a:r>
                        <a:rPr lang="en-GB" b="1" sz="1400" dirty="0">
                          <a:solidFill>
                            <a:srgbClr val="1F3864"/>
                          </a:solidFill>
                          <a:latin typeface="Calibri"/>
                        </a:rPr>
                        <a:t>4</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We ___ late for class. (-)</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________________________</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bl>
          </a:graphicData>
        </a:graphic>
      </p:graphicFrame>
    </p:spTree>
  </p:cSld>
  <p:clrMapOvr>
    <a:masterClr/>
  </p:clrMapOvr>
</p:sld>
</file>

<file path=ppt/slides/slide8.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351" name="box35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352" name="box352"/>
          <p:cNvSpPr>
            <a:spLocks noGrp="1"/>
          </p:cNvSpPr>
          <p:nvPr/>
        </p:nvSpPr>
        <p:spPr>
          <a:xfrm>
            <a:off x="0" y="396000"/>
            <a:ext cx="12192000" cy="64800"/>
          </a:xfrm>
          <a:prstGeom prst="rect">
            <a:avLst/>
          </a:prstGeom>
          <a:solidFill>
            <a:srgbClr val="BF8F00"/>
          </a:solidFill>
          <a:ln w="0">
            <a:noFill/>
          </a:ln>
        </p:spPr>
        <p:txBody>
          <a:bodyPr anchor="ctr" wrap="square" lIns="72000" rIns="72000" tIns="54000" bIns="54000"/>
          <a:lstStyle/>
        </p:txBody>
      </p:sp>
      <p:sp>
        <p:nvSpPr>
          <p:cNvPr id="353" name="tb35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CONTROLLED PRACTICE</a:t>
            </a:r>
          </a:p>
        </p:txBody>
      </p:sp>
      <p:sp>
        <p:nvSpPr>
          <p:cNvPr id="354" name="tb354"/>
          <p:cNvSpPr txBox="1">
            <a:spLocks noGrp="1"/>
          </p:cNvSpPr>
          <p:nvPr/>
        </p:nvSpPr>
        <p:spPr>
          <a:xfrm>
            <a:off x="180000" y="540000"/>
            <a:ext cx="11832000" cy="234000"/>
          </a:xfrm>
          <a:prstGeom prst="rect">
            <a:avLst/>
          </a:prstGeom>
          <a:noFill/>
        </p:spPr>
        <p:txBody>
          <a:bodyPr anchor="ctr" wrap="square" lIns="36000" rIns="36000" tIns="36000" bIns="36000"/>
          <a:lstStyle/>
          <a:p>
            <a:pPr algn="l" spcBef="0" spcAft="0">
              <a:spcPct val="100000"/>
            </a:pPr>
            <a:r>
              <a:rPr lang="en-GB" b="0" i="1" sz="1400" dirty="0">
                <a:solidFill>
                  <a:srgbClr val="BF8F00"/>
                </a:solidFill>
                <a:latin typeface="Calibri"/>
              </a:rPr>
              <a:t>Write sentences about the past using was/were based on the prompts.</a:t>
            </a:r>
          </a:p>
        </p:txBody>
      </p:sp>
      <p:graphicFrame>
        <p:nvGraphicFramePr>
          <p:cNvPr id="355" name="tbl355"/>
          <p:cNvGraphicFramePr>
            <a:graphicFrameLocks noGrp="1"/>
          </p:cNvGraphicFramePr>
          <p:nvPr/>
        </p:nvGraphicFramePr>
        <p:xfrm>
          <a:off x="180000" y="846000"/>
          <a:ext cx="11832000" cy="5922000"/>
        </p:xfrm>
        <a:graphic>
          <a:graphicData uri="http://schemas.openxmlformats.org/drawingml/2006/table">
            <a:tbl>
              <a:tblPr firstRow="1" bandRow="1">
                <a:tableStyleId>{5C22544A-7EE6-4342-B048-85BDC9FD1C3A}</a:tableStyleId>
              </a:tblPr>
              <a:tblGrid>
                <a:gridCol w="709920"/>
                <a:gridCol w="5561040"/>
                <a:gridCol w="5561040"/>
              </a:tblGrid>
              <a:tr h="951000">
                <a:tc>
                  <a:txBody>
                    <a:bodyPr/>
                    <a:lstStyle/>
                    <a:p>
                      <a:pPr algn="l"/>
                      <a:r>
                        <a:rPr lang="en-GB" b="1" sz="1400" dirty="0">
                          <a:solidFill>
                            <a:srgbClr val="FFFFFF"/>
                          </a:solidFill>
                          <a:latin typeface="Calibri"/>
                        </a:rPr>
                        <a:t>#</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Prompt</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Write your answer</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1</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you / at home / last night? (?)</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________________________</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2</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the film / boring (-)</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________________________</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3</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my parents / at the meeting (+)</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________________________</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4</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I / born / in 2005 (+)</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________________________</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5</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the weather / cold / yesterday? (?)</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________________________</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bl>
          </a:graphicData>
        </a:graphic>
      </p:graphicFrame>
    </p:spTree>
  </p:cSld>
  <p:clrMapOvr>
    <a:masterClr/>
  </p:clrMapOvr>
</p:sld>
</file>

<file path=ppt/slides/slide9.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401" name="box40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402" name="box402"/>
          <p:cNvSpPr>
            <a:spLocks noGrp="1"/>
          </p:cNvSpPr>
          <p:nvPr/>
        </p:nvSpPr>
        <p:spPr>
          <a:xfrm>
            <a:off x="0" y="396000"/>
            <a:ext cx="12192000" cy="64800"/>
          </a:xfrm>
          <a:prstGeom prst="rect">
            <a:avLst/>
          </a:prstGeom>
          <a:solidFill>
            <a:srgbClr val="BF8F00"/>
          </a:solidFill>
          <a:ln w="0">
            <a:noFill/>
          </a:ln>
        </p:spPr>
        <p:txBody>
          <a:bodyPr anchor="ctr" wrap="square" lIns="72000" rIns="72000" tIns="54000" bIns="54000"/>
          <a:lstStyle/>
        </p:txBody>
      </p:sp>
      <p:sp>
        <p:nvSpPr>
          <p:cNvPr id="403" name="tb40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ERROR CORRECTION</a:t>
            </a:r>
          </a:p>
        </p:txBody>
      </p:sp>
      <p:sp>
        <p:nvSpPr>
          <p:cNvPr id="404" name="tb404"/>
          <p:cNvSpPr txBox="1">
            <a:spLocks noGrp="1"/>
          </p:cNvSpPr>
          <p:nvPr/>
        </p:nvSpPr>
        <p:spPr>
          <a:xfrm>
            <a:off x="180000" y="540000"/>
            <a:ext cx="11832000" cy="234000"/>
          </a:xfrm>
          <a:prstGeom prst="rect">
            <a:avLst/>
          </a:prstGeom>
          <a:noFill/>
        </p:spPr>
        <p:txBody>
          <a:bodyPr anchor="ctr" wrap="square" lIns="36000" rIns="36000" tIns="36000" bIns="36000"/>
          <a:lstStyle/>
          <a:p>
            <a:pPr algn="l" spcBef="0" spcAft="0">
              <a:spcPct val="100000"/>
            </a:pPr>
            <a:r>
              <a:rPr lang="en-GB" b="0" i="1" sz="1400" dirty="0">
                <a:solidFill>
                  <a:srgbClr val="BF8F00"/>
                </a:solidFill>
                <a:latin typeface="Calibri"/>
              </a:rPr>
              <a:t>Find and correct the ONE mistake in each sentence.</a:t>
            </a:r>
          </a:p>
        </p:txBody>
      </p:sp>
      <p:graphicFrame>
        <p:nvGraphicFramePr>
          <p:cNvPr id="405" name="tbl405"/>
          <p:cNvGraphicFramePr>
            <a:graphicFrameLocks noGrp="1"/>
          </p:cNvGraphicFramePr>
          <p:nvPr/>
        </p:nvGraphicFramePr>
        <p:xfrm>
          <a:off x="180000" y="846000"/>
          <a:ext cx="11832000" cy="5922000"/>
        </p:xfrm>
        <a:graphic>
          <a:graphicData uri="http://schemas.openxmlformats.org/drawingml/2006/table">
            <a:tbl>
              <a:tblPr firstRow="1" bandRow="1">
                <a:tableStyleId>{5C22544A-7EE6-4342-B048-85BDC9FD1C3A}</a:tableStyleId>
              </a:tblPr>
              <a:tblGrid>
                <a:gridCol w="591600"/>
                <a:gridCol w="5916000"/>
                <a:gridCol w="5324400"/>
              </a:tblGrid>
              <a:tr h="951000">
                <a:tc>
                  <a:txBody>
                    <a:bodyPr/>
                    <a:lstStyle/>
                    <a:p>
                      <a:pPr algn="l"/>
                      <a:r>
                        <a:rPr lang="en-GB" b="1" sz="1400" dirty="0">
                          <a:solidFill>
                            <a:srgbClr val="FFFFFF"/>
                          </a:solidFill>
                          <a:latin typeface="Calibri"/>
                        </a:rPr>
                        <a:t>#</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Incorrect Sentence</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Corrected Sentence</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1</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She were at home yesterday.</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________________________</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2</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They was late for school.</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________________________</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3</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I were born in London.</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________________________</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4</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Was you at the party?</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________________________</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5</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The weather were nice last week.</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________________________</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bl>
          </a:graphicData>
        </a:graphic>
      </p:graphicFrame>
    </p:spTree>
  </p:cSld>
  <p:clrMapOvr>
    <a:masterClr/>
  </p:clrMapOvr>
</p:sld>
</file>

<file path=ppt/slides/slide10.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451" name="box45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452" name="box452"/>
          <p:cNvSpPr>
            <a:spLocks noGrp="1"/>
          </p:cNvSpPr>
          <p:nvPr/>
        </p:nvSpPr>
        <p:spPr>
          <a:xfrm>
            <a:off x="0" y="396000"/>
            <a:ext cx="12192000" cy="64800"/>
          </a:xfrm>
          <a:prstGeom prst="rect">
            <a:avLst/>
          </a:prstGeom>
          <a:solidFill>
            <a:srgbClr val="548235"/>
          </a:solidFill>
          <a:ln w="0">
            <a:noFill/>
          </a:ln>
        </p:spPr>
        <p:txBody>
          <a:bodyPr anchor="ctr" wrap="square" lIns="72000" rIns="72000" tIns="54000" bIns="54000"/>
          <a:lstStyle/>
        </p:txBody>
      </p:sp>
      <p:sp>
        <p:nvSpPr>
          <p:cNvPr id="453" name="tb45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SPEAKING ACTIVITY</a:t>
            </a:r>
          </a:p>
        </p:txBody>
      </p:sp>
      <p:sp>
        <p:nvSpPr>
          <p:cNvPr id="454" name="box454"/>
          <p:cNvSpPr>
            <a:spLocks noGrp="1"/>
          </p:cNvSpPr>
          <p:nvPr/>
        </p:nvSpPr>
        <p:spPr>
          <a:xfrm>
            <a:off x="180000" y="522000"/>
            <a:ext cx="11832000" cy="360000"/>
          </a:xfrm>
          <a:prstGeom prst="roundRect">
            <a:avLst>
              <a:gd name="adj" fmla="val 12000"/>
            </a:avLst>
          </a:prstGeom>
          <a:solidFill>
            <a:srgbClr val="548235"/>
          </a:solidFill>
          <a:ln w="0">
            <a:noFill/>
          </a:ln>
        </p:spPr>
        <p:txBody>
          <a:bodyPr anchor="ctr" wrap="square" lIns="180000" rIns="72000" tIns="54000" bIns="54000"/>
          <a:lstStyle/>
          <a:p>
            <a:pPr algn="l" spcBef="0" spcAft="0">
              <a:spcPct val="100000"/>
            </a:pPr>
            <a:r>
              <a:rPr lang="en-GB" b="1" sz="2200" dirty="0">
                <a:solidFill>
                  <a:srgbClr val="FFFFFF"/>
                </a:solidFill>
                <a:latin typeface="Cambria"/>
              </a:rPr>
              <a:t>💬 Last Weekend Interview</a:t>
            </a:r>
          </a:p>
        </p:txBody>
      </p:sp>
      <p:sp>
        <p:nvSpPr>
          <p:cNvPr id="455" name="box455"/>
          <p:cNvSpPr>
            <a:spLocks noGrp="1"/>
          </p:cNvSpPr>
          <p:nvPr/>
        </p:nvSpPr>
        <p:spPr>
          <a:xfrm>
            <a:off x="11112000" y="954000"/>
            <a:ext cx="900000" cy="1260000"/>
          </a:xfrm>
          <a:prstGeom prst="roundRect">
            <a:avLst>
              <a:gd name="adj" fmla="val 20000"/>
            </a:avLst>
          </a:prstGeom>
          <a:solidFill>
            <a:srgbClr val="DCE6F1"/>
          </a:solidFill>
          <a:ln w="0">
            <a:noFill/>
          </a:ln>
        </p:spPr>
        <p:txBody>
          <a:bodyPr anchor="ctr" wrap="square" lIns="72000" rIns="72000" tIns="54000" bIns="54000"/>
          <a:lstStyle/>
          <a:p>
            <a:pPr algn="ctr" spcBef="0" spcAft="0">
              <a:spcPct val="100000"/>
            </a:pPr>
            <a:r>
              <a:rPr lang="en-GB" b="0" sz="6000" dirty="0">
                <a:solidFill>
                  <a:srgbClr val="2E75B6"/>
                </a:solidFill>
                <a:latin typeface="Calibri"/>
              </a:rPr>
              <a:t>💬</a:t>
            </a:r>
          </a:p>
        </p:txBody>
      </p:sp>
      <p:sp>
        <p:nvSpPr>
          <p:cNvPr id="456" name="box456"/>
          <p:cNvSpPr>
            <a:spLocks noGrp="1"/>
          </p:cNvSpPr>
          <p:nvPr/>
        </p:nvSpPr>
        <p:spPr>
          <a:xfrm>
            <a:off x="180000" y="954000"/>
            <a:ext cx="234000" cy="2592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400" dirty="0">
                <a:solidFill>
                  <a:srgbClr val="FFFFFF"/>
                </a:solidFill>
                <a:latin typeface="Calibri"/>
              </a:rPr>
              <a:t>1</a:t>
            </a:r>
          </a:p>
        </p:txBody>
      </p:sp>
      <p:sp>
        <p:nvSpPr>
          <p:cNvPr id="457" name="tb457"/>
          <p:cNvSpPr txBox="1">
            <a:spLocks noGrp="1"/>
          </p:cNvSpPr>
          <p:nvPr/>
        </p:nvSpPr>
        <p:spPr>
          <a:xfrm>
            <a:off x="468000" y="954000"/>
            <a:ext cx="10464000" cy="2592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Work in pairs. Ask your partner about last weekend.</a:t>
            </a:r>
          </a:p>
        </p:txBody>
      </p:sp>
      <p:sp>
        <p:nvSpPr>
          <p:cNvPr id="458" name="box458"/>
          <p:cNvSpPr>
            <a:spLocks noGrp="1"/>
          </p:cNvSpPr>
          <p:nvPr/>
        </p:nvSpPr>
        <p:spPr>
          <a:xfrm>
            <a:off x="180000" y="1270800"/>
            <a:ext cx="234000" cy="2592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400" dirty="0">
                <a:solidFill>
                  <a:srgbClr val="FFFFFF"/>
                </a:solidFill>
                <a:latin typeface="Calibri"/>
              </a:rPr>
              <a:t>2</a:t>
            </a:r>
          </a:p>
        </p:txBody>
      </p:sp>
      <p:sp>
        <p:nvSpPr>
          <p:cNvPr id="459" name="tb459"/>
          <p:cNvSpPr txBox="1">
            <a:spLocks noGrp="1"/>
          </p:cNvSpPr>
          <p:nvPr/>
        </p:nvSpPr>
        <p:spPr>
          <a:xfrm>
            <a:off x="468000" y="1270800"/>
            <a:ext cx="10464000" cy="2592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Use questions with was/were: 'Where were you? Was it fun? Were you tired?'</a:t>
            </a:r>
          </a:p>
        </p:txBody>
      </p:sp>
      <p:sp>
        <p:nvSpPr>
          <p:cNvPr id="460" name="box460"/>
          <p:cNvSpPr>
            <a:spLocks noGrp="1"/>
          </p:cNvSpPr>
          <p:nvPr/>
        </p:nvSpPr>
        <p:spPr>
          <a:xfrm>
            <a:off x="180000" y="1587600"/>
            <a:ext cx="234000" cy="2592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400" dirty="0">
                <a:solidFill>
                  <a:srgbClr val="FFFFFF"/>
                </a:solidFill>
                <a:latin typeface="Calibri"/>
              </a:rPr>
              <a:t>3</a:t>
            </a:r>
          </a:p>
        </p:txBody>
      </p:sp>
      <p:sp>
        <p:nvSpPr>
          <p:cNvPr id="461" name="tb461"/>
          <p:cNvSpPr txBox="1">
            <a:spLocks noGrp="1"/>
          </p:cNvSpPr>
          <p:nvPr/>
        </p:nvSpPr>
        <p:spPr>
          <a:xfrm>
            <a:off x="468000" y="1587600"/>
            <a:ext cx="10464000" cy="2592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Take notes and report to the class.</a:t>
            </a:r>
          </a:p>
        </p:txBody>
      </p:sp>
      <p:sp>
        <p:nvSpPr>
          <p:cNvPr id="462" name="box462"/>
          <p:cNvSpPr>
            <a:spLocks noGrp="1"/>
          </p:cNvSpPr>
          <p:nvPr/>
        </p:nvSpPr>
        <p:spPr>
          <a:xfrm>
            <a:off x="180000" y="1904400"/>
            <a:ext cx="234000" cy="2592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400" dirty="0">
                <a:solidFill>
                  <a:srgbClr val="FFFFFF"/>
                </a:solidFill>
                <a:latin typeface="Calibri"/>
              </a:rPr>
              <a:t>4</a:t>
            </a:r>
          </a:p>
        </p:txBody>
      </p:sp>
      <p:sp>
        <p:nvSpPr>
          <p:cNvPr id="463" name="tb463"/>
          <p:cNvSpPr txBox="1">
            <a:spLocks noGrp="1"/>
          </p:cNvSpPr>
          <p:nvPr/>
        </p:nvSpPr>
        <p:spPr>
          <a:xfrm>
            <a:off x="468000" y="1904400"/>
            <a:ext cx="10464000" cy="2592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Example: 'Maria was at the cinema. The film was exciting. She wasn't bored.'</a:t>
            </a:r>
          </a:p>
        </p:txBody>
      </p:sp>
      <p:sp>
        <p:nvSpPr>
          <p:cNvPr id="464" name="box464"/>
          <p:cNvSpPr>
            <a:spLocks noGrp="1"/>
          </p:cNvSpPr>
          <p:nvPr/>
        </p:nvSpPr>
        <p:spPr>
          <a:xfrm>
            <a:off x="180000" y="6570000"/>
            <a:ext cx="1260000" cy="216000"/>
          </a:xfrm>
          <a:prstGeom prst="roundRect">
            <a:avLst>
              <a:gd name="adj" fmla="val 10000"/>
            </a:avLst>
          </a:prstGeom>
          <a:solidFill>
            <a:srgbClr val="1F3864"/>
          </a:solidFill>
          <a:ln w="0">
            <a:noFill/>
          </a:ln>
        </p:spPr>
        <p:txBody>
          <a:bodyPr anchor="ctr" wrap="square" lIns="72000" rIns="72000" tIns="54000" bIns="54000"/>
          <a:lstStyle/>
          <a:p>
            <a:pPr algn="ctr" spcBef="0" spcAft="0">
              <a:spcPct val="100000"/>
            </a:pPr>
            <a:r>
              <a:rPr lang="en-GB" b="1" sz="1300" dirty="0">
                <a:solidFill>
                  <a:srgbClr val="BF8F00"/>
                </a:solidFill>
                <a:latin typeface="Calibri"/>
              </a:rPr>
              <a:t>👥  Pair Work</a:t>
            </a:r>
          </a:p>
        </p:txBody>
      </p:sp>
    </p:spTree>
  </p:cSld>
  <p:clrMapOvr>
    <a:masterClr/>
  </p:clrMapOvr>
</p:sld>
</file>

<file path=ppt/slides/slide11.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501" name="box50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502" name="box502"/>
          <p:cNvSpPr>
            <a:spLocks noGrp="1"/>
          </p:cNvSpPr>
          <p:nvPr/>
        </p:nvSpPr>
        <p:spPr>
          <a:xfrm>
            <a:off x="0" y="396000"/>
            <a:ext cx="12192000" cy="64800"/>
          </a:xfrm>
          <a:prstGeom prst="rect">
            <a:avLst/>
          </a:prstGeom>
          <a:solidFill>
            <a:srgbClr val="548235"/>
          </a:solidFill>
          <a:ln w="0">
            <a:noFill/>
          </a:ln>
        </p:spPr>
        <p:txBody>
          <a:bodyPr anchor="ctr" wrap="square" lIns="72000" rIns="72000" tIns="54000" bIns="54000"/>
          <a:lstStyle/>
        </p:txBody>
      </p:sp>
      <p:sp>
        <p:nvSpPr>
          <p:cNvPr id="503" name="tb50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READING &amp; WRITING</a:t>
            </a:r>
          </a:p>
        </p:txBody>
      </p:sp>
      <p:sp>
        <p:nvSpPr>
          <p:cNvPr id="504" name="box504"/>
          <p:cNvSpPr>
            <a:spLocks noGrp="1"/>
          </p:cNvSpPr>
          <p:nvPr/>
        </p:nvSpPr>
        <p:spPr>
          <a:xfrm>
            <a:off x="180000" y="540000"/>
            <a:ext cx="900000" cy="198000"/>
          </a:xfrm>
          <a:prstGeom prst="roundRect">
            <a:avLst>
              <a:gd name="adj" fmla="val 10000"/>
            </a:avLst>
          </a:prstGeom>
          <a:solidFill>
            <a:srgbClr val="548235"/>
          </a:solidFill>
          <a:ln w="0">
            <a:noFill/>
          </a:ln>
        </p:spPr>
        <p:txBody>
          <a:bodyPr anchor="ctr" wrap="square" lIns="72000" rIns="72000" tIns="54000" bIns="54000"/>
          <a:lstStyle/>
          <a:p>
            <a:pPr algn="ctr" spcBef="0" spcAft="0">
              <a:spcPct val="100000"/>
            </a:pPr>
            <a:r>
              <a:rPr lang="en-GB" b="1" sz="1300" dirty="0">
                <a:solidFill>
                  <a:srgbClr val="FFFFFF"/>
                </a:solidFill>
                <a:latin typeface="Calibri"/>
              </a:rPr>
              <a:t>Reading</a:t>
            </a:r>
          </a:p>
        </p:txBody>
      </p:sp>
      <p:sp>
        <p:nvSpPr>
          <p:cNvPr id="505" name="box505"/>
          <p:cNvSpPr>
            <a:spLocks noGrp="1"/>
          </p:cNvSpPr>
          <p:nvPr/>
        </p:nvSpPr>
        <p:spPr>
          <a:xfrm>
            <a:off x="180000" y="792000"/>
            <a:ext cx="11832000" cy="612000"/>
          </a:xfrm>
          <a:prstGeom prst="rect">
            <a:avLst/>
          </a:prstGeom>
          <a:solidFill>
            <a:srgbClr val="F2F2F2"/>
          </a:solidFill>
          <a:ln w="12700">
            <a:solidFill>
              <a:srgbClr val="CCCCCC"/>
            </a:solidFill>
          </a:ln>
        </p:spPr>
        <p:txBody>
          <a:bodyPr anchor="t" wrap="square" lIns="108000" rIns="72000" tIns="72000" bIns="54000"/>
          <a:lstStyle/>
          <a:p>
            <a:pPr algn="l" spcBef="0" spcAft="0">
              <a:spcPct val="100000"/>
            </a:pPr>
            <a:r>
              <a:rPr lang="en-GB" b="0" i="1" sz="1300" dirty="0">
                <a:solidFill>
                  <a:srgbClr val="404040"/>
                </a:solidFill>
                <a:latin typeface="Calibri"/>
              </a:rPr>
              <a:t>Last Saturday was my birthday. I was very excited. The weather was sunny and warm. My friends were all at my house for a party. The food was delicious and the music was great. My best friend Tom was there too. He was late, but it was OK. We were all very happy. The party wasn't boring at all. It was the best birthday ever!</a:t>
            </a:r>
          </a:p>
        </p:txBody>
      </p:sp>
      <p:sp>
        <p:nvSpPr>
          <p:cNvPr id="506" name="box506"/>
          <p:cNvSpPr>
            <a:spLocks noGrp="1"/>
          </p:cNvSpPr>
          <p:nvPr/>
        </p:nvSpPr>
        <p:spPr>
          <a:xfrm>
            <a:off x="180000" y="1475999"/>
            <a:ext cx="900000" cy="198000"/>
          </a:xfrm>
          <a:prstGeom prst="roundRect">
            <a:avLst>
              <a:gd name="adj" fmla="val 10000"/>
            </a:avLst>
          </a:prstGeom>
          <a:solidFill>
            <a:srgbClr val="548235"/>
          </a:solidFill>
          <a:ln w="0">
            <a:noFill/>
          </a:ln>
        </p:spPr>
        <p:txBody>
          <a:bodyPr anchor="ctr" wrap="square" lIns="72000" rIns="72000" tIns="54000" bIns="54000"/>
          <a:lstStyle/>
          <a:p>
            <a:pPr algn="ctr" spcBef="0" spcAft="0">
              <a:spcPct val="100000"/>
            </a:pPr>
            <a:r>
              <a:rPr lang="en-GB" b="1" sz="1300" dirty="0">
                <a:solidFill>
                  <a:srgbClr val="FFFFFF"/>
                </a:solidFill>
                <a:latin typeface="Calibri"/>
              </a:rPr>
              <a:t>Writing</a:t>
            </a:r>
          </a:p>
        </p:txBody>
      </p:sp>
      <p:sp>
        <p:nvSpPr>
          <p:cNvPr id="507" name="tb507"/>
          <p:cNvSpPr txBox="1">
            <a:spLocks noGrp="1"/>
          </p:cNvSpPr>
          <p:nvPr/>
        </p:nvSpPr>
        <p:spPr>
          <a:xfrm>
            <a:off x="180000" y="1728000"/>
            <a:ext cx="11832000" cy="234000"/>
          </a:xfrm>
          <a:prstGeom prst="rect">
            <a:avLst/>
          </a:prstGeom>
          <a:noFill/>
        </p:spPr>
        <p:txBody>
          <a:bodyPr anchor="ctr" wrap="square" lIns="36000" rIns="36000" tIns="36000" bIns="36000"/>
          <a:lstStyle/>
          <a:p>
            <a:pPr algn="l" spcBef="0" spcAft="0">
              <a:spcPct val="100000"/>
            </a:pPr>
            <a:r>
              <a:rPr lang="en-GB" b="0" i="1" sz="1400" dirty="0">
                <a:solidFill>
                  <a:srgbClr val="548235"/>
                </a:solidFill>
                <a:latin typeface="Calibri"/>
              </a:rPr>
              <a:t>Write 6 sentences about a day in the past using was/were.</a:t>
            </a:r>
          </a:p>
        </p:txBody>
      </p:sp>
      <p:sp>
        <p:nvSpPr>
          <p:cNvPr id="508" name="tb508"/>
          <p:cNvSpPr txBox="1">
            <a:spLocks noGrp="1"/>
          </p:cNvSpPr>
          <p:nvPr/>
        </p:nvSpPr>
        <p:spPr>
          <a:xfrm>
            <a:off x="180000" y="2015999"/>
            <a:ext cx="11832000" cy="125999"/>
          </a:xfrm>
          <a:prstGeom prst="rect">
            <a:avLst/>
          </a:prstGeom>
          <a:noFill/>
        </p:spPr>
        <p:txBody>
          <a:bodyPr anchor="ctr" wrap="square" lIns="36000" rIns="36000" tIns="36000" bIns="36000"/>
          <a:lstStyle/>
          <a:p>
            <a:pPr algn="l" spcBef="0" spcAft="0">
              <a:spcPct val="100000"/>
            </a:pPr>
            <a:r>
              <a:rPr lang="en-GB" b="0" sz="1300" dirty="0">
                <a:solidFill>
                  <a:srgbClr val="404040"/>
                </a:solidFill>
                <a:latin typeface="Calibri"/>
              </a:rPr>
              <a:t>• Where were you last Saturday? I was at ___.</a:t>
            </a:r>
          </a:p>
        </p:txBody>
      </p:sp>
      <p:sp>
        <p:nvSpPr>
          <p:cNvPr id="509" name="tb509"/>
          <p:cNvSpPr txBox="1">
            <a:spLocks noGrp="1"/>
          </p:cNvSpPr>
          <p:nvPr/>
        </p:nvSpPr>
        <p:spPr>
          <a:xfrm>
            <a:off x="180000" y="2152799"/>
            <a:ext cx="11832000" cy="125999"/>
          </a:xfrm>
          <a:prstGeom prst="rect">
            <a:avLst/>
          </a:prstGeom>
          <a:noFill/>
        </p:spPr>
        <p:txBody>
          <a:bodyPr anchor="ctr" wrap="square" lIns="36000" rIns="36000" tIns="36000" bIns="36000"/>
          <a:lstStyle/>
          <a:p>
            <a:pPr algn="l" spcBef="0" spcAft="0">
              <a:spcPct val="100000"/>
            </a:pPr>
            <a:r>
              <a:rPr lang="en-GB" b="0" sz="1300" dirty="0">
                <a:solidFill>
                  <a:srgbClr val="404040"/>
                </a:solidFill>
                <a:latin typeface="Calibri"/>
              </a:rPr>
              <a:t>• How was the weather? It was ___.</a:t>
            </a:r>
          </a:p>
        </p:txBody>
      </p:sp>
      <p:sp>
        <p:nvSpPr>
          <p:cNvPr id="510" name="tb510"/>
          <p:cNvSpPr txBox="1">
            <a:spLocks noGrp="1"/>
          </p:cNvSpPr>
          <p:nvPr/>
        </p:nvSpPr>
        <p:spPr>
          <a:xfrm>
            <a:off x="180000" y="2289599"/>
            <a:ext cx="11832000" cy="125999"/>
          </a:xfrm>
          <a:prstGeom prst="rect">
            <a:avLst/>
          </a:prstGeom>
          <a:noFill/>
        </p:spPr>
        <p:txBody>
          <a:bodyPr anchor="ctr" wrap="square" lIns="36000" rIns="36000" tIns="36000" bIns="36000"/>
          <a:lstStyle/>
          <a:p>
            <a:pPr algn="l" spcBef="0" spcAft="0">
              <a:spcPct val="100000"/>
            </a:pPr>
            <a:r>
              <a:rPr lang="en-GB" b="0" sz="1300" dirty="0">
                <a:solidFill>
                  <a:srgbClr val="404040"/>
                </a:solidFill>
                <a:latin typeface="Calibri"/>
              </a:rPr>
              <a:t>• Who was with you? ___ was/were with me.</a:t>
            </a:r>
          </a:p>
        </p:txBody>
      </p:sp>
    </p:spTree>
  </p:cSld>
  <p:clrMapOvr>
    <a:masterClr/>
  </p:clrMapOvr>
</p:sld>
</file>

<file path=ppt/slides/slide12.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551" name="box55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552" name="box552"/>
          <p:cNvSpPr>
            <a:spLocks noGrp="1"/>
          </p:cNvSpPr>
          <p:nvPr/>
        </p:nvSpPr>
        <p:spPr>
          <a:xfrm>
            <a:off x="0" y="396000"/>
            <a:ext cx="12192000" cy="64800"/>
          </a:xfrm>
          <a:prstGeom prst="rect">
            <a:avLst/>
          </a:prstGeom>
          <a:solidFill>
            <a:srgbClr val="2E75B6"/>
          </a:solidFill>
          <a:ln w="0">
            <a:noFill/>
          </a:ln>
        </p:spPr>
        <p:txBody>
          <a:bodyPr anchor="ctr" wrap="square" lIns="72000" rIns="72000" tIns="54000" bIns="54000"/>
          <a:lstStyle/>
        </p:txBody>
      </p:sp>
      <p:sp>
        <p:nvSpPr>
          <p:cNvPr id="553" name="tb55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HOMEWORK</a:t>
            </a:r>
          </a:p>
        </p:txBody>
      </p:sp>
      <p:sp>
        <p:nvSpPr>
          <p:cNvPr id="554" name="box554"/>
          <p:cNvSpPr>
            <a:spLocks noGrp="1"/>
          </p:cNvSpPr>
          <p:nvPr/>
        </p:nvSpPr>
        <p:spPr>
          <a:xfrm>
            <a:off x="180000" y="540000"/>
            <a:ext cx="432000" cy="432000"/>
          </a:xfrm>
          <a:prstGeom prst="roundRect">
            <a:avLst>
              <a:gd name="adj" fmla="val 50000"/>
            </a:avLst>
          </a:prstGeom>
          <a:solidFill>
            <a:srgbClr val="BF8F00"/>
          </a:solidFill>
          <a:ln w="0">
            <a:noFill/>
          </a:ln>
        </p:spPr>
        <p:txBody>
          <a:bodyPr anchor="ctr" wrap="square" lIns="72000" rIns="72000" tIns="54000" bIns="54000"/>
          <a:lstStyle/>
          <a:p>
            <a:pPr algn="ctr" spcBef="0" spcAft="0">
              <a:spcPct val="100000"/>
            </a:pPr>
            <a:r>
              <a:rPr lang="en-GB" b="1" sz="2800" dirty="0">
                <a:solidFill>
                  <a:srgbClr val="1F3864"/>
                </a:solidFill>
                <a:latin typeface="Cambria"/>
              </a:rPr>
              <a:t>1</a:t>
            </a:r>
          </a:p>
        </p:txBody>
      </p:sp>
      <p:sp>
        <p:nvSpPr>
          <p:cNvPr id="555" name="box555"/>
          <p:cNvSpPr>
            <a:spLocks noGrp="1"/>
          </p:cNvSpPr>
          <p:nvPr/>
        </p:nvSpPr>
        <p:spPr>
          <a:xfrm>
            <a:off x="684000" y="540000"/>
            <a:ext cx="11328000" cy="432000"/>
          </a:xfrm>
          <a:prstGeom prst="rect">
            <a:avLst/>
          </a:prstGeom>
          <a:solidFill>
            <a:srgbClr val="DCE6F1"/>
          </a:solidFill>
          <a:ln w="12700">
            <a:solidFill>
              <a:srgbClr val="2E75B6"/>
            </a:solidFill>
          </a:ln>
        </p:spPr>
        <p:txBody>
          <a:bodyPr anchor="ctr" wrap="square" lIns="108000" rIns="72000" tIns="54000" bIns="54000"/>
          <a:lstStyle/>
          <a:p>
            <a:pPr algn="l" spcBef="0" spcAft="0">
              <a:spcPct val="100000"/>
            </a:pPr>
            <a:r>
              <a:rPr lang="en-GB" b="1" sz="1500" dirty="0">
                <a:solidFill>
                  <a:srgbClr val="1F3864"/>
                </a:solidFill>
                <a:latin typeface="Calibri"/>
              </a:rPr>
              <a:t>Production Task  </a:t>
            </a:r>
            <a:r>
              <a:rPr lang="en-GB" b="0" sz="1400" dirty="0">
                <a:solidFill>
                  <a:srgbClr val="404040"/>
                </a:solidFill>
                <a:latin typeface="Calibri"/>
              </a:rPr>
              <a:t>Write 8 sentences about your last holiday or a special day. Use was/were in affirmative and negative forms. Include at least 2 questions with was/were and their short answers.</a:t>
            </a:r>
          </a:p>
        </p:txBody>
      </p:sp>
      <p:sp>
        <p:nvSpPr>
          <p:cNvPr id="556" name="box556"/>
          <p:cNvSpPr>
            <a:spLocks noGrp="1"/>
          </p:cNvSpPr>
          <p:nvPr/>
        </p:nvSpPr>
        <p:spPr>
          <a:xfrm>
            <a:off x="180000" y="1080000"/>
            <a:ext cx="432000" cy="432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2800" dirty="0">
                <a:solidFill>
                  <a:srgbClr val="FFFFFF"/>
                </a:solidFill>
                <a:latin typeface="Cambria"/>
              </a:rPr>
              <a:t>2</a:t>
            </a:r>
          </a:p>
        </p:txBody>
      </p:sp>
      <p:sp>
        <p:nvSpPr>
          <p:cNvPr id="557" name="box557"/>
          <p:cNvSpPr>
            <a:spLocks noGrp="1"/>
          </p:cNvSpPr>
          <p:nvPr/>
        </p:nvSpPr>
        <p:spPr>
          <a:xfrm>
            <a:off x="684000" y="1080000"/>
            <a:ext cx="11328000" cy="432000"/>
          </a:xfrm>
          <a:prstGeom prst="rect">
            <a:avLst/>
          </a:prstGeom>
          <a:solidFill>
            <a:srgbClr val="F2F2F2"/>
          </a:solidFill>
          <a:ln w="12700">
            <a:solidFill>
              <a:srgbClr val="CCCCCC"/>
            </a:solidFill>
          </a:ln>
        </p:spPr>
        <p:txBody>
          <a:bodyPr anchor="ctr" wrap="square" lIns="108000" rIns="72000" tIns="54000" bIns="54000"/>
          <a:lstStyle/>
          <a:p>
            <a:pPr algn="l" spcBef="0" spcAft="0">
              <a:spcPct val="100000"/>
            </a:pPr>
            <a:r>
              <a:rPr lang="en-GB" b="1" sz="1500" dirty="0">
                <a:solidFill>
                  <a:srgbClr val="1F3864"/>
                </a:solidFill>
                <a:latin typeface="Calibri"/>
              </a:rPr>
              <a:t>Vocabulary Consolidation  </a:t>
            </a:r>
            <a:r>
              <a:rPr lang="en-GB" b="0" sz="1400" dirty="0">
                <a:solidFill>
                  <a:srgbClr val="404040"/>
                </a:solidFill>
                <a:latin typeface="Calibri"/>
              </a:rPr>
              <a:t>Write 10 sentences about famous people from history. Example: Einstein was a scientist. He wasn't a musician. Was he German? Yes, he was.</a:t>
            </a:r>
          </a:p>
        </p:txBody>
      </p:sp>
      <p:sp>
        <p:nvSpPr>
          <p:cNvPr id="558" name="box558"/>
          <p:cNvSpPr>
            <a:spLocks noGrp="1"/>
          </p:cNvSpPr>
          <p:nvPr/>
        </p:nvSpPr>
        <p:spPr>
          <a:xfrm>
            <a:off x="180000" y="6498000"/>
            <a:ext cx="1440000" cy="216000"/>
          </a:xfrm>
          <a:prstGeom prst="roundRect">
            <a:avLst>
              <a:gd name="adj" fmla="val 10000"/>
            </a:avLst>
          </a:prstGeom>
          <a:solidFill>
            <a:srgbClr val="1F3864"/>
          </a:solidFill>
          <a:ln w="0">
            <a:noFill/>
          </a:ln>
        </p:spPr>
        <p:txBody>
          <a:bodyPr anchor="ctr" wrap="square" lIns="72000" rIns="72000" tIns="54000" bIns="54000"/>
          <a:lstStyle/>
          <a:p>
            <a:pPr algn="ctr" spcBef="0" spcAft="0">
              <a:spcPct val="100000"/>
            </a:pPr>
            <a:r>
              <a:rPr lang="en-GB" b="1" sz="1300" dirty="0">
                <a:solidFill>
                  <a:srgbClr val="BF8F00"/>
                </a:solidFill>
                <a:latin typeface="Calibri"/>
              </a:rPr>
              <a:t>📅  Due: next class</a:t>
            </a:r>
          </a:p>
        </p:txBody>
      </p:sp>
    </p:spTree>
  </p:cSld>
  <p:clrMapOvr>
    <a:masterClr/>
  </p:clrMapOvr>
</p:sld>
</file>

<file path=ppt/slides/slide13.xml><?xml version="1.0" encoding="utf-8"?>
<p:sld xmlns:p="http://schemas.openxmlformats.org/presentationml/2006/main" xmlns:a="http://schemas.openxmlformats.org/drawingml/2006/main" xmlns:r="http://schemas.openxmlformats.org/officeDocument/2006/relationships" xmlns:dc="http://purl.org/dc/elements/1.1/">
  <p:cSld>
    <p:bg>
      <p:bgPr>
        <a:solidFill>
          <a:srgbClr val="1F3864"/>
        </a:solidFill>
        <a:effectLst/>
      </p:bgPr>
    </p:bg>
    <p:spTree>
      <p:nvGrpSpPr>
        <p:cNvPr id="1" name="content"/>
        <p:cNvGrpSpPr/>
        <p:nvPr/>
      </p:nvGrpSpPr>
      <p:grpSpPr>
        <a:xfrm>
          <a:off x="0" y="0"/>
          <a:ext cx="12192000" cy="6858000"/>
          <a:chOff x="0" y="0"/>
          <a:chExt cx="12192000" cy="6858000"/>
        </a:xfrm>
      </p:grpSpPr>
      <p:sp>
        <p:nvSpPr>
          <p:cNvPr id="601" name="shape601"/>
          <p:cNvSpPr>
            <a:spLocks noGrp="1"/>
          </p:cNvSpPr>
          <p:nvPr/>
        </p:nvSpPr>
        <p:spPr>
          <a:xfrm>
            <a:off x="0" y="0"/>
            <a:ext cx="12192000" cy="6858000"/>
          </a:xfrm>
          <a:prstGeom prst="rect">
            <a:avLst/>
          </a:prstGeom>
          <a:gradFill rot="1">
            <a:gsLst>
              <a:gs pos="0">
                <a:srgbClr val="1F3864"/>
              </a:gs>
              <a:gs pos="100000">
                <a:srgbClr val="0D2245"/>
              </a:gs>
            </a:gsLst>
            <a:lin ang="5400000" scaled="0"/>
          </a:gradFill>
        </p:spPr>
        <p:txBody>
          <a:bodyPr/>
          <a:lstStyle/>
          <a:p/>
        </p:txBody>
      </p:sp>
      <p:sp>
        <p:nvSpPr>
          <p:cNvPr id="602" name="shape602"/>
          <p:cNvSpPr>
            <a:spLocks noGrp="1"/>
          </p:cNvSpPr>
          <p:nvPr/>
        </p:nvSpPr>
        <p:spPr>
          <a:xfrm>
            <a:off x="0" y="0"/>
            <a:ext cx="12192000" cy="108000"/>
          </a:xfrm>
          <a:prstGeom prst="rect">
            <a:avLst/>
          </a:prstGeom>
          <a:solidFill>
            <a:srgbClr val="BF8F00"/>
          </a:solidFill>
        </p:spPr>
        <p:txBody>
          <a:bodyPr/>
          <a:lstStyle/>
          <a:p/>
        </p:txBody>
      </p:sp>
      <p:sp>
        <p:nvSpPr>
          <p:cNvPr id="603" name="shape603"/>
          <p:cNvSpPr>
            <a:spLocks noGrp="1"/>
          </p:cNvSpPr>
          <p:nvPr/>
        </p:nvSpPr>
        <p:spPr>
          <a:xfrm>
            <a:off x="0" y="6750000"/>
            <a:ext cx="12192000" cy="108000"/>
          </a:xfrm>
          <a:prstGeom prst="rect">
            <a:avLst/>
          </a:prstGeom>
          <a:solidFill>
            <a:srgbClr val="BF8F00"/>
          </a:solidFill>
        </p:spPr>
        <p:txBody>
          <a:bodyPr/>
          <a:lstStyle/>
          <a:p/>
        </p:txBody>
      </p:sp>
      <p:sp>
        <p:nvSpPr>
          <p:cNvPr id="604" name="shape604"/>
          <p:cNvSpPr>
            <a:spLocks noGrp="1"/>
          </p:cNvSpPr>
          <p:nvPr/>
        </p:nvSpPr>
        <p:spPr>
          <a:xfrm>
            <a:off x="0" y="0"/>
            <a:ext cx="144000" cy="6858000"/>
          </a:xfrm>
          <a:prstGeom prst="rect">
            <a:avLst/>
          </a:prstGeom>
          <a:solidFill>
            <a:srgbClr val="BF8F00"/>
          </a:solidFill>
        </p:spPr>
        <p:txBody>
          <a:bodyPr/>
          <a:lstStyle/>
          <a:p/>
        </p:txBody>
      </p:sp>
      <p:sp>
        <p:nvSpPr>
          <p:cNvPr id="605" name="box605"/>
          <p:cNvSpPr>
            <a:spLocks noGrp="1"/>
          </p:cNvSpPr>
          <p:nvPr/>
        </p:nvSpPr>
        <p:spPr>
          <a:xfrm>
            <a:off x="432000" y="432000"/>
            <a:ext cx="1800000" cy="324000"/>
          </a:xfrm>
          <a:prstGeom prst="roundRect">
            <a:avLst>
              <a:gd name="adj" fmla="val 20000"/>
            </a:avLst>
          </a:prstGeom>
          <a:solidFill>
            <a:srgbClr val="BF8F00"/>
          </a:solidFill>
          <a:ln w="0">
            <a:noFill/>
          </a:ln>
        </p:spPr>
        <p:txBody>
          <a:bodyPr anchor="ctr" wrap="square" lIns="72000" rIns="72000" tIns="54000" bIns="54000"/>
          <a:lstStyle/>
          <a:p>
            <a:pPr algn="ctr" spcBef="0" spcAft="0">
              <a:spcPct val="100000"/>
            </a:pPr>
            <a:r>
              <a:rPr lang="en-GB" b="1" sz="1600" dirty="0">
                <a:solidFill>
                  <a:srgbClr val="1F3864"/>
                </a:solidFill>
                <a:latin typeface="Cambria"/>
              </a:rPr>
              <a:t>UNIT 10  ·  A1</a:t>
            </a:r>
          </a:p>
        </p:txBody>
      </p:sp>
      <p:sp>
        <p:nvSpPr>
          <p:cNvPr id="606" name="tb606"/>
          <p:cNvSpPr txBox="1">
            <a:spLocks noGrp="1"/>
          </p:cNvSpPr>
          <p:nvPr/>
        </p:nvSpPr>
        <p:spPr>
          <a:xfrm>
            <a:off x="432000" y="827999"/>
            <a:ext cx="11472000" cy="900000"/>
          </a:xfrm>
          <a:prstGeom prst="rect">
            <a:avLst/>
          </a:prstGeom>
          <a:noFill/>
        </p:spPr>
        <p:txBody>
          <a:bodyPr anchor="t" wrap="square" lIns="36000" rIns="36000" tIns="36000" bIns="36000"/>
          <a:lstStyle/>
          <a:p>
            <a:pPr algn="l" spcBef="0" spcAft="0">
              <a:spcPct val="100000"/>
            </a:pPr>
            <a:r>
              <a:rPr lang="en-GB" b="1" sz="3600" dirty="0">
                <a:solidFill>
                  <a:srgbClr val="FFFFFF"/>
                </a:solidFill>
                <a:latin typeface="Cambria"/>
              </a:rPr>
              <a:t>Verb To Be — Past Simple</a:t>
            </a:r>
          </a:p>
        </p:txBody>
      </p:sp>
      <p:sp>
        <p:nvSpPr>
          <p:cNvPr id="607" name="tb607"/>
          <p:cNvSpPr txBox="1">
            <a:spLocks noGrp="1"/>
          </p:cNvSpPr>
          <p:nvPr/>
        </p:nvSpPr>
        <p:spPr>
          <a:xfrm>
            <a:off x="432000" y="1800000"/>
            <a:ext cx="11472000" cy="324000"/>
          </a:xfrm>
          <a:prstGeom prst="rect">
            <a:avLst/>
          </a:prstGeom>
          <a:noFill/>
        </p:spPr>
        <p:txBody>
          <a:bodyPr anchor="ctr" wrap="square" lIns="36000" rIns="36000" tIns="36000" bIns="36000"/>
          <a:lstStyle/>
          <a:p>
            <a:pPr algn="l" spcBef="0" spcAft="0">
              <a:spcPct val="100000"/>
            </a:pPr>
            <a:r>
              <a:rPr lang="en-GB" b="0" i="1" sz="1600" dirty="0">
                <a:solidFill>
                  <a:srgbClr val="BF8F00"/>
                </a:solidFill>
                <a:latin typeface="Calibri"/>
              </a:rPr>
              <a:t>✦  Grammar is not a rule — it is a tool. Use it!</a:t>
            </a:r>
          </a:p>
        </p:txBody>
      </p:sp>
      <p:sp>
        <p:nvSpPr>
          <p:cNvPr id="608" name="box608"/>
          <p:cNvSpPr>
            <a:spLocks noGrp="1"/>
          </p:cNvSpPr>
          <p:nvPr/>
        </p:nvSpPr>
        <p:spPr>
          <a:xfrm>
            <a:off x="10752000" y="6462000"/>
            <a:ext cx="1260000" cy="234000"/>
          </a:xfrm>
          <a:prstGeom prst="roundRect">
            <a:avLst>
              <a:gd name="adj" fmla="val 10000"/>
            </a:avLst>
          </a:prstGeom>
          <a:solidFill>
            <a:srgbClr val="2E75B6"/>
          </a:solidFill>
          <a:ln w="0">
            <a:noFill/>
          </a:ln>
        </p:spPr>
        <p:txBody>
          <a:bodyPr anchor="ctr" wrap="square" lIns="72000" rIns="72000" tIns="54000" bIns="54000"/>
          <a:lstStyle/>
          <a:p>
            <a:pPr algn="ctr" spcBef="0" spcAft="0">
              <a:spcPct val="100000"/>
            </a:pPr>
            <a:r>
              <a:rPr lang="en-GB" b="1" sz="1300" dirty="0">
                <a:solidFill>
                  <a:srgbClr val="FFFFFF"/>
                </a:solidFill>
                <a:latin typeface="Calibri"/>
              </a:rPr>
              <a:t>See you next class! 👋</a:t>
            </a:r>
          </a:p>
        </p:txBody>
      </p:sp>
    </p:spTree>
  </p:cSld>
  <p:clrMapOvr>
    <a:masterClr/>
  </p:clrMapOvr>
</p:sld>
</file>