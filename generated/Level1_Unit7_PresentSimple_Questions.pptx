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p="http://schemas.openxmlformats.org/presentationml/2006/main" xmlns:a="http://schemas.openxmlformats.org/drawingml/2006/main" xmlns:r="http://schemas.openxmlformats.org/officeDocument/2006/relationships" saveSubsetFonts="1">
  <p:sldMasterIdLst>
    <p:sldMasterId id="2147483648" r:id="rId0"/>
  </p:sld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type="screen16x9"/>
  <p:notesSz cx="6858000" cy="12192000"/>
</p:presentation>
</file>

<file path=ppt/_rels/presentation.xml.rels><?xml version="1.0" encoding="UTF-8" standalone="yes"?>
<Relationships xmlns="http://schemas.openxmlformats.org/package/2006/relationships">
  <Relationship Id="rId0"
    Type="http://schemas.openxmlformats.org/officeDocument/2006/relationships/slideMaster"
    Target="slideMasters/slideMaster1.xml"/>
  <Relationship Id="rId1"
    Type="http://schemas.openxmlformats.org/officeDocument/2006/relationships/slide"
    Target="slides/slide1.xml"/>
  <Relationship Id="rId2"
    Type="http://schemas.openxmlformats.org/officeDocument/2006/relationships/slide"
    Target="slides/slide2.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
  <Relationship Id="rId10"
    Type="http://schemas.openxmlformats.org/officeDocument/2006/relationships/slide"
    Target="slides/slide10.xml"/>
  <Relationship Id="rId11"
    Type="http://schemas.openxmlformats.org/officeDocument/2006/relationships/slide"
    Target="slides/slide11.xml"/>
  <Relationship Id="rId12"
    Type="http://schemas.openxmlformats.org/officeDocument/2006/relationships/slide"
    Target="slides/slide12.xml"/>
  <Relationship Id="rId13"
    Type="http://schemas.openxmlformats.org/officeDocument/2006/relationships/slide"
    Target="slides/slide13.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xmlns:r="http://schemas.openxmlformats.org/officeDocument/2006/relationships" type="blank" preserve="1">
  <p:cSld name="Blank">
    <p:spTree>
      <p:nvGrpSpPr>
        <p:cNvPr id="1" name=""/>
        <p:cNvGrpSpPr/>
        <p:nvPr/>
      </p:nvGrpSpPr>
      <p:grpSpPr>
        <a:xfrm>
          <a:off x="0" y="0"/>
          <a:ext cx="12192000" cy="6858000"/>
          <a:chOff x="0" y="0"/>
          <a:chExt cx="12192000" cy="6858000"/>
        </a:xfrm>
      </p:grpSpPr>
    </p:spTree>
  </p:cSld>
  <p:clrMapOvr>
    <a:masterClr/>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spTree>
      <p:nvGrpSpPr>
        <p:cNvPr id="1" name=""/>
        <p:cNvGrpSpPr/>
        <p:nvPr/>
      </p:nvGrpSpPr>
      <p:grpSpPr>
        <a:xfrm>
          <a:off x="0" y="0"/>
          <a:ext cx="12192000" cy="6858000"/>
          <a:chOff x="0" y="0"/>
          <a:chExt cx="12192000" cy="6858000"/>
        </a:xfrm>
      </p:grpSpPr>
    </p:spTree>
  </p:cSld>
  <p:clrMap bg1="lt1" tx1="dk1" bg2="lt2" tx2="dk2" accent1="accent1" accent2="accent2" accent3="accent3" accent4="accent4" accent5="accent5" accent6="accent6" hlink="hlink" folHlink="folHlink"/>
  <p:sldLayoutIdLst>
    <p:sldLayoutId id="2147483649" r:id="rId1"/>
  </p:sldLayoutIdLst>
  <p:txStyles>
    <p:titleStyle>
      <a:lstStyle/>
    </p:titleStyle>
    <p:bodyStyle>
      <a:lstStyle/>
    </p:bodyStyle>
    <p:otherStyle>
      <a:lst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11" name="shape1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12" name="shape12"/>
          <p:cNvSpPr>
            <a:spLocks noGrp="1"/>
          </p:cNvSpPr>
          <p:nvPr/>
        </p:nvSpPr>
        <p:spPr>
          <a:xfrm>
            <a:off x="0" y="0"/>
            <a:ext cx="144000" cy="6858000"/>
          </a:xfrm>
          <a:prstGeom prst="rect">
            <a:avLst/>
          </a:prstGeom>
          <a:solidFill>
            <a:srgbClr val="BF8F00"/>
          </a:solidFill>
        </p:spPr>
        <p:txBody>
          <a:bodyPr/>
          <a:lstStyle/>
          <a:p/>
        </p:txBody>
      </p:sp>
      <p:sp>
        <p:nvSpPr>
          <p:cNvPr id="13" name="shape13"/>
          <p:cNvSpPr>
            <a:spLocks noGrp="1"/>
          </p:cNvSpPr>
          <p:nvPr/>
        </p:nvSpPr>
        <p:spPr>
          <a:xfrm>
            <a:off x="0" y="0"/>
            <a:ext cx="12192000" cy="108000"/>
          </a:xfrm>
          <a:prstGeom prst="rect">
            <a:avLst/>
          </a:prstGeom>
          <a:solidFill>
            <a:srgbClr val="BF8F00"/>
          </a:solidFill>
        </p:spPr>
        <p:txBody>
          <a:bodyPr/>
          <a:lstStyle/>
          <a:p/>
        </p:txBody>
      </p:sp>
      <p:sp>
        <p:nvSpPr>
          <p:cNvPr id="14" name="box14"/>
          <p:cNvSpPr>
            <a:spLocks noGrp="1"/>
          </p:cNvSpPr>
          <p:nvPr/>
        </p:nvSpPr>
        <p:spPr>
          <a:xfrm>
            <a:off x="432000" y="468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7  ·  A1</a:t>
            </a:r>
          </a:p>
        </p:txBody>
      </p:sp>
      <p:sp>
        <p:nvSpPr>
          <p:cNvPr id="15" name="tb15"/>
          <p:cNvSpPr txBox="1">
            <a:spLocks noGrp="1"/>
          </p:cNvSpPr>
          <p:nvPr/>
        </p:nvSpPr>
        <p:spPr>
          <a:xfrm>
            <a:off x="432000" y="900000"/>
            <a:ext cx="11472000" cy="288000"/>
          </a:xfrm>
          <a:prstGeom prst="rect">
            <a:avLst/>
          </a:prstGeom>
          <a:noFill/>
        </p:spPr>
        <p:txBody>
          <a:bodyPr anchor="ctr" wrap="square" lIns="36000" rIns="36000" tIns="36000" bIns="36000"/>
          <a:lstStyle/>
          <a:p>
            <a:pPr algn="l" spcBef="0" spcAft="0">
              <a:spcPct val="100000"/>
            </a:pPr>
            <a:r>
              <a:rPr lang="en-GB" b="0" sz="1500" dirty="0">
                <a:solidFill>
                  <a:srgbClr val="BFC9D6"/>
                </a:solidFill>
                <a:latin typeface="Calibri"/>
              </a:rPr>
              <a:t>English Grammar in Action — Level 1</a:t>
            </a:r>
          </a:p>
        </p:txBody>
      </p:sp>
      <p:sp>
        <p:nvSpPr>
          <p:cNvPr id="16" name="tb16"/>
          <p:cNvSpPr txBox="1">
            <a:spLocks noGrp="1"/>
          </p:cNvSpPr>
          <p:nvPr/>
        </p:nvSpPr>
        <p:spPr>
          <a:xfrm>
            <a:off x="432000" y="1188000"/>
            <a:ext cx="11472000" cy="1080000"/>
          </a:xfrm>
          <a:prstGeom prst="rect">
            <a:avLst/>
          </a:prstGeom>
          <a:noFill/>
        </p:spPr>
        <p:txBody>
          <a:bodyPr anchor="t" wrap="square" lIns="36000" rIns="36000" tIns="36000" bIns="36000"/>
          <a:lstStyle/>
          <a:p>
            <a:pPr algn="l" spcBef="0" spcAft="0">
              <a:spcPct val="100000"/>
            </a:pPr>
            <a:r>
              <a:rPr lang="en-GB" b="1" sz="4000" dirty="0">
                <a:solidFill>
                  <a:srgbClr val="FFFFFF"/>
                </a:solidFill>
                <a:latin typeface="Cambria"/>
              </a:rPr>
              <a:t>Present Simple — Questions &amp; Short Answers</a:t>
            </a:r>
          </a:p>
        </p:txBody>
      </p:sp>
      <p:sp>
        <p:nvSpPr>
          <p:cNvPr id="17" name="tb17"/>
          <p:cNvSpPr txBox="1">
            <a:spLocks noGrp="1"/>
          </p:cNvSpPr>
          <p:nvPr/>
        </p:nvSpPr>
        <p:spPr>
          <a:xfrm>
            <a:off x="432000" y="2088000"/>
            <a:ext cx="11472000" cy="360000"/>
          </a:xfrm>
          <a:prstGeom prst="rect">
            <a:avLst/>
          </a:prstGeom>
          <a:noFill/>
        </p:spPr>
        <p:txBody>
          <a:bodyPr anchor="ctr" wrap="square" lIns="36000" rIns="36000" tIns="36000" bIns="36000"/>
          <a:lstStyle/>
          <a:p>
            <a:pPr algn="l" spcBef="0" spcAft="0">
              <a:spcPct val="100000"/>
            </a:pPr>
            <a:r>
              <a:rPr lang="en-GB" b="0" i="1" sz="1700" dirty="0">
                <a:solidFill>
                  <a:srgbClr val="DCE6F1"/>
                </a:solidFill>
                <a:latin typeface="Calibri"/>
              </a:rPr>
              <a:t>Do/Does + subject + base form?; Wh- questions; short answers (Yes, I do / No, she doesn't)</a:t>
            </a:r>
          </a:p>
        </p:txBody>
      </p:sp>
      <p:sp>
        <p:nvSpPr>
          <p:cNvPr id="18" name="shape18"/>
          <p:cNvSpPr>
            <a:spLocks noGrp="1"/>
          </p:cNvSpPr>
          <p:nvPr/>
        </p:nvSpPr>
        <p:spPr>
          <a:xfrm>
            <a:off x="0" y="6768000"/>
            <a:ext cx="12192000" cy="90000"/>
          </a:xfrm>
          <a:prstGeom prst="rect">
            <a:avLst/>
          </a:prstGeom>
          <a:solidFill>
            <a:srgbClr val="BF8F00"/>
          </a:solidFill>
        </p:spPr>
        <p:txBody>
          <a:bodyPr/>
          <a:lstStyle/>
          <a:p/>
        </p:txBody>
      </p:sp>
      <p:sp>
        <p:nvSpPr>
          <p:cNvPr id="19" name="box19"/>
          <p:cNvSpPr>
            <a:spLocks noGrp="1"/>
          </p:cNvSpPr>
          <p:nvPr/>
        </p:nvSpPr>
        <p:spPr>
          <a:xfrm>
            <a:off x="11112000" y="6354001"/>
            <a:ext cx="936000" cy="360000"/>
          </a:xfrm>
          <a:prstGeom prst="roundRect">
            <a:avLst>
              <a:gd name="adj" fmla="val 2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CEFR  A1</a:t>
            </a:r>
          </a:p>
        </p:txBody>
      </p:sp>
    </p:spTree>
  </p:cSld>
  <p:clrMapOvr>
    <a:masterClr/>
  </p:clrMapOvr>
</p:sld>
</file>

<file path=ppt/slides/slide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1" name="box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2" name="box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3" name="tb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LEARNING OBJECTIVES</a:t>
            </a:r>
          </a:p>
        </p:txBody>
      </p:sp>
      <p:sp>
        <p:nvSpPr>
          <p:cNvPr id="54" name="box54"/>
          <p:cNvSpPr>
            <a:spLocks noGrp="1"/>
          </p:cNvSpPr>
          <p:nvPr/>
        </p:nvSpPr>
        <p:spPr>
          <a:xfrm>
            <a:off x="180000" y="5400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5" name="box55"/>
          <p:cNvSpPr>
            <a:spLocks noGrp="1"/>
          </p:cNvSpPr>
          <p:nvPr/>
        </p:nvSpPr>
        <p:spPr>
          <a:xfrm>
            <a:off x="558000" y="5400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Form Yes/No questions using Do you/we/they...? and Does he/she/it...?</a:t>
            </a:r>
          </a:p>
        </p:txBody>
      </p:sp>
      <p:sp>
        <p:nvSpPr>
          <p:cNvPr id="56" name="box56"/>
          <p:cNvSpPr>
            <a:spLocks noGrp="1"/>
          </p:cNvSpPr>
          <p:nvPr/>
        </p:nvSpPr>
        <p:spPr>
          <a:xfrm>
            <a:off x="180000" y="9252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7" name="box57"/>
          <p:cNvSpPr>
            <a:spLocks noGrp="1"/>
          </p:cNvSpPr>
          <p:nvPr/>
        </p:nvSpPr>
        <p:spPr>
          <a:xfrm>
            <a:off x="558000" y="9252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Give correct short answers: Yes, I do. / No, she doesn't.</a:t>
            </a:r>
          </a:p>
        </p:txBody>
      </p:sp>
      <p:sp>
        <p:nvSpPr>
          <p:cNvPr id="58" name="box58"/>
          <p:cNvSpPr>
            <a:spLocks noGrp="1"/>
          </p:cNvSpPr>
          <p:nvPr/>
        </p:nvSpPr>
        <p:spPr>
          <a:xfrm>
            <a:off x="180000" y="13104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9" name="box59"/>
          <p:cNvSpPr>
            <a:spLocks noGrp="1"/>
          </p:cNvSpPr>
          <p:nvPr/>
        </p:nvSpPr>
        <p:spPr>
          <a:xfrm>
            <a:off x="558000" y="13104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Construct Wh- questions with correct word order (What do you do?).</a:t>
            </a:r>
          </a:p>
        </p:txBody>
      </p:sp>
      <p:sp>
        <p:nvSpPr>
          <p:cNvPr id="60" name="box60"/>
          <p:cNvSpPr>
            <a:spLocks noGrp="1"/>
          </p:cNvSpPr>
          <p:nvPr/>
        </p:nvSpPr>
        <p:spPr>
          <a:xfrm>
            <a:off x="180000" y="16956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1" name="box61"/>
          <p:cNvSpPr>
            <a:spLocks noGrp="1"/>
          </p:cNvSpPr>
          <p:nvPr/>
        </p:nvSpPr>
        <p:spPr>
          <a:xfrm>
            <a:off x="558000" y="16956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Understand that 'What do you do?' asks about someone's job.</a:t>
            </a:r>
          </a:p>
        </p:txBody>
      </p:sp>
      <p:sp>
        <p:nvSpPr>
          <p:cNvPr id="62" name="box62"/>
          <p:cNvSpPr>
            <a:spLocks noGrp="1"/>
          </p:cNvSpPr>
          <p:nvPr/>
        </p:nvSpPr>
        <p:spPr>
          <a:xfrm>
            <a:off x="180000" y="20808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3" name="box63"/>
          <p:cNvSpPr>
            <a:spLocks noGrp="1"/>
          </p:cNvSpPr>
          <p:nvPr/>
        </p:nvSpPr>
        <p:spPr>
          <a:xfrm>
            <a:off x="558000" y="20808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Use question forms in everyday conversation about habits and routines.</a:t>
            </a:r>
          </a:p>
        </p:txBody>
      </p:sp>
    </p:spTree>
  </p:cSld>
  <p:clrMapOvr>
    <a:masterClr/>
  </p:clrMapOvr>
</p:sld>
</file>

<file path=ppt/slides/slide3.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01" name="box1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02" name="box1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103" name="tb1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WARM-UP ACTIVITY</a:t>
            </a:r>
          </a:p>
        </p:txBody>
      </p:sp>
      <p:sp>
        <p:nvSpPr>
          <p:cNvPr id="104" name="box104"/>
          <p:cNvSpPr>
            <a:spLocks noGrp="1"/>
          </p:cNvSpPr>
          <p:nvPr/>
        </p:nvSpPr>
        <p:spPr>
          <a:xfrm>
            <a:off x="180000" y="540000"/>
            <a:ext cx="11832000" cy="396000"/>
          </a:xfrm>
          <a:prstGeom prst="roundRect">
            <a:avLst>
              <a:gd name="adj" fmla="val 15000"/>
            </a:avLst>
          </a:prstGeom>
          <a:solidFill>
            <a:srgbClr val="BF8F00"/>
          </a:solidFill>
          <a:ln w="0">
            <a:noFill/>
          </a:ln>
        </p:spPr>
        <p:txBody>
          <a:bodyPr anchor="ctr" wrap="square" lIns="180000" rIns="72000" tIns="54000" bIns="54000"/>
          <a:lstStyle/>
          <a:p>
            <a:pPr algn="l" spcBef="0" spcAft="0">
              <a:spcPct val="100000"/>
            </a:pPr>
            <a:r>
              <a:rPr lang="en-GB" b="1" sz="2400" dirty="0">
                <a:solidFill>
                  <a:srgbClr val="1F3864"/>
                </a:solidFill>
                <a:latin typeface="Cambria"/>
              </a:rPr>
              <a:t>🎲 Question Dice</a:t>
            </a:r>
          </a:p>
        </p:txBody>
      </p:sp>
      <p:sp>
        <p:nvSpPr>
          <p:cNvPr id="105" name="box105"/>
          <p:cNvSpPr>
            <a:spLocks noGrp="1"/>
          </p:cNvSpPr>
          <p:nvPr/>
        </p:nvSpPr>
        <p:spPr>
          <a:xfrm>
            <a:off x="11040000" y="540000"/>
            <a:ext cx="972000" cy="396000"/>
          </a:xfrm>
          <a:prstGeom prst="roundRect">
            <a:avLst>
              <a:gd name="adj" fmla="val 15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BF8F00"/>
                </a:solidFill>
                <a:latin typeface="Calibri"/>
              </a:rPr>
              <a:t>⏱  5 minutes</a:t>
            </a:r>
          </a:p>
        </p:txBody>
      </p:sp>
      <p:sp>
        <p:nvSpPr>
          <p:cNvPr id="106" name="box106"/>
          <p:cNvSpPr>
            <a:spLocks noGrp="1"/>
          </p:cNvSpPr>
          <p:nvPr/>
        </p:nvSpPr>
        <p:spPr>
          <a:xfrm>
            <a:off x="180000" y="1026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1</a:t>
            </a:r>
          </a:p>
        </p:txBody>
      </p:sp>
      <p:sp>
        <p:nvSpPr>
          <p:cNvPr id="107" name="tb107"/>
          <p:cNvSpPr txBox="1">
            <a:spLocks noGrp="1"/>
          </p:cNvSpPr>
          <p:nvPr/>
        </p:nvSpPr>
        <p:spPr>
          <a:xfrm>
            <a:off x="503999" y="1026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Roll a die: 1-2 = Do you...? 3-4 = Does he/she...? 5-6 = What/Where/When...?</a:t>
            </a:r>
          </a:p>
        </p:txBody>
      </p:sp>
      <p:sp>
        <p:nvSpPr>
          <p:cNvPr id="108" name="box108"/>
          <p:cNvSpPr>
            <a:spLocks noGrp="1"/>
          </p:cNvSpPr>
          <p:nvPr/>
        </p:nvSpPr>
        <p:spPr>
          <a:xfrm>
            <a:off x="180000" y="1458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2</a:t>
            </a:r>
          </a:p>
        </p:txBody>
      </p:sp>
      <p:sp>
        <p:nvSpPr>
          <p:cNvPr id="109" name="tb109"/>
          <p:cNvSpPr txBox="1">
            <a:spLocks noGrp="1"/>
          </p:cNvSpPr>
          <p:nvPr/>
        </p:nvSpPr>
        <p:spPr>
          <a:xfrm>
            <a:off x="503999" y="1458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Make a question using the category and ask a classmate.</a:t>
            </a:r>
          </a:p>
        </p:txBody>
      </p:sp>
      <p:sp>
        <p:nvSpPr>
          <p:cNvPr id="110" name="box110"/>
          <p:cNvSpPr>
            <a:spLocks noGrp="1"/>
          </p:cNvSpPr>
          <p:nvPr/>
        </p:nvSpPr>
        <p:spPr>
          <a:xfrm>
            <a:off x="180000" y="1890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3</a:t>
            </a:r>
          </a:p>
        </p:txBody>
      </p:sp>
      <p:sp>
        <p:nvSpPr>
          <p:cNvPr id="111" name="tb111"/>
          <p:cNvSpPr txBox="1">
            <a:spLocks noGrp="1"/>
          </p:cNvSpPr>
          <p:nvPr/>
        </p:nvSpPr>
        <p:spPr>
          <a:xfrm>
            <a:off x="503999" y="1890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Your classmate gives a short answer or a full answer.</a:t>
            </a:r>
          </a:p>
        </p:txBody>
      </p:sp>
    </p:spTree>
  </p:cSld>
  <p:clrMapOvr>
    <a:masterClr/>
  </p:clrMapOvr>
</p:sld>
</file>

<file path=ppt/slides/slide4.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51" name="box1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52" name="box1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153" name="tb1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VOCABULARY PREVIEW</a:t>
            </a:r>
          </a:p>
        </p:txBody>
      </p:sp>
      <p:sp>
        <p:nvSpPr>
          <p:cNvPr id="154" name="box154"/>
          <p:cNvSpPr>
            <a:spLocks noGrp="1"/>
          </p:cNvSpPr>
          <p:nvPr/>
        </p:nvSpPr>
        <p:spPr>
          <a:xfrm>
            <a:off x="180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job</a:t>
            </a:r>
          </a:p>
        </p:txBody>
      </p:sp>
      <p:sp>
        <p:nvSpPr>
          <p:cNvPr id="155" name="box155"/>
          <p:cNvSpPr>
            <a:spLocks noGrp="1"/>
          </p:cNvSpPr>
          <p:nvPr/>
        </p:nvSpPr>
        <p:spPr>
          <a:xfrm>
            <a:off x="1007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56" name="box156"/>
          <p:cNvSpPr>
            <a:spLocks noGrp="1"/>
          </p:cNvSpPr>
          <p:nvPr/>
        </p:nvSpPr>
        <p:spPr>
          <a:xfrm>
            <a:off x="1512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work that you do for money</a:t>
            </a:r>
          </a:p>
        </p:txBody>
      </p:sp>
      <p:sp>
        <p:nvSpPr>
          <p:cNvPr id="157" name="box157"/>
          <p:cNvSpPr>
            <a:spLocks noGrp="1"/>
          </p:cNvSpPr>
          <p:nvPr/>
        </p:nvSpPr>
        <p:spPr>
          <a:xfrm>
            <a:off x="6042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hobby</a:t>
            </a:r>
          </a:p>
        </p:txBody>
      </p:sp>
      <p:sp>
        <p:nvSpPr>
          <p:cNvPr id="158" name="box158"/>
          <p:cNvSpPr>
            <a:spLocks noGrp="1"/>
          </p:cNvSpPr>
          <p:nvPr/>
        </p:nvSpPr>
        <p:spPr>
          <a:xfrm>
            <a:off x="6869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59" name="box159"/>
          <p:cNvSpPr>
            <a:spLocks noGrp="1"/>
          </p:cNvSpPr>
          <p:nvPr/>
        </p:nvSpPr>
        <p:spPr>
          <a:xfrm>
            <a:off x="7374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an activity you enjoy in free time</a:t>
            </a:r>
          </a:p>
        </p:txBody>
      </p:sp>
      <p:sp>
        <p:nvSpPr>
          <p:cNvPr id="160" name="box160"/>
          <p:cNvSpPr>
            <a:spLocks noGrp="1"/>
          </p:cNvSpPr>
          <p:nvPr/>
        </p:nvSpPr>
        <p:spPr>
          <a:xfrm>
            <a:off x="180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country</a:t>
            </a:r>
          </a:p>
        </p:txBody>
      </p:sp>
      <p:sp>
        <p:nvSpPr>
          <p:cNvPr id="161" name="box161"/>
          <p:cNvSpPr>
            <a:spLocks noGrp="1"/>
          </p:cNvSpPr>
          <p:nvPr/>
        </p:nvSpPr>
        <p:spPr>
          <a:xfrm>
            <a:off x="1007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2" name="box162"/>
          <p:cNvSpPr>
            <a:spLocks noGrp="1"/>
          </p:cNvSpPr>
          <p:nvPr/>
        </p:nvSpPr>
        <p:spPr>
          <a:xfrm>
            <a:off x="1512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nation with its own government</a:t>
            </a:r>
          </a:p>
        </p:txBody>
      </p:sp>
      <p:sp>
        <p:nvSpPr>
          <p:cNvPr id="163" name="box163"/>
          <p:cNvSpPr>
            <a:spLocks noGrp="1"/>
          </p:cNvSpPr>
          <p:nvPr/>
        </p:nvSpPr>
        <p:spPr>
          <a:xfrm>
            <a:off x="6042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language</a:t>
            </a:r>
          </a:p>
        </p:txBody>
      </p:sp>
      <p:sp>
        <p:nvSpPr>
          <p:cNvPr id="164" name="box164"/>
          <p:cNvSpPr>
            <a:spLocks noGrp="1"/>
          </p:cNvSpPr>
          <p:nvPr/>
        </p:nvSpPr>
        <p:spPr>
          <a:xfrm>
            <a:off x="6869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5" name="box165"/>
          <p:cNvSpPr>
            <a:spLocks noGrp="1"/>
          </p:cNvSpPr>
          <p:nvPr/>
        </p:nvSpPr>
        <p:spPr>
          <a:xfrm>
            <a:off x="7374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system of words for communication</a:t>
            </a:r>
          </a:p>
        </p:txBody>
      </p:sp>
      <p:sp>
        <p:nvSpPr>
          <p:cNvPr id="166" name="box166"/>
          <p:cNvSpPr>
            <a:spLocks noGrp="1"/>
          </p:cNvSpPr>
          <p:nvPr/>
        </p:nvSpPr>
        <p:spPr>
          <a:xfrm>
            <a:off x="180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city</a:t>
            </a:r>
          </a:p>
        </p:txBody>
      </p:sp>
      <p:sp>
        <p:nvSpPr>
          <p:cNvPr id="167" name="box167"/>
          <p:cNvSpPr>
            <a:spLocks noGrp="1"/>
          </p:cNvSpPr>
          <p:nvPr/>
        </p:nvSpPr>
        <p:spPr>
          <a:xfrm>
            <a:off x="1007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8" name="box168"/>
          <p:cNvSpPr>
            <a:spLocks noGrp="1"/>
          </p:cNvSpPr>
          <p:nvPr/>
        </p:nvSpPr>
        <p:spPr>
          <a:xfrm>
            <a:off x="1512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large town</a:t>
            </a:r>
          </a:p>
        </p:txBody>
      </p:sp>
      <p:sp>
        <p:nvSpPr>
          <p:cNvPr id="169" name="box169"/>
          <p:cNvSpPr>
            <a:spLocks noGrp="1"/>
          </p:cNvSpPr>
          <p:nvPr/>
        </p:nvSpPr>
        <p:spPr>
          <a:xfrm>
            <a:off x="6042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holiday</a:t>
            </a:r>
          </a:p>
        </p:txBody>
      </p:sp>
      <p:sp>
        <p:nvSpPr>
          <p:cNvPr id="170" name="box170"/>
          <p:cNvSpPr>
            <a:spLocks noGrp="1"/>
          </p:cNvSpPr>
          <p:nvPr/>
        </p:nvSpPr>
        <p:spPr>
          <a:xfrm>
            <a:off x="6869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1" name="box171"/>
          <p:cNvSpPr>
            <a:spLocks noGrp="1"/>
          </p:cNvSpPr>
          <p:nvPr/>
        </p:nvSpPr>
        <p:spPr>
          <a:xfrm>
            <a:off x="7374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time of rest from work</a:t>
            </a:r>
          </a:p>
        </p:txBody>
      </p:sp>
      <p:sp>
        <p:nvSpPr>
          <p:cNvPr id="172" name="box172"/>
          <p:cNvSpPr>
            <a:spLocks noGrp="1"/>
          </p:cNvSpPr>
          <p:nvPr/>
        </p:nvSpPr>
        <p:spPr>
          <a:xfrm>
            <a:off x="180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neighbour</a:t>
            </a:r>
          </a:p>
        </p:txBody>
      </p:sp>
      <p:sp>
        <p:nvSpPr>
          <p:cNvPr id="173" name="box173"/>
          <p:cNvSpPr>
            <a:spLocks noGrp="1"/>
          </p:cNvSpPr>
          <p:nvPr/>
        </p:nvSpPr>
        <p:spPr>
          <a:xfrm>
            <a:off x="1007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4" name="box174"/>
          <p:cNvSpPr>
            <a:spLocks noGrp="1"/>
          </p:cNvSpPr>
          <p:nvPr/>
        </p:nvSpPr>
        <p:spPr>
          <a:xfrm>
            <a:off x="1512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person living next to you</a:t>
            </a:r>
          </a:p>
        </p:txBody>
      </p:sp>
      <p:sp>
        <p:nvSpPr>
          <p:cNvPr id="175" name="box175"/>
          <p:cNvSpPr>
            <a:spLocks noGrp="1"/>
          </p:cNvSpPr>
          <p:nvPr/>
        </p:nvSpPr>
        <p:spPr>
          <a:xfrm>
            <a:off x="6042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subject</a:t>
            </a:r>
          </a:p>
        </p:txBody>
      </p:sp>
      <p:sp>
        <p:nvSpPr>
          <p:cNvPr id="176" name="box176"/>
          <p:cNvSpPr>
            <a:spLocks noGrp="1"/>
          </p:cNvSpPr>
          <p:nvPr/>
        </p:nvSpPr>
        <p:spPr>
          <a:xfrm>
            <a:off x="6869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7" name="box177"/>
          <p:cNvSpPr>
            <a:spLocks noGrp="1"/>
          </p:cNvSpPr>
          <p:nvPr/>
        </p:nvSpPr>
        <p:spPr>
          <a:xfrm>
            <a:off x="7374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topic studied in school</a:t>
            </a:r>
          </a:p>
        </p:txBody>
      </p:sp>
      <p:sp>
        <p:nvSpPr>
          <p:cNvPr id="178" name="box178"/>
          <p:cNvSpPr>
            <a:spLocks noGrp="1"/>
          </p:cNvSpPr>
          <p:nvPr/>
        </p:nvSpPr>
        <p:spPr>
          <a:xfrm>
            <a:off x="180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brother</a:t>
            </a:r>
          </a:p>
        </p:txBody>
      </p:sp>
      <p:sp>
        <p:nvSpPr>
          <p:cNvPr id="179" name="box179"/>
          <p:cNvSpPr>
            <a:spLocks noGrp="1"/>
          </p:cNvSpPr>
          <p:nvPr/>
        </p:nvSpPr>
        <p:spPr>
          <a:xfrm>
            <a:off x="1007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80" name="box180"/>
          <p:cNvSpPr>
            <a:spLocks noGrp="1"/>
          </p:cNvSpPr>
          <p:nvPr/>
        </p:nvSpPr>
        <p:spPr>
          <a:xfrm>
            <a:off x="1512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male sibling</a:t>
            </a:r>
          </a:p>
        </p:txBody>
      </p:sp>
      <p:sp>
        <p:nvSpPr>
          <p:cNvPr id="181" name="box181"/>
          <p:cNvSpPr>
            <a:spLocks noGrp="1"/>
          </p:cNvSpPr>
          <p:nvPr/>
        </p:nvSpPr>
        <p:spPr>
          <a:xfrm>
            <a:off x="6042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sister</a:t>
            </a:r>
          </a:p>
        </p:txBody>
      </p:sp>
      <p:sp>
        <p:nvSpPr>
          <p:cNvPr id="182" name="box182"/>
          <p:cNvSpPr>
            <a:spLocks noGrp="1"/>
          </p:cNvSpPr>
          <p:nvPr/>
        </p:nvSpPr>
        <p:spPr>
          <a:xfrm>
            <a:off x="6869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83" name="box183"/>
          <p:cNvSpPr>
            <a:spLocks noGrp="1"/>
          </p:cNvSpPr>
          <p:nvPr/>
        </p:nvSpPr>
        <p:spPr>
          <a:xfrm>
            <a:off x="7374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female sibling</a:t>
            </a:r>
          </a:p>
        </p:txBody>
      </p:sp>
      <p:sp>
        <p:nvSpPr>
          <p:cNvPr id="184" name="tb184"/>
          <p:cNvSpPr txBox="1">
            <a:spLocks noGrp="1"/>
          </p:cNvSpPr>
          <p:nvPr/>
        </p:nvSpPr>
        <p:spPr>
          <a:xfrm>
            <a:off x="180000" y="6606001"/>
            <a:ext cx="11832000" cy="198000"/>
          </a:xfrm>
          <a:prstGeom prst="rect">
            <a:avLst/>
          </a:prstGeom>
          <a:noFill/>
        </p:spPr>
        <p:txBody>
          <a:bodyPr anchor="ctr" wrap="square" lIns="36000" rIns="36000" tIns="36000" bIns="36000"/>
          <a:lstStyle/>
          <a:p>
            <a:pPr algn="l" spcBef="0" spcAft="0">
              <a:spcPct val="100000"/>
            </a:pPr>
            <a:r>
              <a:rPr lang="en-GB" b="0" i="1" sz="1300" dirty="0">
                <a:solidFill>
                  <a:srgbClr val="2E75B6"/>
                </a:solidFill>
                <a:latin typeface="Calibri"/>
              </a:rPr>
              <a:t>📚  Full 30-word vocabulary bank in your workbook — Section 4.</a:t>
            </a:r>
          </a:p>
        </p:txBody>
      </p:sp>
    </p:spTree>
  </p:cSld>
  <p:clrMapOvr>
    <a:masterClr/>
  </p:clrMapOvr>
</p:sld>
</file>

<file path=ppt/slides/slide5.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01" name="box2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02" name="box2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03" name="tb2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GRAMMAR RULE</a:t>
            </a:r>
          </a:p>
        </p:txBody>
      </p:sp>
      <p:sp>
        <p:nvSpPr>
          <p:cNvPr id="204" name="box204"/>
          <p:cNvSpPr>
            <a:spLocks noGrp="1"/>
          </p:cNvSpPr>
          <p:nvPr/>
        </p:nvSpPr>
        <p:spPr>
          <a:xfrm>
            <a:off x="180000" y="522000"/>
            <a:ext cx="11832000" cy="396000"/>
          </a:xfrm>
          <a:prstGeom prst="roundRect">
            <a:avLst>
              <a:gd name="adj" fmla="val 10000"/>
            </a:avLst>
          </a:prstGeom>
          <a:solidFill>
            <a:srgbClr val="FFF2CC"/>
          </a:solidFill>
          <a:ln w="12700">
            <a:solidFill>
              <a:srgbClr val="BF8F00"/>
            </a:solidFill>
          </a:ln>
        </p:spPr>
        <p:txBody>
          <a:bodyPr anchor="ctr" wrap="square" lIns="144000" rIns="72000" tIns="54000" bIns="54000"/>
          <a:lstStyle/>
          <a:p>
            <a:pPr algn="l" spcBef="0" spcAft="0">
              <a:spcPct val="100000"/>
            </a:pPr>
            <a:r>
              <a:rPr lang="en-GB" b="1" sz="1700" dirty="0">
                <a:solidFill>
                  <a:srgbClr val="1F3864"/>
                </a:solidFill>
                <a:latin typeface="Calibri"/>
              </a:rPr>
              <a:t>📌  For Yes/No questions: Do/Does + subject + base verb? For Wh- questions: Wh-word + do/does + subject + base verb?</a:t>
            </a:r>
          </a:p>
        </p:txBody>
      </p:sp>
      <p:graphicFrame>
        <p:nvGraphicFramePr>
          <p:cNvPr id="205" name="tbl205"/>
          <p:cNvGraphicFramePr>
            <a:graphicFrameLocks noGrp="1"/>
          </p:cNvGraphicFramePr>
          <p:nvPr/>
        </p:nvGraphicFramePr>
        <p:xfrm>
          <a:off x="180000" y="990000"/>
          <a:ext cx="11832000" cy="5778000"/>
        </p:xfrm>
        <a:graphic>
          <a:graphicData uri="http://schemas.openxmlformats.org/drawingml/2006/table">
            <a:tbl>
              <a:tblPr firstRow="1" bandRow="1">
                <a:tableStyleId>{5C22544A-7EE6-4342-B048-85BDC9FD1C3A}</a:tableStyleId>
              </a:tblPr>
              <a:tblGrid>
                <a:gridCol w="3944000"/>
                <a:gridCol w="3944000"/>
                <a:gridCol w="3944000"/>
              </a:tblGrid>
              <a:tr h="927000">
                <a:tc>
                  <a:txBody>
                    <a:bodyPr/>
                    <a:lstStyle/>
                    <a:p>
                      <a:pPr algn="l"/>
                      <a:r>
                        <a:rPr lang="en-GB" b="1" sz="1400" dirty="0">
                          <a:solidFill>
                            <a:srgbClr val="FFFFFF"/>
                          </a:solidFill>
                          <a:latin typeface="Calibri"/>
                        </a:rPr>
                        <a:t>Type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Structure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Example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27000">
                <a:tc>
                  <a:txBody>
                    <a:bodyPr/>
                    <a:lstStyle/>
                    <a:p>
                      <a:pPr algn="l"/>
                      <a:r>
                        <a:rPr lang="en-GB" b="1" sz="1400" dirty="0">
                          <a:solidFill>
                            <a:srgbClr val="1F3864"/>
                          </a:solidFill>
                          <a:latin typeface="Calibri"/>
                        </a:rPr>
                        <a:t>Yes/No (I/you/we/they)</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 + subject + verb?</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 you like coffee?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27000">
                <a:tc>
                  <a:txBody>
                    <a:bodyPr/>
                    <a:lstStyle/>
                    <a:p>
                      <a:pPr algn="l"/>
                      <a:r>
                        <a:rPr lang="en-GB" b="1" sz="1400" dirty="0">
                          <a:solidFill>
                            <a:srgbClr val="1F3864"/>
                          </a:solidFill>
                          <a:latin typeface="Calibri"/>
                        </a:rPr>
                        <a:t>Yes/No (he/she/it)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Does + subject + verb?</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Does she work here?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27000">
                <a:tc>
                  <a:txBody>
                    <a:bodyPr/>
                    <a:lstStyle/>
                    <a:p>
                      <a:pPr algn="l"/>
                      <a:r>
                        <a:rPr lang="en-GB" b="1" sz="1400" dirty="0">
                          <a:solidFill>
                            <a:srgbClr val="1F3864"/>
                          </a:solidFill>
                          <a:latin typeface="Calibri"/>
                        </a:rPr>
                        <a:t>Short answer (Yes)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Yes, + subject + do/does.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Yes, I do. / Yes, she does.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27000">
                <a:tc>
                  <a:txBody>
                    <a:bodyPr/>
                    <a:lstStyle/>
                    <a:p>
                      <a:pPr algn="l"/>
                      <a:r>
                        <a:rPr lang="en-GB" b="1" sz="1400" dirty="0">
                          <a:solidFill>
                            <a:srgbClr val="1F3864"/>
                          </a:solidFill>
                          <a:latin typeface="Calibri"/>
                        </a:rPr>
                        <a:t>Short answer (No)</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No, + subject + don't/doesn't.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No, I don't. / No, she doesn't.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27000">
                <a:tc>
                  <a:txBody>
                    <a:bodyPr/>
                    <a:lstStyle/>
                    <a:p>
                      <a:pPr algn="l"/>
                      <a:r>
                        <a:rPr lang="en-GB" b="1" sz="1400" dirty="0">
                          <a:solidFill>
                            <a:srgbClr val="1F3864"/>
                          </a:solidFill>
                          <a:latin typeface="Calibri"/>
                        </a:rPr>
                        <a:t>Wh- question</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Wh + do/does + subject + verb?</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Where do you live?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6.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51" name="box2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52" name="box2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53" name="tb2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SPELLING &amp; USAGE NOTES</a:t>
            </a:r>
          </a:p>
        </p:txBody>
      </p:sp>
      <p:sp>
        <p:nvSpPr>
          <p:cNvPr id="254" name="box254"/>
          <p:cNvSpPr>
            <a:spLocks noGrp="1"/>
          </p:cNvSpPr>
          <p:nvPr/>
        </p:nvSpPr>
        <p:spPr>
          <a:xfrm>
            <a:off x="180000" y="540000"/>
            <a:ext cx="11832000" cy="503999"/>
          </a:xfrm>
          <a:prstGeom prst="rect">
            <a:avLst/>
          </a:prstGeom>
          <a:solidFill>
            <a:srgbClr val="DCE6F1"/>
          </a:solidFill>
          <a:ln w="12700">
            <a:solidFill>
              <a:srgbClr val="1F3864"/>
            </a:solidFill>
          </a:ln>
        </p:spPr>
        <p:txBody>
          <a:bodyPr anchor="ctr" wrap="square" lIns="144000" rIns="72000" tIns="54000" bIns="54000"/>
          <a:lstStyle/>
          <a:p>
            <a:pPr algn="l" spcBef="0" spcAft="0">
              <a:spcPct val="100000"/>
            </a:pPr>
            <a:r>
              <a:rPr lang="en-GB" b="1" sz="1500" dirty="0">
                <a:solidFill>
                  <a:srgbClr val="1F3864"/>
                </a:solidFill>
                <a:latin typeface="Calibri"/>
              </a:rPr>
              <a:t>⚠️  Watch Out!  </a:t>
            </a:r>
            <a:r>
              <a:rPr lang="en-GB" b="0" sz="1400" dirty="0">
                <a:solidFill>
                  <a:srgbClr val="1F3864"/>
                </a:solidFill>
                <a:latin typeface="Calibri"/>
              </a:rPr>
              <a:t>After Do or Does, ALWAYS use the base form. NEVER say 'Does she likes...?' The question word 'What do you do?' asks about jobs.</a:t>
            </a:r>
          </a:p>
        </p:txBody>
      </p:sp>
      <p:sp>
        <p:nvSpPr>
          <p:cNvPr id="255" name="box255"/>
          <p:cNvSpPr>
            <a:spLocks noGrp="1"/>
          </p:cNvSpPr>
          <p:nvPr/>
        </p:nvSpPr>
        <p:spPr>
          <a:xfrm>
            <a:off x="180000" y="1169998"/>
            <a:ext cx="1260000" cy="216000"/>
          </a:xfrm>
          <a:prstGeom prst="roundRect">
            <a:avLst>
              <a:gd name="adj" fmla="val 10000"/>
            </a:avLst>
          </a:prstGeom>
          <a:solidFill>
            <a:srgbClr val="BF8F00"/>
          </a:solidFill>
          <a:ln w="0">
            <a:noFill/>
          </a:ln>
        </p:spPr>
        <p:txBody>
          <a:bodyPr anchor="ctr" wrap="square" lIns="72000" rIns="72000" tIns="54000" bIns="54000"/>
          <a:lstStyle/>
          <a:p>
            <a:pPr algn="ctr" spcBef="0" spcAft="0">
              <a:spcPct val="100000"/>
            </a:pPr>
            <a:r>
              <a:rPr lang="en-GB" b="1" sz="1400" dirty="0">
                <a:solidFill>
                  <a:srgbClr val="1F3864"/>
                </a:solidFill>
                <a:latin typeface="Calibri"/>
              </a:rPr>
              <a:t>Usage Examples</a:t>
            </a:r>
          </a:p>
        </p:txBody>
      </p:sp>
      <p:sp>
        <p:nvSpPr>
          <p:cNvPr id="256" name="tb256"/>
          <p:cNvSpPr txBox="1">
            <a:spLocks noGrp="1"/>
          </p:cNvSpPr>
          <p:nvPr/>
        </p:nvSpPr>
        <p:spPr>
          <a:xfrm>
            <a:off x="180000" y="1439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Asking about habits: Do you drink coffee? Does he smoke?</a:t>
            </a:r>
          </a:p>
        </p:txBody>
      </p:sp>
      <p:sp>
        <p:nvSpPr>
          <p:cNvPr id="257" name="tb257"/>
          <p:cNvSpPr txBox="1">
            <a:spLocks noGrp="1"/>
          </p:cNvSpPr>
          <p:nvPr/>
        </p:nvSpPr>
        <p:spPr>
          <a:xfrm>
            <a:off x="180000" y="1655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Asking about jobs: What do you do? What does she do?</a:t>
            </a:r>
          </a:p>
        </p:txBody>
      </p:sp>
      <p:sp>
        <p:nvSpPr>
          <p:cNvPr id="258" name="tb258"/>
          <p:cNvSpPr txBox="1">
            <a:spLocks noGrp="1"/>
          </p:cNvSpPr>
          <p:nvPr/>
        </p:nvSpPr>
        <p:spPr>
          <a:xfrm>
            <a:off x="180000" y="1871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Asking about place: Where do they live? Where does he work?</a:t>
            </a:r>
          </a:p>
        </p:txBody>
      </p:sp>
      <p:sp>
        <p:nvSpPr>
          <p:cNvPr id="259" name="tb259"/>
          <p:cNvSpPr txBox="1">
            <a:spLocks noGrp="1"/>
          </p:cNvSpPr>
          <p:nvPr/>
        </p:nvSpPr>
        <p:spPr>
          <a:xfrm>
            <a:off x="180000" y="2087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Asking about time: When does the class start? What time do you wake up?</a:t>
            </a:r>
          </a:p>
        </p:txBody>
      </p:sp>
    </p:spTree>
  </p:cSld>
  <p:clrMapOvr>
    <a:masterClr/>
  </p:clrMapOvr>
</p:sld>
</file>

<file path=ppt/slides/slide7.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01" name="box3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02" name="box3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03" name="tb3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GUIDED PRACTICE</a:t>
            </a:r>
          </a:p>
        </p:txBody>
      </p:sp>
      <p:sp>
        <p:nvSpPr>
          <p:cNvPr id="304" name="tb3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Write the correct question form. Items 1-2 are completed for you.</a:t>
            </a:r>
          </a:p>
        </p:txBody>
      </p:sp>
      <p:graphicFrame>
        <p:nvGraphicFramePr>
          <p:cNvPr id="305" name="tbl3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6152640"/>
                <a:gridCol w="4969440"/>
              </a:tblGrid>
              <a:tr h="11412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Prompt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Answer</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1 ✅</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you / like / English (?)</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 YOU LIKE English?</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2 ✅</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 work / here (?)</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DOES SHE WORK here?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they / live / in this city (?)</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he / speak / French (?)</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8.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51" name="box3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52" name="box3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53" name="tb3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CONTROLLED PRACTICE</a:t>
            </a:r>
          </a:p>
        </p:txBody>
      </p:sp>
      <p:sp>
        <p:nvSpPr>
          <p:cNvPr id="354" name="tb35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Write Yes/No questions and give short answers.</a:t>
            </a:r>
          </a:p>
        </p:txBody>
      </p:sp>
      <p:graphicFrame>
        <p:nvGraphicFramePr>
          <p:cNvPr id="355" name="tbl35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5561040"/>
                <a:gridCol w="556104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Prompt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Write your answer</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(you / like / your job?) - Yes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 live / near here?) - No</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(they / know / the answer?) - Yes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(he / need / help?) - No</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(your parents / travel / often?) - Yes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9.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01" name="box4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02" name="box4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403" name="tb4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ERROR CORRECTION</a:t>
            </a:r>
          </a:p>
        </p:txBody>
      </p:sp>
      <p:sp>
        <p:nvSpPr>
          <p:cNvPr id="404" name="tb4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Find and correct the ONE mistake in each sentence.</a:t>
            </a:r>
          </a:p>
        </p:txBody>
      </p:sp>
      <p:graphicFrame>
        <p:nvGraphicFramePr>
          <p:cNvPr id="405" name="tbl4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591600"/>
                <a:gridCol w="5916000"/>
                <a:gridCol w="532440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Incorrect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Corrected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Does she likes coffee?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Do he live here?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Where does they work?</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What you do?</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Does she has a car?</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10.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51" name="box4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52" name="box45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453" name="tb4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SPEAKING ACTIVITY</a:t>
            </a:r>
          </a:p>
        </p:txBody>
      </p:sp>
      <p:sp>
        <p:nvSpPr>
          <p:cNvPr id="454" name="box454"/>
          <p:cNvSpPr>
            <a:spLocks noGrp="1"/>
          </p:cNvSpPr>
          <p:nvPr/>
        </p:nvSpPr>
        <p:spPr>
          <a:xfrm>
            <a:off x="180000" y="522000"/>
            <a:ext cx="11832000" cy="360000"/>
          </a:xfrm>
          <a:prstGeom prst="roundRect">
            <a:avLst>
              <a:gd name="adj" fmla="val 12000"/>
            </a:avLst>
          </a:prstGeom>
          <a:solidFill>
            <a:srgbClr val="548235"/>
          </a:solidFill>
          <a:ln w="0">
            <a:noFill/>
          </a:ln>
        </p:spPr>
        <p:txBody>
          <a:bodyPr anchor="ctr" wrap="square" lIns="180000" rIns="72000" tIns="54000" bIns="54000"/>
          <a:lstStyle/>
          <a:p>
            <a:pPr algn="l" spcBef="0" spcAft="0">
              <a:spcPct val="100000"/>
            </a:pPr>
            <a:r>
              <a:rPr lang="en-GB" b="1" sz="2200" dirty="0">
                <a:solidFill>
                  <a:srgbClr val="FFFFFF"/>
                </a:solidFill>
                <a:latin typeface="Cambria"/>
              </a:rPr>
              <a:t>💬 Find Out About Your Partner</a:t>
            </a:r>
          </a:p>
        </p:txBody>
      </p:sp>
      <p:sp>
        <p:nvSpPr>
          <p:cNvPr id="455" name="box455"/>
          <p:cNvSpPr>
            <a:spLocks noGrp="1"/>
          </p:cNvSpPr>
          <p:nvPr/>
        </p:nvSpPr>
        <p:spPr>
          <a:xfrm>
            <a:off x="11112000" y="954000"/>
            <a:ext cx="900000" cy="1260000"/>
          </a:xfrm>
          <a:prstGeom prst="roundRect">
            <a:avLst>
              <a:gd name="adj" fmla="val 20000"/>
            </a:avLst>
          </a:prstGeom>
          <a:solidFill>
            <a:srgbClr val="DCE6F1"/>
          </a:solidFill>
          <a:ln w="0">
            <a:noFill/>
          </a:ln>
        </p:spPr>
        <p:txBody>
          <a:bodyPr anchor="ctr" wrap="square" lIns="72000" rIns="72000" tIns="54000" bIns="54000"/>
          <a:lstStyle/>
          <a:p>
            <a:pPr algn="ctr" spcBef="0" spcAft="0">
              <a:spcPct val="100000"/>
            </a:pPr>
            <a:r>
              <a:rPr lang="en-GB" b="0" sz="6000" dirty="0">
                <a:solidFill>
                  <a:srgbClr val="2E75B6"/>
                </a:solidFill>
                <a:latin typeface="Calibri"/>
              </a:rPr>
              <a:t>💬</a:t>
            </a:r>
          </a:p>
        </p:txBody>
      </p:sp>
      <p:sp>
        <p:nvSpPr>
          <p:cNvPr id="456" name="box456"/>
          <p:cNvSpPr>
            <a:spLocks noGrp="1"/>
          </p:cNvSpPr>
          <p:nvPr/>
        </p:nvSpPr>
        <p:spPr>
          <a:xfrm>
            <a:off x="180000" y="9540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1</a:t>
            </a:r>
          </a:p>
        </p:txBody>
      </p:sp>
      <p:sp>
        <p:nvSpPr>
          <p:cNvPr id="457" name="tb457"/>
          <p:cNvSpPr txBox="1">
            <a:spLocks noGrp="1"/>
          </p:cNvSpPr>
          <p:nvPr/>
        </p:nvSpPr>
        <p:spPr>
          <a:xfrm>
            <a:off x="468000" y="9540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Write 5 questions to ask your partner (use Do you / Does your...).</a:t>
            </a:r>
          </a:p>
        </p:txBody>
      </p:sp>
      <p:sp>
        <p:nvSpPr>
          <p:cNvPr id="458" name="box458"/>
          <p:cNvSpPr>
            <a:spLocks noGrp="1"/>
          </p:cNvSpPr>
          <p:nvPr/>
        </p:nvSpPr>
        <p:spPr>
          <a:xfrm>
            <a:off x="180000" y="12708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2</a:t>
            </a:r>
          </a:p>
        </p:txBody>
      </p:sp>
      <p:sp>
        <p:nvSpPr>
          <p:cNvPr id="459" name="tb459"/>
          <p:cNvSpPr txBox="1">
            <a:spLocks noGrp="1"/>
          </p:cNvSpPr>
          <p:nvPr/>
        </p:nvSpPr>
        <p:spPr>
          <a:xfrm>
            <a:off x="468000" y="12708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Ask and answer in pairs. Give short answers first, then full answers.</a:t>
            </a:r>
          </a:p>
        </p:txBody>
      </p:sp>
      <p:sp>
        <p:nvSpPr>
          <p:cNvPr id="460" name="box460"/>
          <p:cNvSpPr>
            <a:spLocks noGrp="1"/>
          </p:cNvSpPr>
          <p:nvPr/>
        </p:nvSpPr>
        <p:spPr>
          <a:xfrm>
            <a:off x="180000" y="15876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3</a:t>
            </a:r>
          </a:p>
        </p:txBody>
      </p:sp>
      <p:sp>
        <p:nvSpPr>
          <p:cNvPr id="461" name="tb461"/>
          <p:cNvSpPr txBox="1">
            <a:spLocks noGrp="1"/>
          </p:cNvSpPr>
          <p:nvPr/>
        </p:nvSpPr>
        <p:spPr>
          <a:xfrm>
            <a:off x="468000" y="15876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Report interesting answers to the class: 'Maria doesn't like coffee!'</a:t>
            </a:r>
          </a:p>
        </p:txBody>
      </p:sp>
      <p:sp>
        <p:nvSpPr>
          <p:cNvPr id="462" name="box462"/>
          <p:cNvSpPr>
            <a:spLocks noGrp="1"/>
          </p:cNvSpPr>
          <p:nvPr/>
        </p:nvSpPr>
        <p:spPr>
          <a:xfrm>
            <a:off x="180000" y="19044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4</a:t>
            </a:r>
          </a:p>
        </p:txBody>
      </p:sp>
      <p:sp>
        <p:nvSpPr>
          <p:cNvPr id="463" name="tb463"/>
          <p:cNvSpPr txBox="1">
            <a:spLocks noGrp="1"/>
          </p:cNvSpPr>
          <p:nvPr/>
        </p:nvSpPr>
        <p:spPr>
          <a:xfrm>
            <a:off x="468000" y="19044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Try at least 2 Wh- questions: Where / What / Why / When.</a:t>
            </a:r>
          </a:p>
        </p:txBody>
      </p:sp>
      <p:sp>
        <p:nvSpPr>
          <p:cNvPr id="464" name="box464"/>
          <p:cNvSpPr>
            <a:spLocks noGrp="1"/>
          </p:cNvSpPr>
          <p:nvPr/>
        </p:nvSpPr>
        <p:spPr>
          <a:xfrm>
            <a:off x="180000" y="6570000"/>
            <a:ext cx="126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Pair Work</a:t>
            </a:r>
          </a:p>
        </p:txBody>
      </p:sp>
    </p:spTree>
  </p:cSld>
  <p:clrMapOvr>
    <a:masterClr/>
  </p:clrMapOvr>
</p:sld>
</file>

<file path=ppt/slides/slide11.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01" name="box5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02" name="box50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503" name="tb5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READING &amp; WRITING</a:t>
            </a:r>
          </a:p>
        </p:txBody>
      </p:sp>
      <p:sp>
        <p:nvSpPr>
          <p:cNvPr id="504" name="box504"/>
          <p:cNvSpPr>
            <a:spLocks noGrp="1"/>
          </p:cNvSpPr>
          <p:nvPr/>
        </p:nvSpPr>
        <p:spPr>
          <a:xfrm>
            <a:off x="180000" y="540000"/>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Reading</a:t>
            </a:r>
          </a:p>
        </p:txBody>
      </p:sp>
      <p:sp>
        <p:nvSpPr>
          <p:cNvPr id="505" name="box505"/>
          <p:cNvSpPr>
            <a:spLocks noGrp="1"/>
          </p:cNvSpPr>
          <p:nvPr/>
        </p:nvSpPr>
        <p:spPr>
          <a:xfrm>
            <a:off x="180000" y="792000"/>
            <a:ext cx="11832000" cy="612000"/>
          </a:xfrm>
          <a:prstGeom prst="rect">
            <a:avLst/>
          </a:prstGeom>
          <a:solidFill>
            <a:srgbClr val="F2F2F2"/>
          </a:solidFill>
          <a:ln w="12700">
            <a:solidFill>
              <a:srgbClr val="CCCCCC"/>
            </a:solidFill>
          </a:ln>
        </p:spPr>
        <p:txBody>
          <a:bodyPr anchor="t" wrap="square" lIns="108000" rIns="72000" tIns="72000" bIns="54000"/>
          <a:lstStyle/>
          <a:p>
            <a:pPr algn="l" spcBef="0" spcAft="0">
              <a:spcPct val="100000"/>
            </a:pPr>
            <a:r>
              <a:rPr lang="en-GB" b="0" i="1" sz="1300" dirty="0">
                <a:solidFill>
                  <a:srgbClr val="404040"/>
                </a:solidFill>
                <a:latin typeface="Calibri"/>
              </a:rPr>
              <a:t>Anna works in a bank. She starts at 8:30 and finishes at 5. She doesn't drive to work. She takes the train. Does she like her job? Yes, she does. She meets new people every day. Her colleagues are friendly. She doesn't work at the weekend, so she visits her parents on Saturdays.</a:t>
            </a:r>
          </a:p>
        </p:txBody>
      </p:sp>
      <p:sp>
        <p:nvSpPr>
          <p:cNvPr id="506" name="box506"/>
          <p:cNvSpPr>
            <a:spLocks noGrp="1"/>
          </p:cNvSpPr>
          <p:nvPr/>
        </p:nvSpPr>
        <p:spPr>
          <a:xfrm>
            <a:off x="180000" y="1475999"/>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Writing</a:t>
            </a:r>
          </a:p>
        </p:txBody>
      </p:sp>
      <p:sp>
        <p:nvSpPr>
          <p:cNvPr id="507" name="tb507"/>
          <p:cNvSpPr txBox="1">
            <a:spLocks noGrp="1"/>
          </p:cNvSpPr>
          <p:nvPr/>
        </p:nvSpPr>
        <p:spPr>
          <a:xfrm>
            <a:off x="180000" y="1728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548235"/>
                </a:solidFill>
                <a:latin typeface="Calibri"/>
              </a:rPr>
              <a:t>Write 5 questions and answers about a friend or family member.</a:t>
            </a:r>
          </a:p>
        </p:txBody>
      </p:sp>
      <p:sp>
        <p:nvSpPr>
          <p:cNvPr id="508" name="tb508"/>
          <p:cNvSpPr txBox="1">
            <a:spLocks noGrp="1"/>
          </p:cNvSpPr>
          <p:nvPr/>
        </p:nvSpPr>
        <p:spPr>
          <a:xfrm>
            <a:off x="180000" y="20159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a Do question: Do you ___? Yes, I do. / No, I don't.</a:t>
            </a:r>
          </a:p>
        </p:txBody>
      </p:sp>
      <p:sp>
        <p:nvSpPr>
          <p:cNvPr id="509" name="tb509"/>
          <p:cNvSpPr txBox="1">
            <a:spLocks noGrp="1"/>
          </p:cNvSpPr>
          <p:nvPr/>
        </p:nvSpPr>
        <p:spPr>
          <a:xfrm>
            <a:off x="180000" y="21527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a Does question: Does he/she ___? Yes, he/she does.</a:t>
            </a:r>
          </a:p>
        </p:txBody>
      </p:sp>
      <p:sp>
        <p:nvSpPr>
          <p:cNvPr id="510" name="tb510"/>
          <p:cNvSpPr txBox="1">
            <a:spLocks noGrp="1"/>
          </p:cNvSpPr>
          <p:nvPr/>
        </p:nvSpPr>
        <p:spPr>
          <a:xfrm>
            <a:off x="180000" y="22895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a Where question: Where does ___?</a:t>
            </a:r>
          </a:p>
        </p:txBody>
      </p:sp>
    </p:spTree>
  </p:cSld>
  <p:clrMapOvr>
    <a:masterClr/>
  </p:clrMapOvr>
</p:sld>
</file>

<file path=ppt/slides/slide1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51" name="box5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52" name="box5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53" name="tb5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HOMEWORK</a:t>
            </a:r>
          </a:p>
        </p:txBody>
      </p:sp>
      <p:sp>
        <p:nvSpPr>
          <p:cNvPr id="554" name="box554"/>
          <p:cNvSpPr>
            <a:spLocks noGrp="1"/>
          </p:cNvSpPr>
          <p:nvPr/>
        </p:nvSpPr>
        <p:spPr>
          <a:xfrm>
            <a:off x="180000" y="540000"/>
            <a:ext cx="432000" cy="432000"/>
          </a:xfrm>
          <a:prstGeom prst="roundRect">
            <a:avLst>
              <a:gd name="adj" fmla="val 50000"/>
            </a:avLst>
          </a:prstGeom>
          <a:solidFill>
            <a:srgbClr val="BF8F00"/>
          </a:solidFill>
          <a:ln w="0">
            <a:noFill/>
          </a:ln>
        </p:spPr>
        <p:txBody>
          <a:bodyPr anchor="ctr" wrap="square" lIns="72000" rIns="72000" tIns="54000" bIns="54000"/>
          <a:lstStyle/>
          <a:p>
            <a:pPr algn="ctr" spcBef="0" spcAft="0">
              <a:spcPct val="100000"/>
            </a:pPr>
            <a:r>
              <a:rPr lang="en-GB" b="1" sz="2800" dirty="0">
                <a:solidFill>
                  <a:srgbClr val="1F3864"/>
                </a:solidFill>
                <a:latin typeface="Cambria"/>
              </a:rPr>
              <a:t>1</a:t>
            </a:r>
          </a:p>
        </p:txBody>
      </p:sp>
      <p:sp>
        <p:nvSpPr>
          <p:cNvPr id="555" name="box555"/>
          <p:cNvSpPr>
            <a:spLocks noGrp="1"/>
          </p:cNvSpPr>
          <p:nvPr/>
        </p:nvSpPr>
        <p:spPr>
          <a:xfrm>
            <a:off x="684000" y="540000"/>
            <a:ext cx="11328000" cy="432000"/>
          </a:xfrm>
          <a:prstGeom prst="rect">
            <a:avLst/>
          </a:prstGeom>
          <a:solidFill>
            <a:srgbClr val="DCE6F1"/>
          </a:solidFill>
          <a:ln w="12700">
            <a:solidFill>
              <a:srgbClr val="2E75B6"/>
            </a:solidFill>
          </a:ln>
        </p:spPr>
        <p:txBody>
          <a:bodyPr anchor="ctr" wrap="square" lIns="108000" rIns="72000" tIns="54000" bIns="54000"/>
          <a:lstStyle/>
          <a:p>
            <a:pPr algn="l" spcBef="0" spcAft="0">
              <a:spcPct val="100000"/>
            </a:pPr>
            <a:r>
              <a:rPr lang="en-GB" b="1" sz="1500" dirty="0">
                <a:solidFill>
                  <a:srgbClr val="1F3864"/>
                </a:solidFill>
                <a:latin typeface="Calibri"/>
              </a:rPr>
              <a:t>Production Task  </a:t>
            </a:r>
            <a:r>
              <a:rPr lang="en-GB" b="0" sz="1400" dirty="0">
                <a:solidFill>
                  <a:srgbClr val="404040"/>
                </a:solidFill>
                <a:latin typeface="Calibri"/>
              </a:rPr>
              <a:t>Write 8 questions about a classmate's daily routine (use Do/Does). Then write the answers. Include at least 3 Wh- questions.</a:t>
            </a:r>
          </a:p>
        </p:txBody>
      </p:sp>
      <p:sp>
        <p:nvSpPr>
          <p:cNvPr id="556" name="box556"/>
          <p:cNvSpPr>
            <a:spLocks noGrp="1"/>
          </p:cNvSpPr>
          <p:nvPr/>
        </p:nvSpPr>
        <p:spPr>
          <a:xfrm>
            <a:off x="180000" y="1080000"/>
            <a:ext cx="432000" cy="432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2800" dirty="0">
                <a:solidFill>
                  <a:srgbClr val="FFFFFF"/>
                </a:solidFill>
                <a:latin typeface="Cambria"/>
              </a:rPr>
              <a:t>2</a:t>
            </a:r>
          </a:p>
        </p:txBody>
      </p:sp>
      <p:sp>
        <p:nvSpPr>
          <p:cNvPr id="557" name="box557"/>
          <p:cNvSpPr>
            <a:spLocks noGrp="1"/>
          </p:cNvSpPr>
          <p:nvPr/>
        </p:nvSpPr>
        <p:spPr>
          <a:xfrm>
            <a:off x="684000" y="1080000"/>
            <a:ext cx="11328000" cy="432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1" sz="1500" dirty="0">
                <a:solidFill>
                  <a:srgbClr val="1F3864"/>
                </a:solidFill>
                <a:latin typeface="Calibri"/>
              </a:rPr>
              <a:t>Vocabulary Consolidation  </a:t>
            </a:r>
            <a:r>
              <a:rPr lang="en-GB" b="0" sz="1400" dirty="0">
                <a:solidFill>
                  <a:srgbClr val="404040"/>
                </a:solidFill>
                <a:latin typeface="Calibri"/>
              </a:rPr>
              <a:t>Choose 10 vocabulary words from Section 4. For each word, write a question using Do or Does. Example: 'Do you have a hobby?'</a:t>
            </a:r>
          </a:p>
        </p:txBody>
      </p:sp>
      <p:sp>
        <p:nvSpPr>
          <p:cNvPr id="558" name="box558"/>
          <p:cNvSpPr>
            <a:spLocks noGrp="1"/>
          </p:cNvSpPr>
          <p:nvPr/>
        </p:nvSpPr>
        <p:spPr>
          <a:xfrm>
            <a:off x="180000" y="6498000"/>
            <a:ext cx="144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Due: next class</a:t>
            </a:r>
          </a:p>
        </p:txBody>
      </p:sp>
    </p:spTree>
  </p:cSld>
  <p:clrMapOvr>
    <a:masterClr/>
  </p:clrMapOvr>
</p:sld>
</file>

<file path=ppt/slides/slide13.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601" name="shape60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602" name="shape602"/>
          <p:cNvSpPr>
            <a:spLocks noGrp="1"/>
          </p:cNvSpPr>
          <p:nvPr/>
        </p:nvSpPr>
        <p:spPr>
          <a:xfrm>
            <a:off x="0" y="0"/>
            <a:ext cx="12192000" cy="108000"/>
          </a:xfrm>
          <a:prstGeom prst="rect">
            <a:avLst/>
          </a:prstGeom>
          <a:solidFill>
            <a:srgbClr val="BF8F00"/>
          </a:solidFill>
        </p:spPr>
        <p:txBody>
          <a:bodyPr/>
          <a:lstStyle/>
          <a:p/>
        </p:txBody>
      </p:sp>
      <p:sp>
        <p:nvSpPr>
          <p:cNvPr id="603" name="shape603"/>
          <p:cNvSpPr>
            <a:spLocks noGrp="1"/>
          </p:cNvSpPr>
          <p:nvPr/>
        </p:nvSpPr>
        <p:spPr>
          <a:xfrm>
            <a:off x="0" y="6750000"/>
            <a:ext cx="12192000" cy="108000"/>
          </a:xfrm>
          <a:prstGeom prst="rect">
            <a:avLst/>
          </a:prstGeom>
          <a:solidFill>
            <a:srgbClr val="BF8F00"/>
          </a:solidFill>
        </p:spPr>
        <p:txBody>
          <a:bodyPr/>
          <a:lstStyle/>
          <a:p/>
        </p:txBody>
      </p:sp>
      <p:sp>
        <p:nvSpPr>
          <p:cNvPr id="604" name="shape604"/>
          <p:cNvSpPr>
            <a:spLocks noGrp="1"/>
          </p:cNvSpPr>
          <p:nvPr/>
        </p:nvSpPr>
        <p:spPr>
          <a:xfrm>
            <a:off x="0" y="0"/>
            <a:ext cx="144000" cy="6858000"/>
          </a:xfrm>
          <a:prstGeom prst="rect">
            <a:avLst/>
          </a:prstGeom>
          <a:solidFill>
            <a:srgbClr val="BF8F00"/>
          </a:solidFill>
        </p:spPr>
        <p:txBody>
          <a:bodyPr/>
          <a:lstStyle/>
          <a:p/>
        </p:txBody>
      </p:sp>
      <p:sp>
        <p:nvSpPr>
          <p:cNvPr id="605" name="box605"/>
          <p:cNvSpPr>
            <a:spLocks noGrp="1"/>
          </p:cNvSpPr>
          <p:nvPr/>
        </p:nvSpPr>
        <p:spPr>
          <a:xfrm>
            <a:off x="432000" y="432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7  ·  A1</a:t>
            </a:r>
          </a:p>
        </p:txBody>
      </p:sp>
      <p:sp>
        <p:nvSpPr>
          <p:cNvPr id="606" name="tb606"/>
          <p:cNvSpPr txBox="1">
            <a:spLocks noGrp="1"/>
          </p:cNvSpPr>
          <p:nvPr/>
        </p:nvSpPr>
        <p:spPr>
          <a:xfrm>
            <a:off x="432000" y="827999"/>
            <a:ext cx="11472000" cy="900000"/>
          </a:xfrm>
          <a:prstGeom prst="rect">
            <a:avLst/>
          </a:prstGeom>
          <a:noFill/>
        </p:spPr>
        <p:txBody>
          <a:bodyPr anchor="t" wrap="square" lIns="36000" rIns="36000" tIns="36000" bIns="36000"/>
          <a:lstStyle/>
          <a:p>
            <a:pPr algn="l" spcBef="0" spcAft="0">
              <a:spcPct val="100000"/>
            </a:pPr>
            <a:r>
              <a:rPr lang="en-GB" b="1" sz="3600" dirty="0">
                <a:solidFill>
                  <a:srgbClr val="FFFFFF"/>
                </a:solidFill>
                <a:latin typeface="Cambria"/>
              </a:rPr>
              <a:t>Present Simple — Questions &amp; Short Answers</a:t>
            </a:r>
          </a:p>
        </p:txBody>
      </p:sp>
      <p:sp>
        <p:nvSpPr>
          <p:cNvPr id="607" name="tb607"/>
          <p:cNvSpPr txBox="1">
            <a:spLocks noGrp="1"/>
          </p:cNvSpPr>
          <p:nvPr/>
        </p:nvSpPr>
        <p:spPr>
          <a:xfrm>
            <a:off x="432000" y="1800000"/>
            <a:ext cx="11472000" cy="324000"/>
          </a:xfrm>
          <a:prstGeom prst="rect">
            <a:avLst/>
          </a:prstGeom>
          <a:noFill/>
        </p:spPr>
        <p:txBody>
          <a:bodyPr anchor="ctr" wrap="square" lIns="36000" rIns="36000" tIns="36000" bIns="36000"/>
          <a:lstStyle/>
          <a:p>
            <a:pPr algn="l" spcBef="0" spcAft="0">
              <a:spcPct val="100000"/>
            </a:pPr>
            <a:r>
              <a:rPr lang="en-GB" b="0" i="1" sz="1600" dirty="0">
                <a:solidFill>
                  <a:srgbClr val="BF8F00"/>
                </a:solidFill>
                <a:latin typeface="Calibri"/>
              </a:rPr>
              <a:t>✦  The more you practise, the more natural it feels.</a:t>
            </a:r>
          </a:p>
        </p:txBody>
      </p:sp>
      <p:sp>
        <p:nvSpPr>
          <p:cNvPr id="608" name="box608"/>
          <p:cNvSpPr>
            <a:spLocks noGrp="1"/>
          </p:cNvSpPr>
          <p:nvPr/>
        </p:nvSpPr>
        <p:spPr>
          <a:xfrm>
            <a:off x="10752000" y="6462000"/>
            <a:ext cx="1260000" cy="234000"/>
          </a:xfrm>
          <a:prstGeom prst="roundRect">
            <a:avLst>
              <a:gd name="adj" fmla="val 10000"/>
            </a:avLst>
          </a:prstGeom>
          <a:solidFill>
            <a:srgbClr val="2E75B6"/>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See you next class! 👋</a:t>
            </a:r>
          </a:p>
        </p:txBody>
      </p:sp>
    </p:spTree>
  </p:cSld>
  <p:clrMapOvr>
    <a:masterClr/>
  </p:clrMapOvr>
</p:sld>
</file>