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50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Infinitive After Modal Verbs</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will/can/must/should/might/shall/could/would + base form (no to); do/does for present simple</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base form (infinitive without to) after all modal verbs.</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Never add -s, -ed, -ing, or to after modals.</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Recognize do/does as requiring the same base form pattern.</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modals (no to) from other verbs that need to.</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correct sentences with modals + base form.</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No To Zone!</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writes on board: can to swim / must to go / will to come.</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correct: can swim / must go / will come.</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Race: who can correct 5 sentences fastest?</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modal</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type of auxiliary verb</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base form</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simplest form of a verb</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infinitive</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 base form</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bare infinitive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base form without to</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structure</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how parts are arranged</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pattern</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regular arrangement</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rule</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instruction about what to do</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exception</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following the rule</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function</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purpose or use</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ability</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being able to do something</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After modal verbs (will, can, could, must, should, might, may, shall, would), ALWAYS use the BASE FORM — no to, no -s, no -ing.</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618000">
                <a:tc>
                  <a:txBody>
                    <a:bodyPr/>
                    <a:lstStyle/>
                    <a:p>
                      <a:pPr algn="l"/>
                      <a:r>
                        <a:rPr lang="en-GB" b="1" sz="1400" dirty="0">
                          <a:solidFill>
                            <a:srgbClr val="FFFFFF"/>
                          </a:solidFill>
                          <a:latin typeface="Calibri"/>
                        </a:rPr>
                        <a:t>Modal</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 Base 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618000">
                <a:tc>
                  <a:txBody>
                    <a:bodyPr/>
                    <a:lstStyle/>
                    <a:p>
                      <a:pPr algn="l"/>
                      <a:r>
                        <a:rPr lang="en-GB" b="1" sz="1400" dirty="0">
                          <a:solidFill>
                            <a:srgbClr val="1F3864"/>
                          </a:solidFill>
                          <a:latin typeface="Calibri"/>
                        </a:rPr>
                        <a:t>will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will + base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will come tomorrow.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618000">
                <a:tc>
                  <a:txBody>
                    <a:bodyPr/>
                    <a:lstStyle/>
                    <a:p>
                      <a:pPr algn="l"/>
                      <a:r>
                        <a:rPr lang="en-GB" b="1" sz="1400" dirty="0">
                          <a:solidFill>
                            <a:srgbClr val="1F3864"/>
                          </a:solidFill>
                          <a:latin typeface="Calibri"/>
                        </a:rPr>
                        <a:t>can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can + base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can swim well.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618000">
                <a:tc>
                  <a:txBody>
                    <a:bodyPr/>
                    <a:lstStyle/>
                    <a:p>
                      <a:pPr algn="l"/>
                      <a:r>
                        <a:rPr lang="en-GB" b="1" sz="1400" dirty="0">
                          <a:solidFill>
                            <a:srgbClr val="1F3864"/>
                          </a:solidFill>
                          <a:latin typeface="Calibri"/>
                        </a:rPr>
                        <a:t>must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must + base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must go now.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618000">
                <a:tc>
                  <a:txBody>
                    <a:bodyPr/>
                    <a:lstStyle/>
                    <a:p>
                      <a:pPr algn="l"/>
                      <a:r>
                        <a:rPr lang="en-GB" b="1" sz="1400" dirty="0">
                          <a:solidFill>
                            <a:srgbClr val="1F3864"/>
                          </a:solidFill>
                          <a:latin typeface="Calibri"/>
                        </a:rPr>
                        <a:t>should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should + base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should study harder.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618000">
                <a:tc>
                  <a:txBody>
                    <a:bodyPr/>
                    <a:lstStyle/>
                    <a:p>
                      <a:pPr algn="l"/>
                      <a:r>
                        <a:rPr lang="en-GB" b="1" sz="1400" dirty="0">
                          <a:solidFill>
                            <a:srgbClr val="1F3864"/>
                          </a:solidFill>
                          <a:latin typeface="Calibri"/>
                        </a:rPr>
                        <a:t>might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might + base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It might rain later.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618000">
                <a:tc>
                  <a:txBody>
                    <a:bodyPr/>
                    <a:lstStyle/>
                    <a:p>
                      <a:pPr algn="l"/>
                      <a:r>
                        <a:rPr lang="en-GB" b="1" sz="1400" dirty="0">
                          <a:solidFill>
                            <a:srgbClr val="1F3864"/>
                          </a:solidFill>
                          <a:latin typeface="Calibri"/>
                        </a:rPr>
                        <a:t>could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could + base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Could you help 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618000">
                <a:tc>
                  <a:txBody>
                    <a:bodyPr/>
                    <a:lstStyle/>
                    <a:p>
                      <a:pPr algn="l"/>
                      <a:r>
                        <a:rPr lang="en-GB" b="1" sz="1400" dirty="0">
                          <a:solidFill>
                            <a:srgbClr val="1F3864"/>
                          </a:solidFill>
                          <a:latin typeface="Calibri"/>
                        </a:rPr>
                        <a:t>would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would + base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Would you like tea?</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618000">
                <a:tc>
                  <a:txBody>
                    <a:bodyPr/>
                    <a:lstStyle/>
                    <a:p>
                      <a:pPr algn="l"/>
                      <a:r>
                        <a:rPr lang="en-GB" b="1" sz="1400" dirty="0">
                          <a:solidFill>
                            <a:srgbClr val="1F3864"/>
                          </a:solidFill>
                          <a:latin typeface="Calibri"/>
                        </a:rPr>
                        <a:t>shall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shall + base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Shall we dance?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NEVER: "She can to swim" / "He must goes" / "I will to come" / "They should studying". ALWAYS: can swim / must go / will come / should study. The modal already carries tense — the main verb stays in base form.</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can speak three languages. (NOT can to speak / can speaks)</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You must be careful. (NOT must to be / must being)</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will help you. (NOT will to help)</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He should go to bed. (NOT should goes / should to go)</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Correct the mistakes. Items 1-2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can to swim.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can swim.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must goes now.</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must go now.</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will to help you.</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should studying harder.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the modal + base form.</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ability: speak English (can)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can speak English.</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obligation: wear helmet (must)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advice: see a doctor (should)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possibility: rain tomorrow (might)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future: be here at 9 (will)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cans drive.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mights be late.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should to rest.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could to see it clearly.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wont to come.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Modal Bingo</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Teacher gives a bingo card with modal + base form combinations.</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Teacher calls out meanings: something you are able to do.</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Students mark: can swim / can cook etc.</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First to get a line shouts BINGO!</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English modals are important but sometimes confusing. You must remember: never add to after a modal. You can say "I can swim" but not "I can to swim". You should practise every day. You might make mistakes at first but you will improve. You could try reading more English books. Would you like to try?</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correct sentences using different modals + base form.</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Can + ability.</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Must + obligation.</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Should + advice.</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16 sentences: 2 for each of the 8 main modals (will, can, could, must, should, might, may, would). Make sure each uses base form correctly.</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50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Infinitive After Modal Verbs</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Grammar is not a rule — it is a tool. Use it!</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