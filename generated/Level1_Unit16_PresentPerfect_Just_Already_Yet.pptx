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12192000"/>
</p:presentation>
</file>

<file path=ppt/_rels/presentation.xml.rels><?xml version="1.0" encoding="UTF-8" standalone="yes"?>
<Relationships xmlns="http://schemas.openxmlformats.org/package/2006/relationships">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12192000" cy="6858000"/>
          <a:chOff x="0" y="0"/>
          <a:chExt cx="12192000" cy="6858000"/>
        </a:xfrm>
      </p:grpSpPr>
    </p:spTree>
  </p:cSld>
  <p:clrMapOvr>
    <a:masterClr/>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a:lstStyle/>
    </p:titleStyle>
    <p:bodyStyle>
      <a:lstStyle/>
    </p:bodyStyle>
    <p:otherStyle>
      <a:lst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11" name="shape1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12" name="shape12"/>
          <p:cNvSpPr>
            <a:spLocks noGrp="1"/>
          </p:cNvSpPr>
          <p:nvPr/>
        </p:nvSpPr>
        <p:spPr>
          <a:xfrm>
            <a:off x="0" y="0"/>
            <a:ext cx="144000" cy="6858000"/>
          </a:xfrm>
          <a:prstGeom prst="rect">
            <a:avLst/>
          </a:prstGeom>
          <a:solidFill>
            <a:srgbClr val="BF8F00"/>
          </a:solidFill>
        </p:spPr>
        <p:txBody>
          <a:bodyPr/>
          <a:lstStyle/>
          <a:p/>
        </p:txBody>
      </p:sp>
      <p:sp>
        <p:nvSpPr>
          <p:cNvPr id="13" name="shape13"/>
          <p:cNvSpPr>
            <a:spLocks noGrp="1"/>
          </p:cNvSpPr>
          <p:nvPr/>
        </p:nvSpPr>
        <p:spPr>
          <a:xfrm>
            <a:off x="0" y="0"/>
            <a:ext cx="12192000" cy="108000"/>
          </a:xfrm>
          <a:prstGeom prst="rect">
            <a:avLst/>
          </a:prstGeom>
          <a:solidFill>
            <a:srgbClr val="BF8F00"/>
          </a:solidFill>
        </p:spPr>
        <p:txBody>
          <a:bodyPr/>
          <a:lstStyle/>
          <a:p/>
        </p:txBody>
      </p:sp>
      <p:sp>
        <p:nvSpPr>
          <p:cNvPr id="14" name="box14"/>
          <p:cNvSpPr>
            <a:spLocks noGrp="1"/>
          </p:cNvSpPr>
          <p:nvPr/>
        </p:nvSpPr>
        <p:spPr>
          <a:xfrm>
            <a:off x="432000" y="468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16  ·  A2</a:t>
            </a:r>
          </a:p>
        </p:txBody>
      </p:sp>
      <p:sp>
        <p:nvSpPr>
          <p:cNvPr id="15" name="tb15"/>
          <p:cNvSpPr txBox="1">
            <a:spLocks noGrp="1"/>
          </p:cNvSpPr>
          <p:nvPr/>
        </p:nvSpPr>
        <p:spPr>
          <a:xfrm>
            <a:off x="432000" y="900000"/>
            <a:ext cx="11472000" cy="288000"/>
          </a:xfrm>
          <a:prstGeom prst="rect">
            <a:avLst/>
          </a:prstGeom>
          <a:noFill/>
        </p:spPr>
        <p:txBody>
          <a:bodyPr anchor="ctr" wrap="square" lIns="36000" rIns="36000" tIns="36000" bIns="36000"/>
          <a:lstStyle/>
          <a:p>
            <a:pPr algn="l" spcBef="0" spcAft="0">
              <a:spcPct val="100000"/>
            </a:pPr>
            <a:r>
              <a:rPr lang="en-GB" b="0" sz="1500" dirty="0">
                <a:solidFill>
                  <a:srgbClr val="BFC9D6"/>
                </a:solidFill>
                <a:latin typeface="Calibri"/>
              </a:rPr>
              <a:t>English Grammar in Action — Level 1</a:t>
            </a:r>
          </a:p>
        </p:txBody>
      </p:sp>
      <p:sp>
        <p:nvSpPr>
          <p:cNvPr id="16" name="tb16"/>
          <p:cNvSpPr txBox="1">
            <a:spLocks noGrp="1"/>
          </p:cNvSpPr>
          <p:nvPr/>
        </p:nvSpPr>
        <p:spPr>
          <a:xfrm>
            <a:off x="432000" y="1188000"/>
            <a:ext cx="11472000" cy="1080000"/>
          </a:xfrm>
          <a:prstGeom prst="rect">
            <a:avLst/>
          </a:prstGeom>
          <a:noFill/>
        </p:spPr>
        <p:txBody>
          <a:bodyPr anchor="t" wrap="square" lIns="36000" rIns="36000" tIns="36000" bIns="36000"/>
          <a:lstStyle/>
          <a:p>
            <a:pPr algn="l" spcBef="0" spcAft="0">
              <a:spcPct val="100000"/>
            </a:pPr>
            <a:r>
              <a:rPr lang="en-GB" b="1" sz="4000" dirty="0">
                <a:solidFill>
                  <a:srgbClr val="FFFFFF"/>
                </a:solidFill>
                <a:latin typeface="Cambria"/>
              </a:rPr>
              <a:t>Present Perfect — just / already / yet</a:t>
            </a:r>
          </a:p>
        </p:txBody>
      </p:sp>
      <p:sp>
        <p:nvSpPr>
          <p:cNvPr id="17" name="tb17"/>
          <p:cNvSpPr txBox="1">
            <a:spLocks noGrp="1"/>
          </p:cNvSpPr>
          <p:nvPr/>
        </p:nvSpPr>
        <p:spPr>
          <a:xfrm>
            <a:off x="432000" y="2088000"/>
            <a:ext cx="11472000" cy="360000"/>
          </a:xfrm>
          <a:prstGeom prst="rect">
            <a:avLst/>
          </a:prstGeom>
          <a:noFill/>
        </p:spPr>
        <p:txBody>
          <a:bodyPr anchor="ctr" wrap="square" lIns="36000" rIns="36000" tIns="36000" bIns="36000"/>
          <a:lstStyle/>
          <a:p>
            <a:pPr algn="l" spcBef="0" spcAft="0">
              <a:spcPct val="100000"/>
            </a:pPr>
            <a:r>
              <a:rPr lang="en-GB" b="0" i="1" sz="1700" dirty="0">
                <a:solidFill>
                  <a:srgbClr val="DCE6F1"/>
                </a:solidFill>
                <a:latin typeface="Calibri"/>
              </a:rPr>
              <a:t>just (a moment ago); already (sooner than expected); yet (until now, in negatives and questions); word order with just/already/yet</a:t>
            </a:r>
          </a:p>
        </p:txBody>
      </p:sp>
      <p:sp>
        <p:nvSpPr>
          <p:cNvPr id="18" name="shape18"/>
          <p:cNvSpPr>
            <a:spLocks noGrp="1"/>
          </p:cNvSpPr>
          <p:nvPr/>
        </p:nvSpPr>
        <p:spPr>
          <a:xfrm>
            <a:off x="0" y="6768000"/>
            <a:ext cx="12192000" cy="90000"/>
          </a:xfrm>
          <a:prstGeom prst="rect">
            <a:avLst/>
          </a:prstGeom>
          <a:solidFill>
            <a:srgbClr val="BF8F00"/>
          </a:solidFill>
        </p:spPr>
        <p:txBody>
          <a:bodyPr/>
          <a:lstStyle/>
          <a:p/>
        </p:txBody>
      </p:sp>
      <p:sp>
        <p:nvSpPr>
          <p:cNvPr id="19" name="box19"/>
          <p:cNvSpPr>
            <a:spLocks noGrp="1"/>
          </p:cNvSpPr>
          <p:nvPr/>
        </p:nvSpPr>
        <p:spPr>
          <a:xfrm>
            <a:off x="11112000" y="6354001"/>
            <a:ext cx="936000" cy="360000"/>
          </a:xfrm>
          <a:prstGeom prst="roundRect">
            <a:avLst>
              <a:gd name="adj" fmla="val 2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CEFR  A2</a:t>
            </a:r>
          </a:p>
        </p:txBody>
      </p:sp>
    </p:spTree>
  </p:cSld>
  <p:clrMapOvr>
    <a:masterClr/>
  </p:clrMapOvr>
</p:sld>
</file>

<file path=ppt/slides/slide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1" name="box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2" name="box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3" name="tb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LEARNING OBJECTIVES</a:t>
            </a:r>
          </a:p>
        </p:txBody>
      </p:sp>
      <p:sp>
        <p:nvSpPr>
          <p:cNvPr id="54" name="box54"/>
          <p:cNvSpPr>
            <a:spLocks noGrp="1"/>
          </p:cNvSpPr>
          <p:nvPr/>
        </p:nvSpPr>
        <p:spPr>
          <a:xfrm>
            <a:off x="180000" y="5400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5" name="box55"/>
          <p:cNvSpPr>
            <a:spLocks noGrp="1"/>
          </p:cNvSpPr>
          <p:nvPr/>
        </p:nvSpPr>
        <p:spPr>
          <a:xfrm>
            <a:off x="558000" y="5400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'just' with Present Perfect to talk about very recent actions.</a:t>
            </a:r>
          </a:p>
        </p:txBody>
      </p:sp>
      <p:sp>
        <p:nvSpPr>
          <p:cNvPr id="56" name="box56"/>
          <p:cNvSpPr>
            <a:spLocks noGrp="1"/>
          </p:cNvSpPr>
          <p:nvPr/>
        </p:nvSpPr>
        <p:spPr>
          <a:xfrm>
            <a:off x="180000" y="9252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7" name="box57"/>
          <p:cNvSpPr>
            <a:spLocks noGrp="1"/>
          </p:cNvSpPr>
          <p:nvPr/>
        </p:nvSpPr>
        <p:spPr>
          <a:xfrm>
            <a:off x="558000" y="9252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'already' to say something happened sooner than expected.</a:t>
            </a:r>
          </a:p>
        </p:txBody>
      </p:sp>
      <p:sp>
        <p:nvSpPr>
          <p:cNvPr id="58" name="box58"/>
          <p:cNvSpPr>
            <a:spLocks noGrp="1"/>
          </p:cNvSpPr>
          <p:nvPr/>
        </p:nvSpPr>
        <p:spPr>
          <a:xfrm>
            <a:off x="180000" y="13104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9" name="box59"/>
          <p:cNvSpPr>
            <a:spLocks noGrp="1"/>
          </p:cNvSpPr>
          <p:nvPr/>
        </p:nvSpPr>
        <p:spPr>
          <a:xfrm>
            <a:off x="558000" y="13104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'yet' in negative sentences and questions to talk about expected actions.</a:t>
            </a:r>
          </a:p>
        </p:txBody>
      </p:sp>
      <p:sp>
        <p:nvSpPr>
          <p:cNvPr id="60" name="box60"/>
          <p:cNvSpPr>
            <a:spLocks noGrp="1"/>
          </p:cNvSpPr>
          <p:nvPr/>
        </p:nvSpPr>
        <p:spPr>
          <a:xfrm>
            <a:off x="180000" y="16956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1" name="box61"/>
          <p:cNvSpPr>
            <a:spLocks noGrp="1"/>
          </p:cNvSpPr>
          <p:nvPr/>
        </p:nvSpPr>
        <p:spPr>
          <a:xfrm>
            <a:off x="558000" y="16956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Place just and already between have/has and the past participle.</a:t>
            </a:r>
          </a:p>
        </p:txBody>
      </p:sp>
      <p:sp>
        <p:nvSpPr>
          <p:cNvPr id="62" name="box62"/>
          <p:cNvSpPr>
            <a:spLocks noGrp="1"/>
          </p:cNvSpPr>
          <p:nvPr/>
        </p:nvSpPr>
        <p:spPr>
          <a:xfrm>
            <a:off x="180000" y="20808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3" name="box63"/>
          <p:cNvSpPr>
            <a:spLocks noGrp="1"/>
          </p:cNvSpPr>
          <p:nvPr/>
        </p:nvSpPr>
        <p:spPr>
          <a:xfrm>
            <a:off x="558000" y="20808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Place yet at the end of the sentence in negatives and questions.</a:t>
            </a:r>
          </a:p>
        </p:txBody>
      </p:sp>
    </p:spTree>
  </p:cSld>
  <p:clrMapOvr>
    <a:masterClr/>
  </p:clrMapOvr>
</p:sld>
</file>

<file path=ppt/slides/slide3.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01" name="box1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02" name="box1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103" name="tb1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WARM-UP ACTIVITY</a:t>
            </a:r>
          </a:p>
        </p:txBody>
      </p:sp>
      <p:sp>
        <p:nvSpPr>
          <p:cNvPr id="104" name="box104"/>
          <p:cNvSpPr>
            <a:spLocks noGrp="1"/>
          </p:cNvSpPr>
          <p:nvPr/>
        </p:nvSpPr>
        <p:spPr>
          <a:xfrm>
            <a:off x="180000" y="540000"/>
            <a:ext cx="11832000" cy="396000"/>
          </a:xfrm>
          <a:prstGeom prst="roundRect">
            <a:avLst>
              <a:gd name="adj" fmla="val 15000"/>
            </a:avLst>
          </a:prstGeom>
          <a:solidFill>
            <a:srgbClr val="BF8F00"/>
          </a:solidFill>
          <a:ln w="0">
            <a:noFill/>
          </a:ln>
        </p:spPr>
        <p:txBody>
          <a:bodyPr anchor="ctr" wrap="square" lIns="180000" rIns="72000" tIns="54000" bIns="54000"/>
          <a:lstStyle/>
          <a:p>
            <a:pPr algn="l" spcBef="0" spcAft="0">
              <a:spcPct val="100000"/>
            </a:pPr>
            <a:r>
              <a:rPr lang="en-GB" b="1" sz="2400" dirty="0">
                <a:solidFill>
                  <a:srgbClr val="1F3864"/>
                </a:solidFill>
                <a:latin typeface="Cambria"/>
              </a:rPr>
              <a:t>✅ Have You Done It Yet?</a:t>
            </a:r>
          </a:p>
        </p:txBody>
      </p:sp>
      <p:sp>
        <p:nvSpPr>
          <p:cNvPr id="105" name="box105"/>
          <p:cNvSpPr>
            <a:spLocks noGrp="1"/>
          </p:cNvSpPr>
          <p:nvPr/>
        </p:nvSpPr>
        <p:spPr>
          <a:xfrm>
            <a:off x="11040000" y="540000"/>
            <a:ext cx="972000" cy="396000"/>
          </a:xfrm>
          <a:prstGeom prst="roundRect">
            <a:avLst>
              <a:gd name="adj" fmla="val 15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BF8F00"/>
                </a:solidFill>
                <a:latin typeface="Calibri"/>
              </a:rPr>
              <a:t>⏱  5 minutes</a:t>
            </a:r>
          </a:p>
        </p:txBody>
      </p:sp>
      <p:sp>
        <p:nvSpPr>
          <p:cNvPr id="106" name="box106"/>
          <p:cNvSpPr>
            <a:spLocks noGrp="1"/>
          </p:cNvSpPr>
          <p:nvPr/>
        </p:nvSpPr>
        <p:spPr>
          <a:xfrm>
            <a:off x="180000" y="1026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1</a:t>
            </a:r>
          </a:p>
        </p:txBody>
      </p:sp>
      <p:sp>
        <p:nvSpPr>
          <p:cNvPr id="107" name="tb107"/>
          <p:cNvSpPr txBox="1">
            <a:spLocks noGrp="1"/>
          </p:cNvSpPr>
          <p:nvPr/>
        </p:nvSpPr>
        <p:spPr>
          <a:xfrm>
            <a:off x="503999" y="1026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Teacher gives a list: 'eat breakfast, do homework, check your phone, drink water'.</a:t>
            </a:r>
          </a:p>
        </p:txBody>
      </p:sp>
      <p:sp>
        <p:nvSpPr>
          <p:cNvPr id="108" name="box108"/>
          <p:cNvSpPr>
            <a:spLocks noGrp="1"/>
          </p:cNvSpPr>
          <p:nvPr/>
        </p:nvSpPr>
        <p:spPr>
          <a:xfrm>
            <a:off x="180000" y="1458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2</a:t>
            </a:r>
          </a:p>
        </p:txBody>
      </p:sp>
      <p:sp>
        <p:nvSpPr>
          <p:cNvPr id="109" name="tb109"/>
          <p:cNvSpPr txBox="1">
            <a:spLocks noGrp="1"/>
          </p:cNvSpPr>
          <p:nvPr/>
        </p:nvSpPr>
        <p:spPr>
          <a:xfrm>
            <a:off x="503999" y="1458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Students say which they have already done and which they haven't done yet.</a:t>
            </a:r>
          </a:p>
        </p:txBody>
      </p:sp>
      <p:sp>
        <p:nvSpPr>
          <p:cNvPr id="110" name="box110"/>
          <p:cNvSpPr>
            <a:spLocks noGrp="1"/>
          </p:cNvSpPr>
          <p:nvPr/>
        </p:nvSpPr>
        <p:spPr>
          <a:xfrm>
            <a:off x="180000" y="1890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3</a:t>
            </a:r>
          </a:p>
        </p:txBody>
      </p:sp>
      <p:sp>
        <p:nvSpPr>
          <p:cNvPr id="111" name="tb111"/>
          <p:cNvSpPr txBox="1">
            <a:spLocks noGrp="1"/>
          </p:cNvSpPr>
          <p:nvPr/>
        </p:nvSpPr>
        <p:spPr>
          <a:xfrm>
            <a:off x="503999" y="1890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Example: 'I have already eaten breakfast, but I haven't done my homework yet.'</a:t>
            </a:r>
          </a:p>
        </p:txBody>
      </p:sp>
    </p:spTree>
  </p:cSld>
  <p:clrMapOvr>
    <a:masterClr/>
  </p:clrMapOvr>
</p:sld>
</file>

<file path=ppt/slides/slide4.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51" name="box1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52" name="box1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153" name="tb1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VOCABULARY PREVIEW</a:t>
            </a:r>
          </a:p>
        </p:txBody>
      </p:sp>
      <p:sp>
        <p:nvSpPr>
          <p:cNvPr id="154" name="box154"/>
          <p:cNvSpPr>
            <a:spLocks noGrp="1"/>
          </p:cNvSpPr>
          <p:nvPr/>
        </p:nvSpPr>
        <p:spPr>
          <a:xfrm>
            <a:off x="180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just</a:t>
            </a:r>
          </a:p>
        </p:txBody>
      </p:sp>
      <p:sp>
        <p:nvSpPr>
          <p:cNvPr id="155" name="box155"/>
          <p:cNvSpPr>
            <a:spLocks noGrp="1"/>
          </p:cNvSpPr>
          <p:nvPr/>
        </p:nvSpPr>
        <p:spPr>
          <a:xfrm>
            <a:off x="1007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56" name="box156"/>
          <p:cNvSpPr>
            <a:spLocks noGrp="1"/>
          </p:cNvSpPr>
          <p:nvPr/>
        </p:nvSpPr>
        <p:spPr>
          <a:xfrm>
            <a:off x="1512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very short time ago</a:t>
            </a:r>
          </a:p>
        </p:txBody>
      </p:sp>
      <p:sp>
        <p:nvSpPr>
          <p:cNvPr id="157" name="box157"/>
          <p:cNvSpPr>
            <a:spLocks noGrp="1"/>
          </p:cNvSpPr>
          <p:nvPr/>
        </p:nvSpPr>
        <p:spPr>
          <a:xfrm>
            <a:off x="6042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already</a:t>
            </a:r>
          </a:p>
        </p:txBody>
      </p:sp>
      <p:sp>
        <p:nvSpPr>
          <p:cNvPr id="158" name="box158"/>
          <p:cNvSpPr>
            <a:spLocks noGrp="1"/>
          </p:cNvSpPr>
          <p:nvPr/>
        </p:nvSpPr>
        <p:spPr>
          <a:xfrm>
            <a:off x="6869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59" name="box159"/>
          <p:cNvSpPr>
            <a:spLocks noGrp="1"/>
          </p:cNvSpPr>
          <p:nvPr/>
        </p:nvSpPr>
        <p:spPr>
          <a:xfrm>
            <a:off x="7374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before now; sooner than expected</a:t>
            </a:r>
          </a:p>
        </p:txBody>
      </p:sp>
      <p:sp>
        <p:nvSpPr>
          <p:cNvPr id="160" name="box160"/>
          <p:cNvSpPr>
            <a:spLocks noGrp="1"/>
          </p:cNvSpPr>
          <p:nvPr/>
        </p:nvSpPr>
        <p:spPr>
          <a:xfrm>
            <a:off x="180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yet</a:t>
            </a:r>
          </a:p>
        </p:txBody>
      </p:sp>
      <p:sp>
        <p:nvSpPr>
          <p:cNvPr id="161" name="box161"/>
          <p:cNvSpPr>
            <a:spLocks noGrp="1"/>
          </p:cNvSpPr>
          <p:nvPr/>
        </p:nvSpPr>
        <p:spPr>
          <a:xfrm>
            <a:off x="1007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62" name="box162"/>
          <p:cNvSpPr>
            <a:spLocks noGrp="1"/>
          </p:cNvSpPr>
          <p:nvPr/>
        </p:nvSpPr>
        <p:spPr>
          <a:xfrm>
            <a:off x="1512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until now (negatives/questions)</a:t>
            </a:r>
          </a:p>
        </p:txBody>
      </p:sp>
      <p:sp>
        <p:nvSpPr>
          <p:cNvPr id="163" name="box163"/>
          <p:cNvSpPr>
            <a:spLocks noGrp="1"/>
          </p:cNvSpPr>
          <p:nvPr/>
        </p:nvSpPr>
        <p:spPr>
          <a:xfrm>
            <a:off x="6042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still</a:t>
            </a:r>
          </a:p>
        </p:txBody>
      </p:sp>
      <p:sp>
        <p:nvSpPr>
          <p:cNvPr id="164" name="box164"/>
          <p:cNvSpPr>
            <a:spLocks noGrp="1"/>
          </p:cNvSpPr>
          <p:nvPr/>
        </p:nvSpPr>
        <p:spPr>
          <a:xfrm>
            <a:off x="6869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65" name="box165"/>
          <p:cNvSpPr>
            <a:spLocks noGrp="1"/>
          </p:cNvSpPr>
          <p:nvPr/>
        </p:nvSpPr>
        <p:spPr>
          <a:xfrm>
            <a:off x="7374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continuing until now</a:t>
            </a:r>
          </a:p>
        </p:txBody>
      </p:sp>
      <p:sp>
        <p:nvSpPr>
          <p:cNvPr id="166" name="box166"/>
          <p:cNvSpPr>
            <a:spLocks noGrp="1"/>
          </p:cNvSpPr>
          <p:nvPr/>
        </p:nvSpPr>
        <p:spPr>
          <a:xfrm>
            <a:off x="180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finished</a:t>
            </a:r>
          </a:p>
        </p:txBody>
      </p:sp>
      <p:sp>
        <p:nvSpPr>
          <p:cNvPr id="167" name="box167"/>
          <p:cNvSpPr>
            <a:spLocks noGrp="1"/>
          </p:cNvSpPr>
          <p:nvPr/>
        </p:nvSpPr>
        <p:spPr>
          <a:xfrm>
            <a:off x="1007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68" name="box168"/>
          <p:cNvSpPr>
            <a:spLocks noGrp="1"/>
          </p:cNvSpPr>
          <p:nvPr/>
        </p:nvSpPr>
        <p:spPr>
          <a:xfrm>
            <a:off x="1512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completed; done</a:t>
            </a:r>
          </a:p>
        </p:txBody>
      </p:sp>
      <p:sp>
        <p:nvSpPr>
          <p:cNvPr id="169" name="box169"/>
          <p:cNvSpPr>
            <a:spLocks noGrp="1"/>
          </p:cNvSpPr>
          <p:nvPr/>
        </p:nvSpPr>
        <p:spPr>
          <a:xfrm>
            <a:off x="6042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arrived</a:t>
            </a:r>
          </a:p>
        </p:txBody>
      </p:sp>
      <p:sp>
        <p:nvSpPr>
          <p:cNvPr id="170" name="box170"/>
          <p:cNvSpPr>
            <a:spLocks noGrp="1"/>
          </p:cNvSpPr>
          <p:nvPr/>
        </p:nvSpPr>
        <p:spPr>
          <a:xfrm>
            <a:off x="6869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71" name="box171"/>
          <p:cNvSpPr>
            <a:spLocks noGrp="1"/>
          </p:cNvSpPr>
          <p:nvPr/>
        </p:nvSpPr>
        <p:spPr>
          <a:xfrm>
            <a:off x="7374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past participle of arrive</a:t>
            </a:r>
          </a:p>
        </p:txBody>
      </p:sp>
      <p:sp>
        <p:nvSpPr>
          <p:cNvPr id="172" name="box172"/>
          <p:cNvSpPr>
            <a:spLocks noGrp="1"/>
          </p:cNvSpPr>
          <p:nvPr/>
        </p:nvSpPr>
        <p:spPr>
          <a:xfrm>
            <a:off x="180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started</a:t>
            </a:r>
          </a:p>
        </p:txBody>
      </p:sp>
      <p:sp>
        <p:nvSpPr>
          <p:cNvPr id="173" name="box173"/>
          <p:cNvSpPr>
            <a:spLocks noGrp="1"/>
          </p:cNvSpPr>
          <p:nvPr/>
        </p:nvSpPr>
        <p:spPr>
          <a:xfrm>
            <a:off x="1007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74" name="box174"/>
          <p:cNvSpPr>
            <a:spLocks noGrp="1"/>
          </p:cNvSpPr>
          <p:nvPr/>
        </p:nvSpPr>
        <p:spPr>
          <a:xfrm>
            <a:off x="1512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past participle of start</a:t>
            </a:r>
          </a:p>
        </p:txBody>
      </p:sp>
      <p:sp>
        <p:nvSpPr>
          <p:cNvPr id="175" name="box175"/>
          <p:cNvSpPr>
            <a:spLocks noGrp="1"/>
          </p:cNvSpPr>
          <p:nvPr/>
        </p:nvSpPr>
        <p:spPr>
          <a:xfrm>
            <a:off x="6042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cleaned</a:t>
            </a:r>
          </a:p>
        </p:txBody>
      </p:sp>
      <p:sp>
        <p:nvSpPr>
          <p:cNvPr id="176" name="box176"/>
          <p:cNvSpPr>
            <a:spLocks noGrp="1"/>
          </p:cNvSpPr>
          <p:nvPr/>
        </p:nvSpPr>
        <p:spPr>
          <a:xfrm>
            <a:off x="6869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77" name="box177"/>
          <p:cNvSpPr>
            <a:spLocks noGrp="1"/>
          </p:cNvSpPr>
          <p:nvPr/>
        </p:nvSpPr>
        <p:spPr>
          <a:xfrm>
            <a:off x="7374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past participle of clean</a:t>
            </a:r>
          </a:p>
        </p:txBody>
      </p:sp>
      <p:sp>
        <p:nvSpPr>
          <p:cNvPr id="178" name="box178"/>
          <p:cNvSpPr>
            <a:spLocks noGrp="1"/>
          </p:cNvSpPr>
          <p:nvPr/>
        </p:nvSpPr>
        <p:spPr>
          <a:xfrm>
            <a:off x="180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paid</a:t>
            </a:r>
          </a:p>
        </p:txBody>
      </p:sp>
      <p:sp>
        <p:nvSpPr>
          <p:cNvPr id="179" name="box179"/>
          <p:cNvSpPr>
            <a:spLocks noGrp="1"/>
          </p:cNvSpPr>
          <p:nvPr/>
        </p:nvSpPr>
        <p:spPr>
          <a:xfrm>
            <a:off x="1007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80" name="box180"/>
          <p:cNvSpPr>
            <a:spLocks noGrp="1"/>
          </p:cNvSpPr>
          <p:nvPr/>
        </p:nvSpPr>
        <p:spPr>
          <a:xfrm>
            <a:off x="1512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past participle of pay</a:t>
            </a:r>
          </a:p>
        </p:txBody>
      </p:sp>
      <p:sp>
        <p:nvSpPr>
          <p:cNvPr id="181" name="box181"/>
          <p:cNvSpPr>
            <a:spLocks noGrp="1"/>
          </p:cNvSpPr>
          <p:nvPr/>
        </p:nvSpPr>
        <p:spPr>
          <a:xfrm>
            <a:off x="6042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sent</a:t>
            </a:r>
          </a:p>
        </p:txBody>
      </p:sp>
      <p:sp>
        <p:nvSpPr>
          <p:cNvPr id="182" name="box182"/>
          <p:cNvSpPr>
            <a:spLocks noGrp="1"/>
          </p:cNvSpPr>
          <p:nvPr/>
        </p:nvSpPr>
        <p:spPr>
          <a:xfrm>
            <a:off x="6869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ver</a:t>
            </a:r>
          </a:p>
        </p:txBody>
      </p:sp>
      <p:sp>
        <p:nvSpPr>
          <p:cNvPr id="183" name="box183"/>
          <p:cNvSpPr>
            <a:spLocks noGrp="1"/>
          </p:cNvSpPr>
          <p:nvPr/>
        </p:nvSpPr>
        <p:spPr>
          <a:xfrm>
            <a:off x="7374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past participle of send</a:t>
            </a:r>
          </a:p>
        </p:txBody>
      </p:sp>
      <p:sp>
        <p:nvSpPr>
          <p:cNvPr id="184" name="tb184"/>
          <p:cNvSpPr txBox="1">
            <a:spLocks noGrp="1"/>
          </p:cNvSpPr>
          <p:nvPr/>
        </p:nvSpPr>
        <p:spPr>
          <a:xfrm>
            <a:off x="180000" y="6606001"/>
            <a:ext cx="11832000" cy="198000"/>
          </a:xfrm>
          <a:prstGeom prst="rect">
            <a:avLst/>
          </a:prstGeom>
          <a:noFill/>
        </p:spPr>
        <p:txBody>
          <a:bodyPr anchor="ctr" wrap="square" lIns="36000" rIns="36000" tIns="36000" bIns="36000"/>
          <a:lstStyle/>
          <a:p>
            <a:pPr algn="l" spcBef="0" spcAft="0">
              <a:spcPct val="100000"/>
            </a:pPr>
            <a:r>
              <a:rPr lang="en-GB" b="0" i="1" sz="1300" dirty="0">
                <a:solidFill>
                  <a:srgbClr val="2E75B6"/>
                </a:solidFill>
                <a:latin typeface="Calibri"/>
              </a:rPr>
              <a:t>📚  Full 30-word vocabulary bank in your workbook — Section 4.</a:t>
            </a:r>
          </a:p>
        </p:txBody>
      </p:sp>
    </p:spTree>
  </p:cSld>
  <p:clrMapOvr>
    <a:masterClr/>
  </p:clrMapOvr>
</p:sld>
</file>

<file path=ppt/slides/slide5.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01" name="box2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02" name="box2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03" name="tb2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GRAMMAR RULE</a:t>
            </a:r>
          </a:p>
        </p:txBody>
      </p:sp>
      <p:sp>
        <p:nvSpPr>
          <p:cNvPr id="204" name="box204"/>
          <p:cNvSpPr>
            <a:spLocks noGrp="1"/>
          </p:cNvSpPr>
          <p:nvPr/>
        </p:nvSpPr>
        <p:spPr>
          <a:xfrm>
            <a:off x="180000" y="522000"/>
            <a:ext cx="11832000" cy="396000"/>
          </a:xfrm>
          <a:prstGeom prst="roundRect">
            <a:avLst>
              <a:gd name="adj" fmla="val 10000"/>
            </a:avLst>
          </a:prstGeom>
          <a:solidFill>
            <a:srgbClr val="FFF2CC"/>
          </a:solidFill>
          <a:ln w="12700">
            <a:solidFill>
              <a:srgbClr val="BF8F00"/>
            </a:solidFill>
          </a:ln>
        </p:spPr>
        <p:txBody>
          <a:bodyPr anchor="ctr" wrap="square" lIns="144000" rIns="72000" tIns="54000" bIns="54000"/>
          <a:lstStyle/>
          <a:p>
            <a:pPr algn="l" spcBef="0" spcAft="0">
              <a:spcPct val="100000"/>
            </a:pPr>
            <a:r>
              <a:rPr lang="en-GB" b="1" sz="1700" dirty="0">
                <a:solidFill>
                  <a:srgbClr val="1F3864"/>
                </a:solidFill>
                <a:latin typeface="Calibri"/>
              </a:rPr>
              <a:t>📌  Use 'just' for very recent actions, 'already' for actions completed sooner than expected, and 'yet' in negatives/questions for actions expected but not done.</a:t>
            </a:r>
          </a:p>
        </p:txBody>
      </p:sp>
      <p:graphicFrame>
        <p:nvGraphicFramePr>
          <p:cNvPr id="205" name="tbl205"/>
          <p:cNvGraphicFramePr>
            <a:graphicFrameLocks noGrp="1"/>
          </p:cNvGraphicFramePr>
          <p:nvPr/>
        </p:nvGraphicFramePr>
        <p:xfrm>
          <a:off x="180000" y="990000"/>
          <a:ext cx="11832000" cy="5778000"/>
        </p:xfrm>
        <a:graphic>
          <a:graphicData uri="http://schemas.openxmlformats.org/drawingml/2006/table">
            <a:tbl>
              <a:tblPr firstRow="1" bandRow="1">
                <a:tableStyleId>{5C22544A-7EE6-4342-B048-85BDC9FD1C3A}</a:tableStyleId>
              </a:tblPr>
              <a:tblGrid>
                <a:gridCol w="2958000"/>
                <a:gridCol w="2958000"/>
                <a:gridCol w="2958000"/>
                <a:gridCol w="2958000"/>
              </a:tblGrid>
              <a:tr h="1112400">
                <a:tc>
                  <a:txBody>
                    <a:bodyPr/>
                    <a:lstStyle/>
                    <a:p>
                      <a:pPr algn="l"/>
                      <a:r>
                        <a:rPr lang="en-GB" b="1" sz="1400" dirty="0">
                          <a:solidFill>
                            <a:srgbClr val="FFFFFF"/>
                          </a:solidFill>
                          <a:latin typeface="Calibri"/>
                        </a:rPr>
                        <a:t>Word</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Meaning</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Position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Example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just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a moment ago</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have/has + JUST + past participle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have just eaten.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already</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sooner than expected</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have/has + ALREADY + past participle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has already left.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yet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until now (neg/question)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at the END of the sentence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He hasn't arrived yet.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yet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until now (question)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at the END of the sentence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Have you finished yet?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6.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51" name="box2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52" name="box2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53" name="tb2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SPELLING &amp; USAGE NOTES</a:t>
            </a:r>
          </a:p>
        </p:txBody>
      </p:sp>
      <p:sp>
        <p:nvSpPr>
          <p:cNvPr id="254" name="box254"/>
          <p:cNvSpPr>
            <a:spLocks noGrp="1"/>
          </p:cNvSpPr>
          <p:nvPr/>
        </p:nvSpPr>
        <p:spPr>
          <a:xfrm>
            <a:off x="180000" y="540000"/>
            <a:ext cx="11832000" cy="503999"/>
          </a:xfrm>
          <a:prstGeom prst="rect">
            <a:avLst/>
          </a:prstGeom>
          <a:solidFill>
            <a:srgbClr val="DCE6F1"/>
          </a:solidFill>
          <a:ln w="12700">
            <a:solidFill>
              <a:srgbClr val="1F3864"/>
            </a:solidFill>
          </a:ln>
        </p:spPr>
        <p:txBody>
          <a:bodyPr anchor="ctr" wrap="square" lIns="144000" rIns="72000" tIns="54000" bIns="54000"/>
          <a:lstStyle/>
          <a:p>
            <a:pPr algn="l" spcBef="0" spcAft="0">
              <a:spcPct val="100000"/>
            </a:pPr>
            <a:r>
              <a:rPr lang="en-GB" b="1" sz="1500" dirty="0">
                <a:solidFill>
                  <a:srgbClr val="1F3864"/>
                </a:solidFill>
                <a:latin typeface="Calibri"/>
              </a:rPr>
              <a:t>⚠️  Watch Out!  </a:t>
            </a:r>
            <a:r>
              <a:rPr lang="en-GB" b="0" sz="1400" dirty="0">
                <a:solidFill>
                  <a:srgbClr val="1F3864"/>
                </a:solidFill>
                <a:latin typeface="Calibri"/>
              </a:rPr>
              <a:t>JUST and ALREADY go between have/has and the past participle. YET goes at the END of the sentence and is used ONLY in negatives and questions. Do NOT say 'I have yet finished.' Say 'I haven't finished yet.'</a:t>
            </a:r>
          </a:p>
        </p:txBody>
      </p:sp>
      <p:sp>
        <p:nvSpPr>
          <p:cNvPr id="255" name="box255"/>
          <p:cNvSpPr>
            <a:spLocks noGrp="1"/>
          </p:cNvSpPr>
          <p:nvPr/>
        </p:nvSpPr>
        <p:spPr>
          <a:xfrm>
            <a:off x="180000" y="1169998"/>
            <a:ext cx="1260000" cy="216000"/>
          </a:xfrm>
          <a:prstGeom prst="roundRect">
            <a:avLst>
              <a:gd name="adj" fmla="val 10000"/>
            </a:avLst>
          </a:prstGeom>
          <a:solidFill>
            <a:srgbClr val="BF8F00"/>
          </a:solidFill>
          <a:ln w="0">
            <a:noFill/>
          </a:ln>
        </p:spPr>
        <p:txBody>
          <a:bodyPr anchor="ctr" wrap="square" lIns="72000" rIns="72000" tIns="54000" bIns="54000"/>
          <a:lstStyle/>
          <a:p>
            <a:pPr algn="ctr" spcBef="0" spcAft="0">
              <a:spcPct val="100000"/>
            </a:pPr>
            <a:r>
              <a:rPr lang="en-GB" b="1" sz="1400" dirty="0">
                <a:solidFill>
                  <a:srgbClr val="1F3864"/>
                </a:solidFill>
                <a:latin typeface="Calibri"/>
              </a:rPr>
              <a:t>Usage Examples</a:t>
            </a:r>
          </a:p>
        </p:txBody>
      </p:sp>
      <p:sp>
        <p:nvSpPr>
          <p:cNvPr id="256" name="tb256"/>
          <p:cNvSpPr txBox="1">
            <a:spLocks noGrp="1"/>
          </p:cNvSpPr>
          <p:nvPr/>
        </p:nvSpPr>
        <p:spPr>
          <a:xfrm>
            <a:off x="180000" y="1439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Just (very recent): I have just arrived. She has just called me.</a:t>
            </a:r>
          </a:p>
        </p:txBody>
      </p:sp>
      <p:sp>
        <p:nvSpPr>
          <p:cNvPr id="257" name="tb257"/>
          <p:cNvSpPr txBox="1">
            <a:spLocks noGrp="1"/>
          </p:cNvSpPr>
          <p:nvPr/>
        </p:nvSpPr>
        <p:spPr>
          <a:xfrm>
            <a:off x="180000" y="1655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Already (done sooner): The film has already started. I have already eaten.</a:t>
            </a:r>
          </a:p>
        </p:txBody>
      </p:sp>
      <p:sp>
        <p:nvSpPr>
          <p:cNvPr id="258" name="tb258"/>
          <p:cNvSpPr txBox="1">
            <a:spLocks noGrp="1"/>
          </p:cNvSpPr>
          <p:nvPr/>
        </p:nvSpPr>
        <p:spPr>
          <a:xfrm>
            <a:off x="180000" y="1871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Yet (negative): I haven't finished yet. He hasn't called yet.</a:t>
            </a:r>
          </a:p>
        </p:txBody>
      </p:sp>
      <p:sp>
        <p:nvSpPr>
          <p:cNvPr id="259" name="tb259"/>
          <p:cNvSpPr txBox="1">
            <a:spLocks noGrp="1"/>
          </p:cNvSpPr>
          <p:nvPr/>
        </p:nvSpPr>
        <p:spPr>
          <a:xfrm>
            <a:off x="180000" y="2087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Yet (question): Have you done your homework yet? Has she arrived yet?</a:t>
            </a:r>
          </a:p>
        </p:txBody>
      </p:sp>
    </p:spTree>
  </p:cSld>
  <p:clrMapOvr>
    <a:masterClr/>
  </p:clrMapOvr>
</p:sld>
</file>

<file path=ppt/slides/slide7.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01" name="box3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02" name="box3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03" name="tb3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GUIDED PRACTICE</a:t>
            </a:r>
          </a:p>
        </p:txBody>
      </p:sp>
      <p:sp>
        <p:nvSpPr>
          <p:cNvPr id="304" name="tb3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Complete with just, already, or yet in the correct position. Items 1-2 are done for you.</a:t>
            </a:r>
          </a:p>
        </p:txBody>
      </p:sp>
      <p:graphicFrame>
        <p:nvGraphicFramePr>
          <p:cNvPr id="305" name="tbl3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6152640"/>
                <a:gridCol w="4969440"/>
              </a:tblGrid>
              <a:tr h="11412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Prompt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1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___ finished my homework. (just)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have JUST finished my homework.</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2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hasn't called ___. (yet)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hasn't called YET.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They have ___ left the house. (already)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Have you eaten ___? (yet)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8.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51" name="box3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52" name="box3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53" name="tb3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CONTROLLED PRACTICE</a:t>
            </a:r>
          </a:p>
        </p:txBody>
      </p:sp>
      <p:sp>
        <p:nvSpPr>
          <p:cNvPr id="354" name="tb35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Write complete Present Perfect sentences using just, already, or yet.</a:t>
            </a:r>
          </a:p>
        </p:txBody>
      </p:sp>
      <p:graphicFrame>
        <p:nvGraphicFramePr>
          <p:cNvPr id="355" name="tbl35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5561040"/>
                <a:gridCol w="556104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Prompt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Write your 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 just / finish / lunch)</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 already / leave / the office)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(they / not / arrive / yet)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(Have / you / do / your homework / yet?)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(he / just / send / the message)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9.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01" name="box4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02" name="box4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403" name="tb4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ERROR CORRECTION</a:t>
            </a:r>
          </a:p>
        </p:txBody>
      </p:sp>
      <p:sp>
        <p:nvSpPr>
          <p:cNvPr id="404" name="tb4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Find and correct the ONE mistake in each sentence.</a:t>
            </a:r>
          </a:p>
        </p:txBody>
      </p:sp>
      <p:graphicFrame>
        <p:nvGraphicFramePr>
          <p:cNvPr id="405" name="tbl4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591600"/>
                <a:gridCol w="5916000"/>
                <a:gridCol w="532440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 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Corrected 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have finished just my homework.</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hasn't already called.</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Have you yet eaten?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He has yet not arrived.</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They have left already the building.</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10.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51" name="box4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52" name="box45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453" name="tb4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SPEAKING ACTIVITY</a:t>
            </a:r>
          </a:p>
        </p:txBody>
      </p:sp>
      <p:sp>
        <p:nvSpPr>
          <p:cNvPr id="454" name="box454"/>
          <p:cNvSpPr>
            <a:spLocks noGrp="1"/>
          </p:cNvSpPr>
          <p:nvPr/>
        </p:nvSpPr>
        <p:spPr>
          <a:xfrm>
            <a:off x="180000" y="522000"/>
            <a:ext cx="11832000" cy="360000"/>
          </a:xfrm>
          <a:prstGeom prst="roundRect">
            <a:avLst>
              <a:gd name="adj" fmla="val 12000"/>
            </a:avLst>
          </a:prstGeom>
          <a:solidFill>
            <a:srgbClr val="548235"/>
          </a:solidFill>
          <a:ln w="0">
            <a:noFill/>
          </a:ln>
        </p:spPr>
        <p:txBody>
          <a:bodyPr anchor="ctr" wrap="square" lIns="180000" rIns="72000" tIns="54000" bIns="54000"/>
          <a:lstStyle/>
          <a:p>
            <a:pPr algn="l" spcBef="0" spcAft="0">
              <a:spcPct val="100000"/>
            </a:pPr>
            <a:r>
              <a:rPr lang="en-GB" b="1" sz="2200" dirty="0">
                <a:solidFill>
                  <a:srgbClr val="FFFFFF"/>
                </a:solidFill>
                <a:latin typeface="Cambria"/>
              </a:rPr>
              <a:t>💬 The To-Do List Game</a:t>
            </a:r>
          </a:p>
        </p:txBody>
      </p:sp>
      <p:sp>
        <p:nvSpPr>
          <p:cNvPr id="455" name="box455"/>
          <p:cNvSpPr>
            <a:spLocks noGrp="1"/>
          </p:cNvSpPr>
          <p:nvPr/>
        </p:nvSpPr>
        <p:spPr>
          <a:xfrm>
            <a:off x="11112000" y="954000"/>
            <a:ext cx="900000" cy="1260000"/>
          </a:xfrm>
          <a:prstGeom prst="roundRect">
            <a:avLst>
              <a:gd name="adj" fmla="val 20000"/>
            </a:avLst>
          </a:prstGeom>
          <a:solidFill>
            <a:srgbClr val="DCE6F1"/>
          </a:solidFill>
          <a:ln w="0">
            <a:noFill/>
          </a:ln>
        </p:spPr>
        <p:txBody>
          <a:bodyPr anchor="ctr" wrap="square" lIns="72000" rIns="72000" tIns="54000" bIns="54000"/>
          <a:lstStyle/>
          <a:p>
            <a:pPr algn="ctr" spcBef="0" spcAft="0">
              <a:spcPct val="100000"/>
            </a:pPr>
            <a:r>
              <a:rPr lang="en-GB" b="0" sz="6000" dirty="0">
                <a:solidFill>
                  <a:srgbClr val="2E75B6"/>
                </a:solidFill>
                <a:latin typeface="Calibri"/>
              </a:rPr>
              <a:t>💬</a:t>
            </a:r>
          </a:p>
        </p:txBody>
      </p:sp>
      <p:sp>
        <p:nvSpPr>
          <p:cNvPr id="456" name="box456"/>
          <p:cNvSpPr>
            <a:spLocks noGrp="1"/>
          </p:cNvSpPr>
          <p:nvPr/>
        </p:nvSpPr>
        <p:spPr>
          <a:xfrm>
            <a:off x="180000" y="9540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1</a:t>
            </a:r>
          </a:p>
        </p:txBody>
      </p:sp>
      <p:sp>
        <p:nvSpPr>
          <p:cNvPr id="457" name="tb457"/>
          <p:cNvSpPr txBox="1">
            <a:spLocks noGrp="1"/>
          </p:cNvSpPr>
          <p:nvPr/>
        </p:nvSpPr>
        <p:spPr>
          <a:xfrm>
            <a:off x="468000" y="9540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Write a to-do list of 6 things for today (eat breakfast, do homework, call a friend...).</a:t>
            </a:r>
          </a:p>
        </p:txBody>
      </p:sp>
      <p:sp>
        <p:nvSpPr>
          <p:cNvPr id="458" name="box458"/>
          <p:cNvSpPr>
            <a:spLocks noGrp="1"/>
          </p:cNvSpPr>
          <p:nvPr/>
        </p:nvSpPr>
        <p:spPr>
          <a:xfrm>
            <a:off x="180000" y="12708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2</a:t>
            </a:r>
          </a:p>
        </p:txBody>
      </p:sp>
      <p:sp>
        <p:nvSpPr>
          <p:cNvPr id="459" name="tb459"/>
          <p:cNvSpPr txBox="1">
            <a:spLocks noGrp="1"/>
          </p:cNvSpPr>
          <p:nvPr/>
        </p:nvSpPr>
        <p:spPr>
          <a:xfrm>
            <a:off x="468000" y="12708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Tell your partner which ones you have already done and which you haven't done yet.</a:t>
            </a:r>
          </a:p>
        </p:txBody>
      </p:sp>
      <p:sp>
        <p:nvSpPr>
          <p:cNvPr id="460" name="box460"/>
          <p:cNvSpPr>
            <a:spLocks noGrp="1"/>
          </p:cNvSpPr>
          <p:nvPr/>
        </p:nvSpPr>
        <p:spPr>
          <a:xfrm>
            <a:off x="180000" y="15876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3</a:t>
            </a:r>
          </a:p>
        </p:txBody>
      </p:sp>
      <p:sp>
        <p:nvSpPr>
          <p:cNvPr id="461" name="tb461"/>
          <p:cNvSpPr txBox="1">
            <a:spLocks noGrp="1"/>
          </p:cNvSpPr>
          <p:nvPr/>
        </p:nvSpPr>
        <p:spPr>
          <a:xfrm>
            <a:off x="468000" y="15876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Your partner asks: 'Have you done your homework yet?' You reply: 'Yes, I have already done it.' or 'No, I haven't done it yet.'</a:t>
            </a:r>
          </a:p>
        </p:txBody>
      </p:sp>
      <p:sp>
        <p:nvSpPr>
          <p:cNvPr id="462" name="box462"/>
          <p:cNvSpPr>
            <a:spLocks noGrp="1"/>
          </p:cNvSpPr>
          <p:nvPr/>
        </p:nvSpPr>
        <p:spPr>
          <a:xfrm>
            <a:off x="180000" y="19044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4</a:t>
            </a:r>
          </a:p>
        </p:txBody>
      </p:sp>
      <p:sp>
        <p:nvSpPr>
          <p:cNvPr id="463" name="tb463"/>
          <p:cNvSpPr txBox="1">
            <a:spLocks noGrp="1"/>
          </p:cNvSpPr>
          <p:nvPr/>
        </p:nvSpPr>
        <p:spPr>
          <a:xfrm>
            <a:off x="468000" y="19044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Report: 'Maria has already eaten lunch, but she hasn't called her friend yet.'</a:t>
            </a:r>
          </a:p>
        </p:txBody>
      </p:sp>
      <p:sp>
        <p:nvSpPr>
          <p:cNvPr id="464" name="box464"/>
          <p:cNvSpPr>
            <a:spLocks noGrp="1"/>
          </p:cNvSpPr>
          <p:nvPr/>
        </p:nvSpPr>
        <p:spPr>
          <a:xfrm>
            <a:off x="180000" y="6570000"/>
            <a:ext cx="126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Pair Work</a:t>
            </a:r>
          </a:p>
        </p:txBody>
      </p:sp>
    </p:spTree>
  </p:cSld>
  <p:clrMapOvr>
    <a:masterClr/>
  </p:clrMapOvr>
</p:sld>
</file>

<file path=ppt/slides/slide11.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01" name="box5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02" name="box50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503" name="tb5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READING &amp; WRITING</a:t>
            </a:r>
          </a:p>
        </p:txBody>
      </p:sp>
      <p:sp>
        <p:nvSpPr>
          <p:cNvPr id="504" name="box504"/>
          <p:cNvSpPr>
            <a:spLocks noGrp="1"/>
          </p:cNvSpPr>
          <p:nvPr/>
        </p:nvSpPr>
        <p:spPr>
          <a:xfrm>
            <a:off x="180000" y="540000"/>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Reading</a:t>
            </a:r>
          </a:p>
        </p:txBody>
      </p:sp>
      <p:sp>
        <p:nvSpPr>
          <p:cNvPr id="505" name="box505"/>
          <p:cNvSpPr>
            <a:spLocks noGrp="1"/>
          </p:cNvSpPr>
          <p:nvPr/>
        </p:nvSpPr>
        <p:spPr>
          <a:xfrm>
            <a:off x="180000" y="792000"/>
            <a:ext cx="11832000" cy="612000"/>
          </a:xfrm>
          <a:prstGeom prst="rect">
            <a:avLst/>
          </a:prstGeom>
          <a:solidFill>
            <a:srgbClr val="F2F2F2"/>
          </a:solidFill>
          <a:ln w="12700">
            <a:solidFill>
              <a:srgbClr val="CCCCCC"/>
            </a:solidFill>
          </a:ln>
        </p:spPr>
        <p:txBody>
          <a:bodyPr anchor="t" wrap="square" lIns="108000" rIns="72000" tIns="72000" bIns="54000"/>
          <a:lstStyle/>
          <a:p>
            <a:pPr algn="l" spcBef="0" spcAft="0">
              <a:spcPct val="100000"/>
            </a:pPr>
            <a:r>
              <a:rPr lang="en-GB" b="0" i="1" sz="1300" dirty="0">
                <a:solidFill>
                  <a:srgbClr val="404040"/>
                </a:solidFill>
                <a:latin typeface="Calibri"/>
              </a:rPr>
              <a:t>It is Saturday morning. Tom has a list of things to do. He has already eaten breakfast and cleaned his room. He has just finished washing the dishes. But he hasn't done the laundry yet. He hasn't been to the supermarket yet either. His mother asks: 'Have you called your grandmother yet?' 'No, not yet!' he says.</a:t>
            </a:r>
          </a:p>
        </p:txBody>
      </p:sp>
      <p:sp>
        <p:nvSpPr>
          <p:cNvPr id="506" name="box506"/>
          <p:cNvSpPr>
            <a:spLocks noGrp="1"/>
          </p:cNvSpPr>
          <p:nvPr/>
        </p:nvSpPr>
        <p:spPr>
          <a:xfrm>
            <a:off x="180000" y="1475999"/>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Writing</a:t>
            </a:r>
          </a:p>
        </p:txBody>
      </p:sp>
      <p:sp>
        <p:nvSpPr>
          <p:cNvPr id="507" name="tb507"/>
          <p:cNvSpPr txBox="1">
            <a:spLocks noGrp="1"/>
          </p:cNvSpPr>
          <p:nvPr/>
        </p:nvSpPr>
        <p:spPr>
          <a:xfrm>
            <a:off x="180000" y="1728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548235"/>
                </a:solidFill>
                <a:latin typeface="Calibri"/>
              </a:rPr>
              <a:t>Write 6 sentences using just, already, and yet about your day today.</a:t>
            </a:r>
          </a:p>
        </p:txBody>
      </p:sp>
      <p:sp>
        <p:nvSpPr>
          <p:cNvPr id="508" name="tb508"/>
          <p:cNvSpPr txBox="1">
            <a:spLocks noGrp="1"/>
          </p:cNvSpPr>
          <p:nvPr/>
        </p:nvSpPr>
        <p:spPr>
          <a:xfrm>
            <a:off x="180000" y="20159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Something you have just done: I have just ___.</a:t>
            </a:r>
          </a:p>
        </p:txBody>
      </p:sp>
      <p:sp>
        <p:nvSpPr>
          <p:cNvPr id="509" name="tb509"/>
          <p:cNvSpPr txBox="1">
            <a:spLocks noGrp="1"/>
          </p:cNvSpPr>
          <p:nvPr/>
        </p:nvSpPr>
        <p:spPr>
          <a:xfrm>
            <a:off x="180000" y="21527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Something you have already done: I have already ___.</a:t>
            </a:r>
          </a:p>
        </p:txBody>
      </p:sp>
      <p:sp>
        <p:nvSpPr>
          <p:cNvPr id="510" name="tb510"/>
          <p:cNvSpPr txBox="1">
            <a:spLocks noGrp="1"/>
          </p:cNvSpPr>
          <p:nvPr/>
        </p:nvSpPr>
        <p:spPr>
          <a:xfrm>
            <a:off x="180000" y="22895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Something you haven't done yet: I haven't ___ yet.</a:t>
            </a:r>
          </a:p>
        </p:txBody>
      </p:sp>
    </p:spTree>
  </p:cSld>
  <p:clrMapOvr>
    <a:masterClr/>
  </p:clrMapOvr>
</p:sld>
</file>

<file path=ppt/slides/slide1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51" name="box5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52" name="box5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53" name="tb5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HOMEWORK</a:t>
            </a:r>
          </a:p>
        </p:txBody>
      </p:sp>
      <p:sp>
        <p:nvSpPr>
          <p:cNvPr id="554" name="box554"/>
          <p:cNvSpPr>
            <a:spLocks noGrp="1"/>
          </p:cNvSpPr>
          <p:nvPr/>
        </p:nvSpPr>
        <p:spPr>
          <a:xfrm>
            <a:off x="180000" y="540000"/>
            <a:ext cx="432000" cy="432000"/>
          </a:xfrm>
          <a:prstGeom prst="roundRect">
            <a:avLst>
              <a:gd name="adj" fmla="val 50000"/>
            </a:avLst>
          </a:prstGeom>
          <a:solidFill>
            <a:srgbClr val="BF8F00"/>
          </a:solidFill>
          <a:ln w="0">
            <a:noFill/>
          </a:ln>
        </p:spPr>
        <p:txBody>
          <a:bodyPr anchor="ctr" wrap="square" lIns="72000" rIns="72000" tIns="54000" bIns="54000"/>
          <a:lstStyle/>
          <a:p>
            <a:pPr algn="ctr" spcBef="0" spcAft="0">
              <a:spcPct val="100000"/>
            </a:pPr>
            <a:r>
              <a:rPr lang="en-GB" b="1" sz="2800" dirty="0">
                <a:solidFill>
                  <a:srgbClr val="1F3864"/>
                </a:solidFill>
                <a:latin typeface="Cambria"/>
              </a:rPr>
              <a:t>1</a:t>
            </a:r>
          </a:p>
        </p:txBody>
      </p:sp>
      <p:sp>
        <p:nvSpPr>
          <p:cNvPr id="555" name="box555"/>
          <p:cNvSpPr>
            <a:spLocks noGrp="1"/>
          </p:cNvSpPr>
          <p:nvPr/>
        </p:nvSpPr>
        <p:spPr>
          <a:xfrm>
            <a:off x="684000" y="540000"/>
            <a:ext cx="11328000" cy="432000"/>
          </a:xfrm>
          <a:prstGeom prst="rect">
            <a:avLst/>
          </a:prstGeom>
          <a:solidFill>
            <a:srgbClr val="DCE6F1"/>
          </a:solidFill>
          <a:ln w="12700">
            <a:solidFill>
              <a:srgbClr val="2E75B6"/>
            </a:solidFill>
          </a:ln>
        </p:spPr>
        <p:txBody>
          <a:bodyPr anchor="ctr" wrap="square" lIns="108000" rIns="72000" tIns="54000" bIns="54000"/>
          <a:lstStyle/>
          <a:p>
            <a:pPr algn="l" spcBef="0" spcAft="0">
              <a:spcPct val="100000"/>
            </a:pPr>
            <a:r>
              <a:rPr lang="en-GB" b="1" sz="1500" dirty="0">
                <a:solidFill>
                  <a:srgbClr val="1F3864"/>
                </a:solidFill>
                <a:latin typeface="Calibri"/>
              </a:rPr>
              <a:t>Production Task  </a:t>
            </a:r>
            <a:r>
              <a:rPr lang="en-GB" b="0" sz="1400" dirty="0">
                <a:solidFill>
                  <a:srgbClr val="404040"/>
                </a:solidFill>
                <a:latin typeface="Calibri"/>
              </a:rPr>
              <a:t>Write 10 sentences about your day today. Use 'just' in 3 sentences, 'already' in 4 sentences, and 'yet' in 3 sentences (include both negative and question forms with 'yet').</a:t>
            </a:r>
          </a:p>
        </p:txBody>
      </p:sp>
      <p:sp>
        <p:nvSpPr>
          <p:cNvPr id="556" name="box556"/>
          <p:cNvSpPr>
            <a:spLocks noGrp="1"/>
          </p:cNvSpPr>
          <p:nvPr/>
        </p:nvSpPr>
        <p:spPr>
          <a:xfrm>
            <a:off x="180000" y="1080000"/>
            <a:ext cx="432000" cy="432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2800" dirty="0">
                <a:solidFill>
                  <a:srgbClr val="FFFFFF"/>
                </a:solidFill>
                <a:latin typeface="Cambria"/>
              </a:rPr>
              <a:t>2</a:t>
            </a:r>
          </a:p>
        </p:txBody>
      </p:sp>
      <p:sp>
        <p:nvSpPr>
          <p:cNvPr id="557" name="box557"/>
          <p:cNvSpPr>
            <a:spLocks noGrp="1"/>
          </p:cNvSpPr>
          <p:nvPr/>
        </p:nvSpPr>
        <p:spPr>
          <a:xfrm>
            <a:off x="684000" y="1080000"/>
            <a:ext cx="11328000" cy="432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1" sz="1500" dirty="0">
                <a:solidFill>
                  <a:srgbClr val="1F3864"/>
                </a:solidFill>
                <a:latin typeface="Calibri"/>
              </a:rPr>
              <a:t>Vocabulary Consolidation  </a:t>
            </a:r>
            <a:r>
              <a:rPr lang="en-GB" b="0" sz="1400" dirty="0">
                <a:solidFill>
                  <a:srgbClr val="404040"/>
                </a:solidFill>
                <a:latin typeface="Calibri"/>
              </a:rPr>
              <a:t>Choose 10 vocabulary words from Section 4. Write a sentence for each using just, already, or yet. Example: 'I have just received your message.' / 'She hasn't replied yet.'</a:t>
            </a:r>
          </a:p>
        </p:txBody>
      </p:sp>
      <p:sp>
        <p:nvSpPr>
          <p:cNvPr id="558" name="box558"/>
          <p:cNvSpPr>
            <a:spLocks noGrp="1"/>
          </p:cNvSpPr>
          <p:nvPr/>
        </p:nvSpPr>
        <p:spPr>
          <a:xfrm>
            <a:off x="180000" y="6498000"/>
            <a:ext cx="144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Due: next class</a:t>
            </a:r>
          </a:p>
        </p:txBody>
      </p:sp>
    </p:spTree>
  </p:cSld>
  <p:clrMapOvr>
    <a:masterClr/>
  </p:clrMapOvr>
</p:sld>
</file>

<file path=ppt/slides/slide13.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601" name="shape60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602" name="shape602"/>
          <p:cNvSpPr>
            <a:spLocks noGrp="1"/>
          </p:cNvSpPr>
          <p:nvPr/>
        </p:nvSpPr>
        <p:spPr>
          <a:xfrm>
            <a:off x="0" y="0"/>
            <a:ext cx="12192000" cy="108000"/>
          </a:xfrm>
          <a:prstGeom prst="rect">
            <a:avLst/>
          </a:prstGeom>
          <a:solidFill>
            <a:srgbClr val="BF8F00"/>
          </a:solidFill>
        </p:spPr>
        <p:txBody>
          <a:bodyPr/>
          <a:lstStyle/>
          <a:p/>
        </p:txBody>
      </p:sp>
      <p:sp>
        <p:nvSpPr>
          <p:cNvPr id="603" name="shape603"/>
          <p:cNvSpPr>
            <a:spLocks noGrp="1"/>
          </p:cNvSpPr>
          <p:nvPr/>
        </p:nvSpPr>
        <p:spPr>
          <a:xfrm>
            <a:off x="0" y="6750000"/>
            <a:ext cx="12192000" cy="108000"/>
          </a:xfrm>
          <a:prstGeom prst="rect">
            <a:avLst/>
          </a:prstGeom>
          <a:solidFill>
            <a:srgbClr val="BF8F00"/>
          </a:solidFill>
        </p:spPr>
        <p:txBody>
          <a:bodyPr/>
          <a:lstStyle/>
          <a:p/>
        </p:txBody>
      </p:sp>
      <p:sp>
        <p:nvSpPr>
          <p:cNvPr id="604" name="shape604"/>
          <p:cNvSpPr>
            <a:spLocks noGrp="1"/>
          </p:cNvSpPr>
          <p:nvPr/>
        </p:nvSpPr>
        <p:spPr>
          <a:xfrm>
            <a:off x="0" y="0"/>
            <a:ext cx="144000" cy="6858000"/>
          </a:xfrm>
          <a:prstGeom prst="rect">
            <a:avLst/>
          </a:prstGeom>
          <a:solidFill>
            <a:srgbClr val="BF8F00"/>
          </a:solidFill>
        </p:spPr>
        <p:txBody>
          <a:bodyPr/>
          <a:lstStyle/>
          <a:p/>
        </p:txBody>
      </p:sp>
      <p:sp>
        <p:nvSpPr>
          <p:cNvPr id="605" name="box605"/>
          <p:cNvSpPr>
            <a:spLocks noGrp="1"/>
          </p:cNvSpPr>
          <p:nvPr/>
        </p:nvSpPr>
        <p:spPr>
          <a:xfrm>
            <a:off x="432000" y="432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16  ·  A2</a:t>
            </a:r>
          </a:p>
        </p:txBody>
      </p:sp>
      <p:sp>
        <p:nvSpPr>
          <p:cNvPr id="606" name="tb606"/>
          <p:cNvSpPr txBox="1">
            <a:spLocks noGrp="1"/>
          </p:cNvSpPr>
          <p:nvPr/>
        </p:nvSpPr>
        <p:spPr>
          <a:xfrm>
            <a:off x="432000" y="827999"/>
            <a:ext cx="11472000" cy="900000"/>
          </a:xfrm>
          <a:prstGeom prst="rect">
            <a:avLst/>
          </a:prstGeom>
          <a:noFill/>
        </p:spPr>
        <p:txBody>
          <a:bodyPr anchor="t" wrap="square" lIns="36000" rIns="36000" tIns="36000" bIns="36000"/>
          <a:lstStyle/>
          <a:p>
            <a:pPr algn="l" spcBef="0" spcAft="0">
              <a:spcPct val="100000"/>
            </a:pPr>
            <a:r>
              <a:rPr lang="en-GB" b="1" sz="3600" dirty="0">
                <a:solidFill>
                  <a:srgbClr val="FFFFFF"/>
                </a:solidFill>
                <a:latin typeface="Cambria"/>
              </a:rPr>
              <a:t>Present Perfect — just / already / yet</a:t>
            </a:r>
          </a:p>
        </p:txBody>
      </p:sp>
      <p:sp>
        <p:nvSpPr>
          <p:cNvPr id="607" name="tb607"/>
          <p:cNvSpPr txBox="1">
            <a:spLocks noGrp="1"/>
          </p:cNvSpPr>
          <p:nvPr/>
        </p:nvSpPr>
        <p:spPr>
          <a:xfrm>
            <a:off x="432000" y="1800000"/>
            <a:ext cx="11472000" cy="324000"/>
          </a:xfrm>
          <a:prstGeom prst="rect">
            <a:avLst/>
          </a:prstGeom>
          <a:noFill/>
        </p:spPr>
        <p:txBody>
          <a:bodyPr anchor="ctr" wrap="square" lIns="36000" rIns="36000" tIns="36000" bIns="36000"/>
          <a:lstStyle/>
          <a:p>
            <a:pPr algn="l" spcBef="0" spcAft="0">
              <a:spcPct val="100000"/>
            </a:pPr>
            <a:r>
              <a:rPr lang="en-GB" b="0" i="1" sz="1600" dirty="0">
                <a:solidFill>
                  <a:srgbClr val="BF8F00"/>
                </a:solidFill>
                <a:latin typeface="Calibri"/>
              </a:rPr>
              <a:t>✦  Every great speaker was once a student. Keep going!</a:t>
            </a:r>
          </a:p>
        </p:txBody>
      </p:sp>
      <p:sp>
        <p:nvSpPr>
          <p:cNvPr id="608" name="box608"/>
          <p:cNvSpPr>
            <a:spLocks noGrp="1"/>
          </p:cNvSpPr>
          <p:nvPr/>
        </p:nvSpPr>
        <p:spPr>
          <a:xfrm>
            <a:off x="10752000" y="6462000"/>
            <a:ext cx="1260000" cy="234000"/>
          </a:xfrm>
          <a:prstGeom prst="roundRect">
            <a:avLst>
              <a:gd name="adj" fmla="val 10000"/>
            </a:avLst>
          </a:prstGeom>
          <a:solidFill>
            <a:srgbClr val="2E75B6"/>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See you next class! 👋</a:t>
            </a:r>
          </a:p>
        </p:txBody>
      </p:sp>
    </p:spTree>
  </p:cSld>
  <p:clrMapOvr>
    <a:masterClr/>
  </p:clrMapOvr>
</p:sld>
</file>