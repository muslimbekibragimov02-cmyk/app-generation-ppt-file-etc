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0"/>
  </p:sld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type="screen16x9"/>
  <p:notesSz cx="6858000" cy="12192000"/>
</p:presentation>
</file>

<file path=ppt/_rels/presentation.xml.rels><?xml version="1.0" encoding="UTF-8" standalone="yes"?>
<Relationships xmlns="http://schemas.openxmlformats.org/package/2006/relationships">
  <Relationship Id="rId0"
    Type="http://schemas.openxmlformats.org/officeDocument/2006/relationships/slideMaster"
    Target="slideMasters/slideMaster1.xml"/>
  <Relationship Id="rId1"
    Type="http://schemas.openxmlformats.org/officeDocument/2006/relationships/slide"
    Target="slides/slide1.xml"/>
  <Relationship Id="rId2"
    Type="http://schemas.openxmlformats.org/officeDocument/2006/relationships/slide"
    Target="slides/slide2.xml"/>
  <Relationship Id="rId3"
    Type="http://schemas.openxmlformats.org/officeDocument/2006/relationships/slide"
    Target="slides/slide3.xml"/>
  <Relationship Id="rId4"
    Type="http://schemas.openxmlformats.org/officeDocument/2006/relationships/slide"
    Target="slides/slide4.xml"/>
  <Relationship Id="rId5"
    Type="http://schemas.openxmlformats.org/officeDocument/2006/relationships/slide"
    Target="slides/slide5.xml"/>
  <Relationship Id="rId6"
    Type="http://schemas.openxmlformats.org/officeDocument/2006/relationships/slide"
    Target="slides/slide6.xml"/>
  <Relationship Id="rId7"
    Type="http://schemas.openxmlformats.org/officeDocument/2006/relationships/slide"
    Target="slides/slide7.xml"/>
  <Relationship Id="rId8"
    Type="http://schemas.openxmlformats.org/officeDocument/2006/relationships/slide"
    Target="slides/slide8.xml"/>
  <Relationship Id="rId9"
    Type="http://schemas.openxmlformats.org/officeDocument/2006/relationships/slide"
    Target="slides/slide9.xml"/>
  <Relationship Id="rId10"
    Type="http://schemas.openxmlformats.org/officeDocument/2006/relationships/slide"
    Target="slides/slide10.xml"/>
  <Relationship Id="rId11"
    Type="http://schemas.openxmlformats.org/officeDocument/2006/relationships/slide"
    Target="slides/slide11.xml"/>
  <Relationship Id="rId12"
    Type="http://schemas.openxmlformats.org/officeDocument/2006/relationships/slide"
    Target="slides/slide12.xml"/>
  <Relationship Id="rId13"
    Type="http://schemas.openxmlformats.org/officeDocument/2006/relationships/slide"
    Target="slides/slide13.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a:xfrm>
          <a:off x="0" y="0"/>
          <a:ext cx="12192000" cy="6858000"/>
          <a:chOff x="0" y="0"/>
          <a:chExt cx="12192000" cy="6858000"/>
        </a:xfrm>
      </p:grpSpPr>
    </p:spTree>
  </p:cSld>
  <p:clrMapOvr>
    <a:masterClr/>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a:xfrm>
          <a:off x="0" y="0"/>
          <a:ext cx="12192000" cy="6858000"/>
          <a:chOff x="0" y="0"/>
          <a:chExt cx="12192000" cy="6858000"/>
        </a:xfrm>
      </p:grpSpPr>
    </p:spTree>
  </p:cSld>
  <p:clrMap bg1="lt1" tx1="dk1" bg2="lt2" tx2="dk2" accent1="accent1" accent2="accent2" accent3="accent3" accent4="accent4" accent5="accent5" accent6="accent6" hlink="hlink" folHlink="folHlink"/>
  <p:sldLayoutIdLst>
    <p:sldLayoutId id="2147483649" r:id="rId1"/>
  </p:sldLayoutIdLst>
  <p:txStyles>
    <p:titleStyle>
      <a:lstStyle/>
    </p:titleStyle>
    <p:bodyStyle>
      <a:lstStyle/>
    </p:bodyStyle>
    <p:otherStyle>
      <a:lstStyle/>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11" name="shape1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12" name="shape12"/>
          <p:cNvSpPr>
            <a:spLocks noGrp="1"/>
          </p:cNvSpPr>
          <p:nvPr/>
        </p:nvSpPr>
        <p:spPr>
          <a:xfrm>
            <a:off x="0" y="0"/>
            <a:ext cx="144000" cy="6858000"/>
          </a:xfrm>
          <a:prstGeom prst="rect">
            <a:avLst/>
          </a:prstGeom>
          <a:solidFill>
            <a:srgbClr val="BF8F00"/>
          </a:solidFill>
        </p:spPr>
        <p:txBody>
          <a:bodyPr/>
          <a:lstStyle/>
          <a:p/>
        </p:txBody>
      </p:sp>
      <p:sp>
        <p:nvSpPr>
          <p:cNvPr id="13" name="shape13"/>
          <p:cNvSpPr>
            <a:spLocks noGrp="1"/>
          </p:cNvSpPr>
          <p:nvPr/>
        </p:nvSpPr>
        <p:spPr>
          <a:xfrm>
            <a:off x="0" y="0"/>
            <a:ext cx="12192000" cy="108000"/>
          </a:xfrm>
          <a:prstGeom prst="rect">
            <a:avLst/>
          </a:prstGeom>
          <a:solidFill>
            <a:srgbClr val="BF8F00"/>
          </a:solidFill>
        </p:spPr>
        <p:txBody>
          <a:bodyPr/>
          <a:lstStyle/>
          <a:p/>
        </p:txBody>
      </p:sp>
      <p:sp>
        <p:nvSpPr>
          <p:cNvPr id="14" name="box14"/>
          <p:cNvSpPr>
            <a:spLocks noGrp="1"/>
          </p:cNvSpPr>
          <p:nvPr/>
        </p:nvSpPr>
        <p:spPr>
          <a:xfrm>
            <a:off x="432000" y="468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14  ·  A2</a:t>
            </a:r>
          </a:p>
        </p:txBody>
      </p:sp>
      <p:sp>
        <p:nvSpPr>
          <p:cNvPr id="15" name="tb15"/>
          <p:cNvSpPr txBox="1">
            <a:spLocks noGrp="1"/>
          </p:cNvSpPr>
          <p:nvPr/>
        </p:nvSpPr>
        <p:spPr>
          <a:xfrm>
            <a:off x="432000" y="900000"/>
            <a:ext cx="11472000" cy="288000"/>
          </a:xfrm>
          <a:prstGeom prst="rect">
            <a:avLst/>
          </a:prstGeom>
          <a:noFill/>
        </p:spPr>
        <p:txBody>
          <a:bodyPr anchor="ctr" wrap="square" lIns="36000" rIns="36000" tIns="36000" bIns="36000"/>
          <a:lstStyle/>
          <a:p>
            <a:pPr algn="l" spcBef="0" spcAft="0">
              <a:spcPct val="100000"/>
            </a:pPr>
            <a:r>
              <a:rPr lang="en-GB" b="0" sz="1500" dirty="0">
                <a:solidFill>
                  <a:srgbClr val="BFC9D6"/>
                </a:solidFill>
                <a:latin typeface="Calibri"/>
              </a:rPr>
              <a:t>English Grammar in Action — Level 1</a:t>
            </a:r>
          </a:p>
        </p:txBody>
      </p:sp>
      <p:sp>
        <p:nvSpPr>
          <p:cNvPr id="16" name="tb16"/>
          <p:cNvSpPr txBox="1">
            <a:spLocks noGrp="1"/>
          </p:cNvSpPr>
          <p:nvPr/>
        </p:nvSpPr>
        <p:spPr>
          <a:xfrm>
            <a:off x="432000" y="1188000"/>
            <a:ext cx="11472000" cy="1080000"/>
          </a:xfrm>
          <a:prstGeom prst="rect">
            <a:avLst/>
          </a:prstGeom>
          <a:noFill/>
        </p:spPr>
        <p:txBody>
          <a:bodyPr anchor="t" wrap="square" lIns="36000" rIns="36000" tIns="36000" bIns="36000"/>
          <a:lstStyle/>
          <a:p>
            <a:pPr algn="l" spcBef="0" spcAft="0">
              <a:spcPct val="100000"/>
            </a:pPr>
            <a:r>
              <a:rPr lang="en-GB" b="1" sz="4000" dirty="0">
                <a:solidFill>
                  <a:srgbClr val="FFFFFF"/>
                </a:solidFill>
                <a:latin typeface="Cambria"/>
              </a:rPr>
              <a:t>Past Continuous vs Past Simple</a:t>
            </a:r>
          </a:p>
        </p:txBody>
      </p:sp>
      <p:sp>
        <p:nvSpPr>
          <p:cNvPr id="17" name="tb17"/>
          <p:cNvSpPr txBox="1">
            <a:spLocks noGrp="1"/>
          </p:cNvSpPr>
          <p:nvPr/>
        </p:nvSpPr>
        <p:spPr>
          <a:xfrm>
            <a:off x="432000" y="2088000"/>
            <a:ext cx="11472000" cy="360000"/>
          </a:xfrm>
          <a:prstGeom prst="rect">
            <a:avLst/>
          </a:prstGeom>
          <a:noFill/>
        </p:spPr>
        <p:txBody>
          <a:bodyPr anchor="ctr" wrap="square" lIns="36000" rIns="36000" tIns="36000" bIns="36000"/>
          <a:lstStyle/>
          <a:p>
            <a:pPr algn="l" spcBef="0" spcAft="0">
              <a:spcPct val="100000"/>
            </a:pPr>
            <a:r>
              <a:rPr lang="en-GB" b="0" i="1" sz="1700" dirty="0">
                <a:solidFill>
                  <a:srgbClr val="DCE6F1"/>
                </a:solidFill>
                <a:latin typeface="Calibri"/>
              </a:rPr>
              <a:t>when + Past Simple (short action) interrupts Past Continuous (long action); while + Past Continuous; two parallel past actions; narrative sequences</a:t>
            </a:r>
          </a:p>
        </p:txBody>
      </p:sp>
      <p:sp>
        <p:nvSpPr>
          <p:cNvPr id="18" name="shape18"/>
          <p:cNvSpPr>
            <a:spLocks noGrp="1"/>
          </p:cNvSpPr>
          <p:nvPr/>
        </p:nvSpPr>
        <p:spPr>
          <a:xfrm>
            <a:off x="0" y="6768000"/>
            <a:ext cx="12192000" cy="90000"/>
          </a:xfrm>
          <a:prstGeom prst="rect">
            <a:avLst/>
          </a:prstGeom>
          <a:solidFill>
            <a:srgbClr val="BF8F00"/>
          </a:solidFill>
        </p:spPr>
        <p:txBody>
          <a:bodyPr/>
          <a:lstStyle/>
          <a:p/>
        </p:txBody>
      </p:sp>
      <p:sp>
        <p:nvSpPr>
          <p:cNvPr id="19" name="box19"/>
          <p:cNvSpPr>
            <a:spLocks noGrp="1"/>
          </p:cNvSpPr>
          <p:nvPr/>
        </p:nvSpPr>
        <p:spPr>
          <a:xfrm>
            <a:off x="11112000" y="6354001"/>
            <a:ext cx="936000" cy="360000"/>
          </a:xfrm>
          <a:prstGeom prst="roundRect">
            <a:avLst>
              <a:gd name="adj" fmla="val 2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CEFR  A2</a:t>
            </a:r>
          </a:p>
        </p:txBody>
      </p:sp>
    </p:spTree>
  </p:cSld>
  <p:clrMapOvr>
    <a:masterClr/>
  </p:clrMapOvr>
</p:sld>
</file>

<file path=ppt/slides/slide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1" name="box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2" name="box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3" name="tb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LEARNING OBJECTIVES</a:t>
            </a:r>
          </a:p>
        </p:txBody>
      </p:sp>
      <p:sp>
        <p:nvSpPr>
          <p:cNvPr id="54" name="box54"/>
          <p:cNvSpPr>
            <a:spLocks noGrp="1"/>
          </p:cNvSpPr>
          <p:nvPr/>
        </p:nvSpPr>
        <p:spPr>
          <a:xfrm>
            <a:off x="180000" y="5400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5" name="box55"/>
          <p:cNvSpPr>
            <a:spLocks noGrp="1"/>
          </p:cNvSpPr>
          <p:nvPr/>
        </p:nvSpPr>
        <p:spPr>
          <a:xfrm>
            <a:off x="558000" y="5400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Understand when to use Past Continuous vs Past Simple in the same sentence.</a:t>
            </a:r>
          </a:p>
        </p:txBody>
      </p:sp>
      <p:sp>
        <p:nvSpPr>
          <p:cNvPr id="56" name="box56"/>
          <p:cNvSpPr>
            <a:spLocks noGrp="1"/>
          </p:cNvSpPr>
          <p:nvPr/>
        </p:nvSpPr>
        <p:spPr>
          <a:xfrm>
            <a:off x="180000" y="9252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7" name="box57"/>
          <p:cNvSpPr>
            <a:spLocks noGrp="1"/>
          </p:cNvSpPr>
          <p:nvPr/>
        </p:nvSpPr>
        <p:spPr>
          <a:xfrm>
            <a:off x="558000" y="9252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'when' with Past Simple for the interrupting (short) action.</a:t>
            </a:r>
          </a:p>
        </p:txBody>
      </p:sp>
      <p:sp>
        <p:nvSpPr>
          <p:cNvPr id="58" name="box58"/>
          <p:cNvSpPr>
            <a:spLocks noGrp="1"/>
          </p:cNvSpPr>
          <p:nvPr/>
        </p:nvSpPr>
        <p:spPr>
          <a:xfrm>
            <a:off x="180000" y="13104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9" name="box59"/>
          <p:cNvSpPr>
            <a:spLocks noGrp="1"/>
          </p:cNvSpPr>
          <p:nvPr/>
        </p:nvSpPr>
        <p:spPr>
          <a:xfrm>
            <a:off x="558000" y="13104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'while' with Past Continuous for the background (long) action.</a:t>
            </a:r>
          </a:p>
        </p:txBody>
      </p:sp>
      <p:sp>
        <p:nvSpPr>
          <p:cNvPr id="60" name="box60"/>
          <p:cNvSpPr>
            <a:spLocks noGrp="1"/>
          </p:cNvSpPr>
          <p:nvPr/>
        </p:nvSpPr>
        <p:spPr>
          <a:xfrm>
            <a:off x="180000" y="16956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1" name="box61"/>
          <p:cNvSpPr>
            <a:spLocks noGrp="1"/>
          </p:cNvSpPr>
          <p:nvPr/>
        </p:nvSpPr>
        <p:spPr>
          <a:xfrm>
            <a:off x="558000" y="16956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Describe two parallel actions using Past Continuous + while.</a:t>
            </a:r>
          </a:p>
        </p:txBody>
      </p:sp>
      <p:sp>
        <p:nvSpPr>
          <p:cNvPr id="62" name="box62"/>
          <p:cNvSpPr>
            <a:spLocks noGrp="1"/>
          </p:cNvSpPr>
          <p:nvPr/>
        </p:nvSpPr>
        <p:spPr>
          <a:xfrm>
            <a:off x="180000" y="20808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3" name="box63"/>
          <p:cNvSpPr>
            <a:spLocks noGrp="1"/>
          </p:cNvSpPr>
          <p:nvPr/>
        </p:nvSpPr>
        <p:spPr>
          <a:xfrm>
            <a:off x="558000" y="20808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Tell stories combining both tenses for background and main events.</a:t>
            </a:r>
          </a:p>
        </p:txBody>
      </p:sp>
    </p:spTree>
  </p:cSld>
  <p:clrMapOvr>
    <a:masterClr/>
  </p:clrMapOvr>
</p:sld>
</file>

<file path=ppt/slides/slide3.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01" name="box1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02" name="box1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103" name="tb1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WARM-UP ACTIVITY</a:t>
            </a:r>
          </a:p>
        </p:txBody>
      </p:sp>
      <p:sp>
        <p:nvSpPr>
          <p:cNvPr id="104" name="box104"/>
          <p:cNvSpPr>
            <a:spLocks noGrp="1"/>
          </p:cNvSpPr>
          <p:nvPr/>
        </p:nvSpPr>
        <p:spPr>
          <a:xfrm>
            <a:off x="180000" y="540000"/>
            <a:ext cx="11832000" cy="396000"/>
          </a:xfrm>
          <a:prstGeom prst="roundRect">
            <a:avLst>
              <a:gd name="adj" fmla="val 15000"/>
            </a:avLst>
          </a:prstGeom>
          <a:solidFill>
            <a:srgbClr val="BF8F00"/>
          </a:solidFill>
          <a:ln w="0">
            <a:noFill/>
          </a:ln>
        </p:spPr>
        <p:txBody>
          <a:bodyPr anchor="ctr" wrap="square" lIns="180000" rIns="72000" tIns="54000" bIns="54000"/>
          <a:lstStyle/>
          <a:p>
            <a:pPr algn="l" spcBef="0" spcAft="0">
              <a:spcPct val="100000"/>
            </a:pPr>
            <a:r>
              <a:rPr lang="en-GB" b="1" sz="2400" dirty="0">
                <a:solidFill>
                  <a:srgbClr val="1F3864"/>
                </a:solidFill>
                <a:latin typeface="Cambria"/>
              </a:rPr>
              <a:t>⚡ When the Phone Rang...</a:t>
            </a:r>
          </a:p>
        </p:txBody>
      </p:sp>
      <p:sp>
        <p:nvSpPr>
          <p:cNvPr id="105" name="box105"/>
          <p:cNvSpPr>
            <a:spLocks noGrp="1"/>
          </p:cNvSpPr>
          <p:nvPr/>
        </p:nvSpPr>
        <p:spPr>
          <a:xfrm>
            <a:off x="11040000" y="540000"/>
            <a:ext cx="972000" cy="396000"/>
          </a:xfrm>
          <a:prstGeom prst="roundRect">
            <a:avLst>
              <a:gd name="adj" fmla="val 15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BF8F00"/>
                </a:solidFill>
                <a:latin typeface="Calibri"/>
              </a:rPr>
              <a:t>⏱  5 minutes</a:t>
            </a:r>
          </a:p>
        </p:txBody>
      </p:sp>
      <p:sp>
        <p:nvSpPr>
          <p:cNvPr id="106" name="box106"/>
          <p:cNvSpPr>
            <a:spLocks noGrp="1"/>
          </p:cNvSpPr>
          <p:nvPr/>
        </p:nvSpPr>
        <p:spPr>
          <a:xfrm>
            <a:off x="180000" y="1026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1</a:t>
            </a:r>
          </a:p>
        </p:txBody>
      </p:sp>
      <p:sp>
        <p:nvSpPr>
          <p:cNvPr id="107" name="tb107"/>
          <p:cNvSpPr txBox="1">
            <a:spLocks noGrp="1"/>
          </p:cNvSpPr>
          <p:nvPr/>
        </p:nvSpPr>
        <p:spPr>
          <a:xfrm>
            <a:off x="503999" y="1026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Teacher says: 'When the phone rang...' and students complete: 'I was taking a shower.'</a:t>
            </a:r>
          </a:p>
        </p:txBody>
      </p:sp>
      <p:sp>
        <p:nvSpPr>
          <p:cNvPr id="108" name="box108"/>
          <p:cNvSpPr>
            <a:spLocks noGrp="1"/>
          </p:cNvSpPr>
          <p:nvPr/>
        </p:nvSpPr>
        <p:spPr>
          <a:xfrm>
            <a:off x="180000" y="1458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2</a:t>
            </a:r>
          </a:p>
        </p:txBody>
      </p:sp>
      <p:sp>
        <p:nvSpPr>
          <p:cNvPr id="109" name="tb109"/>
          <p:cNvSpPr txBox="1">
            <a:spLocks noGrp="1"/>
          </p:cNvSpPr>
          <p:nvPr/>
        </p:nvSpPr>
        <p:spPr>
          <a:xfrm>
            <a:off x="503999" y="1458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Take turns: one student says a Past Simple interruption, another says the background action.</a:t>
            </a:r>
          </a:p>
        </p:txBody>
      </p:sp>
      <p:sp>
        <p:nvSpPr>
          <p:cNvPr id="110" name="box110"/>
          <p:cNvSpPr>
            <a:spLocks noGrp="1"/>
          </p:cNvSpPr>
          <p:nvPr/>
        </p:nvSpPr>
        <p:spPr>
          <a:xfrm>
            <a:off x="180000" y="1890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3</a:t>
            </a:r>
          </a:p>
        </p:txBody>
      </p:sp>
      <p:sp>
        <p:nvSpPr>
          <p:cNvPr id="111" name="tb111"/>
          <p:cNvSpPr txBox="1">
            <a:spLocks noGrp="1"/>
          </p:cNvSpPr>
          <p:nvPr/>
        </p:nvSpPr>
        <p:spPr>
          <a:xfrm>
            <a:off x="503999" y="1890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Make funny combinations: 'When the teacher arrived, I was dancing on the desk!'</a:t>
            </a:r>
          </a:p>
        </p:txBody>
      </p:sp>
    </p:spTree>
  </p:cSld>
  <p:clrMapOvr>
    <a:masterClr/>
  </p:clrMapOvr>
</p:sld>
</file>

<file path=ppt/slides/slide4.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51" name="box1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52" name="box1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153" name="tb1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VOCABULARY PREVIEW</a:t>
            </a:r>
          </a:p>
        </p:txBody>
      </p:sp>
      <p:sp>
        <p:nvSpPr>
          <p:cNvPr id="154" name="box154"/>
          <p:cNvSpPr>
            <a:spLocks noGrp="1"/>
          </p:cNvSpPr>
          <p:nvPr/>
        </p:nvSpPr>
        <p:spPr>
          <a:xfrm>
            <a:off x="180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suddenly</a:t>
            </a:r>
          </a:p>
        </p:txBody>
      </p:sp>
      <p:sp>
        <p:nvSpPr>
          <p:cNvPr id="155" name="box155"/>
          <p:cNvSpPr>
            <a:spLocks noGrp="1"/>
          </p:cNvSpPr>
          <p:nvPr/>
        </p:nvSpPr>
        <p:spPr>
          <a:xfrm>
            <a:off x="1007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56" name="box156"/>
          <p:cNvSpPr>
            <a:spLocks noGrp="1"/>
          </p:cNvSpPr>
          <p:nvPr/>
        </p:nvSpPr>
        <p:spPr>
          <a:xfrm>
            <a:off x="1512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quickly and unexpectedly</a:t>
            </a:r>
          </a:p>
        </p:txBody>
      </p:sp>
      <p:sp>
        <p:nvSpPr>
          <p:cNvPr id="157" name="box157"/>
          <p:cNvSpPr>
            <a:spLocks noGrp="1"/>
          </p:cNvSpPr>
          <p:nvPr/>
        </p:nvSpPr>
        <p:spPr>
          <a:xfrm>
            <a:off x="6042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while</a:t>
            </a:r>
          </a:p>
        </p:txBody>
      </p:sp>
      <p:sp>
        <p:nvSpPr>
          <p:cNvPr id="158" name="box158"/>
          <p:cNvSpPr>
            <a:spLocks noGrp="1"/>
          </p:cNvSpPr>
          <p:nvPr/>
        </p:nvSpPr>
        <p:spPr>
          <a:xfrm>
            <a:off x="6869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con</a:t>
            </a:r>
          </a:p>
        </p:txBody>
      </p:sp>
      <p:sp>
        <p:nvSpPr>
          <p:cNvPr id="159" name="box159"/>
          <p:cNvSpPr>
            <a:spLocks noGrp="1"/>
          </p:cNvSpPr>
          <p:nvPr/>
        </p:nvSpPr>
        <p:spPr>
          <a:xfrm>
            <a:off x="7374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during the time that</a:t>
            </a:r>
          </a:p>
        </p:txBody>
      </p:sp>
      <p:sp>
        <p:nvSpPr>
          <p:cNvPr id="160" name="box160"/>
          <p:cNvSpPr>
            <a:spLocks noGrp="1"/>
          </p:cNvSpPr>
          <p:nvPr/>
        </p:nvSpPr>
        <p:spPr>
          <a:xfrm>
            <a:off x="180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when</a:t>
            </a:r>
          </a:p>
        </p:txBody>
      </p:sp>
      <p:sp>
        <p:nvSpPr>
          <p:cNvPr id="161" name="box161"/>
          <p:cNvSpPr>
            <a:spLocks noGrp="1"/>
          </p:cNvSpPr>
          <p:nvPr/>
        </p:nvSpPr>
        <p:spPr>
          <a:xfrm>
            <a:off x="1007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con</a:t>
            </a:r>
          </a:p>
        </p:txBody>
      </p:sp>
      <p:sp>
        <p:nvSpPr>
          <p:cNvPr id="162" name="box162"/>
          <p:cNvSpPr>
            <a:spLocks noGrp="1"/>
          </p:cNvSpPr>
          <p:nvPr/>
        </p:nvSpPr>
        <p:spPr>
          <a:xfrm>
            <a:off x="1512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at the time that</a:t>
            </a:r>
          </a:p>
        </p:txBody>
      </p:sp>
      <p:sp>
        <p:nvSpPr>
          <p:cNvPr id="163" name="box163"/>
          <p:cNvSpPr>
            <a:spLocks noGrp="1"/>
          </p:cNvSpPr>
          <p:nvPr/>
        </p:nvSpPr>
        <p:spPr>
          <a:xfrm>
            <a:off x="6042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interrupt</a:t>
            </a:r>
          </a:p>
        </p:txBody>
      </p:sp>
      <p:sp>
        <p:nvSpPr>
          <p:cNvPr id="164" name="box164"/>
          <p:cNvSpPr>
            <a:spLocks noGrp="1"/>
          </p:cNvSpPr>
          <p:nvPr/>
        </p:nvSpPr>
        <p:spPr>
          <a:xfrm>
            <a:off x="6869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65" name="box165"/>
          <p:cNvSpPr>
            <a:spLocks noGrp="1"/>
          </p:cNvSpPr>
          <p:nvPr/>
        </p:nvSpPr>
        <p:spPr>
          <a:xfrm>
            <a:off x="7374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to stop someone while speaking</a:t>
            </a:r>
          </a:p>
        </p:txBody>
      </p:sp>
      <p:sp>
        <p:nvSpPr>
          <p:cNvPr id="166" name="box166"/>
          <p:cNvSpPr>
            <a:spLocks noGrp="1"/>
          </p:cNvSpPr>
          <p:nvPr/>
        </p:nvSpPr>
        <p:spPr>
          <a:xfrm>
            <a:off x="180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accident</a:t>
            </a:r>
          </a:p>
        </p:txBody>
      </p:sp>
      <p:sp>
        <p:nvSpPr>
          <p:cNvPr id="167" name="box167"/>
          <p:cNvSpPr>
            <a:spLocks noGrp="1"/>
          </p:cNvSpPr>
          <p:nvPr/>
        </p:nvSpPr>
        <p:spPr>
          <a:xfrm>
            <a:off x="1007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68" name="box168"/>
          <p:cNvSpPr>
            <a:spLocks noGrp="1"/>
          </p:cNvSpPr>
          <p:nvPr/>
        </p:nvSpPr>
        <p:spPr>
          <a:xfrm>
            <a:off x="1512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something bad that happens by chance</a:t>
            </a:r>
          </a:p>
        </p:txBody>
      </p:sp>
      <p:sp>
        <p:nvSpPr>
          <p:cNvPr id="169" name="box169"/>
          <p:cNvSpPr>
            <a:spLocks noGrp="1"/>
          </p:cNvSpPr>
          <p:nvPr/>
        </p:nvSpPr>
        <p:spPr>
          <a:xfrm>
            <a:off x="6042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crash</a:t>
            </a:r>
          </a:p>
        </p:txBody>
      </p:sp>
      <p:sp>
        <p:nvSpPr>
          <p:cNvPr id="170" name="box170"/>
          <p:cNvSpPr>
            <a:spLocks noGrp="1"/>
          </p:cNvSpPr>
          <p:nvPr/>
        </p:nvSpPr>
        <p:spPr>
          <a:xfrm>
            <a:off x="6869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71" name="box171"/>
          <p:cNvSpPr>
            <a:spLocks noGrp="1"/>
          </p:cNvSpPr>
          <p:nvPr/>
        </p:nvSpPr>
        <p:spPr>
          <a:xfrm>
            <a:off x="7374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violent vehicle collision</a:t>
            </a:r>
          </a:p>
        </p:txBody>
      </p:sp>
      <p:sp>
        <p:nvSpPr>
          <p:cNvPr id="172" name="box172"/>
          <p:cNvSpPr>
            <a:spLocks noGrp="1"/>
          </p:cNvSpPr>
          <p:nvPr/>
        </p:nvSpPr>
        <p:spPr>
          <a:xfrm>
            <a:off x="180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scream</a:t>
            </a:r>
          </a:p>
        </p:txBody>
      </p:sp>
      <p:sp>
        <p:nvSpPr>
          <p:cNvPr id="173" name="box173"/>
          <p:cNvSpPr>
            <a:spLocks noGrp="1"/>
          </p:cNvSpPr>
          <p:nvPr/>
        </p:nvSpPr>
        <p:spPr>
          <a:xfrm>
            <a:off x="1007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74" name="box174"/>
          <p:cNvSpPr>
            <a:spLocks noGrp="1"/>
          </p:cNvSpPr>
          <p:nvPr/>
        </p:nvSpPr>
        <p:spPr>
          <a:xfrm>
            <a:off x="1512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to shout very loudly</a:t>
            </a:r>
          </a:p>
        </p:txBody>
      </p:sp>
      <p:sp>
        <p:nvSpPr>
          <p:cNvPr id="175" name="box175"/>
          <p:cNvSpPr>
            <a:spLocks noGrp="1"/>
          </p:cNvSpPr>
          <p:nvPr/>
        </p:nvSpPr>
        <p:spPr>
          <a:xfrm>
            <a:off x="6042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slip</a:t>
            </a:r>
          </a:p>
        </p:txBody>
      </p:sp>
      <p:sp>
        <p:nvSpPr>
          <p:cNvPr id="176" name="box176"/>
          <p:cNvSpPr>
            <a:spLocks noGrp="1"/>
          </p:cNvSpPr>
          <p:nvPr/>
        </p:nvSpPr>
        <p:spPr>
          <a:xfrm>
            <a:off x="6869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77" name="box177"/>
          <p:cNvSpPr>
            <a:spLocks noGrp="1"/>
          </p:cNvSpPr>
          <p:nvPr/>
        </p:nvSpPr>
        <p:spPr>
          <a:xfrm>
            <a:off x="7374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to lose your balance</a:t>
            </a:r>
          </a:p>
        </p:txBody>
      </p:sp>
      <p:sp>
        <p:nvSpPr>
          <p:cNvPr id="178" name="box178"/>
          <p:cNvSpPr>
            <a:spLocks noGrp="1"/>
          </p:cNvSpPr>
          <p:nvPr/>
        </p:nvSpPr>
        <p:spPr>
          <a:xfrm>
            <a:off x="180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fall</a:t>
            </a:r>
          </a:p>
        </p:txBody>
      </p:sp>
      <p:sp>
        <p:nvSpPr>
          <p:cNvPr id="179" name="box179"/>
          <p:cNvSpPr>
            <a:spLocks noGrp="1"/>
          </p:cNvSpPr>
          <p:nvPr/>
        </p:nvSpPr>
        <p:spPr>
          <a:xfrm>
            <a:off x="1007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80" name="box180"/>
          <p:cNvSpPr>
            <a:spLocks noGrp="1"/>
          </p:cNvSpPr>
          <p:nvPr/>
        </p:nvSpPr>
        <p:spPr>
          <a:xfrm>
            <a:off x="1512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to drop down</a:t>
            </a:r>
          </a:p>
        </p:txBody>
      </p:sp>
      <p:sp>
        <p:nvSpPr>
          <p:cNvPr id="181" name="box181"/>
          <p:cNvSpPr>
            <a:spLocks noGrp="1"/>
          </p:cNvSpPr>
          <p:nvPr/>
        </p:nvSpPr>
        <p:spPr>
          <a:xfrm>
            <a:off x="6042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notice</a:t>
            </a:r>
          </a:p>
        </p:txBody>
      </p:sp>
      <p:sp>
        <p:nvSpPr>
          <p:cNvPr id="182" name="box182"/>
          <p:cNvSpPr>
            <a:spLocks noGrp="1"/>
          </p:cNvSpPr>
          <p:nvPr/>
        </p:nvSpPr>
        <p:spPr>
          <a:xfrm>
            <a:off x="6869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83" name="box183"/>
          <p:cNvSpPr>
            <a:spLocks noGrp="1"/>
          </p:cNvSpPr>
          <p:nvPr/>
        </p:nvSpPr>
        <p:spPr>
          <a:xfrm>
            <a:off x="7374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to see or become aware of</a:t>
            </a:r>
          </a:p>
        </p:txBody>
      </p:sp>
      <p:sp>
        <p:nvSpPr>
          <p:cNvPr id="184" name="tb184"/>
          <p:cNvSpPr txBox="1">
            <a:spLocks noGrp="1"/>
          </p:cNvSpPr>
          <p:nvPr/>
        </p:nvSpPr>
        <p:spPr>
          <a:xfrm>
            <a:off x="180000" y="6606001"/>
            <a:ext cx="11832000" cy="198000"/>
          </a:xfrm>
          <a:prstGeom prst="rect">
            <a:avLst/>
          </a:prstGeom>
          <a:noFill/>
        </p:spPr>
        <p:txBody>
          <a:bodyPr anchor="ctr" wrap="square" lIns="36000" rIns="36000" tIns="36000" bIns="36000"/>
          <a:lstStyle/>
          <a:p>
            <a:pPr algn="l" spcBef="0" spcAft="0">
              <a:spcPct val="100000"/>
            </a:pPr>
            <a:r>
              <a:rPr lang="en-GB" b="0" i="1" sz="1300" dirty="0">
                <a:solidFill>
                  <a:srgbClr val="2E75B6"/>
                </a:solidFill>
                <a:latin typeface="Calibri"/>
              </a:rPr>
              <a:t>📚  Full 30-word vocabulary bank in your workbook — Section 4.</a:t>
            </a:r>
          </a:p>
        </p:txBody>
      </p:sp>
    </p:spTree>
  </p:cSld>
  <p:clrMapOvr>
    <a:masterClr/>
  </p:clrMapOvr>
</p:sld>
</file>

<file path=ppt/slides/slide5.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01" name="box2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02" name="box2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03" name="tb2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GRAMMAR RULE</a:t>
            </a:r>
          </a:p>
        </p:txBody>
      </p:sp>
      <p:sp>
        <p:nvSpPr>
          <p:cNvPr id="204" name="box204"/>
          <p:cNvSpPr>
            <a:spLocks noGrp="1"/>
          </p:cNvSpPr>
          <p:nvPr/>
        </p:nvSpPr>
        <p:spPr>
          <a:xfrm>
            <a:off x="180000" y="522000"/>
            <a:ext cx="11832000" cy="396000"/>
          </a:xfrm>
          <a:prstGeom prst="roundRect">
            <a:avLst>
              <a:gd name="adj" fmla="val 10000"/>
            </a:avLst>
          </a:prstGeom>
          <a:solidFill>
            <a:srgbClr val="FFF2CC"/>
          </a:solidFill>
          <a:ln w="12700">
            <a:solidFill>
              <a:srgbClr val="BF8F00"/>
            </a:solidFill>
          </a:ln>
        </p:spPr>
        <p:txBody>
          <a:bodyPr anchor="ctr" wrap="square" lIns="144000" rIns="72000" tIns="54000" bIns="54000"/>
          <a:lstStyle/>
          <a:p>
            <a:pPr algn="l" spcBef="0" spcAft="0">
              <a:spcPct val="100000"/>
            </a:pPr>
            <a:r>
              <a:rPr lang="en-GB" b="1" sz="1700" dirty="0">
                <a:solidFill>
                  <a:srgbClr val="1F3864"/>
                </a:solidFill>
                <a:latin typeface="Calibri"/>
              </a:rPr>
              <a:t>📌  Use Past Continuous for the longer background action and Past Simple for the shorter interrupting action. Use 'when' with the short action and 'while' with the long action.</a:t>
            </a:r>
          </a:p>
        </p:txBody>
      </p:sp>
      <p:graphicFrame>
        <p:nvGraphicFramePr>
          <p:cNvPr id="205" name="tbl205"/>
          <p:cNvGraphicFramePr>
            <a:graphicFrameLocks noGrp="1"/>
          </p:cNvGraphicFramePr>
          <p:nvPr/>
        </p:nvGraphicFramePr>
        <p:xfrm>
          <a:off x="180000" y="990000"/>
          <a:ext cx="11832000" cy="5778000"/>
        </p:xfrm>
        <a:graphic>
          <a:graphicData uri="http://schemas.openxmlformats.org/drawingml/2006/table">
            <a:tbl>
              <a:tblPr firstRow="1" bandRow="1">
                <a:tableStyleId>{5C22544A-7EE6-4342-B048-85BDC9FD1C3A}</a:tableStyleId>
              </a:tblPr>
              <a:tblGrid>
                <a:gridCol w="3944000"/>
                <a:gridCol w="3944000"/>
                <a:gridCol w="3944000"/>
              </a:tblGrid>
              <a:tr h="1112400">
                <a:tc>
                  <a:txBody>
                    <a:bodyPr/>
                    <a:lstStyle/>
                    <a:p>
                      <a:pPr algn="l"/>
                      <a:r>
                        <a:rPr lang="en-GB" b="1" sz="1400" dirty="0">
                          <a:solidFill>
                            <a:srgbClr val="FFFFFF"/>
                          </a:solidFill>
                          <a:latin typeface="Calibri"/>
                        </a:rPr>
                        <a:t>Pattern</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Structure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Example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1112400">
                <a:tc>
                  <a:txBody>
                    <a:bodyPr/>
                    <a:lstStyle/>
                    <a:p>
                      <a:pPr algn="l"/>
                      <a:r>
                        <a:rPr lang="en-GB" b="1" sz="1400" dirty="0">
                          <a:solidFill>
                            <a:srgbClr val="1F3864"/>
                          </a:solidFill>
                          <a:latin typeface="Calibri"/>
                        </a:rPr>
                        <a:t>When + short action</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Past Cont. + when + Past Simple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was sleeping when the phone rang.</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12400">
                <a:tc>
                  <a:txBody>
                    <a:bodyPr/>
                    <a:lstStyle/>
                    <a:p>
                      <a:pPr algn="l"/>
                      <a:r>
                        <a:rPr lang="en-GB" b="1" sz="1400" dirty="0">
                          <a:solidFill>
                            <a:srgbClr val="1F3864"/>
                          </a:solidFill>
                          <a:latin typeface="Calibri"/>
                        </a:rPr>
                        <a:t>While + long action</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While + Past Cont., Past Simple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While I was walking, it started to rain.</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1112400">
                <a:tc>
                  <a:txBody>
                    <a:bodyPr/>
                    <a:lstStyle/>
                    <a:p>
                      <a:pPr algn="l"/>
                      <a:r>
                        <a:rPr lang="en-GB" b="1" sz="1400" dirty="0">
                          <a:solidFill>
                            <a:srgbClr val="1F3864"/>
                          </a:solidFill>
                          <a:latin typeface="Calibri"/>
                        </a:rPr>
                        <a:t>Two parallel actions</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Past Cont. + while + Past Cont.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She was reading while he was cooking.</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12400">
                <a:tc>
                  <a:txBody>
                    <a:bodyPr/>
                    <a:lstStyle/>
                    <a:p>
                      <a:pPr algn="l"/>
                      <a:r>
                        <a:rPr lang="en-GB" b="1" sz="1400" dirty="0">
                          <a:solidFill>
                            <a:srgbClr val="1F3864"/>
                          </a:solidFill>
                          <a:latin typeface="Calibri"/>
                        </a:rPr>
                        <a:t>Sequence of events</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Past Simple + Past Simple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He woke up, got dressed, and left.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6.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51" name="box2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52" name="box2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53" name="tb2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SPELLING &amp; USAGE NOTES</a:t>
            </a:r>
          </a:p>
        </p:txBody>
      </p:sp>
      <p:sp>
        <p:nvSpPr>
          <p:cNvPr id="254" name="box254"/>
          <p:cNvSpPr>
            <a:spLocks noGrp="1"/>
          </p:cNvSpPr>
          <p:nvPr/>
        </p:nvSpPr>
        <p:spPr>
          <a:xfrm>
            <a:off x="180000" y="540000"/>
            <a:ext cx="11832000" cy="503999"/>
          </a:xfrm>
          <a:prstGeom prst="rect">
            <a:avLst/>
          </a:prstGeom>
          <a:solidFill>
            <a:srgbClr val="DCE6F1"/>
          </a:solidFill>
          <a:ln w="12700">
            <a:solidFill>
              <a:srgbClr val="1F3864"/>
            </a:solidFill>
          </a:ln>
        </p:spPr>
        <p:txBody>
          <a:bodyPr anchor="ctr" wrap="square" lIns="144000" rIns="72000" tIns="54000" bIns="54000"/>
          <a:lstStyle/>
          <a:p>
            <a:pPr algn="l" spcBef="0" spcAft="0">
              <a:spcPct val="100000"/>
            </a:pPr>
            <a:r>
              <a:rPr lang="en-GB" b="1" sz="1500" dirty="0">
                <a:solidFill>
                  <a:srgbClr val="1F3864"/>
                </a:solidFill>
                <a:latin typeface="Calibri"/>
              </a:rPr>
              <a:t>⚠️  Watch Out!  </a:t>
            </a:r>
            <a:r>
              <a:rPr lang="en-GB" b="0" sz="1400" dirty="0">
                <a:solidFill>
                  <a:srgbClr val="1F3864"/>
                </a:solidFill>
                <a:latin typeface="Calibri"/>
              </a:rPr>
              <a:t>WHEN + Past Simple (the interruption). WHILE + Past Continuous (the background). If both actions are short and completed, use Past Simple + Past Simple: 'I opened the door and saw him.'</a:t>
            </a:r>
          </a:p>
        </p:txBody>
      </p:sp>
      <p:sp>
        <p:nvSpPr>
          <p:cNvPr id="255" name="box255"/>
          <p:cNvSpPr>
            <a:spLocks noGrp="1"/>
          </p:cNvSpPr>
          <p:nvPr/>
        </p:nvSpPr>
        <p:spPr>
          <a:xfrm>
            <a:off x="180000" y="1169998"/>
            <a:ext cx="1260000" cy="216000"/>
          </a:xfrm>
          <a:prstGeom prst="roundRect">
            <a:avLst>
              <a:gd name="adj" fmla="val 10000"/>
            </a:avLst>
          </a:prstGeom>
          <a:solidFill>
            <a:srgbClr val="BF8F00"/>
          </a:solidFill>
          <a:ln w="0">
            <a:noFill/>
          </a:ln>
        </p:spPr>
        <p:txBody>
          <a:bodyPr anchor="ctr" wrap="square" lIns="72000" rIns="72000" tIns="54000" bIns="54000"/>
          <a:lstStyle/>
          <a:p>
            <a:pPr algn="ctr" spcBef="0" spcAft="0">
              <a:spcPct val="100000"/>
            </a:pPr>
            <a:r>
              <a:rPr lang="en-GB" b="1" sz="1400" dirty="0">
                <a:solidFill>
                  <a:srgbClr val="1F3864"/>
                </a:solidFill>
                <a:latin typeface="Calibri"/>
              </a:rPr>
              <a:t>Usage Examples</a:t>
            </a:r>
          </a:p>
        </p:txBody>
      </p:sp>
      <p:sp>
        <p:nvSpPr>
          <p:cNvPr id="256" name="tb256"/>
          <p:cNvSpPr txBox="1">
            <a:spLocks noGrp="1"/>
          </p:cNvSpPr>
          <p:nvPr/>
        </p:nvSpPr>
        <p:spPr>
          <a:xfrm>
            <a:off x="180000" y="1439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Interrupted action: I was reading when the doorbell rang.</a:t>
            </a:r>
          </a:p>
        </p:txBody>
      </p:sp>
      <p:sp>
        <p:nvSpPr>
          <p:cNvPr id="257" name="tb257"/>
          <p:cNvSpPr txBox="1">
            <a:spLocks noGrp="1"/>
          </p:cNvSpPr>
          <p:nvPr/>
        </p:nvSpPr>
        <p:spPr>
          <a:xfrm>
            <a:off x="180000" y="1655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Background + event: While they were eating, the power went out.</a:t>
            </a:r>
          </a:p>
        </p:txBody>
      </p:sp>
      <p:sp>
        <p:nvSpPr>
          <p:cNvPr id="258" name="tb258"/>
          <p:cNvSpPr txBox="1">
            <a:spLocks noGrp="1"/>
          </p:cNvSpPr>
          <p:nvPr/>
        </p:nvSpPr>
        <p:spPr>
          <a:xfrm>
            <a:off x="180000" y="1871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Parallel actions: She was studying while her brother was playing games.</a:t>
            </a:r>
          </a:p>
        </p:txBody>
      </p:sp>
      <p:sp>
        <p:nvSpPr>
          <p:cNvPr id="259" name="tb259"/>
          <p:cNvSpPr txBox="1">
            <a:spLocks noGrp="1"/>
          </p:cNvSpPr>
          <p:nvPr/>
        </p:nvSpPr>
        <p:spPr>
          <a:xfrm>
            <a:off x="180000" y="2087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Story telling: The sun was shining. Birds were singing. Suddenly, it started to rain.</a:t>
            </a:r>
          </a:p>
        </p:txBody>
      </p:sp>
    </p:spTree>
  </p:cSld>
  <p:clrMapOvr>
    <a:masterClr/>
  </p:clrMapOvr>
</p:sld>
</file>

<file path=ppt/slides/slide7.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01" name="box3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02" name="box3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03" name="tb3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GUIDED PRACTICE</a:t>
            </a:r>
          </a:p>
        </p:txBody>
      </p:sp>
      <p:sp>
        <p:nvSpPr>
          <p:cNvPr id="304" name="tb3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Complete with Past Simple or Past Continuous. Items 1-2 are done for you.</a:t>
            </a:r>
          </a:p>
        </p:txBody>
      </p:sp>
      <p:graphicFrame>
        <p:nvGraphicFramePr>
          <p:cNvPr id="305" name="tbl3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6152640"/>
                <a:gridCol w="4969440"/>
              </a:tblGrid>
              <a:tr h="11412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Prompt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Answer</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1 ✅</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___ (sleep) when the alarm ___ (go) off.</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WAS SLEEPING when the alarm WENT off.</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2 ✅</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While she ___ (cook), he ___ (arrive).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While she WAS COOKING, he ARRIVED.</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They ___ (walk) home when it ___ (start) to rain.</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___ (read) a book when someone ___ (knock).</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8.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51" name="box3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52" name="box3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53" name="tb3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CONTROLLED PRACTICE</a:t>
            </a:r>
          </a:p>
        </p:txBody>
      </p:sp>
      <p:sp>
        <p:nvSpPr>
          <p:cNvPr id="354" name="tb35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Write complete sentences using Past Continuous and Past Simple together.</a:t>
            </a:r>
          </a:p>
        </p:txBody>
      </p:sp>
      <p:graphicFrame>
        <p:nvGraphicFramePr>
          <p:cNvPr id="355" name="tbl35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5561040"/>
                <a:gridCol w="556104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Prompt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Write your answer</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 walk / to work / when / I / see / an accident)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(while / she / sleep / the baby / start / crying)</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(he / cook / when / the fire alarm / go off)</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(they / have / lunch / when / the boss / call)</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(while / I / study / my phone / ring)</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9.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01" name="box4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02" name="box4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403" name="tb4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ERROR CORRECTION</a:t>
            </a:r>
          </a:p>
        </p:txBody>
      </p:sp>
      <p:sp>
        <p:nvSpPr>
          <p:cNvPr id="404" name="tb4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Find and correct the ONE mistake in each sentence.</a:t>
            </a:r>
          </a:p>
        </p:txBody>
      </p:sp>
      <p:graphicFrame>
        <p:nvGraphicFramePr>
          <p:cNvPr id="405" name="tbl4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591600"/>
                <a:gridCol w="5916000"/>
                <a:gridCol w="532440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Incorrect 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Corrected 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was sleeping when the phone was ringing.</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While I walked home, it started to rain.</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She was cooking when he was arriving.</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When I was reading, the doorbell was ringing.</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While they had dinner, the lights went out.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10.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51" name="box4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52" name="box45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453" name="tb4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SPEAKING ACTIVITY</a:t>
            </a:r>
          </a:p>
        </p:txBody>
      </p:sp>
      <p:sp>
        <p:nvSpPr>
          <p:cNvPr id="454" name="box454"/>
          <p:cNvSpPr>
            <a:spLocks noGrp="1"/>
          </p:cNvSpPr>
          <p:nvPr/>
        </p:nvSpPr>
        <p:spPr>
          <a:xfrm>
            <a:off x="180000" y="522000"/>
            <a:ext cx="11832000" cy="360000"/>
          </a:xfrm>
          <a:prstGeom prst="roundRect">
            <a:avLst>
              <a:gd name="adj" fmla="val 12000"/>
            </a:avLst>
          </a:prstGeom>
          <a:solidFill>
            <a:srgbClr val="548235"/>
          </a:solidFill>
          <a:ln w="0">
            <a:noFill/>
          </a:ln>
        </p:spPr>
        <p:txBody>
          <a:bodyPr anchor="ctr" wrap="square" lIns="180000" rIns="72000" tIns="54000" bIns="54000"/>
          <a:lstStyle/>
          <a:p>
            <a:pPr algn="l" spcBef="0" spcAft="0">
              <a:spcPct val="100000"/>
            </a:pPr>
            <a:r>
              <a:rPr lang="en-GB" b="1" sz="2200" dirty="0">
                <a:solidFill>
                  <a:srgbClr val="FFFFFF"/>
                </a:solidFill>
                <a:latin typeface="Cambria"/>
              </a:rPr>
              <a:t>💬 Tell Me Your Story</a:t>
            </a:r>
          </a:p>
        </p:txBody>
      </p:sp>
      <p:sp>
        <p:nvSpPr>
          <p:cNvPr id="455" name="box455"/>
          <p:cNvSpPr>
            <a:spLocks noGrp="1"/>
          </p:cNvSpPr>
          <p:nvPr/>
        </p:nvSpPr>
        <p:spPr>
          <a:xfrm>
            <a:off x="11112000" y="954000"/>
            <a:ext cx="900000" cy="1260000"/>
          </a:xfrm>
          <a:prstGeom prst="roundRect">
            <a:avLst>
              <a:gd name="adj" fmla="val 20000"/>
            </a:avLst>
          </a:prstGeom>
          <a:solidFill>
            <a:srgbClr val="DCE6F1"/>
          </a:solidFill>
          <a:ln w="0">
            <a:noFill/>
          </a:ln>
        </p:spPr>
        <p:txBody>
          <a:bodyPr anchor="ctr" wrap="square" lIns="72000" rIns="72000" tIns="54000" bIns="54000"/>
          <a:lstStyle/>
          <a:p>
            <a:pPr algn="ctr" spcBef="0" spcAft="0">
              <a:spcPct val="100000"/>
            </a:pPr>
            <a:r>
              <a:rPr lang="en-GB" b="0" sz="6000" dirty="0">
                <a:solidFill>
                  <a:srgbClr val="2E75B6"/>
                </a:solidFill>
                <a:latin typeface="Calibri"/>
              </a:rPr>
              <a:t>💬</a:t>
            </a:r>
          </a:p>
        </p:txBody>
      </p:sp>
      <p:sp>
        <p:nvSpPr>
          <p:cNvPr id="456" name="box456"/>
          <p:cNvSpPr>
            <a:spLocks noGrp="1"/>
          </p:cNvSpPr>
          <p:nvPr/>
        </p:nvSpPr>
        <p:spPr>
          <a:xfrm>
            <a:off x="180000" y="9540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1</a:t>
            </a:r>
          </a:p>
        </p:txBody>
      </p:sp>
      <p:sp>
        <p:nvSpPr>
          <p:cNvPr id="457" name="tb457"/>
          <p:cNvSpPr txBox="1">
            <a:spLocks noGrp="1"/>
          </p:cNvSpPr>
          <p:nvPr/>
        </p:nvSpPr>
        <p:spPr>
          <a:xfrm>
            <a:off x="468000" y="9540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Think of a time something unexpected happened to you.</a:t>
            </a:r>
          </a:p>
        </p:txBody>
      </p:sp>
      <p:sp>
        <p:nvSpPr>
          <p:cNvPr id="458" name="box458"/>
          <p:cNvSpPr>
            <a:spLocks noGrp="1"/>
          </p:cNvSpPr>
          <p:nvPr/>
        </p:nvSpPr>
        <p:spPr>
          <a:xfrm>
            <a:off x="180000" y="12708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2</a:t>
            </a:r>
          </a:p>
        </p:txBody>
      </p:sp>
      <p:sp>
        <p:nvSpPr>
          <p:cNvPr id="459" name="tb459"/>
          <p:cNvSpPr txBox="1">
            <a:spLocks noGrp="1"/>
          </p:cNvSpPr>
          <p:nvPr/>
        </p:nvSpPr>
        <p:spPr>
          <a:xfrm>
            <a:off x="468000" y="12708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Set the scene with Past Continuous: 'I was walking home. It was getting dark.'</a:t>
            </a:r>
          </a:p>
        </p:txBody>
      </p:sp>
      <p:sp>
        <p:nvSpPr>
          <p:cNvPr id="460" name="box460"/>
          <p:cNvSpPr>
            <a:spLocks noGrp="1"/>
          </p:cNvSpPr>
          <p:nvPr/>
        </p:nvSpPr>
        <p:spPr>
          <a:xfrm>
            <a:off x="180000" y="15876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3</a:t>
            </a:r>
          </a:p>
        </p:txBody>
      </p:sp>
      <p:sp>
        <p:nvSpPr>
          <p:cNvPr id="461" name="tb461"/>
          <p:cNvSpPr txBox="1">
            <a:spLocks noGrp="1"/>
          </p:cNvSpPr>
          <p:nvPr/>
        </p:nvSpPr>
        <p:spPr>
          <a:xfrm>
            <a:off x="468000" y="15876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Add the event with Past Simple: 'Suddenly, I heard a loud noise.'</a:t>
            </a:r>
          </a:p>
        </p:txBody>
      </p:sp>
      <p:sp>
        <p:nvSpPr>
          <p:cNvPr id="462" name="box462"/>
          <p:cNvSpPr>
            <a:spLocks noGrp="1"/>
          </p:cNvSpPr>
          <p:nvPr/>
        </p:nvSpPr>
        <p:spPr>
          <a:xfrm>
            <a:off x="180000" y="19044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4</a:t>
            </a:r>
          </a:p>
        </p:txBody>
      </p:sp>
      <p:sp>
        <p:nvSpPr>
          <p:cNvPr id="463" name="tb463"/>
          <p:cNvSpPr txBox="1">
            <a:spLocks noGrp="1"/>
          </p:cNvSpPr>
          <p:nvPr/>
        </p:nvSpPr>
        <p:spPr>
          <a:xfrm>
            <a:off x="468000" y="19044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Your partner asks questions: 'What happened next? What were you doing exactly?'</a:t>
            </a:r>
          </a:p>
        </p:txBody>
      </p:sp>
      <p:sp>
        <p:nvSpPr>
          <p:cNvPr id="464" name="box464"/>
          <p:cNvSpPr>
            <a:spLocks noGrp="1"/>
          </p:cNvSpPr>
          <p:nvPr/>
        </p:nvSpPr>
        <p:spPr>
          <a:xfrm>
            <a:off x="180000" y="6570000"/>
            <a:ext cx="126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Pair Work</a:t>
            </a:r>
          </a:p>
        </p:txBody>
      </p:sp>
    </p:spTree>
  </p:cSld>
  <p:clrMapOvr>
    <a:masterClr/>
  </p:clrMapOvr>
</p:sld>
</file>

<file path=ppt/slides/slide11.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01" name="box5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02" name="box50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503" name="tb5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READING &amp; WRITING</a:t>
            </a:r>
          </a:p>
        </p:txBody>
      </p:sp>
      <p:sp>
        <p:nvSpPr>
          <p:cNvPr id="504" name="box504"/>
          <p:cNvSpPr>
            <a:spLocks noGrp="1"/>
          </p:cNvSpPr>
          <p:nvPr/>
        </p:nvSpPr>
        <p:spPr>
          <a:xfrm>
            <a:off x="180000" y="540000"/>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Reading</a:t>
            </a:r>
          </a:p>
        </p:txBody>
      </p:sp>
      <p:sp>
        <p:nvSpPr>
          <p:cNvPr id="505" name="box505"/>
          <p:cNvSpPr>
            <a:spLocks noGrp="1"/>
          </p:cNvSpPr>
          <p:nvPr/>
        </p:nvSpPr>
        <p:spPr>
          <a:xfrm>
            <a:off x="180000" y="792000"/>
            <a:ext cx="11832000" cy="612000"/>
          </a:xfrm>
          <a:prstGeom prst="rect">
            <a:avLst/>
          </a:prstGeom>
          <a:solidFill>
            <a:srgbClr val="F2F2F2"/>
          </a:solidFill>
          <a:ln w="12700">
            <a:solidFill>
              <a:srgbClr val="CCCCCC"/>
            </a:solidFill>
          </a:ln>
        </p:spPr>
        <p:txBody>
          <a:bodyPr anchor="t" wrap="square" lIns="108000" rIns="72000" tIns="72000" bIns="54000"/>
          <a:lstStyle/>
          <a:p>
            <a:pPr algn="l" spcBef="0" spcAft="0">
              <a:spcPct val="100000"/>
            </a:pPr>
            <a:r>
              <a:rPr lang="en-GB" b="0" i="1" sz="1300" dirty="0">
                <a:solidFill>
                  <a:srgbClr val="404040"/>
                </a:solidFill>
                <a:latin typeface="Calibri"/>
              </a:rPr>
              <a:t>Last Tuesday, I was walking to work when I saw an accident. A man was crossing the road while he was talking on his phone. He didn't see the car. Fortunately, the driver was driving slowly and stopped in time. Nobody was hurt, but the man was very frightened. He dropped his phone and it broke.</a:t>
            </a:r>
          </a:p>
        </p:txBody>
      </p:sp>
      <p:sp>
        <p:nvSpPr>
          <p:cNvPr id="506" name="box506"/>
          <p:cNvSpPr>
            <a:spLocks noGrp="1"/>
          </p:cNvSpPr>
          <p:nvPr/>
        </p:nvSpPr>
        <p:spPr>
          <a:xfrm>
            <a:off x="180000" y="1475999"/>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Writing</a:t>
            </a:r>
          </a:p>
        </p:txBody>
      </p:sp>
      <p:sp>
        <p:nvSpPr>
          <p:cNvPr id="507" name="tb507"/>
          <p:cNvSpPr txBox="1">
            <a:spLocks noGrp="1"/>
          </p:cNvSpPr>
          <p:nvPr/>
        </p:nvSpPr>
        <p:spPr>
          <a:xfrm>
            <a:off x="180000" y="1728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548235"/>
                </a:solidFill>
                <a:latin typeface="Calibri"/>
              </a:rPr>
              <a:t>Write a short story (6 sentences) using Past Continuous and Past Simple together.</a:t>
            </a:r>
          </a:p>
        </p:txBody>
      </p:sp>
      <p:sp>
        <p:nvSpPr>
          <p:cNvPr id="508" name="tb508"/>
          <p:cNvSpPr txBox="1">
            <a:spLocks noGrp="1"/>
          </p:cNvSpPr>
          <p:nvPr/>
        </p:nvSpPr>
        <p:spPr>
          <a:xfrm>
            <a:off x="180000" y="20159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Set the scene (Past Continuous): The sun was ___. I was ___.</a:t>
            </a:r>
          </a:p>
        </p:txBody>
      </p:sp>
      <p:sp>
        <p:nvSpPr>
          <p:cNvPr id="509" name="tb509"/>
          <p:cNvSpPr txBox="1">
            <a:spLocks noGrp="1"/>
          </p:cNvSpPr>
          <p:nvPr/>
        </p:nvSpPr>
        <p:spPr>
          <a:xfrm>
            <a:off x="180000" y="21527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Add an interruption (Past Simple): Suddenly, ___.</a:t>
            </a:r>
          </a:p>
        </p:txBody>
      </p:sp>
      <p:sp>
        <p:nvSpPr>
          <p:cNvPr id="510" name="tb510"/>
          <p:cNvSpPr txBox="1">
            <a:spLocks noGrp="1"/>
          </p:cNvSpPr>
          <p:nvPr/>
        </p:nvSpPr>
        <p:spPr>
          <a:xfrm>
            <a:off x="180000" y="22895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Describe a reaction (Past Simple): I ___.</a:t>
            </a:r>
          </a:p>
        </p:txBody>
      </p:sp>
    </p:spTree>
  </p:cSld>
  <p:clrMapOvr>
    <a:masterClr/>
  </p:clrMapOvr>
</p:sld>
</file>

<file path=ppt/slides/slide1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51" name="box5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52" name="box5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53" name="tb5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HOMEWORK</a:t>
            </a:r>
          </a:p>
        </p:txBody>
      </p:sp>
      <p:sp>
        <p:nvSpPr>
          <p:cNvPr id="554" name="box554"/>
          <p:cNvSpPr>
            <a:spLocks noGrp="1"/>
          </p:cNvSpPr>
          <p:nvPr/>
        </p:nvSpPr>
        <p:spPr>
          <a:xfrm>
            <a:off x="180000" y="540000"/>
            <a:ext cx="432000" cy="432000"/>
          </a:xfrm>
          <a:prstGeom prst="roundRect">
            <a:avLst>
              <a:gd name="adj" fmla="val 50000"/>
            </a:avLst>
          </a:prstGeom>
          <a:solidFill>
            <a:srgbClr val="BF8F00"/>
          </a:solidFill>
          <a:ln w="0">
            <a:noFill/>
          </a:ln>
        </p:spPr>
        <p:txBody>
          <a:bodyPr anchor="ctr" wrap="square" lIns="72000" rIns="72000" tIns="54000" bIns="54000"/>
          <a:lstStyle/>
          <a:p>
            <a:pPr algn="ctr" spcBef="0" spcAft="0">
              <a:spcPct val="100000"/>
            </a:pPr>
            <a:r>
              <a:rPr lang="en-GB" b="1" sz="2800" dirty="0">
                <a:solidFill>
                  <a:srgbClr val="1F3864"/>
                </a:solidFill>
                <a:latin typeface="Cambria"/>
              </a:rPr>
              <a:t>1</a:t>
            </a:r>
          </a:p>
        </p:txBody>
      </p:sp>
      <p:sp>
        <p:nvSpPr>
          <p:cNvPr id="555" name="box555"/>
          <p:cNvSpPr>
            <a:spLocks noGrp="1"/>
          </p:cNvSpPr>
          <p:nvPr/>
        </p:nvSpPr>
        <p:spPr>
          <a:xfrm>
            <a:off x="684000" y="540000"/>
            <a:ext cx="11328000" cy="432000"/>
          </a:xfrm>
          <a:prstGeom prst="rect">
            <a:avLst/>
          </a:prstGeom>
          <a:solidFill>
            <a:srgbClr val="DCE6F1"/>
          </a:solidFill>
          <a:ln w="12700">
            <a:solidFill>
              <a:srgbClr val="2E75B6"/>
            </a:solidFill>
          </a:ln>
        </p:spPr>
        <p:txBody>
          <a:bodyPr anchor="ctr" wrap="square" lIns="108000" rIns="72000" tIns="54000" bIns="54000"/>
          <a:lstStyle/>
          <a:p>
            <a:pPr algn="l" spcBef="0" spcAft="0">
              <a:spcPct val="100000"/>
            </a:pPr>
            <a:r>
              <a:rPr lang="en-GB" b="1" sz="1500" dirty="0">
                <a:solidFill>
                  <a:srgbClr val="1F3864"/>
                </a:solidFill>
                <a:latin typeface="Calibri"/>
              </a:rPr>
              <a:t>Production Task  </a:t>
            </a:r>
            <a:r>
              <a:rPr lang="en-GB" b="0" sz="1400" dirty="0">
                <a:solidFill>
                  <a:srgbClr val="404040"/>
                </a:solidFill>
                <a:latin typeface="Calibri"/>
              </a:rPr>
              <a:t>Write a story (8-10 sentences) about an unexpected event. Use Past Continuous to set the scene and Past Simple for main events. Use 'when' and 'while' at least twice each.</a:t>
            </a:r>
          </a:p>
        </p:txBody>
      </p:sp>
      <p:sp>
        <p:nvSpPr>
          <p:cNvPr id="556" name="box556"/>
          <p:cNvSpPr>
            <a:spLocks noGrp="1"/>
          </p:cNvSpPr>
          <p:nvPr/>
        </p:nvSpPr>
        <p:spPr>
          <a:xfrm>
            <a:off x="180000" y="1080000"/>
            <a:ext cx="432000" cy="432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2800" dirty="0">
                <a:solidFill>
                  <a:srgbClr val="FFFFFF"/>
                </a:solidFill>
                <a:latin typeface="Cambria"/>
              </a:rPr>
              <a:t>2</a:t>
            </a:r>
          </a:p>
        </p:txBody>
      </p:sp>
      <p:sp>
        <p:nvSpPr>
          <p:cNvPr id="557" name="box557"/>
          <p:cNvSpPr>
            <a:spLocks noGrp="1"/>
          </p:cNvSpPr>
          <p:nvPr/>
        </p:nvSpPr>
        <p:spPr>
          <a:xfrm>
            <a:off x="684000" y="1080000"/>
            <a:ext cx="11328000" cy="432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1" sz="1500" dirty="0">
                <a:solidFill>
                  <a:srgbClr val="1F3864"/>
                </a:solidFill>
                <a:latin typeface="Calibri"/>
              </a:rPr>
              <a:t>Vocabulary Consolidation  </a:t>
            </a:r>
            <a:r>
              <a:rPr lang="en-GB" b="0" sz="1400" dirty="0">
                <a:solidFill>
                  <a:srgbClr val="404040"/>
                </a:solidFill>
                <a:latin typeface="Calibri"/>
              </a:rPr>
              <a:t>Choose 10 vocabulary words from Section 4. For each one, write a sentence combining Past Continuous and Past Simple. Example: 'I was walking when I suddenly slipped.'</a:t>
            </a:r>
          </a:p>
        </p:txBody>
      </p:sp>
      <p:sp>
        <p:nvSpPr>
          <p:cNvPr id="558" name="box558"/>
          <p:cNvSpPr>
            <a:spLocks noGrp="1"/>
          </p:cNvSpPr>
          <p:nvPr/>
        </p:nvSpPr>
        <p:spPr>
          <a:xfrm>
            <a:off x="180000" y="6498000"/>
            <a:ext cx="144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Due: next class</a:t>
            </a:r>
          </a:p>
        </p:txBody>
      </p:sp>
    </p:spTree>
  </p:cSld>
  <p:clrMapOvr>
    <a:masterClr/>
  </p:clrMapOvr>
</p:sld>
</file>

<file path=ppt/slides/slide13.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601" name="shape60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602" name="shape602"/>
          <p:cNvSpPr>
            <a:spLocks noGrp="1"/>
          </p:cNvSpPr>
          <p:nvPr/>
        </p:nvSpPr>
        <p:spPr>
          <a:xfrm>
            <a:off x="0" y="0"/>
            <a:ext cx="12192000" cy="108000"/>
          </a:xfrm>
          <a:prstGeom prst="rect">
            <a:avLst/>
          </a:prstGeom>
          <a:solidFill>
            <a:srgbClr val="BF8F00"/>
          </a:solidFill>
        </p:spPr>
        <p:txBody>
          <a:bodyPr/>
          <a:lstStyle/>
          <a:p/>
        </p:txBody>
      </p:sp>
      <p:sp>
        <p:nvSpPr>
          <p:cNvPr id="603" name="shape603"/>
          <p:cNvSpPr>
            <a:spLocks noGrp="1"/>
          </p:cNvSpPr>
          <p:nvPr/>
        </p:nvSpPr>
        <p:spPr>
          <a:xfrm>
            <a:off x="0" y="6750000"/>
            <a:ext cx="12192000" cy="108000"/>
          </a:xfrm>
          <a:prstGeom prst="rect">
            <a:avLst/>
          </a:prstGeom>
          <a:solidFill>
            <a:srgbClr val="BF8F00"/>
          </a:solidFill>
        </p:spPr>
        <p:txBody>
          <a:bodyPr/>
          <a:lstStyle/>
          <a:p/>
        </p:txBody>
      </p:sp>
      <p:sp>
        <p:nvSpPr>
          <p:cNvPr id="604" name="shape604"/>
          <p:cNvSpPr>
            <a:spLocks noGrp="1"/>
          </p:cNvSpPr>
          <p:nvPr/>
        </p:nvSpPr>
        <p:spPr>
          <a:xfrm>
            <a:off x="0" y="0"/>
            <a:ext cx="144000" cy="6858000"/>
          </a:xfrm>
          <a:prstGeom prst="rect">
            <a:avLst/>
          </a:prstGeom>
          <a:solidFill>
            <a:srgbClr val="BF8F00"/>
          </a:solidFill>
        </p:spPr>
        <p:txBody>
          <a:bodyPr/>
          <a:lstStyle/>
          <a:p/>
        </p:txBody>
      </p:sp>
      <p:sp>
        <p:nvSpPr>
          <p:cNvPr id="605" name="box605"/>
          <p:cNvSpPr>
            <a:spLocks noGrp="1"/>
          </p:cNvSpPr>
          <p:nvPr/>
        </p:nvSpPr>
        <p:spPr>
          <a:xfrm>
            <a:off x="432000" y="432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14  ·  A2</a:t>
            </a:r>
          </a:p>
        </p:txBody>
      </p:sp>
      <p:sp>
        <p:nvSpPr>
          <p:cNvPr id="606" name="tb606"/>
          <p:cNvSpPr txBox="1">
            <a:spLocks noGrp="1"/>
          </p:cNvSpPr>
          <p:nvPr/>
        </p:nvSpPr>
        <p:spPr>
          <a:xfrm>
            <a:off x="432000" y="827999"/>
            <a:ext cx="11472000" cy="900000"/>
          </a:xfrm>
          <a:prstGeom prst="rect">
            <a:avLst/>
          </a:prstGeom>
          <a:noFill/>
        </p:spPr>
        <p:txBody>
          <a:bodyPr anchor="t" wrap="square" lIns="36000" rIns="36000" tIns="36000" bIns="36000"/>
          <a:lstStyle/>
          <a:p>
            <a:pPr algn="l" spcBef="0" spcAft="0">
              <a:spcPct val="100000"/>
            </a:pPr>
            <a:r>
              <a:rPr lang="en-GB" b="1" sz="3600" dirty="0">
                <a:solidFill>
                  <a:srgbClr val="FFFFFF"/>
                </a:solidFill>
                <a:latin typeface="Cambria"/>
              </a:rPr>
              <a:t>Past Continuous vs Past Simple</a:t>
            </a:r>
          </a:p>
        </p:txBody>
      </p:sp>
      <p:sp>
        <p:nvSpPr>
          <p:cNvPr id="607" name="tb607"/>
          <p:cNvSpPr txBox="1">
            <a:spLocks noGrp="1"/>
          </p:cNvSpPr>
          <p:nvPr/>
        </p:nvSpPr>
        <p:spPr>
          <a:xfrm>
            <a:off x="432000" y="1800000"/>
            <a:ext cx="11472000" cy="324000"/>
          </a:xfrm>
          <a:prstGeom prst="rect">
            <a:avLst/>
          </a:prstGeom>
          <a:noFill/>
        </p:spPr>
        <p:txBody>
          <a:bodyPr anchor="ctr" wrap="square" lIns="36000" rIns="36000" tIns="36000" bIns="36000"/>
          <a:lstStyle/>
          <a:p>
            <a:pPr algn="l" spcBef="0" spcAft="0">
              <a:spcPct val="100000"/>
            </a:pPr>
            <a:r>
              <a:rPr lang="en-GB" b="0" i="1" sz="1600" dirty="0">
                <a:solidFill>
                  <a:srgbClr val="BF8F00"/>
                </a:solidFill>
                <a:latin typeface="Calibri"/>
              </a:rPr>
              <a:t>✦  Grammar is not a rule — it is a tool. Use it!</a:t>
            </a:r>
          </a:p>
        </p:txBody>
      </p:sp>
      <p:sp>
        <p:nvSpPr>
          <p:cNvPr id="608" name="box608"/>
          <p:cNvSpPr>
            <a:spLocks noGrp="1"/>
          </p:cNvSpPr>
          <p:nvPr/>
        </p:nvSpPr>
        <p:spPr>
          <a:xfrm>
            <a:off x="10752000" y="6462000"/>
            <a:ext cx="1260000" cy="234000"/>
          </a:xfrm>
          <a:prstGeom prst="roundRect">
            <a:avLst>
              <a:gd name="adj" fmla="val 10000"/>
            </a:avLst>
          </a:prstGeom>
          <a:solidFill>
            <a:srgbClr val="2E75B6"/>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See you next class! 👋</a:t>
            </a:r>
          </a:p>
        </p:txBody>
      </p:sp>
    </p:spTree>
  </p:cSld>
  <p:clrMapOvr>
    <a:masterClr/>
  </p:clrMapOvr>
</p:sld>
</file>