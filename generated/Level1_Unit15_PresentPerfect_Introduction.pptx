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0"/>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12192000"/>
</p:presentation>
</file>

<file path=ppt/_rels/presentation.xml.rels><?xml version="1.0" encoding="UTF-8" standalone="yes"?>
<Relationships xmlns="http://schemas.openxmlformats.org/package/2006/relationships">
  <Relationship Id="rId0"
    Type="http://schemas.openxmlformats.org/officeDocument/2006/relationships/slideMaster"
    Target="slideMasters/slideMaster1.xml"/>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12192000" cy="6858000"/>
          <a:chOff x="0" y="0"/>
          <a:chExt cx="12192000" cy="6858000"/>
        </a:xfrm>
      </p:grpSpPr>
    </p:spTree>
  </p:cSld>
  <p:clrMapOvr>
    <a:masterClr/>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12192000" cy="6858000"/>
          <a:chOff x="0" y="0"/>
          <a:chExt cx="12192000" cy="6858000"/>
        </a:xfrm>
      </p:grpSpPr>
    </p:spTree>
  </p:cSld>
  <p:clrMap bg1="lt1" tx1="dk1" bg2="lt2" tx2="dk2" accent1="accent1" accent2="accent2" accent3="accent3" accent4="accent4" accent5="accent5" accent6="accent6" hlink="hlink" folHlink="folHlink"/>
  <p:sldLayoutIdLst>
    <p:sldLayoutId id="2147483649" r:id="rId1"/>
  </p:sldLayoutIdLst>
  <p:txStyles>
    <p:titleStyle>
      <a:lstStyle/>
    </p:titleStyle>
    <p:bodyStyle>
      <a:lstStyle/>
    </p:bodyStyle>
    <p:otherStyle>
      <a:lst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11" name="shape1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12" name="shape12"/>
          <p:cNvSpPr>
            <a:spLocks noGrp="1"/>
          </p:cNvSpPr>
          <p:nvPr/>
        </p:nvSpPr>
        <p:spPr>
          <a:xfrm>
            <a:off x="0" y="0"/>
            <a:ext cx="144000" cy="6858000"/>
          </a:xfrm>
          <a:prstGeom prst="rect">
            <a:avLst/>
          </a:prstGeom>
          <a:solidFill>
            <a:srgbClr val="BF8F00"/>
          </a:solidFill>
        </p:spPr>
        <p:txBody>
          <a:bodyPr/>
          <a:lstStyle/>
          <a:p/>
        </p:txBody>
      </p:sp>
      <p:sp>
        <p:nvSpPr>
          <p:cNvPr id="13" name="shape13"/>
          <p:cNvSpPr>
            <a:spLocks noGrp="1"/>
          </p:cNvSpPr>
          <p:nvPr/>
        </p:nvSpPr>
        <p:spPr>
          <a:xfrm>
            <a:off x="0" y="0"/>
            <a:ext cx="12192000" cy="108000"/>
          </a:xfrm>
          <a:prstGeom prst="rect">
            <a:avLst/>
          </a:prstGeom>
          <a:solidFill>
            <a:srgbClr val="BF8F00"/>
          </a:solidFill>
        </p:spPr>
        <p:txBody>
          <a:bodyPr/>
          <a:lstStyle/>
          <a:p/>
        </p:txBody>
      </p:sp>
      <p:sp>
        <p:nvSpPr>
          <p:cNvPr id="14" name="box14"/>
          <p:cNvSpPr>
            <a:spLocks noGrp="1"/>
          </p:cNvSpPr>
          <p:nvPr/>
        </p:nvSpPr>
        <p:spPr>
          <a:xfrm>
            <a:off x="432000" y="468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15  ·  A2</a:t>
            </a:r>
          </a:p>
        </p:txBody>
      </p:sp>
      <p:sp>
        <p:nvSpPr>
          <p:cNvPr id="15" name="tb15"/>
          <p:cNvSpPr txBox="1">
            <a:spLocks noGrp="1"/>
          </p:cNvSpPr>
          <p:nvPr/>
        </p:nvSpPr>
        <p:spPr>
          <a:xfrm>
            <a:off x="432000" y="900000"/>
            <a:ext cx="11472000" cy="288000"/>
          </a:xfrm>
          <a:prstGeom prst="rect">
            <a:avLst/>
          </a:prstGeom>
          <a:noFill/>
        </p:spPr>
        <p:txBody>
          <a:bodyPr anchor="ctr" wrap="square" lIns="36000" rIns="36000" tIns="36000" bIns="36000"/>
          <a:lstStyle/>
          <a:p>
            <a:pPr algn="l" spcBef="0" spcAft="0">
              <a:spcPct val="100000"/>
            </a:pPr>
            <a:r>
              <a:rPr lang="en-GB" b="0" sz="1500" dirty="0">
                <a:solidFill>
                  <a:srgbClr val="BFC9D6"/>
                </a:solidFill>
                <a:latin typeface="Calibri"/>
              </a:rPr>
              <a:t>English Grammar in Action — Level 1</a:t>
            </a:r>
          </a:p>
        </p:txBody>
      </p:sp>
      <p:sp>
        <p:nvSpPr>
          <p:cNvPr id="16" name="tb16"/>
          <p:cNvSpPr txBox="1">
            <a:spLocks noGrp="1"/>
          </p:cNvSpPr>
          <p:nvPr/>
        </p:nvSpPr>
        <p:spPr>
          <a:xfrm>
            <a:off x="432000" y="1188000"/>
            <a:ext cx="11472000" cy="1080000"/>
          </a:xfrm>
          <a:prstGeom prst="rect">
            <a:avLst/>
          </a:prstGeom>
          <a:noFill/>
        </p:spPr>
        <p:txBody>
          <a:bodyPr anchor="t" wrap="square" lIns="36000" rIns="36000" tIns="36000" bIns="36000"/>
          <a:lstStyle/>
          <a:p>
            <a:pPr algn="l" spcBef="0" spcAft="0">
              <a:spcPct val="100000"/>
            </a:pPr>
            <a:r>
              <a:rPr lang="en-GB" b="1" sz="4000" dirty="0">
                <a:solidFill>
                  <a:srgbClr val="FFFFFF"/>
                </a:solidFill>
                <a:latin typeface="Cambria"/>
              </a:rPr>
              <a:t>Present Perfect — Introduction</a:t>
            </a:r>
          </a:p>
        </p:txBody>
      </p:sp>
      <p:sp>
        <p:nvSpPr>
          <p:cNvPr id="17" name="tb17"/>
          <p:cNvSpPr txBox="1">
            <a:spLocks noGrp="1"/>
          </p:cNvSpPr>
          <p:nvPr/>
        </p:nvSpPr>
        <p:spPr>
          <a:xfrm>
            <a:off x="432000" y="2088000"/>
            <a:ext cx="11472000" cy="360000"/>
          </a:xfrm>
          <a:prstGeom prst="rect">
            <a:avLst/>
          </a:prstGeom>
          <a:noFill/>
        </p:spPr>
        <p:txBody>
          <a:bodyPr anchor="ctr" wrap="square" lIns="36000" rIns="36000" tIns="36000" bIns="36000"/>
          <a:lstStyle/>
          <a:p>
            <a:pPr algn="l" spcBef="0" spcAft="0">
              <a:spcPct val="100000"/>
            </a:pPr>
            <a:r>
              <a:rPr lang="en-GB" b="0" i="1" sz="1700" dirty="0">
                <a:solidFill>
                  <a:srgbClr val="DCE6F1"/>
                </a:solidFill>
                <a:latin typeface="Calibri"/>
              </a:rPr>
              <a:t>have/has + past participle; life experiences (I have been to...); unfinished time (today, this week); ever/never in questions and answers</a:t>
            </a:r>
          </a:p>
        </p:txBody>
      </p:sp>
      <p:sp>
        <p:nvSpPr>
          <p:cNvPr id="18" name="shape18"/>
          <p:cNvSpPr>
            <a:spLocks noGrp="1"/>
          </p:cNvSpPr>
          <p:nvPr/>
        </p:nvSpPr>
        <p:spPr>
          <a:xfrm>
            <a:off x="0" y="6768000"/>
            <a:ext cx="12192000" cy="90000"/>
          </a:xfrm>
          <a:prstGeom prst="rect">
            <a:avLst/>
          </a:prstGeom>
          <a:solidFill>
            <a:srgbClr val="BF8F00"/>
          </a:solidFill>
        </p:spPr>
        <p:txBody>
          <a:bodyPr/>
          <a:lstStyle/>
          <a:p/>
        </p:txBody>
      </p:sp>
      <p:sp>
        <p:nvSpPr>
          <p:cNvPr id="19" name="box19"/>
          <p:cNvSpPr>
            <a:spLocks noGrp="1"/>
          </p:cNvSpPr>
          <p:nvPr/>
        </p:nvSpPr>
        <p:spPr>
          <a:xfrm>
            <a:off x="11112000" y="6354001"/>
            <a:ext cx="936000" cy="360000"/>
          </a:xfrm>
          <a:prstGeom prst="roundRect">
            <a:avLst>
              <a:gd name="adj" fmla="val 2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CEFR  A2</a:t>
            </a:r>
          </a:p>
        </p:txBody>
      </p:sp>
    </p:spTree>
  </p:cSld>
  <p:clrMapOvr>
    <a:masterClr/>
  </p:clrMapOvr>
</p:sld>
</file>

<file path=ppt/slides/slide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1" name="box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2" name="box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3" name="tb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LEARNING OBJECTIVES</a:t>
            </a:r>
          </a:p>
        </p:txBody>
      </p:sp>
      <p:sp>
        <p:nvSpPr>
          <p:cNvPr id="54" name="box54"/>
          <p:cNvSpPr>
            <a:spLocks noGrp="1"/>
          </p:cNvSpPr>
          <p:nvPr/>
        </p:nvSpPr>
        <p:spPr>
          <a:xfrm>
            <a:off x="180000" y="5400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5" name="box55"/>
          <p:cNvSpPr>
            <a:spLocks noGrp="1"/>
          </p:cNvSpPr>
          <p:nvPr/>
        </p:nvSpPr>
        <p:spPr>
          <a:xfrm>
            <a:off x="558000" y="5400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Form the Present Perfect with have/has + past participle.</a:t>
            </a:r>
          </a:p>
        </p:txBody>
      </p:sp>
      <p:sp>
        <p:nvSpPr>
          <p:cNvPr id="56" name="box56"/>
          <p:cNvSpPr>
            <a:spLocks noGrp="1"/>
          </p:cNvSpPr>
          <p:nvPr/>
        </p:nvSpPr>
        <p:spPr>
          <a:xfrm>
            <a:off x="180000" y="9252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7" name="box57"/>
          <p:cNvSpPr>
            <a:spLocks noGrp="1"/>
          </p:cNvSpPr>
          <p:nvPr/>
        </p:nvSpPr>
        <p:spPr>
          <a:xfrm>
            <a:off x="558000" y="9252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regular past participles (worked, played, studied) and common irregular ones (been, gone, seen, done, had).</a:t>
            </a:r>
          </a:p>
        </p:txBody>
      </p:sp>
      <p:sp>
        <p:nvSpPr>
          <p:cNvPr id="58" name="box58"/>
          <p:cNvSpPr>
            <a:spLocks noGrp="1"/>
          </p:cNvSpPr>
          <p:nvPr/>
        </p:nvSpPr>
        <p:spPr>
          <a:xfrm>
            <a:off x="180000" y="13104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9" name="box59"/>
          <p:cNvSpPr>
            <a:spLocks noGrp="1"/>
          </p:cNvSpPr>
          <p:nvPr/>
        </p:nvSpPr>
        <p:spPr>
          <a:xfrm>
            <a:off x="558000" y="13104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Talk about life experiences: I have been to Paris. She has never seen snow.</a:t>
            </a:r>
          </a:p>
        </p:txBody>
      </p:sp>
      <p:sp>
        <p:nvSpPr>
          <p:cNvPr id="60" name="box60"/>
          <p:cNvSpPr>
            <a:spLocks noGrp="1"/>
          </p:cNvSpPr>
          <p:nvPr/>
        </p:nvSpPr>
        <p:spPr>
          <a:xfrm>
            <a:off x="180000" y="16956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1" name="box61"/>
          <p:cNvSpPr>
            <a:spLocks noGrp="1"/>
          </p:cNvSpPr>
          <p:nvPr/>
        </p:nvSpPr>
        <p:spPr>
          <a:xfrm>
            <a:off x="558000" y="16956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ever in questions: Have you ever...?</a:t>
            </a:r>
          </a:p>
        </p:txBody>
      </p:sp>
      <p:sp>
        <p:nvSpPr>
          <p:cNvPr id="62" name="box62"/>
          <p:cNvSpPr>
            <a:spLocks noGrp="1"/>
          </p:cNvSpPr>
          <p:nvPr/>
        </p:nvSpPr>
        <p:spPr>
          <a:xfrm>
            <a:off x="180000" y="20808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3" name="box63"/>
          <p:cNvSpPr>
            <a:spLocks noGrp="1"/>
          </p:cNvSpPr>
          <p:nvPr/>
        </p:nvSpPr>
        <p:spPr>
          <a:xfrm>
            <a:off x="558000" y="20808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never in negative statements: I have never...</a:t>
            </a:r>
          </a:p>
        </p:txBody>
      </p:sp>
    </p:spTree>
  </p:cSld>
  <p:clrMapOvr>
    <a:masterClr/>
  </p:clrMapOvr>
</p:sld>
</file>

<file path=ppt/slides/slide3.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01" name="box1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02" name="box1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103" name="tb1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WARM-UP ACTIVITY</a:t>
            </a:r>
          </a:p>
        </p:txBody>
      </p:sp>
      <p:sp>
        <p:nvSpPr>
          <p:cNvPr id="104" name="box104"/>
          <p:cNvSpPr>
            <a:spLocks noGrp="1"/>
          </p:cNvSpPr>
          <p:nvPr/>
        </p:nvSpPr>
        <p:spPr>
          <a:xfrm>
            <a:off x="180000" y="540000"/>
            <a:ext cx="11832000" cy="396000"/>
          </a:xfrm>
          <a:prstGeom prst="roundRect">
            <a:avLst>
              <a:gd name="adj" fmla="val 15000"/>
            </a:avLst>
          </a:prstGeom>
          <a:solidFill>
            <a:srgbClr val="BF8F00"/>
          </a:solidFill>
          <a:ln w="0">
            <a:noFill/>
          </a:ln>
        </p:spPr>
        <p:txBody>
          <a:bodyPr anchor="ctr" wrap="square" lIns="180000" rIns="72000" tIns="54000" bIns="54000"/>
          <a:lstStyle/>
          <a:p>
            <a:pPr algn="l" spcBef="0" spcAft="0">
              <a:spcPct val="100000"/>
            </a:pPr>
            <a:r>
              <a:rPr lang="en-GB" b="1" sz="2400" dirty="0">
                <a:solidFill>
                  <a:srgbClr val="1F3864"/>
                </a:solidFill>
                <a:latin typeface="Cambria"/>
              </a:rPr>
              <a:t>🌍 Have You Ever...?</a:t>
            </a:r>
          </a:p>
        </p:txBody>
      </p:sp>
      <p:sp>
        <p:nvSpPr>
          <p:cNvPr id="105" name="box105"/>
          <p:cNvSpPr>
            <a:spLocks noGrp="1"/>
          </p:cNvSpPr>
          <p:nvPr/>
        </p:nvSpPr>
        <p:spPr>
          <a:xfrm>
            <a:off x="11040000" y="540000"/>
            <a:ext cx="972000" cy="396000"/>
          </a:xfrm>
          <a:prstGeom prst="roundRect">
            <a:avLst>
              <a:gd name="adj" fmla="val 15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BF8F00"/>
                </a:solidFill>
                <a:latin typeface="Calibri"/>
              </a:rPr>
              <a:t>⏱  5 minutes</a:t>
            </a:r>
          </a:p>
        </p:txBody>
      </p:sp>
      <p:sp>
        <p:nvSpPr>
          <p:cNvPr id="106" name="box106"/>
          <p:cNvSpPr>
            <a:spLocks noGrp="1"/>
          </p:cNvSpPr>
          <p:nvPr/>
        </p:nvSpPr>
        <p:spPr>
          <a:xfrm>
            <a:off x="180000" y="1026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1</a:t>
            </a:r>
          </a:p>
        </p:txBody>
      </p:sp>
      <p:sp>
        <p:nvSpPr>
          <p:cNvPr id="107" name="tb107"/>
          <p:cNvSpPr txBox="1">
            <a:spLocks noGrp="1"/>
          </p:cNvSpPr>
          <p:nvPr/>
        </p:nvSpPr>
        <p:spPr>
          <a:xfrm>
            <a:off x="503999" y="1026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Stand up. Teacher asks: 'Have you ever been to another country?'</a:t>
            </a:r>
          </a:p>
        </p:txBody>
      </p:sp>
      <p:sp>
        <p:nvSpPr>
          <p:cNvPr id="108" name="box108"/>
          <p:cNvSpPr>
            <a:spLocks noGrp="1"/>
          </p:cNvSpPr>
          <p:nvPr/>
        </p:nvSpPr>
        <p:spPr>
          <a:xfrm>
            <a:off x="180000" y="1458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2</a:t>
            </a:r>
          </a:p>
        </p:txBody>
      </p:sp>
      <p:sp>
        <p:nvSpPr>
          <p:cNvPr id="109" name="tb109"/>
          <p:cNvSpPr txBox="1">
            <a:spLocks noGrp="1"/>
          </p:cNvSpPr>
          <p:nvPr/>
        </p:nvSpPr>
        <p:spPr>
          <a:xfrm>
            <a:off x="503999" y="1458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If YES, stay standing. If NO, sit down.</a:t>
            </a:r>
          </a:p>
        </p:txBody>
      </p:sp>
      <p:sp>
        <p:nvSpPr>
          <p:cNvPr id="110" name="box110"/>
          <p:cNvSpPr>
            <a:spLocks noGrp="1"/>
          </p:cNvSpPr>
          <p:nvPr/>
        </p:nvSpPr>
        <p:spPr>
          <a:xfrm>
            <a:off x="180000" y="1890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3</a:t>
            </a:r>
          </a:p>
        </p:txBody>
      </p:sp>
      <p:sp>
        <p:nvSpPr>
          <p:cNvPr id="111" name="tb111"/>
          <p:cNvSpPr txBox="1">
            <a:spLocks noGrp="1"/>
          </p:cNvSpPr>
          <p:nvPr/>
        </p:nvSpPr>
        <p:spPr>
          <a:xfrm>
            <a:off x="503999" y="1890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Those standing share: 'I have been to Turkey.' Then ask a classmate: 'Have you ever...?'</a:t>
            </a:r>
          </a:p>
        </p:txBody>
      </p:sp>
    </p:spTree>
  </p:cSld>
  <p:clrMapOvr>
    <a:masterClr/>
  </p:clrMapOvr>
</p:sld>
</file>

<file path=ppt/slides/slide4.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51" name="box1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52" name="box1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153" name="tb1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VOCABULARY PREVIEW</a:t>
            </a:r>
          </a:p>
        </p:txBody>
      </p:sp>
      <p:sp>
        <p:nvSpPr>
          <p:cNvPr id="154" name="box154"/>
          <p:cNvSpPr>
            <a:spLocks noGrp="1"/>
          </p:cNvSpPr>
          <p:nvPr/>
        </p:nvSpPr>
        <p:spPr>
          <a:xfrm>
            <a:off x="180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ever</a:t>
            </a:r>
          </a:p>
        </p:txBody>
      </p:sp>
      <p:sp>
        <p:nvSpPr>
          <p:cNvPr id="155" name="box155"/>
          <p:cNvSpPr>
            <a:spLocks noGrp="1"/>
          </p:cNvSpPr>
          <p:nvPr/>
        </p:nvSpPr>
        <p:spPr>
          <a:xfrm>
            <a:off x="1007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56" name="box156"/>
          <p:cNvSpPr>
            <a:spLocks noGrp="1"/>
          </p:cNvSpPr>
          <p:nvPr/>
        </p:nvSpPr>
        <p:spPr>
          <a:xfrm>
            <a:off x="1512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at any time (in questions)</a:t>
            </a:r>
          </a:p>
        </p:txBody>
      </p:sp>
      <p:sp>
        <p:nvSpPr>
          <p:cNvPr id="157" name="box157"/>
          <p:cNvSpPr>
            <a:spLocks noGrp="1"/>
          </p:cNvSpPr>
          <p:nvPr/>
        </p:nvSpPr>
        <p:spPr>
          <a:xfrm>
            <a:off x="6042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never</a:t>
            </a:r>
          </a:p>
        </p:txBody>
      </p:sp>
      <p:sp>
        <p:nvSpPr>
          <p:cNvPr id="158" name="box158"/>
          <p:cNvSpPr>
            <a:spLocks noGrp="1"/>
          </p:cNvSpPr>
          <p:nvPr/>
        </p:nvSpPr>
        <p:spPr>
          <a:xfrm>
            <a:off x="6869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59" name="box159"/>
          <p:cNvSpPr>
            <a:spLocks noGrp="1"/>
          </p:cNvSpPr>
          <p:nvPr/>
        </p:nvSpPr>
        <p:spPr>
          <a:xfrm>
            <a:off x="7374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not at any time; not ever</a:t>
            </a:r>
          </a:p>
        </p:txBody>
      </p:sp>
      <p:sp>
        <p:nvSpPr>
          <p:cNvPr id="160" name="box160"/>
          <p:cNvSpPr>
            <a:spLocks noGrp="1"/>
          </p:cNvSpPr>
          <p:nvPr/>
        </p:nvSpPr>
        <p:spPr>
          <a:xfrm>
            <a:off x="180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been</a:t>
            </a:r>
          </a:p>
        </p:txBody>
      </p:sp>
      <p:sp>
        <p:nvSpPr>
          <p:cNvPr id="161" name="box161"/>
          <p:cNvSpPr>
            <a:spLocks noGrp="1"/>
          </p:cNvSpPr>
          <p:nvPr/>
        </p:nvSpPr>
        <p:spPr>
          <a:xfrm>
            <a:off x="1007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62" name="box162"/>
          <p:cNvSpPr>
            <a:spLocks noGrp="1"/>
          </p:cNvSpPr>
          <p:nvPr/>
        </p:nvSpPr>
        <p:spPr>
          <a:xfrm>
            <a:off x="1512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past participle of be/go</a:t>
            </a:r>
          </a:p>
        </p:txBody>
      </p:sp>
      <p:sp>
        <p:nvSpPr>
          <p:cNvPr id="163" name="box163"/>
          <p:cNvSpPr>
            <a:spLocks noGrp="1"/>
          </p:cNvSpPr>
          <p:nvPr/>
        </p:nvSpPr>
        <p:spPr>
          <a:xfrm>
            <a:off x="6042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gone</a:t>
            </a:r>
          </a:p>
        </p:txBody>
      </p:sp>
      <p:sp>
        <p:nvSpPr>
          <p:cNvPr id="164" name="box164"/>
          <p:cNvSpPr>
            <a:spLocks noGrp="1"/>
          </p:cNvSpPr>
          <p:nvPr/>
        </p:nvSpPr>
        <p:spPr>
          <a:xfrm>
            <a:off x="6869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65" name="box165"/>
          <p:cNvSpPr>
            <a:spLocks noGrp="1"/>
          </p:cNvSpPr>
          <p:nvPr/>
        </p:nvSpPr>
        <p:spPr>
          <a:xfrm>
            <a:off x="7374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past participle of go (away now)</a:t>
            </a:r>
          </a:p>
        </p:txBody>
      </p:sp>
      <p:sp>
        <p:nvSpPr>
          <p:cNvPr id="166" name="box166"/>
          <p:cNvSpPr>
            <a:spLocks noGrp="1"/>
          </p:cNvSpPr>
          <p:nvPr/>
        </p:nvSpPr>
        <p:spPr>
          <a:xfrm>
            <a:off x="180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seen</a:t>
            </a:r>
          </a:p>
        </p:txBody>
      </p:sp>
      <p:sp>
        <p:nvSpPr>
          <p:cNvPr id="167" name="box167"/>
          <p:cNvSpPr>
            <a:spLocks noGrp="1"/>
          </p:cNvSpPr>
          <p:nvPr/>
        </p:nvSpPr>
        <p:spPr>
          <a:xfrm>
            <a:off x="1007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68" name="box168"/>
          <p:cNvSpPr>
            <a:spLocks noGrp="1"/>
          </p:cNvSpPr>
          <p:nvPr/>
        </p:nvSpPr>
        <p:spPr>
          <a:xfrm>
            <a:off x="1512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past participle of see</a:t>
            </a:r>
          </a:p>
        </p:txBody>
      </p:sp>
      <p:sp>
        <p:nvSpPr>
          <p:cNvPr id="169" name="box169"/>
          <p:cNvSpPr>
            <a:spLocks noGrp="1"/>
          </p:cNvSpPr>
          <p:nvPr/>
        </p:nvSpPr>
        <p:spPr>
          <a:xfrm>
            <a:off x="6042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done</a:t>
            </a:r>
          </a:p>
        </p:txBody>
      </p:sp>
      <p:sp>
        <p:nvSpPr>
          <p:cNvPr id="170" name="box170"/>
          <p:cNvSpPr>
            <a:spLocks noGrp="1"/>
          </p:cNvSpPr>
          <p:nvPr/>
        </p:nvSpPr>
        <p:spPr>
          <a:xfrm>
            <a:off x="6869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71" name="box171"/>
          <p:cNvSpPr>
            <a:spLocks noGrp="1"/>
          </p:cNvSpPr>
          <p:nvPr/>
        </p:nvSpPr>
        <p:spPr>
          <a:xfrm>
            <a:off x="7374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past participle of do</a:t>
            </a:r>
          </a:p>
        </p:txBody>
      </p:sp>
      <p:sp>
        <p:nvSpPr>
          <p:cNvPr id="172" name="box172"/>
          <p:cNvSpPr>
            <a:spLocks noGrp="1"/>
          </p:cNvSpPr>
          <p:nvPr/>
        </p:nvSpPr>
        <p:spPr>
          <a:xfrm>
            <a:off x="180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eaten</a:t>
            </a:r>
          </a:p>
        </p:txBody>
      </p:sp>
      <p:sp>
        <p:nvSpPr>
          <p:cNvPr id="173" name="box173"/>
          <p:cNvSpPr>
            <a:spLocks noGrp="1"/>
          </p:cNvSpPr>
          <p:nvPr/>
        </p:nvSpPr>
        <p:spPr>
          <a:xfrm>
            <a:off x="1007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74" name="box174"/>
          <p:cNvSpPr>
            <a:spLocks noGrp="1"/>
          </p:cNvSpPr>
          <p:nvPr/>
        </p:nvSpPr>
        <p:spPr>
          <a:xfrm>
            <a:off x="1512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past participle of eat</a:t>
            </a:r>
          </a:p>
        </p:txBody>
      </p:sp>
      <p:sp>
        <p:nvSpPr>
          <p:cNvPr id="175" name="box175"/>
          <p:cNvSpPr>
            <a:spLocks noGrp="1"/>
          </p:cNvSpPr>
          <p:nvPr/>
        </p:nvSpPr>
        <p:spPr>
          <a:xfrm>
            <a:off x="6042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visited</a:t>
            </a:r>
          </a:p>
        </p:txBody>
      </p:sp>
      <p:sp>
        <p:nvSpPr>
          <p:cNvPr id="176" name="box176"/>
          <p:cNvSpPr>
            <a:spLocks noGrp="1"/>
          </p:cNvSpPr>
          <p:nvPr/>
        </p:nvSpPr>
        <p:spPr>
          <a:xfrm>
            <a:off x="6869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77" name="box177"/>
          <p:cNvSpPr>
            <a:spLocks noGrp="1"/>
          </p:cNvSpPr>
          <p:nvPr/>
        </p:nvSpPr>
        <p:spPr>
          <a:xfrm>
            <a:off x="7374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past participle of visit</a:t>
            </a:r>
          </a:p>
        </p:txBody>
      </p:sp>
      <p:sp>
        <p:nvSpPr>
          <p:cNvPr id="178" name="box178"/>
          <p:cNvSpPr>
            <a:spLocks noGrp="1"/>
          </p:cNvSpPr>
          <p:nvPr/>
        </p:nvSpPr>
        <p:spPr>
          <a:xfrm>
            <a:off x="180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tried</a:t>
            </a:r>
          </a:p>
        </p:txBody>
      </p:sp>
      <p:sp>
        <p:nvSpPr>
          <p:cNvPr id="179" name="box179"/>
          <p:cNvSpPr>
            <a:spLocks noGrp="1"/>
          </p:cNvSpPr>
          <p:nvPr/>
        </p:nvSpPr>
        <p:spPr>
          <a:xfrm>
            <a:off x="1007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80" name="box180"/>
          <p:cNvSpPr>
            <a:spLocks noGrp="1"/>
          </p:cNvSpPr>
          <p:nvPr/>
        </p:nvSpPr>
        <p:spPr>
          <a:xfrm>
            <a:off x="1512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past participle of try</a:t>
            </a:r>
          </a:p>
        </p:txBody>
      </p:sp>
      <p:sp>
        <p:nvSpPr>
          <p:cNvPr id="181" name="box181"/>
          <p:cNvSpPr>
            <a:spLocks noGrp="1"/>
          </p:cNvSpPr>
          <p:nvPr/>
        </p:nvSpPr>
        <p:spPr>
          <a:xfrm>
            <a:off x="6042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met</a:t>
            </a:r>
          </a:p>
        </p:txBody>
      </p:sp>
      <p:sp>
        <p:nvSpPr>
          <p:cNvPr id="182" name="box182"/>
          <p:cNvSpPr>
            <a:spLocks noGrp="1"/>
          </p:cNvSpPr>
          <p:nvPr/>
        </p:nvSpPr>
        <p:spPr>
          <a:xfrm>
            <a:off x="6869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83" name="box183"/>
          <p:cNvSpPr>
            <a:spLocks noGrp="1"/>
          </p:cNvSpPr>
          <p:nvPr/>
        </p:nvSpPr>
        <p:spPr>
          <a:xfrm>
            <a:off x="7374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past participle of meet</a:t>
            </a:r>
          </a:p>
        </p:txBody>
      </p:sp>
      <p:sp>
        <p:nvSpPr>
          <p:cNvPr id="184" name="tb184"/>
          <p:cNvSpPr txBox="1">
            <a:spLocks noGrp="1"/>
          </p:cNvSpPr>
          <p:nvPr/>
        </p:nvSpPr>
        <p:spPr>
          <a:xfrm>
            <a:off x="180000" y="6606001"/>
            <a:ext cx="11832000" cy="198000"/>
          </a:xfrm>
          <a:prstGeom prst="rect">
            <a:avLst/>
          </a:prstGeom>
          <a:noFill/>
        </p:spPr>
        <p:txBody>
          <a:bodyPr anchor="ctr" wrap="square" lIns="36000" rIns="36000" tIns="36000" bIns="36000"/>
          <a:lstStyle/>
          <a:p>
            <a:pPr algn="l" spcBef="0" spcAft="0">
              <a:spcPct val="100000"/>
            </a:pPr>
            <a:r>
              <a:rPr lang="en-GB" b="0" i="1" sz="1300" dirty="0">
                <a:solidFill>
                  <a:srgbClr val="2E75B6"/>
                </a:solidFill>
                <a:latin typeface="Calibri"/>
              </a:rPr>
              <a:t>📚  Full 30-word vocabulary bank in your workbook — Section 4.</a:t>
            </a:r>
          </a:p>
        </p:txBody>
      </p:sp>
    </p:spTree>
  </p:cSld>
  <p:clrMapOvr>
    <a:masterClr/>
  </p:clrMapOvr>
</p:sld>
</file>

<file path=ppt/slides/slide5.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01" name="box2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02" name="box2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03" name="tb2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GRAMMAR RULE</a:t>
            </a:r>
          </a:p>
        </p:txBody>
      </p:sp>
      <p:sp>
        <p:nvSpPr>
          <p:cNvPr id="204" name="box204"/>
          <p:cNvSpPr>
            <a:spLocks noGrp="1"/>
          </p:cNvSpPr>
          <p:nvPr/>
        </p:nvSpPr>
        <p:spPr>
          <a:xfrm>
            <a:off x="180000" y="522000"/>
            <a:ext cx="11832000" cy="396000"/>
          </a:xfrm>
          <a:prstGeom prst="roundRect">
            <a:avLst>
              <a:gd name="adj" fmla="val 10000"/>
            </a:avLst>
          </a:prstGeom>
          <a:solidFill>
            <a:srgbClr val="FFF2CC"/>
          </a:solidFill>
          <a:ln w="12700">
            <a:solidFill>
              <a:srgbClr val="BF8F00"/>
            </a:solidFill>
          </a:ln>
        </p:spPr>
        <p:txBody>
          <a:bodyPr anchor="ctr" wrap="square" lIns="144000" rIns="72000" tIns="54000" bIns="54000"/>
          <a:lstStyle/>
          <a:p>
            <a:pPr algn="l" spcBef="0" spcAft="0">
              <a:spcPct val="100000"/>
            </a:pPr>
            <a:r>
              <a:rPr lang="en-GB" b="1" sz="1700" dirty="0">
                <a:solidFill>
                  <a:srgbClr val="1F3864"/>
                </a:solidFill>
                <a:latin typeface="Calibri"/>
              </a:rPr>
              <a:t>📌  The Present Perfect is formed with have/has + past participle. Use it for life experiences, unfinished time periods, and actions with a result in the present.</a:t>
            </a:r>
          </a:p>
        </p:txBody>
      </p:sp>
      <p:graphicFrame>
        <p:nvGraphicFramePr>
          <p:cNvPr id="205" name="tbl205"/>
          <p:cNvGraphicFramePr>
            <a:graphicFrameLocks noGrp="1"/>
          </p:cNvGraphicFramePr>
          <p:nvPr/>
        </p:nvGraphicFramePr>
        <p:xfrm>
          <a:off x="180000" y="990000"/>
          <a:ext cx="11832000" cy="5778000"/>
        </p:xfrm>
        <a:graphic>
          <a:graphicData uri="http://schemas.openxmlformats.org/drawingml/2006/table">
            <a:tbl>
              <a:tblPr firstRow="1" bandRow="1">
                <a:tableStyleId>{5C22544A-7EE6-4342-B048-85BDC9FD1C3A}</a:tableStyleId>
              </a:tblPr>
              <a:tblGrid>
                <a:gridCol w="3944000"/>
                <a:gridCol w="3944000"/>
                <a:gridCol w="3944000"/>
              </a:tblGrid>
              <a:tr h="927000">
                <a:tc>
                  <a:txBody>
                    <a:bodyPr/>
                    <a:lstStyle/>
                    <a:p>
                      <a:pPr algn="l"/>
                      <a:r>
                        <a:rPr lang="en-GB" b="1" sz="1400" dirty="0">
                          <a:solidFill>
                            <a:srgbClr val="FFFFFF"/>
                          </a:solidFill>
                          <a:latin typeface="Calibri"/>
                        </a:rPr>
                        <a:t>Form</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 / You / We / They</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He / She / It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Affirmative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have + past participle (I've done)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has + past participle (She's done)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Negative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haven't + past participle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hasn't + past participle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Question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Have you/they + past participle?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Has he/she + past participle?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Short answer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Yes, I have.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Yes, she has.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Short answer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No, we haven't.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No, he hasn't.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6.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51" name="box2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52" name="box2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53" name="tb2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SPELLING &amp; USAGE NOTES</a:t>
            </a:r>
          </a:p>
        </p:txBody>
      </p:sp>
      <p:sp>
        <p:nvSpPr>
          <p:cNvPr id="254" name="box254"/>
          <p:cNvSpPr>
            <a:spLocks noGrp="1"/>
          </p:cNvSpPr>
          <p:nvPr/>
        </p:nvSpPr>
        <p:spPr>
          <a:xfrm>
            <a:off x="180000" y="540000"/>
            <a:ext cx="11832000" cy="503999"/>
          </a:xfrm>
          <a:prstGeom prst="rect">
            <a:avLst/>
          </a:prstGeom>
          <a:solidFill>
            <a:srgbClr val="DCE6F1"/>
          </a:solidFill>
          <a:ln w="12700">
            <a:solidFill>
              <a:srgbClr val="1F3864"/>
            </a:solidFill>
          </a:ln>
        </p:spPr>
        <p:txBody>
          <a:bodyPr anchor="ctr" wrap="square" lIns="144000" rIns="72000" tIns="54000" bIns="54000"/>
          <a:lstStyle/>
          <a:p>
            <a:pPr algn="l" spcBef="0" spcAft="0">
              <a:spcPct val="100000"/>
            </a:pPr>
            <a:r>
              <a:rPr lang="en-GB" b="1" sz="1500" dirty="0">
                <a:solidFill>
                  <a:srgbClr val="1F3864"/>
                </a:solidFill>
                <a:latin typeface="Calibri"/>
              </a:rPr>
              <a:t>⚠️  Watch Out!  </a:t>
            </a:r>
            <a:r>
              <a:rPr lang="en-GB" b="0" sz="1400" dirty="0">
                <a:solidFill>
                  <a:srgbClr val="1F3864"/>
                </a:solidFill>
                <a:latin typeface="Calibri"/>
              </a:rPr>
              <a:t>Use 'been to' for visiting and returning: 'I have been to Paris.' (= I visited and came back.) Use 'gone to' for someone who is still away: 'She has gone to work.' (= She is not here now.)</a:t>
            </a:r>
          </a:p>
        </p:txBody>
      </p:sp>
      <p:sp>
        <p:nvSpPr>
          <p:cNvPr id="255" name="box255"/>
          <p:cNvSpPr>
            <a:spLocks noGrp="1"/>
          </p:cNvSpPr>
          <p:nvPr/>
        </p:nvSpPr>
        <p:spPr>
          <a:xfrm>
            <a:off x="180000" y="1169998"/>
            <a:ext cx="1260000" cy="216000"/>
          </a:xfrm>
          <a:prstGeom prst="roundRect">
            <a:avLst>
              <a:gd name="adj" fmla="val 10000"/>
            </a:avLst>
          </a:prstGeom>
          <a:solidFill>
            <a:srgbClr val="BF8F00"/>
          </a:solidFill>
          <a:ln w="0">
            <a:noFill/>
          </a:ln>
        </p:spPr>
        <p:txBody>
          <a:bodyPr anchor="ctr" wrap="square" lIns="72000" rIns="72000" tIns="54000" bIns="54000"/>
          <a:lstStyle/>
          <a:p>
            <a:pPr algn="ctr" spcBef="0" spcAft="0">
              <a:spcPct val="100000"/>
            </a:pPr>
            <a:r>
              <a:rPr lang="en-GB" b="1" sz="1400" dirty="0">
                <a:solidFill>
                  <a:srgbClr val="1F3864"/>
                </a:solidFill>
                <a:latin typeface="Calibri"/>
              </a:rPr>
              <a:t>Usage Examples</a:t>
            </a:r>
          </a:p>
        </p:txBody>
      </p:sp>
      <p:sp>
        <p:nvSpPr>
          <p:cNvPr id="256" name="tb256"/>
          <p:cNvSpPr txBox="1">
            <a:spLocks noGrp="1"/>
          </p:cNvSpPr>
          <p:nvPr/>
        </p:nvSpPr>
        <p:spPr>
          <a:xfrm>
            <a:off x="180000" y="1439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Life experience: I have visited ten countries. She has never eaten sushi.</a:t>
            </a:r>
          </a:p>
        </p:txBody>
      </p:sp>
      <p:sp>
        <p:nvSpPr>
          <p:cNvPr id="257" name="tb257"/>
          <p:cNvSpPr txBox="1">
            <a:spLocks noGrp="1"/>
          </p:cNvSpPr>
          <p:nvPr/>
        </p:nvSpPr>
        <p:spPr>
          <a:xfrm>
            <a:off x="180000" y="1655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Ever/never: Have you ever been to Japan? No, I have never been there.</a:t>
            </a:r>
          </a:p>
        </p:txBody>
      </p:sp>
      <p:sp>
        <p:nvSpPr>
          <p:cNvPr id="258" name="tb258"/>
          <p:cNvSpPr txBox="1">
            <a:spLocks noGrp="1"/>
          </p:cNvSpPr>
          <p:nvPr/>
        </p:nvSpPr>
        <p:spPr>
          <a:xfrm>
            <a:off x="180000" y="1871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Unfinished time: I have read two books this week. He has worked hard today.</a:t>
            </a:r>
          </a:p>
        </p:txBody>
      </p:sp>
      <p:sp>
        <p:nvSpPr>
          <p:cNvPr id="259" name="tb259"/>
          <p:cNvSpPr txBox="1">
            <a:spLocks noGrp="1"/>
          </p:cNvSpPr>
          <p:nvPr/>
        </p:nvSpPr>
        <p:spPr>
          <a:xfrm>
            <a:off x="180000" y="2087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Result now: She has broken her leg. (= It is broken now.)</a:t>
            </a:r>
          </a:p>
        </p:txBody>
      </p:sp>
    </p:spTree>
  </p:cSld>
  <p:clrMapOvr>
    <a:masterClr/>
  </p:clrMapOvr>
</p:sld>
</file>

<file path=ppt/slides/slide7.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01" name="box3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02" name="box3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03" name="tb3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GUIDED PRACTICE</a:t>
            </a:r>
          </a:p>
        </p:txBody>
      </p:sp>
      <p:sp>
        <p:nvSpPr>
          <p:cNvPr id="304" name="tb3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Complete with the Present Perfect (have/has + past participle). Items 1-2 are done for you.</a:t>
            </a:r>
          </a:p>
        </p:txBody>
      </p:sp>
      <p:graphicFrame>
        <p:nvGraphicFramePr>
          <p:cNvPr id="305" name="tbl3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6152640"/>
                <a:gridCol w="4969440"/>
              </a:tblGrid>
              <a:tr h="11412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Prompt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1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___ (visit) London twice.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HAVE VISITED London twice.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2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___ never ___ (eat) sushi.</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HAS never EATEN sushi.</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They ___ (be) to Japan.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 you ever ___ (see) a whale?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8.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51" name="box3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52" name="box3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53" name="tb3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CONTROLLED PRACTICE</a:t>
            </a:r>
          </a:p>
        </p:txBody>
      </p:sp>
      <p:sp>
        <p:nvSpPr>
          <p:cNvPr id="354" name="tb35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Write complete sentences using the Present Perfect.</a:t>
            </a:r>
          </a:p>
        </p:txBody>
      </p:sp>
      <p:graphicFrame>
        <p:nvGraphicFramePr>
          <p:cNvPr id="355" name="tbl35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5561040"/>
                <a:gridCol w="556104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Prompt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Write your 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 be / to / three different countries)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 never / drive / a car)</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(they / see / that film / twice)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(he / not / finish / his project)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(Have / you / ever / try / Thai food?)</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9.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01" name="box4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02" name="box4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403" name="tb4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ERROR CORRECTION</a:t>
            </a:r>
          </a:p>
        </p:txBody>
      </p:sp>
      <p:sp>
        <p:nvSpPr>
          <p:cNvPr id="404" name="tb4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Find and correct the ONE mistake in each sentence.</a:t>
            </a:r>
          </a:p>
        </p:txBody>
      </p:sp>
      <p:graphicFrame>
        <p:nvGraphicFramePr>
          <p:cNvPr id="405" name="tbl4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591600"/>
                <a:gridCol w="5916000"/>
                <a:gridCol w="532440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Incorrect 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Corrected 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have went to London.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has never ate sushi.</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Have you ever been went to Japan?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He have visited Paris twice.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They has seen that film.</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10.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51" name="box4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52" name="box45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453" name="tb4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SPEAKING ACTIVITY</a:t>
            </a:r>
          </a:p>
        </p:txBody>
      </p:sp>
      <p:sp>
        <p:nvSpPr>
          <p:cNvPr id="454" name="box454"/>
          <p:cNvSpPr>
            <a:spLocks noGrp="1"/>
          </p:cNvSpPr>
          <p:nvPr/>
        </p:nvSpPr>
        <p:spPr>
          <a:xfrm>
            <a:off x="180000" y="522000"/>
            <a:ext cx="11832000" cy="360000"/>
          </a:xfrm>
          <a:prstGeom prst="roundRect">
            <a:avLst>
              <a:gd name="adj" fmla="val 12000"/>
            </a:avLst>
          </a:prstGeom>
          <a:solidFill>
            <a:srgbClr val="548235"/>
          </a:solidFill>
          <a:ln w="0">
            <a:noFill/>
          </a:ln>
        </p:spPr>
        <p:txBody>
          <a:bodyPr anchor="ctr" wrap="square" lIns="180000" rIns="72000" tIns="54000" bIns="54000"/>
          <a:lstStyle/>
          <a:p>
            <a:pPr algn="l" spcBef="0" spcAft="0">
              <a:spcPct val="100000"/>
            </a:pPr>
            <a:r>
              <a:rPr lang="en-GB" b="1" sz="2200" dirty="0">
                <a:solidFill>
                  <a:srgbClr val="FFFFFF"/>
                </a:solidFill>
                <a:latin typeface="Cambria"/>
              </a:rPr>
              <a:t>💬 Life Experiences Bingo</a:t>
            </a:r>
          </a:p>
        </p:txBody>
      </p:sp>
      <p:sp>
        <p:nvSpPr>
          <p:cNvPr id="455" name="box455"/>
          <p:cNvSpPr>
            <a:spLocks noGrp="1"/>
          </p:cNvSpPr>
          <p:nvPr/>
        </p:nvSpPr>
        <p:spPr>
          <a:xfrm>
            <a:off x="11112000" y="954000"/>
            <a:ext cx="900000" cy="1260000"/>
          </a:xfrm>
          <a:prstGeom prst="roundRect">
            <a:avLst>
              <a:gd name="adj" fmla="val 20000"/>
            </a:avLst>
          </a:prstGeom>
          <a:solidFill>
            <a:srgbClr val="DCE6F1"/>
          </a:solidFill>
          <a:ln w="0">
            <a:noFill/>
          </a:ln>
        </p:spPr>
        <p:txBody>
          <a:bodyPr anchor="ctr" wrap="square" lIns="72000" rIns="72000" tIns="54000" bIns="54000"/>
          <a:lstStyle/>
          <a:p>
            <a:pPr algn="ctr" spcBef="0" spcAft="0">
              <a:spcPct val="100000"/>
            </a:pPr>
            <a:r>
              <a:rPr lang="en-GB" b="0" sz="6000" dirty="0">
                <a:solidFill>
                  <a:srgbClr val="2E75B6"/>
                </a:solidFill>
                <a:latin typeface="Calibri"/>
              </a:rPr>
              <a:t>💬</a:t>
            </a:r>
          </a:p>
        </p:txBody>
      </p:sp>
      <p:sp>
        <p:nvSpPr>
          <p:cNvPr id="456" name="box456"/>
          <p:cNvSpPr>
            <a:spLocks noGrp="1"/>
          </p:cNvSpPr>
          <p:nvPr/>
        </p:nvSpPr>
        <p:spPr>
          <a:xfrm>
            <a:off x="180000" y="9540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1</a:t>
            </a:r>
          </a:p>
        </p:txBody>
      </p:sp>
      <p:sp>
        <p:nvSpPr>
          <p:cNvPr id="457" name="tb457"/>
          <p:cNvSpPr txBox="1">
            <a:spLocks noGrp="1"/>
          </p:cNvSpPr>
          <p:nvPr/>
        </p:nvSpPr>
        <p:spPr>
          <a:xfrm>
            <a:off x="468000" y="9540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Make a 3x3 grid with experiences: 'been to Europe', 'eaten sushi', 'seen a famous person'...</a:t>
            </a:r>
          </a:p>
        </p:txBody>
      </p:sp>
      <p:sp>
        <p:nvSpPr>
          <p:cNvPr id="458" name="box458"/>
          <p:cNvSpPr>
            <a:spLocks noGrp="1"/>
          </p:cNvSpPr>
          <p:nvPr/>
        </p:nvSpPr>
        <p:spPr>
          <a:xfrm>
            <a:off x="180000" y="12708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2</a:t>
            </a:r>
          </a:p>
        </p:txBody>
      </p:sp>
      <p:sp>
        <p:nvSpPr>
          <p:cNvPr id="459" name="tb459"/>
          <p:cNvSpPr txBox="1">
            <a:spLocks noGrp="1"/>
          </p:cNvSpPr>
          <p:nvPr/>
        </p:nvSpPr>
        <p:spPr>
          <a:xfrm>
            <a:off x="468000" y="12708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Walk around and ask classmates: 'Have you ever been to Europe?'</a:t>
            </a:r>
          </a:p>
        </p:txBody>
      </p:sp>
      <p:sp>
        <p:nvSpPr>
          <p:cNvPr id="460" name="box460"/>
          <p:cNvSpPr>
            <a:spLocks noGrp="1"/>
          </p:cNvSpPr>
          <p:nvPr/>
        </p:nvSpPr>
        <p:spPr>
          <a:xfrm>
            <a:off x="180000" y="15876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3</a:t>
            </a:r>
          </a:p>
        </p:txBody>
      </p:sp>
      <p:sp>
        <p:nvSpPr>
          <p:cNvPr id="461" name="tb461"/>
          <p:cNvSpPr txBox="1">
            <a:spLocks noGrp="1"/>
          </p:cNvSpPr>
          <p:nvPr/>
        </p:nvSpPr>
        <p:spPr>
          <a:xfrm>
            <a:off x="468000" y="15876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If they say YES, write their name. First person to complete a line wins!</a:t>
            </a:r>
          </a:p>
        </p:txBody>
      </p:sp>
      <p:sp>
        <p:nvSpPr>
          <p:cNvPr id="462" name="box462"/>
          <p:cNvSpPr>
            <a:spLocks noGrp="1"/>
          </p:cNvSpPr>
          <p:nvPr/>
        </p:nvSpPr>
        <p:spPr>
          <a:xfrm>
            <a:off x="180000" y="19044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4</a:t>
            </a:r>
          </a:p>
        </p:txBody>
      </p:sp>
      <p:sp>
        <p:nvSpPr>
          <p:cNvPr id="463" name="tb463"/>
          <p:cNvSpPr txBox="1">
            <a:spLocks noGrp="1"/>
          </p:cNvSpPr>
          <p:nvPr/>
        </p:nvSpPr>
        <p:spPr>
          <a:xfrm>
            <a:off x="468000" y="19044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Report: 'Maria has been to three countries. Ali has never flown in a plane.'</a:t>
            </a:r>
          </a:p>
        </p:txBody>
      </p:sp>
      <p:sp>
        <p:nvSpPr>
          <p:cNvPr id="464" name="box464"/>
          <p:cNvSpPr>
            <a:spLocks noGrp="1"/>
          </p:cNvSpPr>
          <p:nvPr/>
        </p:nvSpPr>
        <p:spPr>
          <a:xfrm>
            <a:off x="180000" y="6570000"/>
            <a:ext cx="126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Pair Work</a:t>
            </a:r>
          </a:p>
        </p:txBody>
      </p:sp>
    </p:spTree>
  </p:cSld>
  <p:clrMapOvr>
    <a:masterClr/>
  </p:clrMapOvr>
</p:sld>
</file>

<file path=ppt/slides/slide11.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01" name="box5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02" name="box50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503" name="tb5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READING &amp; WRITING</a:t>
            </a:r>
          </a:p>
        </p:txBody>
      </p:sp>
      <p:sp>
        <p:nvSpPr>
          <p:cNvPr id="504" name="box504"/>
          <p:cNvSpPr>
            <a:spLocks noGrp="1"/>
          </p:cNvSpPr>
          <p:nvPr/>
        </p:nvSpPr>
        <p:spPr>
          <a:xfrm>
            <a:off x="180000" y="540000"/>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Reading</a:t>
            </a:r>
          </a:p>
        </p:txBody>
      </p:sp>
      <p:sp>
        <p:nvSpPr>
          <p:cNvPr id="505" name="box505"/>
          <p:cNvSpPr>
            <a:spLocks noGrp="1"/>
          </p:cNvSpPr>
          <p:nvPr/>
        </p:nvSpPr>
        <p:spPr>
          <a:xfrm>
            <a:off x="180000" y="792000"/>
            <a:ext cx="11832000" cy="612000"/>
          </a:xfrm>
          <a:prstGeom prst="rect">
            <a:avLst/>
          </a:prstGeom>
          <a:solidFill>
            <a:srgbClr val="F2F2F2"/>
          </a:solidFill>
          <a:ln w="12700">
            <a:solidFill>
              <a:srgbClr val="CCCCCC"/>
            </a:solidFill>
          </a:ln>
        </p:spPr>
        <p:txBody>
          <a:bodyPr anchor="t" wrap="square" lIns="108000" rIns="72000" tIns="72000" bIns="54000"/>
          <a:lstStyle/>
          <a:p>
            <a:pPr algn="l" spcBef="0" spcAft="0">
              <a:spcPct val="100000"/>
            </a:pPr>
            <a:r>
              <a:rPr lang="en-GB" b="0" i="1" sz="1300" dirty="0">
                <a:solidFill>
                  <a:srgbClr val="404040"/>
                </a:solidFill>
                <a:latin typeface="Calibri"/>
              </a:rPr>
              <a:t>My friend Sara has travelled a lot. She has been to fifteen countries. She has visited Japan, Brazil, and Egypt. She has tried many different foods and has met interesting people everywhere. But she has never been to Australia. It is her dream. She says: 'I have always wanted to see kangaroos in the wild!'</a:t>
            </a:r>
          </a:p>
        </p:txBody>
      </p:sp>
      <p:sp>
        <p:nvSpPr>
          <p:cNvPr id="506" name="box506"/>
          <p:cNvSpPr>
            <a:spLocks noGrp="1"/>
          </p:cNvSpPr>
          <p:nvPr/>
        </p:nvSpPr>
        <p:spPr>
          <a:xfrm>
            <a:off x="180000" y="1475999"/>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Writing</a:t>
            </a:r>
          </a:p>
        </p:txBody>
      </p:sp>
      <p:sp>
        <p:nvSpPr>
          <p:cNvPr id="507" name="tb507"/>
          <p:cNvSpPr txBox="1">
            <a:spLocks noGrp="1"/>
          </p:cNvSpPr>
          <p:nvPr/>
        </p:nvSpPr>
        <p:spPr>
          <a:xfrm>
            <a:off x="180000" y="1728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548235"/>
                </a:solidFill>
                <a:latin typeface="Calibri"/>
              </a:rPr>
              <a:t>Write 6 sentences about your life experiences using the Present Perfect.</a:t>
            </a:r>
          </a:p>
        </p:txBody>
      </p:sp>
      <p:sp>
        <p:nvSpPr>
          <p:cNvPr id="508" name="tb508"/>
          <p:cNvSpPr txBox="1">
            <a:spLocks noGrp="1"/>
          </p:cNvSpPr>
          <p:nvPr/>
        </p:nvSpPr>
        <p:spPr>
          <a:xfrm>
            <a:off x="180000" y="20159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A country you have visited: I have been to ___.</a:t>
            </a:r>
          </a:p>
        </p:txBody>
      </p:sp>
      <p:sp>
        <p:nvSpPr>
          <p:cNvPr id="509" name="tb509"/>
          <p:cNvSpPr txBox="1">
            <a:spLocks noGrp="1"/>
          </p:cNvSpPr>
          <p:nvPr/>
        </p:nvSpPr>
        <p:spPr>
          <a:xfrm>
            <a:off x="180000" y="21527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Something you have never done: I have never ___.</a:t>
            </a:r>
          </a:p>
        </p:txBody>
      </p:sp>
      <p:sp>
        <p:nvSpPr>
          <p:cNvPr id="510" name="tb510"/>
          <p:cNvSpPr txBox="1">
            <a:spLocks noGrp="1"/>
          </p:cNvSpPr>
          <p:nvPr/>
        </p:nvSpPr>
        <p:spPr>
          <a:xfrm>
            <a:off x="180000" y="22895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A food you have tried: I have tried ___.</a:t>
            </a:r>
          </a:p>
        </p:txBody>
      </p:sp>
    </p:spTree>
  </p:cSld>
  <p:clrMapOvr>
    <a:masterClr/>
  </p:clrMapOvr>
</p:sld>
</file>

<file path=ppt/slides/slide1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51" name="box5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52" name="box5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53" name="tb5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HOMEWORK</a:t>
            </a:r>
          </a:p>
        </p:txBody>
      </p:sp>
      <p:sp>
        <p:nvSpPr>
          <p:cNvPr id="554" name="box554"/>
          <p:cNvSpPr>
            <a:spLocks noGrp="1"/>
          </p:cNvSpPr>
          <p:nvPr/>
        </p:nvSpPr>
        <p:spPr>
          <a:xfrm>
            <a:off x="180000" y="540000"/>
            <a:ext cx="432000" cy="432000"/>
          </a:xfrm>
          <a:prstGeom prst="roundRect">
            <a:avLst>
              <a:gd name="adj" fmla="val 50000"/>
            </a:avLst>
          </a:prstGeom>
          <a:solidFill>
            <a:srgbClr val="BF8F00"/>
          </a:solidFill>
          <a:ln w="0">
            <a:noFill/>
          </a:ln>
        </p:spPr>
        <p:txBody>
          <a:bodyPr anchor="ctr" wrap="square" lIns="72000" rIns="72000" tIns="54000" bIns="54000"/>
          <a:lstStyle/>
          <a:p>
            <a:pPr algn="ctr" spcBef="0" spcAft="0">
              <a:spcPct val="100000"/>
            </a:pPr>
            <a:r>
              <a:rPr lang="en-GB" b="1" sz="2800" dirty="0">
                <a:solidFill>
                  <a:srgbClr val="1F3864"/>
                </a:solidFill>
                <a:latin typeface="Cambria"/>
              </a:rPr>
              <a:t>1</a:t>
            </a:r>
          </a:p>
        </p:txBody>
      </p:sp>
      <p:sp>
        <p:nvSpPr>
          <p:cNvPr id="555" name="box555"/>
          <p:cNvSpPr>
            <a:spLocks noGrp="1"/>
          </p:cNvSpPr>
          <p:nvPr/>
        </p:nvSpPr>
        <p:spPr>
          <a:xfrm>
            <a:off x="684000" y="540000"/>
            <a:ext cx="11328000" cy="432000"/>
          </a:xfrm>
          <a:prstGeom prst="rect">
            <a:avLst/>
          </a:prstGeom>
          <a:solidFill>
            <a:srgbClr val="DCE6F1"/>
          </a:solidFill>
          <a:ln w="12700">
            <a:solidFill>
              <a:srgbClr val="2E75B6"/>
            </a:solidFill>
          </a:ln>
        </p:spPr>
        <p:txBody>
          <a:bodyPr anchor="ctr" wrap="square" lIns="108000" rIns="72000" tIns="54000" bIns="54000"/>
          <a:lstStyle/>
          <a:p>
            <a:pPr algn="l" spcBef="0" spcAft="0">
              <a:spcPct val="100000"/>
            </a:pPr>
            <a:r>
              <a:rPr lang="en-GB" b="1" sz="1500" dirty="0">
                <a:solidFill>
                  <a:srgbClr val="1F3864"/>
                </a:solidFill>
                <a:latin typeface="Calibri"/>
              </a:rPr>
              <a:t>Production Task  </a:t>
            </a:r>
            <a:r>
              <a:rPr lang="en-GB" b="0" sz="1400" dirty="0">
                <a:solidFill>
                  <a:srgbClr val="404040"/>
                </a:solidFill>
                <a:latin typeface="Calibri"/>
              </a:rPr>
              <a:t>Write 10 sentences about your life experiences using the Present Perfect. Include at least 3 with 'never', 2 with 'ever' (questions), and 2 with time expressions (twice, three times).</a:t>
            </a:r>
          </a:p>
        </p:txBody>
      </p:sp>
      <p:sp>
        <p:nvSpPr>
          <p:cNvPr id="556" name="box556"/>
          <p:cNvSpPr>
            <a:spLocks noGrp="1"/>
          </p:cNvSpPr>
          <p:nvPr/>
        </p:nvSpPr>
        <p:spPr>
          <a:xfrm>
            <a:off x="180000" y="1080000"/>
            <a:ext cx="432000" cy="432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2800" dirty="0">
                <a:solidFill>
                  <a:srgbClr val="FFFFFF"/>
                </a:solidFill>
                <a:latin typeface="Cambria"/>
              </a:rPr>
              <a:t>2</a:t>
            </a:r>
          </a:p>
        </p:txBody>
      </p:sp>
      <p:sp>
        <p:nvSpPr>
          <p:cNvPr id="557" name="box557"/>
          <p:cNvSpPr>
            <a:spLocks noGrp="1"/>
          </p:cNvSpPr>
          <p:nvPr/>
        </p:nvSpPr>
        <p:spPr>
          <a:xfrm>
            <a:off x="684000" y="1080000"/>
            <a:ext cx="11328000" cy="432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1" sz="1500" dirty="0">
                <a:solidFill>
                  <a:srgbClr val="1F3864"/>
                </a:solidFill>
                <a:latin typeface="Calibri"/>
              </a:rPr>
              <a:t>Vocabulary Consolidation  </a:t>
            </a:r>
            <a:r>
              <a:rPr lang="en-GB" b="0" sz="1400" dirty="0">
                <a:solidFill>
                  <a:srgbClr val="404040"/>
                </a:solidFill>
                <a:latin typeface="Calibri"/>
              </a:rPr>
              <a:t>Learn these irregular past participles: be-been, go-gone, see-seen, do-done, eat-eaten, write-written, speak-spoken, drive-driven, fly-flown, break-broken, forget-forgotten, choose-chosen, meet-met, read-read. Write each in a Present Perfect sentence.</a:t>
            </a:r>
          </a:p>
        </p:txBody>
      </p:sp>
      <p:sp>
        <p:nvSpPr>
          <p:cNvPr id="558" name="box558"/>
          <p:cNvSpPr>
            <a:spLocks noGrp="1"/>
          </p:cNvSpPr>
          <p:nvPr/>
        </p:nvSpPr>
        <p:spPr>
          <a:xfrm>
            <a:off x="180000" y="6498000"/>
            <a:ext cx="144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Due: next class</a:t>
            </a:r>
          </a:p>
        </p:txBody>
      </p:sp>
    </p:spTree>
  </p:cSld>
  <p:clrMapOvr>
    <a:masterClr/>
  </p:clrMapOvr>
</p:sld>
</file>

<file path=ppt/slides/slide13.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601" name="shape60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602" name="shape602"/>
          <p:cNvSpPr>
            <a:spLocks noGrp="1"/>
          </p:cNvSpPr>
          <p:nvPr/>
        </p:nvSpPr>
        <p:spPr>
          <a:xfrm>
            <a:off x="0" y="0"/>
            <a:ext cx="12192000" cy="108000"/>
          </a:xfrm>
          <a:prstGeom prst="rect">
            <a:avLst/>
          </a:prstGeom>
          <a:solidFill>
            <a:srgbClr val="BF8F00"/>
          </a:solidFill>
        </p:spPr>
        <p:txBody>
          <a:bodyPr/>
          <a:lstStyle/>
          <a:p/>
        </p:txBody>
      </p:sp>
      <p:sp>
        <p:nvSpPr>
          <p:cNvPr id="603" name="shape603"/>
          <p:cNvSpPr>
            <a:spLocks noGrp="1"/>
          </p:cNvSpPr>
          <p:nvPr/>
        </p:nvSpPr>
        <p:spPr>
          <a:xfrm>
            <a:off x="0" y="6750000"/>
            <a:ext cx="12192000" cy="108000"/>
          </a:xfrm>
          <a:prstGeom prst="rect">
            <a:avLst/>
          </a:prstGeom>
          <a:solidFill>
            <a:srgbClr val="BF8F00"/>
          </a:solidFill>
        </p:spPr>
        <p:txBody>
          <a:bodyPr/>
          <a:lstStyle/>
          <a:p/>
        </p:txBody>
      </p:sp>
      <p:sp>
        <p:nvSpPr>
          <p:cNvPr id="604" name="shape604"/>
          <p:cNvSpPr>
            <a:spLocks noGrp="1"/>
          </p:cNvSpPr>
          <p:nvPr/>
        </p:nvSpPr>
        <p:spPr>
          <a:xfrm>
            <a:off x="0" y="0"/>
            <a:ext cx="144000" cy="6858000"/>
          </a:xfrm>
          <a:prstGeom prst="rect">
            <a:avLst/>
          </a:prstGeom>
          <a:solidFill>
            <a:srgbClr val="BF8F00"/>
          </a:solidFill>
        </p:spPr>
        <p:txBody>
          <a:bodyPr/>
          <a:lstStyle/>
          <a:p/>
        </p:txBody>
      </p:sp>
      <p:sp>
        <p:nvSpPr>
          <p:cNvPr id="605" name="box605"/>
          <p:cNvSpPr>
            <a:spLocks noGrp="1"/>
          </p:cNvSpPr>
          <p:nvPr/>
        </p:nvSpPr>
        <p:spPr>
          <a:xfrm>
            <a:off x="432000" y="432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15  ·  A2</a:t>
            </a:r>
          </a:p>
        </p:txBody>
      </p:sp>
      <p:sp>
        <p:nvSpPr>
          <p:cNvPr id="606" name="tb606"/>
          <p:cNvSpPr txBox="1">
            <a:spLocks noGrp="1"/>
          </p:cNvSpPr>
          <p:nvPr/>
        </p:nvSpPr>
        <p:spPr>
          <a:xfrm>
            <a:off x="432000" y="827999"/>
            <a:ext cx="11472000" cy="900000"/>
          </a:xfrm>
          <a:prstGeom prst="rect">
            <a:avLst/>
          </a:prstGeom>
          <a:noFill/>
        </p:spPr>
        <p:txBody>
          <a:bodyPr anchor="t" wrap="square" lIns="36000" rIns="36000" tIns="36000" bIns="36000"/>
          <a:lstStyle/>
          <a:p>
            <a:pPr algn="l" spcBef="0" spcAft="0">
              <a:spcPct val="100000"/>
            </a:pPr>
            <a:r>
              <a:rPr lang="en-GB" b="1" sz="3600" dirty="0">
                <a:solidFill>
                  <a:srgbClr val="FFFFFF"/>
                </a:solidFill>
                <a:latin typeface="Cambria"/>
              </a:rPr>
              <a:t>Present Perfect — Introduction</a:t>
            </a:r>
          </a:p>
        </p:txBody>
      </p:sp>
      <p:sp>
        <p:nvSpPr>
          <p:cNvPr id="607" name="tb607"/>
          <p:cNvSpPr txBox="1">
            <a:spLocks noGrp="1"/>
          </p:cNvSpPr>
          <p:nvPr/>
        </p:nvSpPr>
        <p:spPr>
          <a:xfrm>
            <a:off x="432000" y="1800000"/>
            <a:ext cx="11472000" cy="324000"/>
          </a:xfrm>
          <a:prstGeom prst="rect">
            <a:avLst/>
          </a:prstGeom>
          <a:noFill/>
        </p:spPr>
        <p:txBody>
          <a:bodyPr anchor="ctr" wrap="square" lIns="36000" rIns="36000" tIns="36000" bIns="36000"/>
          <a:lstStyle/>
          <a:p>
            <a:pPr algn="l" spcBef="0" spcAft="0">
              <a:spcPct val="100000"/>
            </a:pPr>
            <a:r>
              <a:rPr lang="en-GB" b="0" i="1" sz="1600" dirty="0">
                <a:solidFill>
                  <a:srgbClr val="BF8F00"/>
                </a:solidFill>
                <a:latin typeface="Calibri"/>
              </a:rPr>
              <a:t>✦  The more you practise, the more natural it feels.</a:t>
            </a:r>
          </a:p>
        </p:txBody>
      </p:sp>
      <p:sp>
        <p:nvSpPr>
          <p:cNvPr id="608" name="box608"/>
          <p:cNvSpPr>
            <a:spLocks noGrp="1"/>
          </p:cNvSpPr>
          <p:nvPr/>
        </p:nvSpPr>
        <p:spPr>
          <a:xfrm>
            <a:off x="10752000" y="6462000"/>
            <a:ext cx="1260000" cy="234000"/>
          </a:xfrm>
          <a:prstGeom prst="roundRect">
            <a:avLst>
              <a:gd name="adj" fmla="val 10000"/>
            </a:avLst>
          </a:prstGeom>
          <a:solidFill>
            <a:srgbClr val="2E75B6"/>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See you next class! 👋</a:t>
            </a:r>
          </a:p>
        </p:txBody>
      </p:sp>
    </p:spTree>
  </p:cSld>
  <p:clrMapOvr>
    <a:masterClr/>
  </p:clrMapOvr>
</p:sld>
</file>