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  ·  A1</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Simple — Affirmative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I/we/you/they + base form; he/she/it + -s/-es; spelling rules (-es after s/sh/ch, -y to -ies); adverbs of frequency (always/never/often/sometimes/usually)</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A1</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affirmative Present Simple sentences with all subject pronouns.</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Add -s or -es correctly to verbs after he, she, and it.</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Apply spelling rules: -es after s/sh/ch/x/o and -y to -ies.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adverbs of frequency (always, usually, often, sometimes, never) in the correct position.</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about daily routines and habits.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My Morning Routine</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Think of five things you do every morning.</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Tell your partner: 'I wake up at 7. I brush my teeth. I drink coffee...'</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Your partner listens and remembers. Then they repeat YOUR routine to the class.</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morning</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early part of the day</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evening</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later part of the day</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breakfast</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first meal of the day</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lunch</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meal in the middle of the day</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dinner</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main evening meal</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school</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place for learning</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office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place where people work</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every</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det</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each one without exception</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always</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at all times; on every occasion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usually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most of the time</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the base form of the verb for I/you/we/they. Add -s or -es for he/she/it.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112400">
                <a:tc>
                  <a:txBody>
                    <a:bodyPr/>
                    <a:lstStyle/>
                    <a:p>
                      <a:pPr algn="l"/>
                      <a:r>
                        <a:rPr lang="en-GB" b="1" sz="1400" dirty="0">
                          <a:solidFill>
                            <a:srgbClr val="FFFFFF"/>
                          </a:solidFill>
                          <a:latin typeface="Calibri"/>
                        </a:rPr>
                        <a:t>Subject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Verb 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I / You / We / They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base form (no change)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work every 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He / She / 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verb + -s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works every day.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He / She /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verb + -es (s/sh/ch/x/o)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watches TV at 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He / She / 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consonant + y = -ies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studies English.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graphicFrame>
        <p:nvGraphicFramePr>
          <p:cNvPr id="254" name="tbl254"/>
          <p:cNvGraphicFramePr>
            <a:graphicFrameLocks noGrp="1"/>
          </p:cNvGraphicFramePr>
          <p:nvPr/>
        </p:nvGraphicFramePr>
        <p:xfrm>
          <a:off x="180000" y="540000"/>
          <a:ext cx="11832000" cy="1224000"/>
        </p:xfrm>
        <a:graphic>
          <a:graphicData uri="http://schemas.openxmlformats.org/drawingml/2006/table">
            <a:tbl>
              <a:tblPr firstRow="1" bandRow="1">
                <a:tableStyleId>{5C22544A-7EE6-4342-B048-85BDC9FD1C3A}</a:tableStyleId>
              </a:tblPr>
              <a:tblGrid>
                <a:gridCol w="3944000"/>
                <a:gridCol w="3944000"/>
                <a:gridCol w="3944000"/>
              </a:tblGrid>
              <a:tr h="201600">
                <a:tc>
                  <a:txBody>
                    <a:bodyPr/>
                    <a:lstStyle/>
                    <a:p>
                      <a:pPr algn="l"/>
                      <a:r>
                        <a:rPr lang="en-GB" b="1" sz="1300" dirty="0">
                          <a:solidFill>
                            <a:srgbClr val="FFFFFF"/>
                          </a:solidFill>
                          <a:latin typeface="Calibri"/>
                        </a:rPr>
                        <a:t>Rule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300" dirty="0">
                          <a:solidFill>
                            <a:srgbClr val="FFFFFF"/>
                          </a:solidFill>
                          <a:latin typeface="Calibri"/>
                        </a:rPr>
                        <a:t>Base 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300" dirty="0">
                          <a:solidFill>
                            <a:srgbClr val="FFFFFF"/>
                          </a:solidFill>
                          <a:latin typeface="Calibri"/>
                        </a:rPr>
                        <a:t>He/She/It 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201600">
                <a:tc>
                  <a:txBody>
                    <a:bodyPr/>
                    <a:lstStyle/>
                    <a:p>
                      <a:pPr algn="l"/>
                      <a:r>
                        <a:rPr lang="en-GB" b="1" sz="1300" dirty="0">
                          <a:solidFill>
                            <a:srgbClr val="1F3864"/>
                          </a:solidFill>
                          <a:latin typeface="Calibri"/>
                        </a:rPr>
                        <a:t>Most verbs: + 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work, like, eat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works, likes, eats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201600">
                <a:tc>
                  <a:txBody>
                    <a:bodyPr/>
                    <a:lstStyle/>
                    <a:p>
                      <a:pPr algn="l"/>
                      <a:r>
                        <a:rPr lang="en-GB" b="1" sz="1300" dirty="0">
                          <a:solidFill>
                            <a:srgbClr val="1F3864"/>
                          </a:solidFill>
                          <a:latin typeface="Calibri"/>
                        </a:rPr>
                        <a:t>After s, sh, ch, x, o: + 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wash, teach, go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washes, teaches, goes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201600">
                <a:tc>
                  <a:txBody>
                    <a:bodyPr/>
                    <a:lstStyle/>
                    <a:p>
                      <a:pPr algn="l"/>
                      <a:r>
                        <a:rPr lang="en-GB" b="1" sz="1300" dirty="0">
                          <a:solidFill>
                            <a:srgbClr val="1F3864"/>
                          </a:solidFill>
                          <a:latin typeface="Calibri"/>
                        </a:rPr>
                        <a:t>Consonant + y: y to ies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study, fly, worry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studies, flies, worries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201600">
                <a:tc>
                  <a:txBody>
                    <a:bodyPr/>
                    <a:lstStyle/>
                    <a:p>
                      <a:pPr algn="l"/>
                      <a:r>
                        <a:rPr lang="en-GB" b="1" sz="1300" dirty="0">
                          <a:solidFill>
                            <a:srgbClr val="1F3864"/>
                          </a:solidFill>
                          <a:latin typeface="Calibri"/>
                        </a:rPr>
                        <a:t>Vowel + y: + 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play, enjoy, stay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plays, enjoys, stays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255" name="box255"/>
          <p:cNvSpPr>
            <a:spLocks noGrp="1"/>
          </p:cNvSpPr>
          <p:nvPr/>
        </p:nvSpPr>
        <p:spPr>
          <a:xfrm>
            <a:off x="180000" y="1872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The verb have is irregular: he/she/it HAS (not haves). Do NOT add -s to modal verbs (can, must, will).</a:t>
            </a:r>
          </a:p>
        </p:txBody>
      </p:sp>
      <p:sp>
        <p:nvSpPr>
          <p:cNvPr id="256" name="box256"/>
          <p:cNvSpPr>
            <a:spLocks noGrp="1"/>
          </p:cNvSpPr>
          <p:nvPr/>
        </p:nvSpPr>
        <p:spPr>
          <a:xfrm>
            <a:off x="180000" y="2501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7" name="tb257"/>
          <p:cNvSpPr txBox="1">
            <a:spLocks noGrp="1"/>
          </p:cNvSpPr>
          <p:nvPr/>
        </p:nvSpPr>
        <p:spPr>
          <a:xfrm>
            <a:off x="180000" y="27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Daily routines: I wake up at 7. He brushes his teeth.</a:t>
            </a:r>
          </a:p>
        </p:txBody>
      </p:sp>
      <p:sp>
        <p:nvSpPr>
          <p:cNvPr id="258" name="tb258"/>
          <p:cNvSpPr txBox="1">
            <a:spLocks noGrp="1"/>
          </p:cNvSpPr>
          <p:nvPr/>
        </p:nvSpPr>
        <p:spPr>
          <a:xfrm>
            <a:off x="180000" y="29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Habits: She always drinks coffee in the morning.</a:t>
            </a:r>
          </a:p>
        </p:txBody>
      </p:sp>
      <p:sp>
        <p:nvSpPr>
          <p:cNvPr id="259" name="tb259"/>
          <p:cNvSpPr txBox="1">
            <a:spLocks noGrp="1"/>
          </p:cNvSpPr>
          <p:nvPr/>
        </p:nvSpPr>
        <p:spPr>
          <a:xfrm>
            <a:off x="180000" y="3203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Facts: The sun rises in the east.</a:t>
            </a:r>
          </a:p>
        </p:txBody>
      </p:sp>
      <p:sp>
        <p:nvSpPr>
          <p:cNvPr id="260" name="tb260"/>
          <p:cNvSpPr txBox="1">
            <a:spLocks noGrp="1"/>
          </p:cNvSpPr>
          <p:nvPr/>
        </p:nvSpPr>
        <p:spPr>
          <a:xfrm>
            <a:off x="180000" y="341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Frequency: We usually eat lunch at 1 o'clock.</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the sentences with the correct Present Simple form.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___ (teach) English at a school.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TEACHES English at a school.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___ (live) in a big city.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LIVE in a big city.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___ (wash) his car every Saturday.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___ (drink) tea every morning.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complete affirmative sentences using the Present Simple.</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(Maria / teach / science)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(my parents / live / in Rome)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 catch / the 7:30 train)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 always / brush / her teeth)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 usually / have / lunch / at 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teachs English.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washs his car.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goes to school every 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My sister flys to London.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studys at 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Daily Habits Survey</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three classmates about their daily routine using Present Simple questions.</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Use prompts: wake up / have breakfast / go to work or school / finish / relax.</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to the class: 'Maria wakes up at 6. She always has breakfast.'</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Use adverbs of frequency: always, usually, often, sometimes, never.</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Tom lives in Manchester. He works in an office. He usually starts at nine and finishes at five. He always catches the bus to work. In the evening, he sometimes cooks dinner, but he often buys food from a shop. He never goes to bed late because he wakes up early every morning.</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about your daily routine using the Present Simple.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When do you wake up? I wake up at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How do you get to work/school? I ___ to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What does your best friend do every day? He/She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about a family member's daily routine using the Present Simple. Include at least 3 different adverbs of frequency. Underline every verb + -s/-es form.</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Choose 10 vocabulary words from Section 4. Write them in a sentence of your own using the Present Simple affirmative. Check your spelling of the he/she/it forms.</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  ·  A1</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Simple — Affirmative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