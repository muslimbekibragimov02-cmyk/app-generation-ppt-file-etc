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0"
    Type="http://schemas.openxmlformats.org/officeDocument/2006/relationships/slideMaster"
    Target="slideMasters/slideMaster1.xml"/>
  <Relationship Id="rId1"
    Type="http://schemas.openxmlformats.org/officeDocument/2006/relationships/slide"
    Target="slides/slide1.xml"/>
  <Relationship Id="rId2"
    Type="http://schemas.openxmlformats.org/officeDocument/2006/relationships/slide"
    Target="slides/slide2.xml"/>
  <Relationship Id="rId3"
    Type="http://schemas.openxmlformats.org/officeDocument/2006/relationships/slide"
    Target="slides/slide3.xml"/>
  <Relationship Id="rId4"
    Type="http://schemas.openxmlformats.org/officeDocument/2006/relationships/slide"
    Target="slides/slide4.xml"/>
  <Relationship Id="rId5"
    Type="http://schemas.openxmlformats.org/officeDocument/2006/relationships/slide"
    Target="slides/slide5.xml"/>
  <Relationship Id="rId6"
    Type="http://schemas.openxmlformats.org/officeDocument/2006/relationships/slide"
    Target="slides/slide6.xml"/>
  <Relationship Id="rId7"
    Type="http://schemas.openxmlformats.org/officeDocument/2006/relationships/slide"
    Target="slides/slide7.xml"/>
  <Relationship Id="rId8"
    Type="http://schemas.openxmlformats.org/officeDocument/2006/relationships/slide"
    Target="slides/slide8.xml"/>
  <Relationship Id="rId9"
    Type="http://schemas.openxmlformats.org/officeDocument/2006/relationships/slide"
    Target="slides/slide9.xml"/>
  <Relationship Id="rId10"
    Type="http://schemas.openxmlformats.org/officeDocument/2006/relationships/slide"
    Target="slides/slide10.xml"/>
  <Relationship Id="rId11"
    Type="http://schemas.openxmlformats.org/officeDocument/2006/relationships/slide"
    Target="slides/slide11.xml"/>
  <Relationship Id="rId12"
    Type="http://schemas.openxmlformats.org/officeDocument/2006/relationships/slide"
    Target="slides/slide12.xml"/>
  <Relationship Id="rId13"
    Type="http://schemas.openxmlformats.org/officeDocument/2006/relationships/slide"
   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1" name="shape1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4" name="box14"/>
          <p:cNvSpPr>
            <a:spLocks noGrp="1"/>
          </p:cNvSpPr>
          <p:nvPr/>
        </p:nvSpPr>
        <p:spPr>
          <a:xfrm>
            <a:off x="432000" y="468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5  ·  A1</a:t>
            </a:r>
          </a:p>
        </p:txBody>
      </p:sp>
      <p:sp>
        <p:nvSpPr>
          <p:cNvPr id="15" name="tb15"/>
          <p:cNvSpPr txBox="1">
            <a:spLocks noGrp="1"/>
          </p:cNvSpPr>
          <p:nvPr/>
        </p:nvSpPr>
        <p:spPr>
          <a:xfrm>
            <a:off x="432000" y="900000"/>
            <a:ext cx="11472000" cy="28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BFC9D6"/>
                </a:solidFill>
                <a:latin typeface="Calibri"/>
              </a:rPr>
              <a:t>English Grammar in Action — Level 1</a:t>
            </a:r>
          </a:p>
        </p:txBody>
      </p:sp>
      <p:sp>
        <p:nvSpPr>
          <p:cNvPr id="16" name="tb16"/>
          <p:cNvSpPr txBox="1">
            <a:spLocks noGrp="1"/>
          </p:cNvSpPr>
          <p:nvPr/>
        </p:nvSpPr>
        <p:spPr>
          <a:xfrm>
            <a:off x="432000" y="1188000"/>
            <a:ext cx="11472000" cy="108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4000" dirty="0">
                <a:solidFill>
                  <a:srgbClr val="FFFFFF"/>
                </a:solidFill>
                <a:latin typeface="Cambria"/>
              </a:rPr>
              <a:t>Present Simple — Affirmative</a:t>
            </a:r>
          </a:p>
        </p:txBody>
      </p:sp>
      <p:sp>
        <p:nvSpPr>
          <p:cNvPr id="17" name="tb17"/>
          <p:cNvSpPr txBox="1">
            <a:spLocks noGrp="1"/>
          </p:cNvSpPr>
          <p:nvPr/>
        </p:nvSpPr>
        <p:spPr>
          <a:xfrm>
            <a:off x="432000" y="2088000"/>
            <a:ext cx="1147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700" dirty="0">
                <a:solidFill>
                  <a:srgbClr val="DCE6F1"/>
                </a:solidFill>
                <a:latin typeface="Calibri"/>
              </a:rPr>
              <a:t>he/she/it + -s/-es; I/you/we/they + base form; daily routines</a:t>
            </a:r>
          </a:p>
        </p:txBody>
      </p:sp>
      <p:sp>
        <p:nvSpPr>
          <p:cNvPr id="18" name="shape18"/>
          <p:cNvSpPr>
            <a:spLocks noGrp="1"/>
          </p:cNvSpPr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9" name="box19"/>
          <p:cNvSpPr>
            <a:spLocks noGrp="1"/>
          </p:cNvSpPr>
          <p:nvPr/>
        </p:nvSpPr>
        <p:spPr>
          <a:xfrm>
            <a:off x="11112000" y="6354001"/>
            <a:ext cx="936000" cy="3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CEFR  A1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1" name="box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2" name="box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3" name="tb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🎯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LEARNING OBJECTIVES</a:t>
            </a:r>
          </a:p>
        </p:txBody>
      </p:sp>
      <p:sp>
        <p:nvSpPr>
          <p:cNvPr id="54" name="box54"/>
          <p:cNvSpPr>
            <a:spLocks noGrp="1"/>
          </p:cNvSpPr>
          <p:nvPr/>
        </p:nvSpPr>
        <p:spPr>
          <a:xfrm>
            <a:off x="180000" y="54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📌</a:t>
            </a:r>
          </a:p>
        </p:txBody>
      </p:sp>
      <p:sp>
        <p:nvSpPr>
          <p:cNvPr id="55" name="box55"/>
          <p:cNvSpPr>
            <a:spLocks noGrp="1"/>
          </p:cNvSpPr>
          <p:nvPr/>
        </p:nvSpPr>
        <p:spPr>
          <a:xfrm>
            <a:off x="558000" y="5400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Form affirmative present simple sentences with I/you/we/they + base verb.</a:t>
            </a:r>
          </a:p>
        </p:txBody>
      </p:sp>
      <p:sp>
        <p:nvSpPr>
          <p:cNvPr id="56" name="box56"/>
          <p:cNvSpPr>
            <a:spLocks noGrp="1"/>
          </p:cNvSpPr>
          <p:nvPr/>
        </p:nvSpPr>
        <p:spPr>
          <a:xfrm>
            <a:off x="180000" y="9252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✏️</a:t>
            </a:r>
          </a:p>
        </p:txBody>
      </p:sp>
      <p:sp>
        <p:nvSpPr>
          <p:cNvPr id="57" name="box57"/>
          <p:cNvSpPr>
            <a:spLocks noGrp="1"/>
          </p:cNvSpPr>
          <p:nvPr/>
        </p:nvSpPr>
        <p:spPr>
          <a:xfrm>
            <a:off x="558000" y="9252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Add -s or -es correctly with he/she/it subjects.</a:t>
            </a:r>
          </a:p>
        </p:txBody>
      </p:sp>
      <p:sp>
        <p:nvSpPr>
          <p:cNvPr id="58" name="box58"/>
          <p:cNvSpPr>
            <a:spLocks noGrp="1"/>
          </p:cNvSpPr>
          <p:nvPr/>
        </p:nvSpPr>
        <p:spPr>
          <a:xfrm>
            <a:off x="180000" y="13104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59" name="box59"/>
          <p:cNvSpPr>
            <a:spLocks noGrp="1"/>
          </p:cNvSpPr>
          <p:nvPr/>
        </p:nvSpPr>
        <p:spPr>
          <a:xfrm>
            <a:off x="558000" y="13104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Apply spelling rules for -es (goes, watches) and consonant+y (studies).</a:t>
            </a:r>
          </a:p>
        </p:txBody>
      </p:sp>
      <p:sp>
        <p:nvSpPr>
          <p:cNvPr id="60" name="box60"/>
          <p:cNvSpPr>
            <a:spLocks noGrp="1"/>
          </p:cNvSpPr>
          <p:nvPr/>
        </p:nvSpPr>
        <p:spPr>
          <a:xfrm>
            <a:off x="180000" y="16956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61" name="box61"/>
          <p:cNvSpPr>
            <a:spLocks noGrp="1"/>
          </p:cNvSpPr>
          <p:nvPr/>
        </p:nvSpPr>
        <p:spPr>
          <a:xfrm>
            <a:off x="558000" y="16956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Use the present simple to describe daily routines and habits.</a:t>
            </a:r>
          </a:p>
        </p:txBody>
      </p:sp>
      <p:sp>
        <p:nvSpPr>
          <p:cNvPr id="62" name="box62"/>
          <p:cNvSpPr>
            <a:spLocks noGrp="1"/>
          </p:cNvSpPr>
          <p:nvPr/>
        </p:nvSpPr>
        <p:spPr>
          <a:xfrm>
            <a:off x="180000" y="20808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63" name="box63"/>
          <p:cNvSpPr>
            <a:spLocks noGrp="1"/>
          </p:cNvSpPr>
          <p:nvPr/>
        </p:nvSpPr>
        <p:spPr>
          <a:xfrm>
            <a:off x="558000" y="20808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Produce sentences about other people's habits using third person -s.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1" name="box1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2" name="box1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3" name="tb1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⚡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WARM-UP ACTIVITY</a:t>
            </a:r>
          </a:p>
        </p:txBody>
      </p:sp>
      <p:sp>
        <p:nvSpPr>
          <p:cNvPr id="104" name="box104"/>
          <p:cNvSpPr>
            <a:spLocks noGrp="1"/>
          </p:cNvSpPr>
          <p:nvPr/>
        </p:nvSpPr>
        <p:spPr>
          <a:xfrm>
            <a:off x="180000" y="540000"/>
            <a:ext cx="11832000" cy="396000"/>
          </a:xfrm>
          <a:prstGeom prst="roundRect">
            <a:avLst>
              <a:gd name="adj" fmla="val 15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400" dirty="0">
                <a:solidFill>
                  <a:srgbClr val="1F3864"/>
                </a:solidFill>
                <a:latin typeface="Cambria"/>
              </a:rPr>
              <a:t>🕐 My Morning Routine</a:t>
            </a:r>
          </a:p>
        </p:txBody>
      </p:sp>
      <p:sp>
        <p:nvSpPr>
          <p:cNvPr id="105" name="box105"/>
          <p:cNvSpPr>
            <a:spLocks noGrp="1"/>
          </p:cNvSpPr>
          <p:nvPr/>
        </p:nvSpPr>
        <p:spPr>
          <a:xfrm>
            <a:off x="11040000" y="540000"/>
            <a:ext cx="972000" cy="39600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BF8F00"/>
                </a:solidFill>
                <a:latin typeface="Calibri"/>
              </a:rPr>
              <a:t>⏱  5 minutes</a:t>
            </a:r>
          </a:p>
        </p:txBody>
      </p:sp>
      <p:sp>
        <p:nvSpPr>
          <p:cNvPr id="106" name="box106"/>
          <p:cNvSpPr>
            <a:spLocks noGrp="1"/>
          </p:cNvSpPr>
          <p:nvPr/>
        </p:nvSpPr>
        <p:spPr>
          <a:xfrm>
            <a:off x="180000" y="1026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7" name="tb107"/>
          <p:cNvSpPr txBox="1">
            <a:spLocks noGrp="1"/>
          </p:cNvSpPr>
          <p:nvPr/>
        </p:nvSpPr>
        <p:spPr>
          <a:xfrm>
            <a:off x="503999" y="1026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Write three things you do every morning using 'I + verb'.</a:t>
            </a:r>
          </a:p>
        </p:txBody>
      </p:sp>
      <p:sp>
        <p:nvSpPr>
          <p:cNvPr id="108" name="box108"/>
          <p:cNvSpPr>
            <a:spLocks noGrp="1"/>
          </p:cNvSpPr>
          <p:nvPr/>
        </p:nvSpPr>
        <p:spPr>
          <a:xfrm>
            <a:off x="180000" y="1458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9" name="tb109"/>
          <p:cNvSpPr txBox="1">
            <a:spLocks noGrp="1"/>
          </p:cNvSpPr>
          <p:nvPr/>
        </p:nvSpPr>
        <p:spPr>
          <a:xfrm>
            <a:off x="503999" y="1458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Share with a partner. Your partner reports to the class using 'He/She + verb-s'.</a:t>
            </a:r>
          </a:p>
        </p:txBody>
      </p:sp>
      <p:sp>
        <p:nvSpPr>
          <p:cNvPr id="110" name="box110"/>
          <p:cNvSpPr>
            <a:spLocks noGrp="1"/>
          </p:cNvSpPr>
          <p:nvPr/>
        </p:nvSpPr>
        <p:spPr>
          <a:xfrm>
            <a:off x="180000" y="1890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1" name="tb111"/>
          <p:cNvSpPr txBox="1">
            <a:spLocks noGrp="1"/>
          </p:cNvSpPr>
          <p:nvPr/>
        </p:nvSpPr>
        <p:spPr>
          <a:xfrm>
            <a:off x="503999" y="1890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Example: 'I drink coffee.' -&gt; Partner says: 'She drinks coffee.'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51" name="box1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2" name="box1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3" name="tb1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📖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VOCABULARY PREVIEW</a:t>
            </a:r>
          </a:p>
        </p:txBody>
      </p:sp>
      <p:sp>
        <p:nvSpPr>
          <p:cNvPr id="154" name="box154"/>
          <p:cNvSpPr>
            <a:spLocks noGrp="1"/>
          </p:cNvSpPr>
          <p:nvPr/>
        </p:nvSpPr>
        <p:spPr>
          <a:xfrm>
            <a:off x="180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wake up</a:t>
            </a:r>
          </a:p>
        </p:txBody>
      </p:sp>
      <p:sp>
        <p:nvSpPr>
          <p:cNvPr id="155" name="box155"/>
          <p:cNvSpPr>
            <a:spLocks noGrp="1"/>
          </p:cNvSpPr>
          <p:nvPr/>
        </p:nvSpPr>
        <p:spPr>
          <a:xfrm>
            <a:off x="1007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56" name="box156"/>
          <p:cNvSpPr>
            <a:spLocks noGrp="1"/>
          </p:cNvSpPr>
          <p:nvPr/>
        </p:nvSpPr>
        <p:spPr>
          <a:xfrm>
            <a:off x="1512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stop sleeping</a:t>
            </a:r>
          </a:p>
        </p:txBody>
      </p:sp>
      <p:sp>
        <p:nvSpPr>
          <p:cNvPr id="157" name="box157"/>
          <p:cNvSpPr>
            <a:spLocks noGrp="1"/>
          </p:cNvSpPr>
          <p:nvPr/>
        </p:nvSpPr>
        <p:spPr>
          <a:xfrm>
            <a:off x="6042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get up</a:t>
            </a:r>
          </a:p>
        </p:txBody>
      </p:sp>
      <p:sp>
        <p:nvSpPr>
          <p:cNvPr id="158" name="box158"/>
          <p:cNvSpPr>
            <a:spLocks noGrp="1"/>
          </p:cNvSpPr>
          <p:nvPr/>
        </p:nvSpPr>
        <p:spPr>
          <a:xfrm>
            <a:off x="6869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59" name="box159"/>
          <p:cNvSpPr>
            <a:spLocks noGrp="1"/>
          </p:cNvSpPr>
          <p:nvPr/>
        </p:nvSpPr>
        <p:spPr>
          <a:xfrm>
            <a:off x="7374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leave your bed</a:t>
            </a:r>
          </a:p>
        </p:txBody>
      </p:sp>
      <p:sp>
        <p:nvSpPr>
          <p:cNvPr id="160" name="box160"/>
          <p:cNvSpPr>
            <a:spLocks noGrp="1"/>
          </p:cNvSpPr>
          <p:nvPr/>
        </p:nvSpPr>
        <p:spPr>
          <a:xfrm>
            <a:off x="180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brush</a:t>
            </a:r>
          </a:p>
        </p:txBody>
      </p:sp>
      <p:sp>
        <p:nvSpPr>
          <p:cNvPr id="161" name="box161"/>
          <p:cNvSpPr>
            <a:spLocks noGrp="1"/>
          </p:cNvSpPr>
          <p:nvPr/>
        </p:nvSpPr>
        <p:spPr>
          <a:xfrm>
            <a:off x="1007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62" name="box162"/>
          <p:cNvSpPr>
            <a:spLocks noGrp="1"/>
          </p:cNvSpPr>
          <p:nvPr/>
        </p:nvSpPr>
        <p:spPr>
          <a:xfrm>
            <a:off x="1512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clean with a brush</a:t>
            </a:r>
          </a:p>
        </p:txBody>
      </p:sp>
      <p:sp>
        <p:nvSpPr>
          <p:cNvPr id="163" name="box163"/>
          <p:cNvSpPr>
            <a:spLocks noGrp="1"/>
          </p:cNvSpPr>
          <p:nvPr/>
        </p:nvSpPr>
        <p:spPr>
          <a:xfrm>
            <a:off x="6042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wash</a:t>
            </a:r>
          </a:p>
        </p:txBody>
      </p:sp>
      <p:sp>
        <p:nvSpPr>
          <p:cNvPr id="164" name="box164"/>
          <p:cNvSpPr>
            <a:spLocks noGrp="1"/>
          </p:cNvSpPr>
          <p:nvPr/>
        </p:nvSpPr>
        <p:spPr>
          <a:xfrm>
            <a:off x="6869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65" name="box165"/>
          <p:cNvSpPr>
            <a:spLocks noGrp="1"/>
          </p:cNvSpPr>
          <p:nvPr/>
        </p:nvSpPr>
        <p:spPr>
          <a:xfrm>
            <a:off x="7374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clean with water</a:t>
            </a:r>
          </a:p>
        </p:txBody>
      </p:sp>
      <p:sp>
        <p:nvSpPr>
          <p:cNvPr id="166" name="box166"/>
          <p:cNvSpPr>
            <a:spLocks noGrp="1"/>
          </p:cNvSpPr>
          <p:nvPr/>
        </p:nvSpPr>
        <p:spPr>
          <a:xfrm>
            <a:off x="180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have</a:t>
            </a:r>
          </a:p>
        </p:txBody>
      </p:sp>
      <p:sp>
        <p:nvSpPr>
          <p:cNvPr id="167" name="box167"/>
          <p:cNvSpPr>
            <a:spLocks noGrp="1"/>
          </p:cNvSpPr>
          <p:nvPr/>
        </p:nvSpPr>
        <p:spPr>
          <a:xfrm>
            <a:off x="1007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68" name="box168"/>
          <p:cNvSpPr>
            <a:spLocks noGrp="1"/>
          </p:cNvSpPr>
          <p:nvPr/>
        </p:nvSpPr>
        <p:spPr>
          <a:xfrm>
            <a:off x="1512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eat or drink</a:t>
            </a:r>
          </a:p>
        </p:txBody>
      </p:sp>
      <p:sp>
        <p:nvSpPr>
          <p:cNvPr id="169" name="box169"/>
          <p:cNvSpPr>
            <a:spLocks noGrp="1"/>
          </p:cNvSpPr>
          <p:nvPr/>
        </p:nvSpPr>
        <p:spPr>
          <a:xfrm>
            <a:off x="6042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go</a:t>
            </a:r>
          </a:p>
        </p:txBody>
      </p:sp>
      <p:sp>
        <p:nvSpPr>
          <p:cNvPr id="170" name="box170"/>
          <p:cNvSpPr>
            <a:spLocks noGrp="1"/>
          </p:cNvSpPr>
          <p:nvPr/>
        </p:nvSpPr>
        <p:spPr>
          <a:xfrm>
            <a:off x="6869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71" name="box171"/>
          <p:cNvSpPr>
            <a:spLocks noGrp="1"/>
          </p:cNvSpPr>
          <p:nvPr/>
        </p:nvSpPr>
        <p:spPr>
          <a:xfrm>
            <a:off x="7374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move to another place</a:t>
            </a:r>
          </a:p>
        </p:txBody>
      </p:sp>
      <p:sp>
        <p:nvSpPr>
          <p:cNvPr id="172" name="box172"/>
          <p:cNvSpPr>
            <a:spLocks noGrp="1"/>
          </p:cNvSpPr>
          <p:nvPr/>
        </p:nvSpPr>
        <p:spPr>
          <a:xfrm>
            <a:off x="180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start</a:t>
            </a:r>
          </a:p>
        </p:txBody>
      </p:sp>
      <p:sp>
        <p:nvSpPr>
          <p:cNvPr id="173" name="box173"/>
          <p:cNvSpPr>
            <a:spLocks noGrp="1"/>
          </p:cNvSpPr>
          <p:nvPr/>
        </p:nvSpPr>
        <p:spPr>
          <a:xfrm>
            <a:off x="1007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74" name="box174"/>
          <p:cNvSpPr>
            <a:spLocks noGrp="1"/>
          </p:cNvSpPr>
          <p:nvPr/>
        </p:nvSpPr>
        <p:spPr>
          <a:xfrm>
            <a:off x="1512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begin doing something</a:t>
            </a:r>
          </a:p>
        </p:txBody>
      </p:sp>
      <p:sp>
        <p:nvSpPr>
          <p:cNvPr id="175" name="box175"/>
          <p:cNvSpPr>
            <a:spLocks noGrp="1"/>
          </p:cNvSpPr>
          <p:nvPr/>
        </p:nvSpPr>
        <p:spPr>
          <a:xfrm>
            <a:off x="6042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finish</a:t>
            </a:r>
          </a:p>
        </p:txBody>
      </p:sp>
      <p:sp>
        <p:nvSpPr>
          <p:cNvPr id="176" name="box176"/>
          <p:cNvSpPr>
            <a:spLocks noGrp="1"/>
          </p:cNvSpPr>
          <p:nvPr/>
        </p:nvSpPr>
        <p:spPr>
          <a:xfrm>
            <a:off x="6869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77" name="box177"/>
          <p:cNvSpPr>
            <a:spLocks noGrp="1"/>
          </p:cNvSpPr>
          <p:nvPr/>
        </p:nvSpPr>
        <p:spPr>
          <a:xfrm>
            <a:off x="7374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complete or end</a:t>
            </a:r>
          </a:p>
        </p:txBody>
      </p:sp>
      <p:sp>
        <p:nvSpPr>
          <p:cNvPr id="178" name="box178"/>
          <p:cNvSpPr>
            <a:spLocks noGrp="1"/>
          </p:cNvSpPr>
          <p:nvPr/>
        </p:nvSpPr>
        <p:spPr>
          <a:xfrm>
            <a:off x="180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cook</a:t>
            </a:r>
          </a:p>
        </p:txBody>
      </p:sp>
      <p:sp>
        <p:nvSpPr>
          <p:cNvPr id="179" name="box179"/>
          <p:cNvSpPr>
            <a:spLocks noGrp="1"/>
          </p:cNvSpPr>
          <p:nvPr/>
        </p:nvSpPr>
        <p:spPr>
          <a:xfrm>
            <a:off x="1007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80" name="box180"/>
          <p:cNvSpPr>
            <a:spLocks noGrp="1"/>
          </p:cNvSpPr>
          <p:nvPr/>
        </p:nvSpPr>
        <p:spPr>
          <a:xfrm>
            <a:off x="1512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prepare food using heat</a:t>
            </a:r>
          </a:p>
        </p:txBody>
      </p:sp>
      <p:sp>
        <p:nvSpPr>
          <p:cNvPr id="181" name="box181"/>
          <p:cNvSpPr>
            <a:spLocks noGrp="1"/>
          </p:cNvSpPr>
          <p:nvPr/>
        </p:nvSpPr>
        <p:spPr>
          <a:xfrm>
            <a:off x="6042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82" name="box182"/>
          <p:cNvSpPr>
            <a:spLocks noGrp="1"/>
          </p:cNvSpPr>
          <p:nvPr/>
        </p:nvSpPr>
        <p:spPr>
          <a:xfrm>
            <a:off x="6869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ver</a:t>
            </a:r>
          </a:p>
        </p:txBody>
      </p:sp>
      <p:sp>
        <p:nvSpPr>
          <p:cNvPr id="183" name="box183"/>
          <p:cNvSpPr>
            <a:spLocks noGrp="1"/>
          </p:cNvSpPr>
          <p:nvPr/>
        </p:nvSpPr>
        <p:spPr>
          <a:xfrm>
            <a:off x="7374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to look at something for a time</a:t>
            </a:r>
          </a:p>
        </p:txBody>
      </p:sp>
      <p:sp>
        <p:nvSpPr>
          <p:cNvPr id="184" name="tb184"/>
          <p:cNvSpPr txBox="1">
            <a:spLocks noGrp="1"/>
          </p:cNvSpPr>
          <p:nvPr/>
        </p:nvSpPr>
        <p:spPr>
          <a:xfrm>
            <a:off x="180000" y="6606001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2E75B6"/>
                </a:solidFill>
                <a:latin typeface="Calibri"/>
              </a:rPr>
              <a:t>📚  Full 30-word vocabulary bank in your workbook — Section 4.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01" name="box2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2" name="box2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3" name="tb2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📐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GRAMMAR RULE</a:t>
            </a:r>
          </a:p>
        </p:txBody>
      </p:sp>
      <p:sp>
        <p:nvSpPr>
          <p:cNvPr id="204" name="box204"/>
          <p:cNvSpPr>
            <a:spLocks noGrp="1"/>
          </p:cNvSpPr>
          <p:nvPr/>
        </p:nvSpPr>
        <p:spPr>
          <a:xfrm>
            <a:off x="180000" y="522000"/>
            <a:ext cx="11832000" cy="39600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700" dirty="0">
                <a:solidFill>
                  <a:srgbClr val="1F3864"/>
                </a:solidFill>
                <a:latin typeface="Calibri"/>
              </a:rPr>
              <a:t>📌  Use the present simple to talk about habits, routines, and facts. Add -s/-es to the verb for he/she/it.</a:t>
            </a:r>
          </a:p>
        </p:txBody>
      </p:sp>
      <p:graphicFrame>
        <p:nvGraphicFramePr>
          <p:cNvPr id="205" name="tbl205"/>
          <p:cNvGraphicFramePr>
            <a:graphicFrameLocks noGrp="1"/>
          </p:cNvGraphicFramePr>
          <p:nvPr/>
        </p:nvGraphicFramePr>
        <p:xfrm>
          <a:off x="180000" y="990000"/>
          <a:ext cx="11832000" cy="5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4000"/>
                <a:gridCol w="3944000"/>
                <a:gridCol w="3944000"/>
              </a:tblGrid>
              <a:tr h="11124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Verb form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124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base form (no change)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work in a bank.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124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verb + -s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She works in a hospital.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124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verb + -es (go, do, watch, wash)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He watches TV.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124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consonant + y -&gt; -ies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She studies English.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51" name="box2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2" name="box2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3" name="tb2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✏️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SPELLING &amp; USAGE NOTES</a:t>
            </a:r>
          </a:p>
        </p:txBody>
      </p:sp>
      <p:graphicFrame>
        <p:nvGraphicFramePr>
          <p:cNvPr id="254" name="tbl254"/>
          <p:cNvGraphicFramePr>
            <a:graphicFrameLocks noGrp="1"/>
          </p:cNvGraphicFramePr>
          <p:nvPr/>
        </p:nvGraphicFramePr>
        <p:xfrm>
          <a:off x="180000" y="540000"/>
          <a:ext cx="11832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4000"/>
                <a:gridCol w="3944000"/>
                <a:gridCol w="3944000"/>
              </a:tblGrid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FFFFFF"/>
                          </a:solidFill>
                          <a:latin typeface="Calibri"/>
                        </a:rPr>
                        <a:t>Base form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FFFFFF"/>
                          </a:solidFill>
                          <a:latin typeface="Calibri"/>
                        </a:rPr>
                        <a:t>He/She/It form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1F3864"/>
                          </a:solidFill>
                          <a:latin typeface="Calibri"/>
                        </a:rPr>
                        <a:t>Most verbs: add -s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work, play, live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works, plays, lives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1F3864"/>
                          </a:solidFill>
                          <a:latin typeface="Calibri"/>
                        </a:rPr>
                        <a:t>-ch, -sh, -ss, -x, -o: add -es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A1A1A"/>
                          </a:solidFill>
                          <a:latin typeface="Calibri"/>
                        </a:rPr>
                        <a:t>watch, go, wash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A1A1A"/>
                          </a:solidFill>
                          <a:latin typeface="Calibri"/>
                        </a:rPr>
                        <a:t>watches, goes, washes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1F3864"/>
                          </a:solidFill>
                          <a:latin typeface="Calibri"/>
                        </a:rPr>
                        <a:t>Consonant + y: drop y, add -ies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study, carry, fly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studies, carries, flies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1F3864"/>
                          </a:solidFill>
                          <a:latin typeface="Calibri"/>
                        </a:rPr>
                        <a:t>Vowel + y: just add -s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A1A1A"/>
                          </a:solidFill>
                          <a:latin typeface="Calibri"/>
                        </a:rPr>
                        <a:t>play, say, enjoy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A1A1A"/>
                          </a:solidFill>
                          <a:latin typeface="Calibri"/>
                        </a:rPr>
                        <a:t>plays, says, enjoys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80000">
                <a:tc>
                  <a:txBody>
                    <a:bodyPr/>
                    <a:lstStyle/>
                    <a:p>
                      <a:pPr algn="l"/>
                      <a:r>
                        <a:rPr lang="en-GB" b="1" sz="1300" dirty="0">
                          <a:solidFill>
                            <a:srgbClr val="1F3864"/>
                          </a:solidFill>
                          <a:latin typeface="Calibri"/>
                        </a:rPr>
                        <a:t>Irregular: have -&gt; has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have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300" dirty="0">
                          <a:solidFill>
                            <a:srgbClr val="1F3864"/>
                          </a:solidFill>
                          <a:latin typeface="Calibri"/>
                        </a:rPr>
                        <a:t>has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5" name="box255"/>
          <p:cNvSpPr>
            <a:spLocks noGrp="1"/>
          </p:cNvSpPr>
          <p:nvPr/>
        </p:nvSpPr>
        <p:spPr>
          <a:xfrm>
            <a:off x="180000" y="1908000"/>
            <a:ext cx="11832000" cy="503999"/>
          </a:xfrm>
          <a:prstGeom prst="rect">
            <a:avLst/>
          </a:prstGeom>
          <a:solidFill>
            <a:srgbClr val="DCE6F1"/>
          </a:solidFill>
          <a:ln w="12700">
            <a:solidFill>
              <a:srgbClr val="1F3864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⚠️  Watch Out!  </a:t>
            </a:r>
            <a:r>
              <a:rPr lang="en-GB" b="0" sz="1400" dirty="0">
                <a:solidFill>
                  <a:srgbClr val="1F3864"/>
                </a:solidFill>
                <a:latin typeface="Calibri"/>
              </a:rPr>
              <a:t>Remember: I have breakfast. BUT She has breakfast. The verb 'have' is irregular in third person.</a:t>
            </a:r>
          </a:p>
        </p:txBody>
      </p:sp>
      <p:sp>
        <p:nvSpPr>
          <p:cNvPr id="256" name="box256"/>
          <p:cNvSpPr>
            <a:spLocks noGrp="1"/>
          </p:cNvSpPr>
          <p:nvPr/>
        </p:nvSpPr>
        <p:spPr>
          <a:xfrm>
            <a:off x="180000" y="2537998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1F3864"/>
                </a:solidFill>
                <a:latin typeface="Calibri"/>
              </a:rPr>
              <a:t>Usage Examples</a:t>
            </a:r>
          </a:p>
        </p:txBody>
      </p:sp>
      <p:sp>
        <p:nvSpPr>
          <p:cNvPr id="257" name="tb257"/>
          <p:cNvSpPr txBox="1">
            <a:spLocks noGrp="1"/>
          </p:cNvSpPr>
          <p:nvPr/>
        </p:nvSpPr>
        <p:spPr>
          <a:xfrm>
            <a:off x="180000" y="2807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Daily routines: I wake up at seven. She gets up at six.</a:t>
            </a:r>
          </a:p>
        </p:txBody>
      </p:sp>
      <p:sp>
        <p:nvSpPr>
          <p:cNvPr id="258" name="tb258"/>
          <p:cNvSpPr txBox="1">
            <a:spLocks noGrp="1"/>
          </p:cNvSpPr>
          <p:nvPr/>
        </p:nvSpPr>
        <p:spPr>
          <a:xfrm>
            <a:off x="180000" y="3023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Habits: He drinks coffee every morning.</a:t>
            </a:r>
          </a:p>
        </p:txBody>
      </p:sp>
      <p:sp>
        <p:nvSpPr>
          <p:cNvPr id="259" name="tb259"/>
          <p:cNvSpPr txBox="1">
            <a:spLocks noGrp="1"/>
          </p:cNvSpPr>
          <p:nvPr/>
        </p:nvSpPr>
        <p:spPr>
          <a:xfrm>
            <a:off x="180000" y="3239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Facts: The sun rises in the east.</a:t>
            </a:r>
          </a:p>
        </p:txBody>
      </p:sp>
      <p:sp>
        <p:nvSpPr>
          <p:cNvPr id="260" name="tb260"/>
          <p:cNvSpPr txBox="1">
            <a:spLocks noGrp="1"/>
          </p:cNvSpPr>
          <p:nvPr/>
        </p:nvSpPr>
        <p:spPr>
          <a:xfrm>
            <a:off x="180000" y="3455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Jobs: My father works in a hospital.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01" name="box3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2" name="box3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3" name="tb3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✍️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GUIDED PRACTICE</a:t>
            </a:r>
          </a:p>
        </p:txBody>
      </p:sp>
      <p:sp>
        <p:nvSpPr>
          <p:cNvPr id="304" name="tb3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Complete the sentences with the correct present simple form. Items 1-2 are done for you.</a:t>
            </a:r>
          </a:p>
        </p:txBody>
      </p:sp>
      <p:graphicFrame>
        <p:nvGraphicFramePr>
          <p:cNvPr id="305" name="tbl3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6152640"/>
                <a:gridCol w="4969440"/>
              </a:tblGrid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 ✅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___ (get up) at 6 a.m.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GETS UP at 6 a.m.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 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They ___ (play) football on Saturdays.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They PLAY football on Saturdays.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He ___ (watch) TV every evening.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I ___ (walk) to school.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51" name="box3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2" name="box3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3" name="tb3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📝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CONTROLLED PRACTICE</a:t>
            </a:r>
          </a:p>
        </p:txBody>
      </p:sp>
      <p:sp>
        <p:nvSpPr>
          <p:cNvPr id="354" name="tb35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Write the verb in brackets in the correct present simple form.</a:t>
            </a:r>
          </a:p>
        </p:txBody>
      </p:sp>
      <p:graphicFrame>
        <p:nvGraphicFramePr>
          <p:cNvPr id="355" name="tbl35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5561040"/>
                <a:gridCol w="556104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Write your 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Maria ___ (teach) at a school.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My brother ___ (go) to the gym.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They ___ (live) in a small town.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She ___ (wash) her hair every day.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He ___ (finish) work at six.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01" name="box4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2" name="box4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3" name="tb4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🔎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ERROR CORRECTION</a:t>
            </a:r>
          </a:p>
        </p:txBody>
      </p:sp>
      <p:sp>
        <p:nvSpPr>
          <p:cNvPr id="404" name="tb4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Find and correct the ONE mistake in each sentence.</a:t>
            </a:r>
          </a:p>
        </p:txBody>
      </p:sp>
      <p:graphicFrame>
        <p:nvGraphicFramePr>
          <p:cNvPr id="405" name="tbl4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600"/>
                <a:gridCol w="5916000"/>
                <a:gridCol w="532440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Incorrect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Corrected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go to work by bus.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He watchs TV every night.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They plays football on Sundays.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She studys English after school.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My mother haves breakfast early.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51" name="box4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2" name="box4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3" name="tb4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🗣️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SPEAKING ACTIVITY</a:t>
            </a:r>
          </a:p>
        </p:txBody>
      </p:sp>
      <p:sp>
        <p:nvSpPr>
          <p:cNvPr id="454" name="box454"/>
          <p:cNvSpPr>
            <a:spLocks noGrp="1"/>
          </p:cNvSpPr>
          <p:nvPr/>
        </p:nvSpPr>
        <p:spPr>
          <a:xfrm>
            <a:off x="180000" y="522000"/>
            <a:ext cx="11832000" cy="36000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FFFFFF"/>
                </a:solidFill>
                <a:latin typeface="Cambria"/>
              </a:rPr>
              <a:t>💬 Daily Routine Interview</a:t>
            </a:r>
          </a:p>
        </p:txBody>
      </p:sp>
      <p:sp>
        <p:nvSpPr>
          <p:cNvPr id="455" name="box455"/>
          <p:cNvSpPr>
            <a:spLocks noGrp="1"/>
          </p:cNvSpPr>
          <p:nvPr/>
        </p:nvSpPr>
        <p:spPr>
          <a:xfrm>
            <a:off x="11112000" y="954000"/>
            <a:ext cx="900000" cy="1260000"/>
          </a:xfrm>
          <a:prstGeom prst="roundRect">
            <a:avLst>
              <a:gd name="adj" fmla="val 20000"/>
            </a:avLst>
          </a:prstGeom>
          <a:solidFill>
            <a:srgbClr val="DCE6F1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6000" dirty="0">
                <a:solidFill>
                  <a:srgbClr val="2E75B6"/>
                </a:solidFill>
                <a:latin typeface="Calibri"/>
              </a:rPr>
              <a:t>💬</a:t>
            </a:r>
          </a:p>
        </p:txBody>
      </p:sp>
      <p:sp>
        <p:nvSpPr>
          <p:cNvPr id="456" name="box456"/>
          <p:cNvSpPr>
            <a:spLocks noGrp="1"/>
          </p:cNvSpPr>
          <p:nvPr/>
        </p:nvSpPr>
        <p:spPr>
          <a:xfrm>
            <a:off x="180000" y="9540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57" name="tb457"/>
          <p:cNvSpPr txBox="1">
            <a:spLocks noGrp="1"/>
          </p:cNvSpPr>
          <p:nvPr/>
        </p:nvSpPr>
        <p:spPr>
          <a:xfrm>
            <a:off x="468000" y="9540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Work in pairs. Ask your partner about their daily routine.</a:t>
            </a:r>
          </a:p>
        </p:txBody>
      </p:sp>
      <p:sp>
        <p:nvSpPr>
          <p:cNvPr id="458" name="box458"/>
          <p:cNvSpPr>
            <a:spLocks noGrp="1"/>
          </p:cNvSpPr>
          <p:nvPr/>
        </p:nvSpPr>
        <p:spPr>
          <a:xfrm>
            <a:off x="180000" y="12708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59" name="tb459"/>
          <p:cNvSpPr txBox="1">
            <a:spLocks noGrp="1"/>
          </p:cNvSpPr>
          <p:nvPr/>
        </p:nvSpPr>
        <p:spPr>
          <a:xfrm>
            <a:off x="468000" y="12708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Use questions like: 'What time do you wake up? What do you do after school?'</a:t>
            </a:r>
          </a:p>
        </p:txBody>
      </p:sp>
      <p:sp>
        <p:nvSpPr>
          <p:cNvPr id="460" name="box460"/>
          <p:cNvSpPr>
            <a:spLocks noGrp="1"/>
          </p:cNvSpPr>
          <p:nvPr/>
        </p:nvSpPr>
        <p:spPr>
          <a:xfrm>
            <a:off x="180000" y="15876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61" name="tb461"/>
          <p:cNvSpPr txBox="1">
            <a:spLocks noGrp="1"/>
          </p:cNvSpPr>
          <p:nvPr/>
        </p:nvSpPr>
        <p:spPr>
          <a:xfrm>
            <a:off x="468000" y="15876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Listen and take notes. Then tell the class about your partner.</a:t>
            </a:r>
          </a:p>
        </p:txBody>
      </p:sp>
      <p:sp>
        <p:nvSpPr>
          <p:cNvPr id="462" name="box462"/>
          <p:cNvSpPr>
            <a:spLocks noGrp="1"/>
          </p:cNvSpPr>
          <p:nvPr/>
        </p:nvSpPr>
        <p:spPr>
          <a:xfrm>
            <a:off x="180000" y="19044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3" name="tb463"/>
          <p:cNvSpPr txBox="1">
            <a:spLocks noGrp="1"/>
          </p:cNvSpPr>
          <p:nvPr/>
        </p:nvSpPr>
        <p:spPr>
          <a:xfrm>
            <a:off x="468000" y="19044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Use he/she + -s: 'Maria gets up at seven. She walks to school.'</a:t>
            </a:r>
          </a:p>
        </p:txBody>
      </p:sp>
      <p:sp>
        <p:nvSpPr>
          <p:cNvPr id="464" name="box464"/>
          <p:cNvSpPr>
            <a:spLocks noGrp="1"/>
          </p:cNvSpPr>
          <p:nvPr/>
        </p:nvSpPr>
        <p:spPr>
          <a:xfrm>
            <a:off x="180000" y="6570000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👥  Pair Work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01" name="box5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2" name="box5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3" name="tb5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📄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READING &amp; WRITING</a:t>
            </a:r>
          </a:p>
        </p:txBody>
      </p:sp>
      <p:sp>
        <p:nvSpPr>
          <p:cNvPr id="504" name="box504"/>
          <p:cNvSpPr>
            <a:spLocks noGrp="1"/>
          </p:cNvSpPr>
          <p:nvPr/>
        </p:nvSpPr>
        <p:spPr>
          <a:xfrm>
            <a:off x="180000" y="540000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505" name="box505"/>
          <p:cNvSpPr>
            <a:spLocks noGrp="1"/>
          </p:cNvSpPr>
          <p:nvPr/>
        </p:nvSpPr>
        <p:spPr>
          <a:xfrm>
            <a:off x="180000" y="792000"/>
            <a:ext cx="11832000" cy="61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 lIns="108000" rIns="72000" tIns="72000" bIns="54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404040"/>
                </a:solidFill>
                <a:latin typeface="Calibri"/>
              </a:rPr>
              <a:t>Tom is a bus driver. He wakes up at 5 a.m. every day. He has a quick breakfast and leaves home at 5:30. He drives a big red bus in the city centre. He finishes work at 2 p.m. After work, he goes to the gym. In the evening, he watches TV or reads a book. He goes to bed at 10 p.m. On Saturdays, he plays football with his friends.</a:t>
            </a:r>
          </a:p>
        </p:txBody>
      </p:sp>
      <p:sp>
        <p:nvSpPr>
          <p:cNvPr id="506" name="box506"/>
          <p:cNvSpPr>
            <a:spLocks noGrp="1"/>
          </p:cNvSpPr>
          <p:nvPr/>
        </p:nvSpPr>
        <p:spPr>
          <a:xfrm>
            <a:off x="180000" y="1475999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507" name="tb507"/>
          <p:cNvSpPr txBox="1">
            <a:spLocks noGrp="1"/>
          </p:cNvSpPr>
          <p:nvPr/>
        </p:nvSpPr>
        <p:spPr>
          <a:xfrm>
            <a:off x="180000" y="1728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548235"/>
                </a:solidFill>
                <a:latin typeface="Calibri"/>
              </a:rPr>
              <a:t>Write 6 sentences about your daily routine using the present simple.</a:t>
            </a:r>
          </a:p>
        </p:txBody>
      </p:sp>
      <p:sp>
        <p:nvSpPr>
          <p:cNvPr id="508" name="tb508"/>
          <p:cNvSpPr txBox="1">
            <a:spLocks noGrp="1"/>
          </p:cNvSpPr>
          <p:nvPr/>
        </p:nvSpPr>
        <p:spPr>
          <a:xfrm>
            <a:off x="180000" y="20159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What time do you wake up? I wake up at ___.</a:t>
            </a:r>
          </a:p>
        </p:txBody>
      </p:sp>
      <p:sp>
        <p:nvSpPr>
          <p:cNvPr id="509" name="tb509"/>
          <p:cNvSpPr txBox="1">
            <a:spLocks noGrp="1"/>
          </p:cNvSpPr>
          <p:nvPr/>
        </p:nvSpPr>
        <p:spPr>
          <a:xfrm>
            <a:off x="180000" y="21527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How do you go to school/work? I ___ to school/work.</a:t>
            </a:r>
          </a:p>
        </p:txBody>
      </p:sp>
      <p:sp>
        <p:nvSpPr>
          <p:cNvPr id="510" name="tb510"/>
          <p:cNvSpPr txBox="1">
            <a:spLocks noGrp="1"/>
          </p:cNvSpPr>
          <p:nvPr/>
        </p:nvSpPr>
        <p:spPr>
          <a:xfrm>
            <a:off x="180000" y="22895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What do you do in the afternoon? I ___.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51" name="box5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2" name="box5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3" name="tb5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🏠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HOMEWORK</a:t>
            </a:r>
          </a:p>
        </p:txBody>
      </p:sp>
      <p:sp>
        <p:nvSpPr>
          <p:cNvPr id="554" name="box554"/>
          <p:cNvSpPr>
            <a:spLocks noGrp="1"/>
          </p:cNvSpPr>
          <p:nvPr/>
        </p:nvSpPr>
        <p:spPr>
          <a:xfrm>
            <a:off x="180000" y="54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1F3864"/>
                </a:solidFill>
                <a:latin typeface="Cambria"/>
              </a:rPr>
              <a:t>1</a:t>
            </a:r>
          </a:p>
        </p:txBody>
      </p:sp>
      <p:sp>
        <p:nvSpPr>
          <p:cNvPr id="555" name="box555"/>
          <p:cNvSpPr>
            <a:spLocks noGrp="1"/>
          </p:cNvSpPr>
          <p:nvPr/>
        </p:nvSpPr>
        <p:spPr>
          <a:xfrm>
            <a:off x="684000" y="540000"/>
            <a:ext cx="11328000" cy="432000"/>
          </a:xfrm>
          <a:prstGeom prst="rect">
            <a:avLst/>
          </a:prstGeom>
          <a:solidFill>
            <a:srgbClr val="DCE6F1"/>
          </a:solidFill>
          <a:ln w="12700">
            <a:solidFill>
              <a:srgbClr val="2E75B6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Production Task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Write 8 sentences about a family member's daily routine. Use he/she + present simple verbs with correct -s/-es spelling. Underline all third-person verb endings.</a:t>
            </a:r>
          </a:p>
        </p:txBody>
      </p:sp>
      <p:sp>
        <p:nvSpPr>
          <p:cNvPr id="556" name="box556"/>
          <p:cNvSpPr>
            <a:spLocks noGrp="1"/>
          </p:cNvSpPr>
          <p:nvPr/>
        </p:nvSpPr>
        <p:spPr>
          <a:xfrm>
            <a:off x="180000" y="108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57" name="box557"/>
          <p:cNvSpPr>
            <a:spLocks noGrp="1"/>
          </p:cNvSpPr>
          <p:nvPr/>
        </p:nvSpPr>
        <p:spPr>
          <a:xfrm>
            <a:off x="684000" y="1080000"/>
            <a:ext cx="11328000" cy="43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Vocabulary Consolidation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Choose 10 verbs from the vocabulary list. Write the base form and the he/she/it form for each verb. Example: go -&gt; goes, study -&gt; studies.</a:t>
            </a:r>
          </a:p>
        </p:txBody>
      </p:sp>
      <p:sp>
        <p:nvSpPr>
          <p:cNvPr id="558" name="box558"/>
          <p:cNvSpPr>
            <a:spLocks noGrp="1"/>
          </p:cNvSpPr>
          <p:nvPr/>
        </p:nvSpPr>
        <p:spPr>
          <a:xfrm>
            <a:off x="180000" y="6498000"/>
            <a:ext cx="144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📅  Due: next class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601" name="shape6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602" name="shape602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3" name="shape603"/>
          <p:cNvSpPr>
            <a:spLocks noGrp="1"/>
          </p:cNvSpPr>
          <p:nvPr/>
        </p:nvSpPr>
        <p:spPr>
          <a:xfrm>
            <a:off x="0" y="675000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4" name="shape604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5" name="box605"/>
          <p:cNvSpPr>
            <a:spLocks noGrp="1"/>
          </p:cNvSpPr>
          <p:nvPr/>
        </p:nvSpPr>
        <p:spPr>
          <a:xfrm>
            <a:off x="432000" y="432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5  ·  A1</a:t>
            </a:r>
          </a:p>
        </p:txBody>
      </p:sp>
      <p:sp>
        <p:nvSpPr>
          <p:cNvPr id="606" name="tb606"/>
          <p:cNvSpPr txBox="1">
            <a:spLocks noGrp="1"/>
          </p:cNvSpPr>
          <p:nvPr/>
        </p:nvSpPr>
        <p:spPr>
          <a:xfrm>
            <a:off x="432000" y="827999"/>
            <a:ext cx="11472000" cy="90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3600" dirty="0">
                <a:solidFill>
                  <a:srgbClr val="FFFFFF"/>
                </a:solidFill>
                <a:latin typeface="Cambria"/>
              </a:rPr>
              <a:t>Present Simple — Affirmative</a:t>
            </a:r>
          </a:p>
        </p:txBody>
      </p:sp>
      <p:sp>
        <p:nvSpPr>
          <p:cNvPr id="607" name="tb607"/>
          <p:cNvSpPr txBox="1">
            <a:spLocks noGrp="1"/>
          </p:cNvSpPr>
          <p:nvPr/>
        </p:nvSpPr>
        <p:spPr>
          <a:xfrm>
            <a:off x="432000" y="1800000"/>
            <a:ext cx="11472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600" dirty="0">
                <a:solidFill>
                  <a:srgbClr val="BF8F00"/>
                </a:solidFill>
                <a:latin typeface="Calibri"/>
              </a:rPr>
              <a:t>✦  Questions are the engines of learning. Ask more!</a:t>
            </a:r>
          </a:p>
        </p:txBody>
      </p:sp>
      <p:sp>
        <p:nvSpPr>
          <p:cNvPr id="608" name="box608"/>
          <p:cNvSpPr>
            <a:spLocks noGrp="1"/>
          </p:cNvSpPr>
          <p:nvPr/>
        </p:nvSpPr>
        <p:spPr>
          <a:xfrm>
            <a:off x="10752000" y="6462000"/>
            <a:ext cx="1260000" cy="2340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See you next class! 👋</a:t>
            </a:r>
          </a:p>
        </p:txBody>
      </p:sp>
    </p:spTree>
  </p:cSld>
  <p:clrMapOvr>
    <a:masterClr/>
  </p:clrMapOvr>
</p:sld>
</file>